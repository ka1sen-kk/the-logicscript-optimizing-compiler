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0"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3692EA-EA15-F944-BB63-711F177C2703}" v="16" dt="2026-05-07T06:33:21.6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907"/>
    <p:restoredTop sz="88389"/>
  </p:normalViewPr>
  <p:slideViewPr>
    <p:cSldViewPr snapToGrid="0" snapToObjects="1">
      <p:cViewPr varScale="1">
        <p:scale>
          <a:sx n="111" d="100"/>
          <a:sy n="111" d="100"/>
        </p:scale>
        <p:origin x="248"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uikai LI" userId="d99744ea-4cbe-45ef-bc39-9a3ff27cc1d3" providerId="ADAL" clId="{C8DAABF5-2A45-5CEE-8D6A-4EAEFE77B813}"/>
    <pc:docChg chg="undo custSel modSld">
      <pc:chgData name="Ruikai LI" userId="d99744ea-4cbe-45ef-bc39-9a3ff27cc1d3" providerId="ADAL" clId="{C8DAABF5-2A45-5CEE-8D6A-4EAEFE77B813}" dt="2026-05-07T06:33:32.835" v="95" actId="14100"/>
      <pc:docMkLst>
        <pc:docMk/>
      </pc:docMkLst>
      <pc:sldChg chg="modAnim">
        <pc:chgData name="Ruikai LI" userId="d99744ea-4cbe-45ef-bc39-9a3ff27cc1d3" providerId="ADAL" clId="{C8DAABF5-2A45-5CEE-8D6A-4EAEFE77B813}" dt="2026-05-07T06:28:20.407" v="70"/>
        <pc:sldMkLst>
          <pc:docMk/>
          <pc:sldMk cId="0" sldId="256"/>
        </pc:sldMkLst>
      </pc:sldChg>
      <pc:sldChg chg="modAnim">
        <pc:chgData name="Ruikai LI" userId="d99744ea-4cbe-45ef-bc39-9a3ff27cc1d3" providerId="ADAL" clId="{C8DAABF5-2A45-5CEE-8D6A-4EAEFE77B813}" dt="2026-05-07T06:28:34.376" v="72"/>
        <pc:sldMkLst>
          <pc:docMk/>
          <pc:sldMk cId="0" sldId="257"/>
        </pc:sldMkLst>
      </pc:sldChg>
      <pc:sldChg chg="modAnim">
        <pc:chgData name="Ruikai LI" userId="d99744ea-4cbe-45ef-bc39-9a3ff27cc1d3" providerId="ADAL" clId="{C8DAABF5-2A45-5CEE-8D6A-4EAEFE77B813}" dt="2026-05-07T06:28:40.073" v="73"/>
        <pc:sldMkLst>
          <pc:docMk/>
          <pc:sldMk cId="0" sldId="258"/>
        </pc:sldMkLst>
      </pc:sldChg>
      <pc:sldChg chg="modAnim">
        <pc:chgData name="Ruikai LI" userId="d99744ea-4cbe-45ef-bc39-9a3ff27cc1d3" providerId="ADAL" clId="{C8DAABF5-2A45-5CEE-8D6A-4EAEFE77B813}" dt="2026-05-07T06:28:50.845" v="74"/>
        <pc:sldMkLst>
          <pc:docMk/>
          <pc:sldMk cId="0" sldId="259"/>
        </pc:sldMkLst>
      </pc:sldChg>
      <pc:sldChg chg="addSp delSp modSp mod delAnim modAnim">
        <pc:chgData name="Ruikai LI" userId="d99744ea-4cbe-45ef-bc39-9a3ff27cc1d3" providerId="ADAL" clId="{C8DAABF5-2A45-5CEE-8D6A-4EAEFE77B813}" dt="2026-05-07T06:33:32.835" v="95" actId="14100"/>
        <pc:sldMkLst>
          <pc:docMk/>
          <pc:sldMk cId="0" sldId="260"/>
        </pc:sldMkLst>
        <pc:spChg chg="mod topLvl">
          <ac:chgData name="Ruikai LI" userId="d99744ea-4cbe-45ef-bc39-9a3ff27cc1d3" providerId="ADAL" clId="{C8DAABF5-2A45-5CEE-8D6A-4EAEFE77B813}" dt="2026-05-07T06:31:02.485" v="89" actId="14100"/>
          <ac:spMkLst>
            <pc:docMk/>
            <pc:sldMk cId="0" sldId="260"/>
            <ac:spMk id="51" creationId="{00000000-0000-0000-0000-000000000000}"/>
          </ac:spMkLst>
        </pc:spChg>
        <pc:spChg chg="del mod topLvl">
          <ac:chgData name="Ruikai LI" userId="d99744ea-4cbe-45ef-bc39-9a3ff27cc1d3" providerId="ADAL" clId="{C8DAABF5-2A45-5CEE-8D6A-4EAEFE77B813}" dt="2026-05-07T06:30:48.022" v="88" actId="478"/>
          <ac:spMkLst>
            <pc:docMk/>
            <pc:sldMk cId="0" sldId="260"/>
            <ac:spMk id="52" creationId="{00000000-0000-0000-0000-000000000000}"/>
          </ac:spMkLst>
        </pc:spChg>
        <pc:spChg chg="del">
          <ac:chgData name="Ruikai LI" userId="d99744ea-4cbe-45ef-bc39-9a3ff27cc1d3" providerId="ADAL" clId="{C8DAABF5-2A45-5CEE-8D6A-4EAEFE77B813}" dt="2026-05-07T06:31:14.316" v="92" actId="478"/>
          <ac:spMkLst>
            <pc:docMk/>
            <pc:sldMk cId="0" sldId="260"/>
            <ac:spMk id="73" creationId="{00000000-0000-0000-0000-000000000000}"/>
          </ac:spMkLst>
        </pc:spChg>
        <pc:grpChg chg="mod">
          <ac:chgData name="Ruikai LI" userId="d99744ea-4cbe-45ef-bc39-9a3ff27cc1d3" providerId="ADAL" clId="{C8DAABF5-2A45-5CEE-8D6A-4EAEFE77B813}" dt="2026-05-07T06:31:04.622" v="91" actId="1076"/>
          <ac:grpSpMkLst>
            <pc:docMk/>
            <pc:sldMk cId="0" sldId="260"/>
            <ac:grpSpMk id="4" creationId="{00000000-0000-0000-0000-000000000000}"/>
          </ac:grpSpMkLst>
        </pc:grpChg>
        <pc:grpChg chg="del">
          <ac:chgData name="Ruikai LI" userId="d99744ea-4cbe-45ef-bc39-9a3ff27cc1d3" providerId="ADAL" clId="{C8DAABF5-2A45-5CEE-8D6A-4EAEFE77B813}" dt="2026-05-07T06:30:48.022" v="88" actId="478"/>
          <ac:grpSpMkLst>
            <pc:docMk/>
            <pc:sldMk cId="0" sldId="260"/>
            <ac:grpSpMk id="53" creationId="{00000000-0000-0000-0000-000000000000}"/>
          </ac:grpSpMkLst>
        </pc:grpChg>
        <pc:grpChg chg="mod">
          <ac:chgData name="Ruikai LI" userId="d99744ea-4cbe-45ef-bc39-9a3ff27cc1d3" providerId="ADAL" clId="{C8DAABF5-2A45-5CEE-8D6A-4EAEFE77B813}" dt="2026-05-07T06:33:32.835" v="95" actId="14100"/>
          <ac:grpSpMkLst>
            <pc:docMk/>
            <pc:sldMk cId="0" sldId="260"/>
            <ac:grpSpMk id="92" creationId="{00000000-0000-0000-0000-000000000000}"/>
          </ac:grpSpMkLst>
        </pc:grpChg>
        <pc:picChg chg="add mod">
          <ac:chgData name="Ruikai LI" userId="d99744ea-4cbe-45ef-bc39-9a3ff27cc1d3" providerId="ADAL" clId="{C8DAABF5-2A45-5CEE-8D6A-4EAEFE77B813}" dt="2026-05-07T06:33:26.652" v="94" actId="1076"/>
          <ac:picMkLst>
            <pc:docMk/>
            <pc:sldMk cId="0" sldId="260"/>
            <ac:picMk id="97" creationId="{A4A2D9D5-96C2-36F7-0365-32DA3035C356}"/>
          </ac:picMkLst>
        </pc:picChg>
      </pc:sldChg>
      <pc:sldChg chg="modAnim modNotesTx">
        <pc:chgData name="Ruikai LI" userId="d99744ea-4cbe-45ef-bc39-9a3ff27cc1d3" providerId="ADAL" clId="{C8DAABF5-2A45-5CEE-8D6A-4EAEFE77B813}" dt="2026-05-07T06:29:00.140" v="76"/>
        <pc:sldMkLst>
          <pc:docMk/>
          <pc:sldMk cId="0" sldId="261"/>
        </pc:sldMkLst>
      </pc:sldChg>
      <pc:sldChg chg="modAnim">
        <pc:chgData name="Ruikai LI" userId="d99744ea-4cbe-45ef-bc39-9a3ff27cc1d3" providerId="ADAL" clId="{C8DAABF5-2A45-5CEE-8D6A-4EAEFE77B813}" dt="2026-05-07T06:29:06.302" v="77"/>
        <pc:sldMkLst>
          <pc:docMk/>
          <pc:sldMk cId="0" sldId="262"/>
        </pc:sldMkLst>
      </pc:sldChg>
      <pc:sldChg chg="modAnim">
        <pc:chgData name="Ruikai LI" userId="d99744ea-4cbe-45ef-bc39-9a3ff27cc1d3" providerId="ADAL" clId="{C8DAABF5-2A45-5CEE-8D6A-4EAEFE77B813}" dt="2026-05-07T06:29:26.155" v="78"/>
        <pc:sldMkLst>
          <pc:docMk/>
          <pc:sldMk cId="0" sldId="263"/>
        </pc:sldMkLst>
      </pc:sldChg>
      <pc:sldChg chg="modAnim">
        <pc:chgData name="Ruikai LI" userId="d99744ea-4cbe-45ef-bc39-9a3ff27cc1d3" providerId="ADAL" clId="{C8DAABF5-2A45-5CEE-8D6A-4EAEFE77B813}" dt="2026-05-07T06:29:30.670" v="79"/>
        <pc:sldMkLst>
          <pc:docMk/>
          <pc:sldMk cId="0" sldId="264"/>
        </pc:sldMkLst>
      </pc:sldChg>
      <pc:sldChg chg="modAnim">
        <pc:chgData name="Ruikai LI" userId="d99744ea-4cbe-45ef-bc39-9a3ff27cc1d3" providerId="ADAL" clId="{C8DAABF5-2A45-5CEE-8D6A-4EAEFE77B813}" dt="2026-05-07T06:29:34.589" v="80"/>
        <pc:sldMkLst>
          <pc:docMk/>
          <pc:sldMk cId="0" sldId="265"/>
        </pc:sldMkLst>
      </pc:sldChg>
      <pc:sldChg chg="modAnim">
        <pc:chgData name="Ruikai LI" userId="d99744ea-4cbe-45ef-bc39-9a3ff27cc1d3" providerId="ADAL" clId="{C8DAABF5-2A45-5CEE-8D6A-4EAEFE77B813}" dt="2026-05-07T06:29:38.370" v="81"/>
        <pc:sldMkLst>
          <pc:docMk/>
          <pc:sldMk cId="0" sldId="266"/>
        </pc:sldMkLst>
      </pc:sldChg>
      <pc:sldChg chg="modAnim">
        <pc:chgData name="Ruikai LI" userId="d99744ea-4cbe-45ef-bc39-9a3ff27cc1d3" providerId="ADAL" clId="{C8DAABF5-2A45-5CEE-8D6A-4EAEFE77B813}" dt="2026-05-07T06:29:43.990" v="82"/>
        <pc:sldMkLst>
          <pc:docMk/>
          <pc:sldMk cId="0" sldId="267"/>
        </pc:sldMkLst>
      </pc:sldChg>
      <pc:sldChg chg="modAnim">
        <pc:chgData name="Ruikai LI" userId="d99744ea-4cbe-45ef-bc39-9a3ff27cc1d3" providerId="ADAL" clId="{C8DAABF5-2A45-5CEE-8D6A-4EAEFE77B813}" dt="2026-05-07T06:29:51.808" v="83"/>
        <pc:sldMkLst>
          <pc:docMk/>
          <pc:sldMk cId="0" sldId="268"/>
        </pc:sldMkLst>
      </pc:sldChg>
      <pc:sldChg chg="modSp mod modAnim">
        <pc:chgData name="Ruikai LI" userId="d99744ea-4cbe-45ef-bc39-9a3ff27cc1d3" providerId="ADAL" clId="{C8DAABF5-2A45-5CEE-8D6A-4EAEFE77B813}" dt="2026-05-07T06:30:00.606" v="84"/>
        <pc:sldMkLst>
          <pc:docMk/>
          <pc:sldMk cId="0" sldId="269"/>
        </pc:sldMkLst>
        <pc:spChg chg="mod">
          <ac:chgData name="Ruikai LI" userId="d99744ea-4cbe-45ef-bc39-9a3ff27cc1d3" providerId="ADAL" clId="{C8DAABF5-2A45-5CEE-8D6A-4EAEFE77B813}" dt="2026-05-06T08:55:37.452" v="18" actId="20577"/>
          <ac:spMkLst>
            <pc:docMk/>
            <pc:sldMk cId="0" sldId="269"/>
            <ac:spMk id="70" creationId="{00000000-0000-0000-0000-000000000000}"/>
          </ac:spMkLst>
        </pc:spChg>
      </pc:sldChg>
      <pc:sldChg chg="modAnim">
        <pc:chgData name="Ruikai LI" userId="d99744ea-4cbe-45ef-bc39-9a3ff27cc1d3" providerId="ADAL" clId="{C8DAABF5-2A45-5CEE-8D6A-4EAEFE77B813}" dt="2026-05-07T06:28:28.489" v="71"/>
        <pc:sldMkLst>
          <pc:docMk/>
          <pc:sldMk cId="0"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7362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Welcome everyone. Today we're presenting the LogicScript Optimizing Compiler — a four-phase pipeline that takes a custom Boolean logic language from raw source lines all the way through tokenization, parsing, optimization, and verified execution. This project was built for UFUG2106 at HKUST-GZ, and what you'll see today is a compiler that not only runs programs correctly, but formally proves its own optimization steps are semantically sound.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Responsibility was divided across the four phases. Shiyuan Lin designed the overall pipeline framework and implemented Phase two, the recursive descent parser. Ruikai Li implemented Phase one, the lexer, and Phase three, the optimizer including the consensus theorem. Fanqiao Lin implemented Phase four — the equivalence verification engine and the execution engine. All three of us participated in the joint code review of the complete codebase and collaborated on the technical brief.</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how the next twelve minutes or so will go. We'll start with a quick overview of what LogicScript actually is, then walk through the full pipeline architecture. After that we'll ground everything in a concrete input-output example before diving into each of the four phases in detail. We'll then cover how we tested the system, what its current limitations are, and where we see it going from here.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LogicScript is a minimal domain-specific language for Boolean logic computation. It supports three kinds of statements — assignment, conditional, and print — combined with the standard Boolean operators AND, OR, NOT, and IMPLIES. What makes it interesting is the compiler behind it: a four-phase pipeline that not only runs the program but applies eleven Boolean rewrite rules to simplify expressions before execution, then uses exhaustive truth-table comparison to formally verify that every simplification preserved the original meaning.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pipeline runs strictly left to right. The lexer converts each source line into a typed token sequence. The parser takes those tokens and builds an abstract syntax tree, one statement per line. The optimizer then walks each AST bottom-up and applies Boolean rewrite rules until no more simplifications apply. Finally, the execution engine runs equivalence verification on every changed expression and then executes the optimized program, writing a full JSON trace as output. Each stage's output feeds directly into the next — there's no global state shared across boundaries.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make that concrete. Here on the left are four source lines. Lines one and two bind p to TRUE and q to FALSE. Line three computes a compound expression — NOT of the sub-expression NOT-p AND q. Line four conditionally prints p if r is true. After the optimizer runs on line three, De Morgan's law rewrites NOT of an AND into an OR of negations, and then double negation elimination removes the double NOT on p. The result is the much simpler expression p OR NOT q. Phase 4 verifies equivalence over all four truth-table rows — they all match — and then executes the program. Since r evaluates to TRUE, the print fires, and the JSON output shows printed_output with line 4 and value TRUE.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Phase one is the lexer. Its job is to scan each </a:t>
            </a:r>
            <a:r>
              <a:rPr lang="en-US" altLang="zh-CN" dirty="0"/>
              <a:t>line</a:t>
            </a:r>
            <a:r>
              <a:rPr lang="zh-CN" altLang="en-US" dirty="0"/>
              <a:t> </a:t>
            </a:r>
            <a:r>
              <a:rPr lang="en-US" altLang="zh-CN" dirty="0"/>
              <a:t>of</a:t>
            </a:r>
            <a:r>
              <a:rPr lang="zh-CN" altLang="en-US" dirty="0"/>
              <a:t> </a:t>
            </a:r>
            <a:r>
              <a:rPr lang="en-US" altLang="zh-CN" dirty="0"/>
              <a:t>the</a:t>
            </a:r>
            <a:r>
              <a:rPr lang="zh-CN" altLang="en-US" dirty="0"/>
              <a:t> </a:t>
            </a:r>
            <a:r>
              <a:rPr lang="en-US" altLang="zh-CN" dirty="0"/>
              <a:t>logic</a:t>
            </a:r>
            <a:r>
              <a:rPr lang="zh-CN" altLang="en-US" dirty="0"/>
              <a:t> </a:t>
            </a:r>
            <a:r>
              <a:rPr lang="en-US" altLang="zh-CN" dirty="0"/>
              <a:t>script</a:t>
            </a:r>
            <a:r>
              <a:rPr lang="zh-CN" dirty="0"/>
              <a:t> and produce a list of named tokens. The key design decision is the buffer-based scanning strategy. Instead of requiring strict </a:t>
            </a:r>
            <a:r>
              <a:rPr lang="en-US" altLang="zh-CN" dirty="0"/>
              <a:t>blank</a:t>
            </a:r>
            <a:r>
              <a:rPr lang="zh-CN" dirty="0"/>
              <a:t>space between every token, the lexer reads characters into a buffer and flushes it whenever it encounters a parenthesis. This means an expression like open-paren NOT p close-paren is tokenized correctly even without spaces around the parentheses. Reserved words go through a constant-time dictionary lookup, and variables follow the single-lowercase-letter rule — they come out as VAR_P, VAR_Q, and so on. Any unrecognized character sequence raises a LexicalError immediately with the offending line number, so errors never propagate downstream.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Phase two is the recursive descent parser. The grammar for LogicScript is itself recursive — expressions can contain sub-expressions arbitrarily deep — so recursive descent is the natural fit. Each of the seven parser functions corresponds to exactly one grammar rule. parse_statement dispatches to parse_let_statement, parse_if_statement, or parse_print_statement depending on the first token. Expressions are handled by parse_expression, which delegates to parse_parenthesized_expression for the compound cases. This one-function-one-rule structure makes error localization easy: a ParseError always names the exact construct that failed and the line it was on. The output is a list of nested Python lists representing the AST — compact, recursive, and directly usable by the optimizer.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Phase three is where the interesting logic lives. The optimizer applies eleven Boolean rewrite rules in a bottom-up fixed-point loop. Bottom-up means children are simplified before their parents — so by the time the optimizer looks at a compound expression, its sub-expressions are already in their simplest form. The rules run in a priority order: implication elimination goes first because it expands IMPLIES into OR-NOT form and unlocks subsequent rules. De Morgan and double negation follow. The remaining eight rules — idempotent, identity, negation, universal bound, absorption, normalization, consensus theorem, and constant negation — run in sequence until a full pass makes no change. That convergence is the fixed-point condition; a safety cap of sixty-four iterations prevents any pathological cycle from running indefinitely.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trace through what that actually looks like on line three. The input AST represents NOT of the sub-expression NOT-p AND q. First, De Morgan fires on the outer NOT of an AND, rewriting it into OR of the two negations: NOT-NOT-p OR NOT-q. Then double negation eliminates the double NOT on p, giving us the final form p OR NOT-q. That's three nodes instead of six, and the fixed-point condition is satisfied — no further rule applies. The consensus theorem is worth calling out separately because it goes beyond the standard rules. For any three-term OR expression where two terms share a complementary literal, the third term is redundant and can be removed. We also support the dual form for AND-based expressions.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Phase four begins with equivalence verification before any execution takes place. For each line where the optimizer changed the AST, the verifier extracts all unique variable names from both the original and optimized ASTs, then enumerates every possible truth assignment — that's two-to-the-n rows where n is the number of distinct variables. For our example with two variables that's four rows. For each row it evaluates both ASTs and compares the results. If every row matches, the line is marked is_equivalent TRUE. If any row differs, it's FALSE — which would indicate a bug in the optimizer. The cost is O of two-to-the-n, which is fine for the small expressions in the project scope but becomes expensive fast as variable counts grow.</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After verification, the execution engine processes the optimized statements line by line. LET statements evaluate their expression and store the result in a mutable state dictionary. IF statements evaluate their condition and, if it's TRUE, recurse into the body statement. PRINT statements look up their variable in the state dictionary and return the value, which gets appended to the printed_output list. All three statement types share the same unified error class hierarchy — CompilerError is the base, with LexicalError, ParseError, and ExecutionError as subtypes. Every error carries a phase field and a line number, so the JSON output always tells you exactly where and at what stage the pipeline stopped.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test suite covers all four phases with both valid and invalid programs. Phase one tests verify that tokenization is correct for all statement types and that lexical errors are reported on the right line with the right phase label. Phase two tests assert exact AST structure for every syntactic form, and the invalid cases cover all the ways an IF or LET can be malformed. Phase three is primarily parametrized with expected AST outputs — we test each of the eleven rules individually, in chains, and in high-complexity stress expressions to confirm the fixed-point loop converges. Phase four has the most breadth: we verify equivalence for all optimization rules, test all four Boolean operators against their full truth tables, and include deliberate non-equivalent cases to make sure the verifier correctly reports FALSE.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compiler works correctly within the project scope, but there are five limitations worth naming. The most significant is that the optimizer doesn't implement distributive law expansion, so some composite expressions can't be reduced to their simplest form. The language scope is intentionally minimal — single-letter variables, no loops, no re-assignment. All four phases live in one file, which is fine now but will hurt maintainability as the system grows. The exponential verification cost becomes a practical constraint past around fifteen variables. And the error messages, while structurally correct with phase and line, don't give contextual hints like "did you mean" or collect multiple errors in one pass.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Looking ahead, there are three natural directions. First, extending the language — multi-statement conditional blocks, variable re-assignment, and longer variable names would make it much more expressive. Second, replacing the truth-table verifier with Binary Decision Diagrams. BDDs give polynomial-time equivalence checking and are the industry standard in hardware verification — this would eliminate the exponential cost entirely. Third, adding distributive law expansion and CNF/DNF normalization would let the optimizer reach the global minimum for many expressions it currently can't simplify past a local minimum.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That covers the LogicScript Optimizing Compiler. We built a four-phase pipeline with formal equivalence checking, tested it thoroughly across all phases, and documented its current boundaries honestly. Thank you for listening — we're happy to take any questions about the design decisions, the Boolean rewrite rules, or anything else you'd like to dig into.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Group 73"/>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6858000"/>
            </a:xfrm>
            <a:prstGeom prst="rect">
              <a:avLst/>
            </a:prstGeom>
            <a:gradFill>
              <a:gsLst>
                <a:gs pos="0">
                  <a:srgbClr val="4285F4">
                    <a:alpha val="8000"/>
                  </a:srgbClr>
                </a:gs>
                <a:gs pos="100000">
                  <a:srgbClr val="4285F4">
                    <a:alpha val="0"/>
                  </a:srgbClr>
                </a:gs>
              </a:gsLst>
              <a:path path="circle">
                <a:fillToRect l="50000" t="50000" r="50000" b="50000"/>
              </a:path>
            </a:gradFill>
            <a:ln>
              <a:noFill/>
            </a:ln>
          </p:spPr>
          <p:txBody>
            <a:bodyPr/>
            <a:lstStyle/>
            <a:p>
              <a:endParaRPr lang="zh-CN" altLang="en-US"/>
            </a:p>
          </p:txBody>
        </p:sp>
        <p:sp>
          <p:nvSpPr>
            <p:cNvPr id="4" name="Rectangle 4"/>
            <p:cNvSpPr/>
            <p:nvPr/>
          </p:nvSpPr>
          <p:spPr>
            <a:xfrm>
              <a:off x="0" y="0"/>
              <a:ext cx="12192000" cy="6858000"/>
            </a:xfrm>
            <a:prstGeom prst="rect">
              <a:avLst/>
            </a:prstGeom>
            <a:gradFill>
              <a:gsLst>
                <a:gs pos="0">
                  <a:srgbClr val="34A853">
                    <a:alpha val="7000"/>
                  </a:srgbClr>
                </a:gs>
                <a:gs pos="100000">
                  <a:srgbClr val="34A853">
                    <a:alpha val="0"/>
                  </a:srgbClr>
                </a:gs>
              </a:gsLst>
              <a:path path="circle">
                <a:fillToRect l="50000" t="50000" r="50000" b="50000"/>
              </a:path>
            </a:gradFill>
            <a:ln>
              <a:noFill/>
            </a:ln>
          </p:spPr>
          <p:txBody>
            <a:bodyPr/>
            <a:lstStyle/>
            <a:p>
              <a:endParaRPr lang="zh-CN" altLang="en-US"/>
            </a:p>
          </p:txBody>
        </p:sp>
        <p:grpSp>
          <p:nvGrpSpPr>
            <p:cNvPr id="65" name="Group 65"/>
            <p:cNvGrpSpPr/>
            <p:nvPr/>
          </p:nvGrpSpPr>
          <p:grpSpPr>
            <a:xfrm>
              <a:off x="747712" y="747712"/>
              <a:ext cx="10696575" cy="5362575"/>
              <a:chOff x="747712" y="747712"/>
              <a:chExt cx="10696575" cy="5362575"/>
            </a:xfrm>
          </p:grpSpPr>
          <p:sp>
            <p:nvSpPr>
              <p:cNvPr id="5" name="Ellipse 5"/>
              <p:cNvSpPr/>
              <p:nvPr/>
            </p:nvSpPr>
            <p:spPr>
              <a:xfrm>
                <a:off x="747712" y="747712"/>
                <a:ext cx="28575" cy="28575"/>
              </a:xfrm>
              <a:prstGeom prst="ellipse">
                <a:avLst/>
              </a:prstGeom>
              <a:solidFill>
                <a:srgbClr val="DADCE0"/>
              </a:solidFill>
              <a:ln>
                <a:noFill/>
              </a:ln>
            </p:spPr>
            <p:txBody>
              <a:bodyPr/>
              <a:lstStyle/>
              <a:p>
                <a:endParaRPr lang="zh-CN" altLang="en-US"/>
              </a:p>
            </p:txBody>
          </p:sp>
          <p:sp>
            <p:nvSpPr>
              <p:cNvPr id="6" name="Ellipse 6"/>
              <p:cNvSpPr/>
              <p:nvPr/>
            </p:nvSpPr>
            <p:spPr>
              <a:xfrm>
                <a:off x="1509712" y="747712"/>
                <a:ext cx="28575" cy="28575"/>
              </a:xfrm>
              <a:prstGeom prst="ellipse">
                <a:avLst/>
              </a:prstGeom>
              <a:solidFill>
                <a:srgbClr val="DADCE0"/>
              </a:solidFill>
              <a:ln>
                <a:noFill/>
              </a:ln>
            </p:spPr>
            <p:txBody>
              <a:bodyPr/>
              <a:lstStyle/>
              <a:p>
                <a:endParaRPr lang="zh-CN" altLang="en-US"/>
              </a:p>
            </p:txBody>
          </p:sp>
          <p:sp>
            <p:nvSpPr>
              <p:cNvPr id="7" name="Ellipse 7"/>
              <p:cNvSpPr/>
              <p:nvPr/>
            </p:nvSpPr>
            <p:spPr>
              <a:xfrm>
                <a:off x="2271712" y="747712"/>
                <a:ext cx="28575" cy="28575"/>
              </a:xfrm>
              <a:prstGeom prst="ellipse">
                <a:avLst/>
              </a:prstGeom>
              <a:solidFill>
                <a:srgbClr val="DADCE0"/>
              </a:solidFill>
              <a:ln>
                <a:noFill/>
              </a:ln>
            </p:spPr>
            <p:txBody>
              <a:bodyPr/>
              <a:lstStyle/>
              <a:p>
                <a:endParaRPr lang="zh-CN" altLang="en-US"/>
              </a:p>
            </p:txBody>
          </p:sp>
          <p:sp>
            <p:nvSpPr>
              <p:cNvPr id="8" name="Ellipse 8"/>
              <p:cNvSpPr/>
              <p:nvPr/>
            </p:nvSpPr>
            <p:spPr>
              <a:xfrm>
                <a:off x="3033712" y="747712"/>
                <a:ext cx="28575" cy="28575"/>
              </a:xfrm>
              <a:prstGeom prst="ellipse">
                <a:avLst/>
              </a:prstGeom>
              <a:solidFill>
                <a:srgbClr val="DADCE0"/>
              </a:solidFill>
              <a:ln>
                <a:noFill/>
              </a:ln>
            </p:spPr>
            <p:txBody>
              <a:bodyPr/>
              <a:lstStyle/>
              <a:p>
                <a:endParaRPr lang="zh-CN" altLang="en-US"/>
              </a:p>
            </p:txBody>
          </p:sp>
          <p:sp>
            <p:nvSpPr>
              <p:cNvPr id="9" name="Ellipse 9"/>
              <p:cNvSpPr/>
              <p:nvPr/>
            </p:nvSpPr>
            <p:spPr>
              <a:xfrm>
                <a:off x="3795712" y="747712"/>
                <a:ext cx="28575" cy="28575"/>
              </a:xfrm>
              <a:prstGeom prst="ellipse">
                <a:avLst/>
              </a:prstGeom>
              <a:solidFill>
                <a:srgbClr val="DADCE0"/>
              </a:solidFill>
              <a:ln>
                <a:noFill/>
              </a:ln>
            </p:spPr>
            <p:txBody>
              <a:bodyPr/>
              <a:lstStyle/>
              <a:p>
                <a:endParaRPr lang="zh-CN" altLang="en-US"/>
              </a:p>
            </p:txBody>
          </p:sp>
          <p:sp>
            <p:nvSpPr>
              <p:cNvPr id="10" name="Ellipse 10"/>
              <p:cNvSpPr/>
              <p:nvPr/>
            </p:nvSpPr>
            <p:spPr>
              <a:xfrm>
                <a:off x="4557712" y="747712"/>
                <a:ext cx="28575" cy="28575"/>
              </a:xfrm>
              <a:prstGeom prst="ellipse">
                <a:avLst/>
              </a:prstGeom>
              <a:solidFill>
                <a:srgbClr val="DADCE0"/>
              </a:solidFill>
              <a:ln>
                <a:noFill/>
              </a:ln>
            </p:spPr>
            <p:txBody>
              <a:bodyPr/>
              <a:lstStyle/>
              <a:p>
                <a:endParaRPr lang="zh-CN" altLang="en-US"/>
              </a:p>
            </p:txBody>
          </p:sp>
          <p:sp>
            <p:nvSpPr>
              <p:cNvPr id="11" name="Ellipse 11"/>
              <p:cNvSpPr/>
              <p:nvPr/>
            </p:nvSpPr>
            <p:spPr>
              <a:xfrm>
                <a:off x="5319712" y="747712"/>
                <a:ext cx="28575" cy="28575"/>
              </a:xfrm>
              <a:prstGeom prst="ellipse">
                <a:avLst/>
              </a:prstGeom>
              <a:solidFill>
                <a:srgbClr val="DADCE0"/>
              </a:solidFill>
              <a:ln>
                <a:noFill/>
              </a:ln>
            </p:spPr>
            <p:txBody>
              <a:bodyPr/>
              <a:lstStyle/>
              <a:p>
                <a:endParaRPr lang="zh-CN" altLang="en-US"/>
              </a:p>
            </p:txBody>
          </p:sp>
          <p:sp>
            <p:nvSpPr>
              <p:cNvPr id="12" name="Ellipse 12"/>
              <p:cNvSpPr/>
              <p:nvPr/>
            </p:nvSpPr>
            <p:spPr>
              <a:xfrm>
                <a:off x="6081712" y="747712"/>
                <a:ext cx="28575" cy="28575"/>
              </a:xfrm>
              <a:prstGeom prst="ellipse">
                <a:avLst/>
              </a:prstGeom>
              <a:solidFill>
                <a:srgbClr val="DADCE0"/>
              </a:solidFill>
              <a:ln>
                <a:noFill/>
              </a:ln>
            </p:spPr>
            <p:txBody>
              <a:bodyPr/>
              <a:lstStyle/>
              <a:p>
                <a:endParaRPr lang="zh-CN" altLang="en-US"/>
              </a:p>
            </p:txBody>
          </p:sp>
          <p:sp>
            <p:nvSpPr>
              <p:cNvPr id="13" name="Ellipse 13"/>
              <p:cNvSpPr/>
              <p:nvPr/>
            </p:nvSpPr>
            <p:spPr>
              <a:xfrm>
                <a:off x="6843712" y="747712"/>
                <a:ext cx="28575" cy="28575"/>
              </a:xfrm>
              <a:prstGeom prst="ellipse">
                <a:avLst/>
              </a:prstGeom>
              <a:solidFill>
                <a:srgbClr val="DADCE0"/>
              </a:solidFill>
              <a:ln>
                <a:noFill/>
              </a:ln>
            </p:spPr>
            <p:txBody>
              <a:bodyPr/>
              <a:lstStyle/>
              <a:p>
                <a:endParaRPr lang="zh-CN" altLang="en-US"/>
              </a:p>
            </p:txBody>
          </p:sp>
          <p:sp>
            <p:nvSpPr>
              <p:cNvPr id="14" name="Ellipse 14"/>
              <p:cNvSpPr/>
              <p:nvPr/>
            </p:nvSpPr>
            <p:spPr>
              <a:xfrm>
                <a:off x="7605712" y="747712"/>
                <a:ext cx="28575" cy="28575"/>
              </a:xfrm>
              <a:prstGeom prst="ellipse">
                <a:avLst/>
              </a:prstGeom>
              <a:solidFill>
                <a:srgbClr val="DADCE0"/>
              </a:solidFill>
              <a:ln>
                <a:noFill/>
              </a:ln>
            </p:spPr>
            <p:txBody>
              <a:bodyPr/>
              <a:lstStyle/>
              <a:p>
                <a:endParaRPr lang="zh-CN" altLang="en-US"/>
              </a:p>
            </p:txBody>
          </p:sp>
          <p:sp>
            <p:nvSpPr>
              <p:cNvPr id="15" name="Ellipse 15"/>
              <p:cNvSpPr/>
              <p:nvPr/>
            </p:nvSpPr>
            <p:spPr>
              <a:xfrm>
                <a:off x="8367712" y="747712"/>
                <a:ext cx="28575" cy="28575"/>
              </a:xfrm>
              <a:prstGeom prst="ellipse">
                <a:avLst/>
              </a:prstGeom>
              <a:solidFill>
                <a:srgbClr val="DADCE0"/>
              </a:solidFill>
              <a:ln>
                <a:noFill/>
              </a:ln>
            </p:spPr>
            <p:txBody>
              <a:bodyPr/>
              <a:lstStyle/>
              <a:p>
                <a:endParaRPr lang="zh-CN" altLang="en-US"/>
              </a:p>
            </p:txBody>
          </p:sp>
          <p:sp>
            <p:nvSpPr>
              <p:cNvPr id="16" name="Ellipse 16"/>
              <p:cNvSpPr/>
              <p:nvPr/>
            </p:nvSpPr>
            <p:spPr>
              <a:xfrm>
                <a:off x="9129712" y="747712"/>
                <a:ext cx="28575" cy="28575"/>
              </a:xfrm>
              <a:prstGeom prst="ellipse">
                <a:avLst/>
              </a:prstGeom>
              <a:solidFill>
                <a:srgbClr val="DADCE0"/>
              </a:solidFill>
              <a:ln>
                <a:noFill/>
              </a:ln>
            </p:spPr>
            <p:txBody>
              <a:bodyPr/>
              <a:lstStyle/>
              <a:p>
                <a:endParaRPr lang="zh-CN" altLang="en-US"/>
              </a:p>
            </p:txBody>
          </p:sp>
          <p:sp>
            <p:nvSpPr>
              <p:cNvPr id="17" name="Ellipse 17"/>
              <p:cNvSpPr/>
              <p:nvPr/>
            </p:nvSpPr>
            <p:spPr>
              <a:xfrm>
                <a:off x="9891712" y="747712"/>
                <a:ext cx="28575" cy="28575"/>
              </a:xfrm>
              <a:prstGeom prst="ellipse">
                <a:avLst/>
              </a:prstGeom>
              <a:solidFill>
                <a:srgbClr val="DADCE0"/>
              </a:solidFill>
              <a:ln>
                <a:noFill/>
              </a:ln>
            </p:spPr>
            <p:txBody>
              <a:bodyPr/>
              <a:lstStyle/>
              <a:p>
                <a:endParaRPr lang="zh-CN" altLang="en-US"/>
              </a:p>
            </p:txBody>
          </p:sp>
          <p:sp>
            <p:nvSpPr>
              <p:cNvPr id="18" name="Ellipse 18"/>
              <p:cNvSpPr/>
              <p:nvPr/>
            </p:nvSpPr>
            <p:spPr>
              <a:xfrm>
                <a:off x="10653712" y="747712"/>
                <a:ext cx="28575" cy="28575"/>
              </a:xfrm>
              <a:prstGeom prst="ellipse">
                <a:avLst/>
              </a:prstGeom>
              <a:solidFill>
                <a:srgbClr val="DADCE0"/>
              </a:solidFill>
              <a:ln>
                <a:noFill/>
              </a:ln>
            </p:spPr>
            <p:txBody>
              <a:bodyPr/>
              <a:lstStyle/>
              <a:p>
                <a:endParaRPr lang="zh-CN" altLang="en-US"/>
              </a:p>
            </p:txBody>
          </p:sp>
          <p:sp>
            <p:nvSpPr>
              <p:cNvPr id="19" name="Ellipse 19"/>
              <p:cNvSpPr/>
              <p:nvPr/>
            </p:nvSpPr>
            <p:spPr>
              <a:xfrm>
                <a:off x="11415712" y="747712"/>
                <a:ext cx="28575" cy="28575"/>
              </a:xfrm>
              <a:prstGeom prst="ellipse">
                <a:avLst/>
              </a:prstGeom>
              <a:solidFill>
                <a:srgbClr val="DADCE0"/>
              </a:solidFill>
              <a:ln>
                <a:noFill/>
              </a:ln>
            </p:spPr>
            <p:txBody>
              <a:bodyPr/>
              <a:lstStyle/>
              <a:p>
                <a:endParaRPr lang="zh-CN" altLang="en-US"/>
              </a:p>
            </p:txBody>
          </p:sp>
          <p:sp>
            <p:nvSpPr>
              <p:cNvPr id="20" name="Ellipse 20"/>
              <p:cNvSpPr/>
              <p:nvPr/>
            </p:nvSpPr>
            <p:spPr>
              <a:xfrm>
                <a:off x="747712" y="1509712"/>
                <a:ext cx="28575" cy="28575"/>
              </a:xfrm>
              <a:prstGeom prst="ellipse">
                <a:avLst/>
              </a:prstGeom>
              <a:solidFill>
                <a:srgbClr val="DADCE0"/>
              </a:solidFill>
              <a:ln>
                <a:noFill/>
              </a:ln>
            </p:spPr>
            <p:txBody>
              <a:bodyPr/>
              <a:lstStyle/>
              <a:p>
                <a:endParaRPr lang="zh-CN" altLang="en-US"/>
              </a:p>
            </p:txBody>
          </p:sp>
          <p:sp>
            <p:nvSpPr>
              <p:cNvPr id="21" name="Ellipse 21"/>
              <p:cNvSpPr/>
              <p:nvPr/>
            </p:nvSpPr>
            <p:spPr>
              <a:xfrm>
                <a:off x="1509712" y="1509712"/>
                <a:ext cx="28575" cy="28575"/>
              </a:xfrm>
              <a:prstGeom prst="ellipse">
                <a:avLst/>
              </a:prstGeom>
              <a:solidFill>
                <a:srgbClr val="DADCE0"/>
              </a:solidFill>
              <a:ln>
                <a:noFill/>
              </a:ln>
            </p:spPr>
            <p:txBody>
              <a:bodyPr/>
              <a:lstStyle/>
              <a:p>
                <a:endParaRPr lang="zh-CN" altLang="en-US"/>
              </a:p>
            </p:txBody>
          </p:sp>
          <p:sp>
            <p:nvSpPr>
              <p:cNvPr id="22" name="Ellipse 22"/>
              <p:cNvSpPr/>
              <p:nvPr/>
            </p:nvSpPr>
            <p:spPr>
              <a:xfrm>
                <a:off x="2271712" y="1509712"/>
                <a:ext cx="28575" cy="28575"/>
              </a:xfrm>
              <a:prstGeom prst="ellipse">
                <a:avLst/>
              </a:prstGeom>
              <a:solidFill>
                <a:srgbClr val="DADCE0"/>
              </a:solidFill>
              <a:ln>
                <a:noFill/>
              </a:ln>
            </p:spPr>
            <p:txBody>
              <a:bodyPr/>
              <a:lstStyle/>
              <a:p>
                <a:endParaRPr lang="zh-CN" altLang="en-US"/>
              </a:p>
            </p:txBody>
          </p:sp>
          <p:sp>
            <p:nvSpPr>
              <p:cNvPr id="23" name="Ellipse 23"/>
              <p:cNvSpPr/>
              <p:nvPr/>
            </p:nvSpPr>
            <p:spPr>
              <a:xfrm>
                <a:off x="3033712" y="1509712"/>
                <a:ext cx="28575" cy="28575"/>
              </a:xfrm>
              <a:prstGeom prst="ellipse">
                <a:avLst/>
              </a:prstGeom>
              <a:solidFill>
                <a:srgbClr val="DADCE0"/>
              </a:solidFill>
              <a:ln>
                <a:noFill/>
              </a:ln>
            </p:spPr>
            <p:txBody>
              <a:bodyPr/>
              <a:lstStyle/>
              <a:p>
                <a:endParaRPr lang="zh-CN" altLang="en-US"/>
              </a:p>
            </p:txBody>
          </p:sp>
          <p:sp>
            <p:nvSpPr>
              <p:cNvPr id="24" name="Ellipse 24"/>
              <p:cNvSpPr/>
              <p:nvPr/>
            </p:nvSpPr>
            <p:spPr>
              <a:xfrm>
                <a:off x="3795712" y="1509712"/>
                <a:ext cx="28575" cy="28575"/>
              </a:xfrm>
              <a:prstGeom prst="ellipse">
                <a:avLst/>
              </a:prstGeom>
              <a:solidFill>
                <a:srgbClr val="DADCE0"/>
              </a:solidFill>
              <a:ln>
                <a:noFill/>
              </a:ln>
            </p:spPr>
            <p:txBody>
              <a:bodyPr/>
              <a:lstStyle/>
              <a:p>
                <a:endParaRPr lang="zh-CN" altLang="en-US"/>
              </a:p>
            </p:txBody>
          </p:sp>
          <p:sp>
            <p:nvSpPr>
              <p:cNvPr id="25" name="Ellipse 25"/>
              <p:cNvSpPr/>
              <p:nvPr/>
            </p:nvSpPr>
            <p:spPr>
              <a:xfrm>
                <a:off x="4557712" y="1509712"/>
                <a:ext cx="28575" cy="28575"/>
              </a:xfrm>
              <a:prstGeom prst="ellipse">
                <a:avLst/>
              </a:prstGeom>
              <a:solidFill>
                <a:srgbClr val="DADCE0"/>
              </a:solidFill>
              <a:ln>
                <a:noFill/>
              </a:ln>
            </p:spPr>
            <p:txBody>
              <a:bodyPr/>
              <a:lstStyle/>
              <a:p>
                <a:endParaRPr lang="zh-CN" altLang="en-US"/>
              </a:p>
            </p:txBody>
          </p:sp>
          <p:sp>
            <p:nvSpPr>
              <p:cNvPr id="26" name="Ellipse 26"/>
              <p:cNvSpPr/>
              <p:nvPr/>
            </p:nvSpPr>
            <p:spPr>
              <a:xfrm>
                <a:off x="5319712" y="1509712"/>
                <a:ext cx="28575" cy="28575"/>
              </a:xfrm>
              <a:prstGeom prst="ellipse">
                <a:avLst/>
              </a:prstGeom>
              <a:solidFill>
                <a:srgbClr val="DADCE0"/>
              </a:solidFill>
              <a:ln>
                <a:noFill/>
              </a:ln>
            </p:spPr>
            <p:txBody>
              <a:bodyPr/>
              <a:lstStyle/>
              <a:p>
                <a:endParaRPr lang="zh-CN" altLang="en-US"/>
              </a:p>
            </p:txBody>
          </p:sp>
          <p:sp>
            <p:nvSpPr>
              <p:cNvPr id="27" name="Ellipse 27"/>
              <p:cNvSpPr/>
              <p:nvPr/>
            </p:nvSpPr>
            <p:spPr>
              <a:xfrm>
                <a:off x="6081712" y="1509712"/>
                <a:ext cx="28575" cy="28575"/>
              </a:xfrm>
              <a:prstGeom prst="ellipse">
                <a:avLst/>
              </a:prstGeom>
              <a:solidFill>
                <a:srgbClr val="DADCE0"/>
              </a:solidFill>
              <a:ln>
                <a:noFill/>
              </a:ln>
            </p:spPr>
            <p:txBody>
              <a:bodyPr/>
              <a:lstStyle/>
              <a:p>
                <a:endParaRPr lang="zh-CN" altLang="en-US"/>
              </a:p>
            </p:txBody>
          </p:sp>
          <p:sp>
            <p:nvSpPr>
              <p:cNvPr id="28" name="Ellipse 28"/>
              <p:cNvSpPr/>
              <p:nvPr/>
            </p:nvSpPr>
            <p:spPr>
              <a:xfrm>
                <a:off x="6843712" y="1509712"/>
                <a:ext cx="28575" cy="28575"/>
              </a:xfrm>
              <a:prstGeom prst="ellipse">
                <a:avLst/>
              </a:prstGeom>
              <a:solidFill>
                <a:srgbClr val="DADCE0"/>
              </a:solidFill>
              <a:ln>
                <a:noFill/>
              </a:ln>
            </p:spPr>
            <p:txBody>
              <a:bodyPr/>
              <a:lstStyle/>
              <a:p>
                <a:endParaRPr lang="zh-CN" altLang="en-US"/>
              </a:p>
            </p:txBody>
          </p:sp>
          <p:sp>
            <p:nvSpPr>
              <p:cNvPr id="29" name="Ellipse 29"/>
              <p:cNvSpPr/>
              <p:nvPr/>
            </p:nvSpPr>
            <p:spPr>
              <a:xfrm>
                <a:off x="7605712" y="1509712"/>
                <a:ext cx="28575" cy="28575"/>
              </a:xfrm>
              <a:prstGeom prst="ellipse">
                <a:avLst/>
              </a:prstGeom>
              <a:solidFill>
                <a:srgbClr val="DADCE0"/>
              </a:solidFill>
              <a:ln>
                <a:noFill/>
              </a:ln>
            </p:spPr>
            <p:txBody>
              <a:bodyPr/>
              <a:lstStyle/>
              <a:p>
                <a:endParaRPr lang="zh-CN" altLang="en-US"/>
              </a:p>
            </p:txBody>
          </p:sp>
          <p:sp>
            <p:nvSpPr>
              <p:cNvPr id="30" name="Ellipse 30"/>
              <p:cNvSpPr/>
              <p:nvPr/>
            </p:nvSpPr>
            <p:spPr>
              <a:xfrm>
                <a:off x="8367712" y="1509712"/>
                <a:ext cx="28575" cy="28575"/>
              </a:xfrm>
              <a:prstGeom prst="ellipse">
                <a:avLst/>
              </a:prstGeom>
              <a:solidFill>
                <a:srgbClr val="DADCE0"/>
              </a:solidFill>
              <a:ln>
                <a:noFill/>
              </a:ln>
            </p:spPr>
            <p:txBody>
              <a:bodyPr/>
              <a:lstStyle/>
              <a:p>
                <a:endParaRPr lang="zh-CN" altLang="en-US"/>
              </a:p>
            </p:txBody>
          </p:sp>
          <p:sp>
            <p:nvSpPr>
              <p:cNvPr id="31" name="Ellipse 31"/>
              <p:cNvSpPr/>
              <p:nvPr/>
            </p:nvSpPr>
            <p:spPr>
              <a:xfrm>
                <a:off x="9129712" y="1509712"/>
                <a:ext cx="28575" cy="28575"/>
              </a:xfrm>
              <a:prstGeom prst="ellipse">
                <a:avLst/>
              </a:prstGeom>
              <a:solidFill>
                <a:srgbClr val="DADCE0"/>
              </a:solidFill>
              <a:ln>
                <a:noFill/>
              </a:ln>
            </p:spPr>
            <p:txBody>
              <a:bodyPr/>
              <a:lstStyle/>
              <a:p>
                <a:endParaRPr lang="zh-CN" altLang="en-US"/>
              </a:p>
            </p:txBody>
          </p:sp>
          <p:sp>
            <p:nvSpPr>
              <p:cNvPr id="32" name="Ellipse 32"/>
              <p:cNvSpPr/>
              <p:nvPr/>
            </p:nvSpPr>
            <p:spPr>
              <a:xfrm>
                <a:off x="9891712" y="1509712"/>
                <a:ext cx="28575" cy="28575"/>
              </a:xfrm>
              <a:prstGeom prst="ellipse">
                <a:avLst/>
              </a:prstGeom>
              <a:solidFill>
                <a:srgbClr val="DADCE0"/>
              </a:solidFill>
              <a:ln>
                <a:noFill/>
              </a:ln>
            </p:spPr>
            <p:txBody>
              <a:bodyPr/>
              <a:lstStyle/>
              <a:p>
                <a:endParaRPr lang="zh-CN" altLang="en-US"/>
              </a:p>
            </p:txBody>
          </p:sp>
          <p:sp>
            <p:nvSpPr>
              <p:cNvPr id="33" name="Ellipse 33"/>
              <p:cNvSpPr/>
              <p:nvPr/>
            </p:nvSpPr>
            <p:spPr>
              <a:xfrm>
                <a:off x="10653712" y="1509712"/>
                <a:ext cx="28575" cy="28575"/>
              </a:xfrm>
              <a:prstGeom prst="ellipse">
                <a:avLst/>
              </a:prstGeom>
              <a:solidFill>
                <a:srgbClr val="DADCE0"/>
              </a:solidFill>
              <a:ln>
                <a:noFill/>
              </a:ln>
            </p:spPr>
            <p:txBody>
              <a:bodyPr/>
              <a:lstStyle/>
              <a:p>
                <a:endParaRPr lang="zh-CN" altLang="en-US"/>
              </a:p>
            </p:txBody>
          </p:sp>
          <p:sp>
            <p:nvSpPr>
              <p:cNvPr id="34" name="Ellipse 34"/>
              <p:cNvSpPr/>
              <p:nvPr/>
            </p:nvSpPr>
            <p:spPr>
              <a:xfrm>
                <a:off x="11415712" y="1509712"/>
                <a:ext cx="28575" cy="28575"/>
              </a:xfrm>
              <a:prstGeom prst="ellipse">
                <a:avLst/>
              </a:prstGeom>
              <a:solidFill>
                <a:srgbClr val="DADCE0"/>
              </a:solidFill>
              <a:ln>
                <a:noFill/>
              </a:ln>
            </p:spPr>
            <p:txBody>
              <a:bodyPr/>
              <a:lstStyle/>
              <a:p>
                <a:endParaRPr lang="zh-CN" altLang="en-US"/>
              </a:p>
            </p:txBody>
          </p:sp>
          <p:sp>
            <p:nvSpPr>
              <p:cNvPr id="35" name="Ellipse 35"/>
              <p:cNvSpPr/>
              <p:nvPr/>
            </p:nvSpPr>
            <p:spPr>
              <a:xfrm>
                <a:off x="747712" y="5319712"/>
                <a:ext cx="28575" cy="28575"/>
              </a:xfrm>
              <a:prstGeom prst="ellipse">
                <a:avLst/>
              </a:prstGeom>
              <a:solidFill>
                <a:srgbClr val="DADCE0"/>
              </a:solidFill>
              <a:ln>
                <a:noFill/>
              </a:ln>
            </p:spPr>
            <p:txBody>
              <a:bodyPr/>
              <a:lstStyle/>
              <a:p>
                <a:endParaRPr lang="zh-CN" altLang="en-US"/>
              </a:p>
            </p:txBody>
          </p:sp>
          <p:sp>
            <p:nvSpPr>
              <p:cNvPr id="36" name="Ellipse 36"/>
              <p:cNvSpPr/>
              <p:nvPr/>
            </p:nvSpPr>
            <p:spPr>
              <a:xfrm>
                <a:off x="1509712" y="5319712"/>
                <a:ext cx="28575" cy="28575"/>
              </a:xfrm>
              <a:prstGeom prst="ellipse">
                <a:avLst/>
              </a:prstGeom>
              <a:solidFill>
                <a:srgbClr val="DADCE0"/>
              </a:solidFill>
              <a:ln>
                <a:noFill/>
              </a:ln>
            </p:spPr>
            <p:txBody>
              <a:bodyPr/>
              <a:lstStyle/>
              <a:p>
                <a:endParaRPr lang="zh-CN" altLang="en-US"/>
              </a:p>
            </p:txBody>
          </p:sp>
          <p:sp>
            <p:nvSpPr>
              <p:cNvPr id="37" name="Ellipse 37"/>
              <p:cNvSpPr/>
              <p:nvPr/>
            </p:nvSpPr>
            <p:spPr>
              <a:xfrm>
                <a:off x="2271712" y="5319712"/>
                <a:ext cx="28575" cy="28575"/>
              </a:xfrm>
              <a:prstGeom prst="ellipse">
                <a:avLst/>
              </a:prstGeom>
              <a:solidFill>
                <a:srgbClr val="DADCE0"/>
              </a:solidFill>
              <a:ln>
                <a:noFill/>
              </a:ln>
            </p:spPr>
            <p:txBody>
              <a:bodyPr/>
              <a:lstStyle/>
              <a:p>
                <a:endParaRPr lang="zh-CN" altLang="en-US"/>
              </a:p>
            </p:txBody>
          </p:sp>
          <p:sp>
            <p:nvSpPr>
              <p:cNvPr id="38" name="Ellipse 38"/>
              <p:cNvSpPr/>
              <p:nvPr/>
            </p:nvSpPr>
            <p:spPr>
              <a:xfrm>
                <a:off x="3033712" y="5319712"/>
                <a:ext cx="28575" cy="28575"/>
              </a:xfrm>
              <a:prstGeom prst="ellipse">
                <a:avLst/>
              </a:prstGeom>
              <a:solidFill>
                <a:srgbClr val="DADCE0"/>
              </a:solidFill>
              <a:ln>
                <a:noFill/>
              </a:ln>
            </p:spPr>
            <p:txBody>
              <a:bodyPr/>
              <a:lstStyle/>
              <a:p>
                <a:endParaRPr lang="zh-CN" altLang="en-US"/>
              </a:p>
            </p:txBody>
          </p:sp>
          <p:sp>
            <p:nvSpPr>
              <p:cNvPr id="39" name="Ellipse 39"/>
              <p:cNvSpPr/>
              <p:nvPr/>
            </p:nvSpPr>
            <p:spPr>
              <a:xfrm>
                <a:off x="3795712" y="5319712"/>
                <a:ext cx="28575" cy="28575"/>
              </a:xfrm>
              <a:prstGeom prst="ellipse">
                <a:avLst/>
              </a:prstGeom>
              <a:solidFill>
                <a:srgbClr val="DADCE0"/>
              </a:solidFill>
              <a:ln>
                <a:noFill/>
              </a:ln>
            </p:spPr>
            <p:txBody>
              <a:bodyPr/>
              <a:lstStyle/>
              <a:p>
                <a:endParaRPr lang="zh-CN" altLang="en-US"/>
              </a:p>
            </p:txBody>
          </p:sp>
          <p:sp>
            <p:nvSpPr>
              <p:cNvPr id="40" name="Ellipse 40"/>
              <p:cNvSpPr/>
              <p:nvPr/>
            </p:nvSpPr>
            <p:spPr>
              <a:xfrm>
                <a:off x="4557712" y="5319712"/>
                <a:ext cx="28575" cy="28575"/>
              </a:xfrm>
              <a:prstGeom prst="ellipse">
                <a:avLst/>
              </a:prstGeom>
              <a:solidFill>
                <a:srgbClr val="DADCE0"/>
              </a:solidFill>
              <a:ln>
                <a:noFill/>
              </a:ln>
            </p:spPr>
            <p:txBody>
              <a:bodyPr/>
              <a:lstStyle/>
              <a:p>
                <a:endParaRPr lang="zh-CN" altLang="en-US"/>
              </a:p>
            </p:txBody>
          </p:sp>
          <p:sp>
            <p:nvSpPr>
              <p:cNvPr id="41" name="Ellipse 41"/>
              <p:cNvSpPr/>
              <p:nvPr/>
            </p:nvSpPr>
            <p:spPr>
              <a:xfrm>
                <a:off x="5319712" y="5319712"/>
                <a:ext cx="28575" cy="28575"/>
              </a:xfrm>
              <a:prstGeom prst="ellipse">
                <a:avLst/>
              </a:prstGeom>
              <a:solidFill>
                <a:srgbClr val="DADCE0"/>
              </a:solidFill>
              <a:ln>
                <a:noFill/>
              </a:ln>
            </p:spPr>
            <p:txBody>
              <a:bodyPr/>
              <a:lstStyle/>
              <a:p>
                <a:endParaRPr lang="zh-CN" altLang="en-US"/>
              </a:p>
            </p:txBody>
          </p:sp>
          <p:sp>
            <p:nvSpPr>
              <p:cNvPr id="42" name="Ellipse 42"/>
              <p:cNvSpPr/>
              <p:nvPr/>
            </p:nvSpPr>
            <p:spPr>
              <a:xfrm>
                <a:off x="6081712" y="5319712"/>
                <a:ext cx="28575" cy="28575"/>
              </a:xfrm>
              <a:prstGeom prst="ellipse">
                <a:avLst/>
              </a:prstGeom>
              <a:solidFill>
                <a:srgbClr val="DADCE0"/>
              </a:solidFill>
              <a:ln>
                <a:noFill/>
              </a:ln>
            </p:spPr>
            <p:txBody>
              <a:bodyPr/>
              <a:lstStyle/>
              <a:p>
                <a:endParaRPr lang="zh-CN" altLang="en-US"/>
              </a:p>
            </p:txBody>
          </p:sp>
          <p:sp>
            <p:nvSpPr>
              <p:cNvPr id="43" name="Ellipse 43"/>
              <p:cNvSpPr/>
              <p:nvPr/>
            </p:nvSpPr>
            <p:spPr>
              <a:xfrm>
                <a:off x="6843712" y="5319712"/>
                <a:ext cx="28575" cy="28575"/>
              </a:xfrm>
              <a:prstGeom prst="ellipse">
                <a:avLst/>
              </a:prstGeom>
              <a:solidFill>
                <a:srgbClr val="DADCE0"/>
              </a:solidFill>
              <a:ln>
                <a:noFill/>
              </a:ln>
            </p:spPr>
            <p:txBody>
              <a:bodyPr/>
              <a:lstStyle/>
              <a:p>
                <a:endParaRPr lang="zh-CN" altLang="en-US"/>
              </a:p>
            </p:txBody>
          </p:sp>
          <p:sp>
            <p:nvSpPr>
              <p:cNvPr id="44" name="Ellipse 44"/>
              <p:cNvSpPr/>
              <p:nvPr/>
            </p:nvSpPr>
            <p:spPr>
              <a:xfrm>
                <a:off x="7605712" y="5319712"/>
                <a:ext cx="28575" cy="28575"/>
              </a:xfrm>
              <a:prstGeom prst="ellipse">
                <a:avLst/>
              </a:prstGeom>
              <a:solidFill>
                <a:srgbClr val="DADCE0"/>
              </a:solidFill>
              <a:ln>
                <a:noFill/>
              </a:ln>
            </p:spPr>
            <p:txBody>
              <a:bodyPr/>
              <a:lstStyle/>
              <a:p>
                <a:endParaRPr lang="zh-CN" altLang="en-US"/>
              </a:p>
            </p:txBody>
          </p:sp>
          <p:sp>
            <p:nvSpPr>
              <p:cNvPr id="45" name="Ellipse 45"/>
              <p:cNvSpPr/>
              <p:nvPr/>
            </p:nvSpPr>
            <p:spPr>
              <a:xfrm>
                <a:off x="8367712" y="5319712"/>
                <a:ext cx="28575" cy="28575"/>
              </a:xfrm>
              <a:prstGeom prst="ellipse">
                <a:avLst/>
              </a:prstGeom>
              <a:solidFill>
                <a:srgbClr val="DADCE0"/>
              </a:solidFill>
              <a:ln>
                <a:noFill/>
              </a:ln>
            </p:spPr>
            <p:txBody>
              <a:bodyPr/>
              <a:lstStyle/>
              <a:p>
                <a:endParaRPr lang="zh-CN" altLang="en-US"/>
              </a:p>
            </p:txBody>
          </p:sp>
          <p:sp>
            <p:nvSpPr>
              <p:cNvPr id="46" name="Ellipse 46"/>
              <p:cNvSpPr/>
              <p:nvPr/>
            </p:nvSpPr>
            <p:spPr>
              <a:xfrm>
                <a:off x="9129712" y="5319712"/>
                <a:ext cx="28575" cy="28575"/>
              </a:xfrm>
              <a:prstGeom prst="ellipse">
                <a:avLst/>
              </a:prstGeom>
              <a:solidFill>
                <a:srgbClr val="DADCE0"/>
              </a:solidFill>
              <a:ln>
                <a:noFill/>
              </a:ln>
            </p:spPr>
            <p:txBody>
              <a:bodyPr/>
              <a:lstStyle/>
              <a:p>
                <a:endParaRPr lang="zh-CN" altLang="en-US"/>
              </a:p>
            </p:txBody>
          </p:sp>
          <p:sp>
            <p:nvSpPr>
              <p:cNvPr id="47" name="Ellipse 47"/>
              <p:cNvSpPr/>
              <p:nvPr/>
            </p:nvSpPr>
            <p:spPr>
              <a:xfrm>
                <a:off x="9891712" y="5319712"/>
                <a:ext cx="28575" cy="28575"/>
              </a:xfrm>
              <a:prstGeom prst="ellipse">
                <a:avLst/>
              </a:prstGeom>
              <a:solidFill>
                <a:srgbClr val="DADCE0"/>
              </a:solidFill>
              <a:ln>
                <a:noFill/>
              </a:ln>
            </p:spPr>
            <p:txBody>
              <a:bodyPr/>
              <a:lstStyle/>
              <a:p>
                <a:endParaRPr lang="zh-CN" altLang="en-US"/>
              </a:p>
            </p:txBody>
          </p:sp>
          <p:sp>
            <p:nvSpPr>
              <p:cNvPr id="48" name="Ellipse 48"/>
              <p:cNvSpPr/>
              <p:nvPr/>
            </p:nvSpPr>
            <p:spPr>
              <a:xfrm>
                <a:off x="10653712" y="5319712"/>
                <a:ext cx="28575" cy="28575"/>
              </a:xfrm>
              <a:prstGeom prst="ellipse">
                <a:avLst/>
              </a:prstGeom>
              <a:solidFill>
                <a:srgbClr val="DADCE0"/>
              </a:solidFill>
              <a:ln>
                <a:noFill/>
              </a:ln>
            </p:spPr>
            <p:txBody>
              <a:bodyPr/>
              <a:lstStyle/>
              <a:p>
                <a:endParaRPr lang="zh-CN" altLang="en-US"/>
              </a:p>
            </p:txBody>
          </p:sp>
          <p:sp>
            <p:nvSpPr>
              <p:cNvPr id="49" name="Ellipse 49"/>
              <p:cNvSpPr/>
              <p:nvPr/>
            </p:nvSpPr>
            <p:spPr>
              <a:xfrm>
                <a:off x="11415712" y="5319712"/>
                <a:ext cx="28575" cy="28575"/>
              </a:xfrm>
              <a:prstGeom prst="ellipse">
                <a:avLst/>
              </a:prstGeom>
              <a:solidFill>
                <a:srgbClr val="DADCE0"/>
              </a:solidFill>
              <a:ln>
                <a:noFill/>
              </a:ln>
            </p:spPr>
            <p:txBody>
              <a:bodyPr/>
              <a:lstStyle/>
              <a:p>
                <a:endParaRPr lang="zh-CN" altLang="en-US"/>
              </a:p>
            </p:txBody>
          </p:sp>
          <p:sp>
            <p:nvSpPr>
              <p:cNvPr id="50" name="Ellipse 50"/>
              <p:cNvSpPr/>
              <p:nvPr/>
            </p:nvSpPr>
            <p:spPr>
              <a:xfrm>
                <a:off x="747712" y="6081712"/>
                <a:ext cx="28575" cy="28575"/>
              </a:xfrm>
              <a:prstGeom prst="ellipse">
                <a:avLst/>
              </a:prstGeom>
              <a:solidFill>
                <a:srgbClr val="DADCE0"/>
              </a:solidFill>
              <a:ln>
                <a:noFill/>
              </a:ln>
            </p:spPr>
            <p:txBody>
              <a:bodyPr/>
              <a:lstStyle/>
              <a:p>
                <a:endParaRPr lang="zh-CN" altLang="en-US"/>
              </a:p>
            </p:txBody>
          </p:sp>
          <p:sp>
            <p:nvSpPr>
              <p:cNvPr id="51" name="Ellipse 51"/>
              <p:cNvSpPr/>
              <p:nvPr/>
            </p:nvSpPr>
            <p:spPr>
              <a:xfrm>
                <a:off x="1509712" y="6081712"/>
                <a:ext cx="28575" cy="28575"/>
              </a:xfrm>
              <a:prstGeom prst="ellipse">
                <a:avLst/>
              </a:prstGeom>
              <a:solidFill>
                <a:srgbClr val="DADCE0"/>
              </a:solidFill>
              <a:ln>
                <a:noFill/>
              </a:ln>
            </p:spPr>
            <p:txBody>
              <a:bodyPr/>
              <a:lstStyle/>
              <a:p>
                <a:endParaRPr lang="zh-CN" altLang="en-US"/>
              </a:p>
            </p:txBody>
          </p:sp>
          <p:sp>
            <p:nvSpPr>
              <p:cNvPr id="52" name="Ellipse 52"/>
              <p:cNvSpPr/>
              <p:nvPr/>
            </p:nvSpPr>
            <p:spPr>
              <a:xfrm>
                <a:off x="2271712" y="6081712"/>
                <a:ext cx="28575" cy="28575"/>
              </a:xfrm>
              <a:prstGeom prst="ellipse">
                <a:avLst/>
              </a:prstGeom>
              <a:solidFill>
                <a:srgbClr val="DADCE0"/>
              </a:solidFill>
              <a:ln>
                <a:noFill/>
              </a:ln>
            </p:spPr>
            <p:txBody>
              <a:bodyPr/>
              <a:lstStyle/>
              <a:p>
                <a:endParaRPr lang="zh-CN" altLang="en-US"/>
              </a:p>
            </p:txBody>
          </p:sp>
          <p:sp>
            <p:nvSpPr>
              <p:cNvPr id="53" name="Ellipse 53"/>
              <p:cNvSpPr/>
              <p:nvPr/>
            </p:nvSpPr>
            <p:spPr>
              <a:xfrm>
                <a:off x="3033712" y="6081712"/>
                <a:ext cx="28575" cy="28575"/>
              </a:xfrm>
              <a:prstGeom prst="ellipse">
                <a:avLst/>
              </a:prstGeom>
              <a:solidFill>
                <a:srgbClr val="DADCE0"/>
              </a:solidFill>
              <a:ln>
                <a:noFill/>
              </a:ln>
            </p:spPr>
            <p:txBody>
              <a:bodyPr/>
              <a:lstStyle/>
              <a:p>
                <a:endParaRPr lang="zh-CN" altLang="en-US"/>
              </a:p>
            </p:txBody>
          </p:sp>
          <p:sp>
            <p:nvSpPr>
              <p:cNvPr id="54" name="Ellipse 54"/>
              <p:cNvSpPr/>
              <p:nvPr/>
            </p:nvSpPr>
            <p:spPr>
              <a:xfrm>
                <a:off x="3795712" y="6081712"/>
                <a:ext cx="28575" cy="28575"/>
              </a:xfrm>
              <a:prstGeom prst="ellipse">
                <a:avLst/>
              </a:prstGeom>
              <a:solidFill>
                <a:srgbClr val="DADCE0"/>
              </a:solidFill>
              <a:ln>
                <a:noFill/>
              </a:ln>
            </p:spPr>
            <p:txBody>
              <a:bodyPr/>
              <a:lstStyle/>
              <a:p>
                <a:endParaRPr lang="zh-CN" altLang="en-US"/>
              </a:p>
            </p:txBody>
          </p:sp>
          <p:sp>
            <p:nvSpPr>
              <p:cNvPr id="55" name="Ellipse 55"/>
              <p:cNvSpPr/>
              <p:nvPr/>
            </p:nvSpPr>
            <p:spPr>
              <a:xfrm>
                <a:off x="4557712" y="6081712"/>
                <a:ext cx="28575" cy="28575"/>
              </a:xfrm>
              <a:prstGeom prst="ellipse">
                <a:avLst/>
              </a:prstGeom>
              <a:solidFill>
                <a:srgbClr val="DADCE0"/>
              </a:solidFill>
              <a:ln>
                <a:noFill/>
              </a:ln>
            </p:spPr>
            <p:txBody>
              <a:bodyPr/>
              <a:lstStyle/>
              <a:p>
                <a:endParaRPr lang="zh-CN" altLang="en-US"/>
              </a:p>
            </p:txBody>
          </p:sp>
          <p:sp>
            <p:nvSpPr>
              <p:cNvPr id="56" name="Ellipse 56"/>
              <p:cNvSpPr/>
              <p:nvPr/>
            </p:nvSpPr>
            <p:spPr>
              <a:xfrm>
                <a:off x="5319712" y="6081712"/>
                <a:ext cx="28575" cy="28575"/>
              </a:xfrm>
              <a:prstGeom prst="ellipse">
                <a:avLst/>
              </a:prstGeom>
              <a:solidFill>
                <a:srgbClr val="DADCE0"/>
              </a:solidFill>
              <a:ln>
                <a:noFill/>
              </a:ln>
            </p:spPr>
            <p:txBody>
              <a:bodyPr/>
              <a:lstStyle/>
              <a:p>
                <a:endParaRPr lang="zh-CN" altLang="en-US"/>
              </a:p>
            </p:txBody>
          </p:sp>
          <p:sp>
            <p:nvSpPr>
              <p:cNvPr id="57" name="Ellipse 57"/>
              <p:cNvSpPr/>
              <p:nvPr/>
            </p:nvSpPr>
            <p:spPr>
              <a:xfrm>
                <a:off x="6081712" y="6081712"/>
                <a:ext cx="28575" cy="28575"/>
              </a:xfrm>
              <a:prstGeom prst="ellipse">
                <a:avLst/>
              </a:prstGeom>
              <a:solidFill>
                <a:srgbClr val="DADCE0"/>
              </a:solidFill>
              <a:ln>
                <a:noFill/>
              </a:ln>
            </p:spPr>
            <p:txBody>
              <a:bodyPr/>
              <a:lstStyle/>
              <a:p>
                <a:endParaRPr lang="zh-CN" altLang="en-US"/>
              </a:p>
            </p:txBody>
          </p:sp>
          <p:sp>
            <p:nvSpPr>
              <p:cNvPr id="58" name="Ellipse 58"/>
              <p:cNvSpPr/>
              <p:nvPr/>
            </p:nvSpPr>
            <p:spPr>
              <a:xfrm>
                <a:off x="6843712" y="6081712"/>
                <a:ext cx="28575" cy="28575"/>
              </a:xfrm>
              <a:prstGeom prst="ellipse">
                <a:avLst/>
              </a:prstGeom>
              <a:solidFill>
                <a:srgbClr val="DADCE0"/>
              </a:solidFill>
              <a:ln>
                <a:noFill/>
              </a:ln>
            </p:spPr>
            <p:txBody>
              <a:bodyPr/>
              <a:lstStyle/>
              <a:p>
                <a:endParaRPr lang="zh-CN" altLang="en-US"/>
              </a:p>
            </p:txBody>
          </p:sp>
          <p:sp>
            <p:nvSpPr>
              <p:cNvPr id="59" name="Ellipse 59"/>
              <p:cNvSpPr/>
              <p:nvPr/>
            </p:nvSpPr>
            <p:spPr>
              <a:xfrm>
                <a:off x="7605712" y="6081712"/>
                <a:ext cx="28575" cy="28575"/>
              </a:xfrm>
              <a:prstGeom prst="ellipse">
                <a:avLst/>
              </a:prstGeom>
              <a:solidFill>
                <a:srgbClr val="DADCE0"/>
              </a:solidFill>
              <a:ln>
                <a:noFill/>
              </a:ln>
            </p:spPr>
            <p:txBody>
              <a:bodyPr/>
              <a:lstStyle/>
              <a:p>
                <a:endParaRPr lang="zh-CN" altLang="en-US"/>
              </a:p>
            </p:txBody>
          </p:sp>
          <p:sp>
            <p:nvSpPr>
              <p:cNvPr id="60" name="Ellipse 60"/>
              <p:cNvSpPr/>
              <p:nvPr/>
            </p:nvSpPr>
            <p:spPr>
              <a:xfrm>
                <a:off x="8367712" y="6081712"/>
                <a:ext cx="28575" cy="28575"/>
              </a:xfrm>
              <a:prstGeom prst="ellipse">
                <a:avLst/>
              </a:prstGeom>
              <a:solidFill>
                <a:srgbClr val="DADCE0"/>
              </a:solidFill>
              <a:ln>
                <a:noFill/>
              </a:ln>
            </p:spPr>
            <p:txBody>
              <a:bodyPr/>
              <a:lstStyle/>
              <a:p>
                <a:endParaRPr lang="zh-CN" altLang="en-US"/>
              </a:p>
            </p:txBody>
          </p:sp>
          <p:sp>
            <p:nvSpPr>
              <p:cNvPr id="61" name="Ellipse 61"/>
              <p:cNvSpPr/>
              <p:nvPr/>
            </p:nvSpPr>
            <p:spPr>
              <a:xfrm>
                <a:off x="9129712" y="6081712"/>
                <a:ext cx="28575" cy="28575"/>
              </a:xfrm>
              <a:prstGeom prst="ellipse">
                <a:avLst/>
              </a:prstGeom>
              <a:solidFill>
                <a:srgbClr val="DADCE0"/>
              </a:solidFill>
              <a:ln>
                <a:noFill/>
              </a:ln>
            </p:spPr>
            <p:txBody>
              <a:bodyPr/>
              <a:lstStyle/>
              <a:p>
                <a:endParaRPr lang="zh-CN" altLang="en-US"/>
              </a:p>
            </p:txBody>
          </p:sp>
          <p:sp>
            <p:nvSpPr>
              <p:cNvPr id="62" name="Ellipse 62"/>
              <p:cNvSpPr/>
              <p:nvPr/>
            </p:nvSpPr>
            <p:spPr>
              <a:xfrm>
                <a:off x="9891712" y="6081712"/>
                <a:ext cx="28575" cy="28575"/>
              </a:xfrm>
              <a:prstGeom prst="ellipse">
                <a:avLst/>
              </a:prstGeom>
              <a:solidFill>
                <a:srgbClr val="DADCE0"/>
              </a:solidFill>
              <a:ln>
                <a:noFill/>
              </a:ln>
            </p:spPr>
            <p:txBody>
              <a:bodyPr/>
              <a:lstStyle/>
              <a:p>
                <a:endParaRPr lang="zh-CN" altLang="en-US"/>
              </a:p>
            </p:txBody>
          </p:sp>
          <p:sp>
            <p:nvSpPr>
              <p:cNvPr id="63" name="Ellipse 63"/>
              <p:cNvSpPr/>
              <p:nvPr/>
            </p:nvSpPr>
            <p:spPr>
              <a:xfrm>
                <a:off x="10653712" y="6081712"/>
                <a:ext cx="28575" cy="28575"/>
              </a:xfrm>
              <a:prstGeom prst="ellipse">
                <a:avLst/>
              </a:prstGeom>
              <a:solidFill>
                <a:srgbClr val="DADCE0"/>
              </a:solidFill>
              <a:ln>
                <a:noFill/>
              </a:ln>
            </p:spPr>
            <p:txBody>
              <a:bodyPr/>
              <a:lstStyle/>
              <a:p>
                <a:endParaRPr lang="zh-CN" altLang="en-US"/>
              </a:p>
            </p:txBody>
          </p:sp>
          <p:sp>
            <p:nvSpPr>
              <p:cNvPr id="64" name="Ellipse 64"/>
              <p:cNvSpPr/>
              <p:nvPr/>
            </p:nvSpPr>
            <p:spPr>
              <a:xfrm>
                <a:off x="11415712" y="6081712"/>
                <a:ext cx="28575" cy="28575"/>
              </a:xfrm>
              <a:prstGeom prst="ellipse">
                <a:avLst/>
              </a:prstGeom>
              <a:solidFill>
                <a:srgbClr val="DADCE0"/>
              </a:solidFill>
              <a:ln>
                <a:noFill/>
              </a:ln>
            </p:spPr>
            <p:txBody>
              <a:bodyPr/>
              <a:lstStyle/>
              <a:p>
                <a:endParaRPr lang="zh-CN" altLang="en-US"/>
              </a:p>
            </p:txBody>
          </p:sp>
        </p:grpSp>
        <p:sp>
          <p:nvSpPr>
            <p:cNvPr id="66" name="Rectangle 66"/>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67" name="Rectangle 67"/>
            <p:cNvSpPr/>
            <p:nvPr/>
          </p:nvSpPr>
          <p:spPr>
            <a:xfrm>
              <a:off x="0" y="6829425"/>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68" name="Rectangle 68"/>
            <p:cNvSpPr/>
            <p:nvPr/>
          </p:nvSpPr>
          <p:spPr>
            <a:xfrm>
              <a:off x="571500" y="1905000"/>
              <a:ext cx="28575" cy="3048000"/>
            </a:xfrm>
            <a:prstGeom prst="rect">
              <a:avLst/>
            </a:prstGeom>
            <a:gradFill>
              <a:gsLst>
                <a:gs pos="0">
                  <a:srgbClr val="4285F4">
                    <a:alpha val="40000"/>
                  </a:srgbClr>
                </a:gs>
                <a:gs pos="100000">
                  <a:srgbClr val="9334E6">
                    <a:alpha val="40000"/>
                  </a:srgbClr>
                </a:gs>
              </a:gsLst>
              <a:lin ang="0" scaled="1"/>
            </a:gradFill>
            <a:ln>
              <a:noFill/>
            </a:ln>
          </p:spPr>
          <p:txBody>
            <a:bodyPr/>
            <a:lstStyle/>
            <a:p>
              <a:endParaRPr lang="zh-CN" altLang="en-US"/>
            </a:p>
          </p:txBody>
        </p:sp>
        <p:sp>
          <p:nvSpPr>
            <p:cNvPr id="69" name="TextBox 69"/>
            <p:cNvSpPr txBox="1"/>
            <p:nvPr/>
          </p:nvSpPr>
          <p:spPr>
            <a:xfrm>
              <a:off x="8750618" y="1228249"/>
              <a:ext cx="587240" cy="198120"/>
            </a:xfrm>
            <a:prstGeom prst="rect">
              <a:avLst/>
            </a:prstGeom>
            <a:noFill/>
            <a:ln>
              <a:noFill/>
            </a:ln>
          </p:spPr>
          <p:txBody>
            <a:bodyPr wrap="none" lIns="0" tIns="0" rIns="0" bIns="0" anchor="t" anchorCtr="0">
              <a:spAutoFit/>
            </a:bodyPr>
            <a:lstStyle/>
            <a:p>
              <a:pPr algn="l"/>
              <a:r>
                <a:rPr lang="zh-CN" sz="975" dirty="0">
                  <a:solidFill>
                    <a:srgbClr val="DADCE0"/>
                  </a:solidFill>
                  <a:latin typeface="Consolas"/>
                  <a:ea typeface="Microsoft YaHei"/>
                  <a:cs typeface="Consolas"/>
                </a:rPr>
                <a:t>let p = T</a:t>
              </a:r>
            </a:p>
          </p:txBody>
        </p:sp>
        <p:sp>
          <p:nvSpPr>
            <p:cNvPr id="70" name="TextBox 70"/>
            <p:cNvSpPr txBox="1"/>
            <p:nvPr/>
          </p:nvSpPr>
          <p:spPr>
            <a:xfrm>
              <a:off x="8750618" y="1418749"/>
              <a:ext cx="587240" cy="198120"/>
            </a:xfrm>
            <a:prstGeom prst="rect">
              <a:avLst/>
            </a:prstGeom>
            <a:noFill/>
            <a:ln>
              <a:noFill/>
            </a:ln>
          </p:spPr>
          <p:txBody>
            <a:bodyPr wrap="none" lIns="0" tIns="0" rIns="0" bIns="0" anchor="t" anchorCtr="0">
              <a:spAutoFit/>
            </a:bodyPr>
            <a:lstStyle/>
            <a:p>
              <a:pPr algn="l"/>
              <a:r>
                <a:rPr lang="zh-CN" sz="975" dirty="0">
                  <a:solidFill>
                    <a:srgbClr val="DADCE0"/>
                  </a:solidFill>
                  <a:latin typeface="Consolas"/>
                  <a:ea typeface="Microsoft YaHei"/>
                  <a:cs typeface="Consolas"/>
                </a:rPr>
                <a:t>let q = F</a:t>
              </a:r>
            </a:p>
          </p:txBody>
        </p:sp>
        <p:sp>
          <p:nvSpPr>
            <p:cNvPr id="71" name="TextBox 71"/>
            <p:cNvSpPr txBox="1"/>
            <p:nvPr/>
          </p:nvSpPr>
          <p:spPr>
            <a:xfrm>
              <a:off x="8750618" y="1609249"/>
              <a:ext cx="2068187" cy="198120"/>
            </a:xfrm>
            <a:prstGeom prst="rect">
              <a:avLst/>
            </a:prstGeom>
            <a:noFill/>
            <a:ln>
              <a:noFill/>
            </a:ln>
          </p:spPr>
          <p:txBody>
            <a:bodyPr wrap="none" lIns="0" tIns="0" rIns="0" bIns="0" anchor="t" anchorCtr="0">
              <a:spAutoFit/>
            </a:bodyPr>
            <a:lstStyle/>
            <a:p>
              <a:pPr algn="l"/>
              <a:r>
                <a:rPr lang="zh-CN" sz="975" dirty="0">
                  <a:solidFill>
                    <a:srgbClr val="DADCE0"/>
                  </a:solidFill>
                  <a:latin typeface="Consolas"/>
                  <a:ea typeface="Microsoft YaHei"/>
                  <a:cs typeface="Consolas"/>
                </a:rPr>
                <a:t>let r = (NOT ((NOT p) AND q))</a:t>
              </a:r>
            </a:p>
          </p:txBody>
        </p:sp>
        <p:sp>
          <p:nvSpPr>
            <p:cNvPr id="72" name="TextBox 72"/>
            <p:cNvSpPr txBox="1"/>
            <p:nvPr/>
          </p:nvSpPr>
          <p:spPr>
            <a:xfrm>
              <a:off x="8750618" y="1799749"/>
              <a:ext cx="1142595" cy="198120"/>
            </a:xfrm>
            <a:prstGeom prst="rect">
              <a:avLst/>
            </a:prstGeom>
            <a:noFill/>
            <a:ln>
              <a:noFill/>
            </a:ln>
          </p:spPr>
          <p:txBody>
            <a:bodyPr wrap="none" lIns="0" tIns="0" rIns="0" bIns="0" anchor="t" anchorCtr="0">
              <a:spAutoFit/>
            </a:bodyPr>
            <a:lstStyle/>
            <a:p>
              <a:pPr algn="l"/>
              <a:r>
                <a:rPr lang="zh-CN" sz="975" dirty="0">
                  <a:solidFill>
                    <a:srgbClr val="DADCE0"/>
                  </a:solidFill>
                  <a:latin typeface="Consolas"/>
                  <a:ea typeface="Microsoft YaHei"/>
                  <a:cs typeface="Consolas"/>
                </a:rPr>
                <a:t>if r then print p</a:t>
              </a:r>
            </a:p>
          </p:txBody>
        </p:sp>
      </p:grpSp>
      <p:grpSp>
        <p:nvGrpSpPr>
          <p:cNvPr id="85" name="Group 85"/>
          <p:cNvGrpSpPr/>
          <p:nvPr/>
        </p:nvGrpSpPr>
        <p:grpSpPr>
          <a:xfrm>
            <a:off x="3733800" y="2095500"/>
            <a:ext cx="5181600" cy="250031"/>
            <a:chOff x="3733800" y="2095500"/>
            <a:chExt cx="5181600" cy="250031"/>
          </a:xfrm>
        </p:grpSpPr>
        <p:sp>
          <p:nvSpPr>
            <p:cNvPr id="74" name="Rectangle 74"/>
            <p:cNvSpPr/>
            <p:nvPr/>
          </p:nvSpPr>
          <p:spPr>
            <a:xfrm>
              <a:off x="3733800" y="2095500"/>
              <a:ext cx="1143000" cy="247650"/>
            </a:xfrm>
            <a:prstGeom prst="roundRect">
              <a:avLst>
                <a:gd name="adj" fmla="val 50000"/>
              </a:avLst>
            </a:prstGeom>
            <a:solidFill>
              <a:srgbClr val="4285F4">
                <a:alpha val="12000"/>
              </a:srgbClr>
            </a:solidFill>
            <a:ln w="9525">
              <a:solidFill>
                <a:srgbClr val="4285F4">
                  <a:alpha val="30000"/>
                </a:srgbClr>
              </a:solidFill>
            </a:ln>
          </p:spPr>
          <p:txBody>
            <a:bodyPr/>
            <a:lstStyle/>
            <a:p>
              <a:endParaRPr lang="zh-CN" altLang="en-US"/>
            </a:p>
          </p:txBody>
        </p:sp>
        <p:sp>
          <p:nvSpPr>
            <p:cNvPr id="75" name="TextBox 75"/>
            <p:cNvSpPr txBox="1"/>
            <p:nvPr/>
          </p:nvSpPr>
          <p:spPr>
            <a:xfrm>
              <a:off x="4129147" y="2177891"/>
              <a:ext cx="352306" cy="167640"/>
            </a:xfrm>
            <a:prstGeom prst="rect">
              <a:avLst/>
            </a:prstGeom>
            <a:noFill/>
            <a:ln>
              <a:noFill/>
            </a:ln>
          </p:spPr>
          <p:txBody>
            <a:bodyPr wrap="none" lIns="0" tIns="0" rIns="0" bIns="0" anchor="t" anchorCtr="0">
              <a:spAutoFit/>
            </a:bodyPr>
            <a:lstStyle/>
            <a:p>
              <a:pPr algn="ctr"/>
              <a:r>
                <a:rPr lang="zh-CN" sz="825" dirty="0">
                  <a:solidFill>
                    <a:srgbClr val="4285F4"/>
                  </a:solidFill>
                  <a:latin typeface="Segoe UI"/>
                  <a:ea typeface="Microsoft YaHei"/>
                  <a:cs typeface="Segoe UI"/>
                </a:rPr>
                <a:t>LEXER</a:t>
              </a:r>
            </a:p>
          </p:txBody>
        </p:sp>
        <p:sp>
          <p:nvSpPr>
            <p:cNvPr id="76" name="Rectangle 76"/>
            <p:cNvSpPr/>
            <p:nvPr/>
          </p:nvSpPr>
          <p:spPr>
            <a:xfrm>
              <a:off x="5048250" y="2095500"/>
              <a:ext cx="1143000" cy="247650"/>
            </a:xfrm>
            <a:prstGeom prst="roundRect">
              <a:avLst>
                <a:gd name="adj" fmla="val 50000"/>
              </a:avLst>
            </a:prstGeom>
            <a:solidFill>
              <a:srgbClr val="34A853">
                <a:alpha val="12000"/>
              </a:srgbClr>
            </a:solidFill>
            <a:ln w="9525">
              <a:solidFill>
                <a:srgbClr val="34A853">
                  <a:alpha val="30000"/>
                </a:srgbClr>
              </a:solidFill>
            </a:ln>
          </p:spPr>
          <p:txBody>
            <a:bodyPr/>
            <a:lstStyle/>
            <a:p>
              <a:endParaRPr lang="zh-CN" altLang="en-US"/>
            </a:p>
          </p:txBody>
        </p:sp>
        <p:sp>
          <p:nvSpPr>
            <p:cNvPr id="77" name="TextBox 77"/>
            <p:cNvSpPr txBox="1"/>
            <p:nvPr/>
          </p:nvSpPr>
          <p:spPr>
            <a:xfrm>
              <a:off x="5410462" y="2177891"/>
              <a:ext cx="418576" cy="167640"/>
            </a:xfrm>
            <a:prstGeom prst="rect">
              <a:avLst/>
            </a:prstGeom>
            <a:noFill/>
            <a:ln>
              <a:noFill/>
            </a:ln>
          </p:spPr>
          <p:txBody>
            <a:bodyPr wrap="none" lIns="0" tIns="0" rIns="0" bIns="0" anchor="t" anchorCtr="0">
              <a:spAutoFit/>
            </a:bodyPr>
            <a:lstStyle/>
            <a:p>
              <a:pPr algn="ctr"/>
              <a:r>
                <a:rPr lang="zh-CN" sz="825" dirty="0">
                  <a:solidFill>
                    <a:srgbClr val="34A853"/>
                  </a:solidFill>
                  <a:latin typeface="Segoe UI"/>
                  <a:ea typeface="Microsoft YaHei"/>
                  <a:cs typeface="Segoe UI"/>
                </a:rPr>
                <a:t>PARSER</a:t>
              </a:r>
            </a:p>
          </p:txBody>
        </p:sp>
        <p:sp>
          <p:nvSpPr>
            <p:cNvPr id="78" name="Rectangle 78"/>
            <p:cNvSpPr/>
            <p:nvPr/>
          </p:nvSpPr>
          <p:spPr>
            <a:xfrm>
              <a:off x="6362700" y="2095500"/>
              <a:ext cx="1143000" cy="247650"/>
            </a:xfrm>
            <a:prstGeom prst="roundRect">
              <a:avLst>
                <a:gd name="adj" fmla="val 50000"/>
              </a:avLst>
            </a:prstGeom>
            <a:solidFill>
              <a:srgbClr val="9334E6">
                <a:alpha val="12000"/>
              </a:srgbClr>
            </a:solidFill>
            <a:ln w="9525">
              <a:solidFill>
                <a:srgbClr val="9334E6">
                  <a:alpha val="30000"/>
                </a:srgbClr>
              </a:solidFill>
            </a:ln>
          </p:spPr>
          <p:txBody>
            <a:bodyPr/>
            <a:lstStyle/>
            <a:p>
              <a:endParaRPr lang="zh-CN" altLang="en-US"/>
            </a:p>
          </p:txBody>
        </p:sp>
        <p:sp>
          <p:nvSpPr>
            <p:cNvPr id="79" name="TextBox 79"/>
            <p:cNvSpPr txBox="1"/>
            <p:nvPr/>
          </p:nvSpPr>
          <p:spPr>
            <a:xfrm>
              <a:off x="6631531" y="2177891"/>
              <a:ext cx="605338" cy="167640"/>
            </a:xfrm>
            <a:prstGeom prst="rect">
              <a:avLst/>
            </a:prstGeom>
            <a:noFill/>
            <a:ln>
              <a:noFill/>
            </a:ln>
          </p:spPr>
          <p:txBody>
            <a:bodyPr wrap="none" lIns="0" tIns="0" rIns="0" bIns="0" anchor="t" anchorCtr="0">
              <a:spAutoFit/>
            </a:bodyPr>
            <a:lstStyle/>
            <a:p>
              <a:pPr algn="ctr"/>
              <a:r>
                <a:rPr lang="zh-CN" sz="825" dirty="0">
                  <a:solidFill>
                    <a:srgbClr val="9334E6"/>
                  </a:solidFill>
                  <a:latin typeface="Segoe UI"/>
                  <a:ea typeface="Microsoft YaHei"/>
                  <a:cs typeface="Segoe UI"/>
                </a:rPr>
                <a:t>OPTIMIZER</a:t>
              </a:r>
            </a:p>
          </p:txBody>
        </p:sp>
        <p:sp>
          <p:nvSpPr>
            <p:cNvPr id="80" name="Rectangle 80"/>
            <p:cNvSpPr/>
            <p:nvPr/>
          </p:nvSpPr>
          <p:spPr>
            <a:xfrm>
              <a:off x="7677150" y="2095500"/>
              <a:ext cx="1238250" cy="247650"/>
            </a:xfrm>
            <a:prstGeom prst="roundRect">
              <a:avLst>
                <a:gd name="adj" fmla="val 50000"/>
              </a:avLst>
            </a:prstGeom>
            <a:solidFill>
              <a:srgbClr val="1E8E3E">
                <a:alpha val="12000"/>
              </a:srgbClr>
            </a:solidFill>
            <a:ln w="9525">
              <a:solidFill>
                <a:srgbClr val="1E8E3E">
                  <a:alpha val="30000"/>
                </a:srgbClr>
              </a:solidFill>
            </a:ln>
          </p:spPr>
          <p:txBody>
            <a:bodyPr/>
            <a:lstStyle/>
            <a:p>
              <a:endParaRPr lang="zh-CN" altLang="en-US"/>
            </a:p>
          </p:txBody>
        </p:sp>
        <p:sp>
          <p:nvSpPr>
            <p:cNvPr id="81" name="TextBox 81"/>
            <p:cNvSpPr txBox="1"/>
            <p:nvPr/>
          </p:nvSpPr>
          <p:spPr>
            <a:xfrm>
              <a:off x="7990594" y="2177891"/>
              <a:ext cx="611362" cy="167640"/>
            </a:xfrm>
            <a:prstGeom prst="rect">
              <a:avLst/>
            </a:prstGeom>
            <a:noFill/>
            <a:ln>
              <a:noFill/>
            </a:ln>
          </p:spPr>
          <p:txBody>
            <a:bodyPr wrap="none" lIns="0" tIns="0" rIns="0" bIns="0" anchor="t" anchorCtr="0">
              <a:spAutoFit/>
            </a:bodyPr>
            <a:lstStyle/>
            <a:p>
              <a:pPr algn="ctr"/>
              <a:r>
                <a:rPr lang="zh-CN" sz="825" dirty="0">
                  <a:solidFill>
                    <a:srgbClr val="1E8E3E"/>
                  </a:solidFill>
                  <a:latin typeface="Segoe UI"/>
                  <a:ea typeface="Microsoft YaHei"/>
                  <a:cs typeface="Segoe UI"/>
                </a:rPr>
                <a:t>EXECUTION</a:t>
              </a:r>
            </a:p>
          </p:txBody>
        </p:sp>
        <p:sp>
          <p:nvSpPr>
            <p:cNvPr id="82" name="Ellipse 82"/>
            <p:cNvSpPr/>
            <p:nvPr/>
          </p:nvSpPr>
          <p:spPr>
            <a:xfrm>
              <a:off x="4972050" y="2200275"/>
              <a:ext cx="38100" cy="38100"/>
            </a:xfrm>
            <a:prstGeom prst="ellipse">
              <a:avLst/>
            </a:prstGeom>
            <a:solidFill>
              <a:srgbClr val="DADCE0"/>
            </a:solidFill>
            <a:ln>
              <a:noFill/>
            </a:ln>
          </p:spPr>
          <p:txBody>
            <a:bodyPr/>
            <a:lstStyle/>
            <a:p>
              <a:endParaRPr lang="zh-CN" altLang="en-US"/>
            </a:p>
          </p:txBody>
        </p:sp>
        <p:sp>
          <p:nvSpPr>
            <p:cNvPr id="83" name="Ellipse 83"/>
            <p:cNvSpPr/>
            <p:nvPr/>
          </p:nvSpPr>
          <p:spPr>
            <a:xfrm>
              <a:off x="6286500" y="2200275"/>
              <a:ext cx="38100" cy="38100"/>
            </a:xfrm>
            <a:prstGeom prst="ellipse">
              <a:avLst/>
            </a:prstGeom>
            <a:solidFill>
              <a:srgbClr val="DADCE0"/>
            </a:solidFill>
            <a:ln>
              <a:noFill/>
            </a:ln>
          </p:spPr>
          <p:txBody>
            <a:bodyPr/>
            <a:lstStyle/>
            <a:p>
              <a:endParaRPr lang="zh-CN" altLang="en-US"/>
            </a:p>
          </p:txBody>
        </p:sp>
        <p:sp>
          <p:nvSpPr>
            <p:cNvPr id="84" name="Ellipse 84"/>
            <p:cNvSpPr/>
            <p:nvPr/>
          </p:nvSpPr>
          <p:spPr>
            <a:xfrm>
              <a:off x="7600950" y="2200275"/>
              <a:ext cx="38100" cy="38100"/>
            </a:xfrm>
            <a:prstGeom prst="ellipse">
              <a:avLst/>
            </a:prstGeom>
            <a:solidFill>
              <a:srgbClr val="DADCE0"/>
            </a:solidFill>
            <a:ln>
              <a:noFill/>
            </a:ln>
          </p:spPr>
          <p:txBody>
            <a:bodyPr/>
            <a:lstStyle/>
            <a:p>
              <a:endParaRPr lang="zh-CN" altLang="en-US"/>
            </a:p>
          </p:txBody>
        </p:sp>
      </p:grpSp>
      <p:grpSp>
        <p:nvGrpSpPr>
          <p:cNvPr id="88" name="Group 88"/>
          <p:cNvGrpSpPr/>
          <p:nvPr/>
        </p:nvGrpSpPr>
        <p:grpSpPr>
          <a:xfrm>
            <a:off x="2520201" y="2720340"/>
            <a:ext cx="7151599" cy="1737360"/>
            <a:chOff x="2520201" y="2720340"/>
            <a:chExt cx="7151599" cy="1737360"/>
          </a:xfrm>
        </p:grpSpPr>
        <p:sp>
          <p:nvSpPr>
            <p:cNvPr id="86" name="TextBox 86"/>
            <p:cNvSpPr txBox="1"/>
            <p:nvPr/>
          </p:nvSpPr>
          <p:spPr>
            <a:xfrm>
              <a:off x="3866607" y="2720340"/>
              <a:ext cx="4458785" cy="738664"/>
            </a:xfrm>
            <a:prstGeom prst="rect">
              <a:avLst/>
            </a:prstGeom>
            <a:noFill/>
            <a:ln>
              <a:noFill/>
            </a:ln>
          </p:spPr>
          <p:txBody>
            <a:bodyPr wrap="none" lIns="0" tIns="0" rIns="0" bIns="0" anchor="t" anchorCtr="0">
              <a:spAutoFit/>
            </a:bodyPr>
            <a:lstStyle/>
            <a:p>
              <a:pPr algn="ctr"/>
              <a:r>
                <a:rPr lang="zh-CN" sz="4800" b="1" dirty="0">
                  <a:solidFill>
                    <a:schemeClr val="tx2"/>
                  </a:solidFill>
                  <a:effectLst>
                    <a:glow rad="76200">
                      <a:srgbClr val="4285F4">
                        <a:alpha val="35000"/>
                      </a:srgbClr>
                    </a:glow>
                  </a:effectLst>
                  <a:latin typeface="Segoe UI"/>
                  <a:ea typeface="Microsoft YaHei"/>
                  <a:cs typeface="Segoe UI"/>
                </a:rPr>
                <a:t>The LogicScript</a:t>
              </a:r>
            </a:p>
          </p:txBody>
        </p:sp>
        <p:sp>
          <p:nvSpPr>
            <p:cNvPr id="87" name="TextBox 87"/>
            <p:cNvSpPr txBox="1"/>
            <p:nvPr/>
          </p:nvSpPr>
          <p:spPr>
            <a:xfrm>
              <a:off x="2520201" y="3482340"/>
              <a:ext cx="7151599" cy="975360"/>
            </a:xfrm>
            <a:prstGeom prst="rect">
              <a:avLst/>
            </a:prstGeom>
            <a:noFill/>
            <a:ln>
              <a:noFill/>
            </a:ln>
          </p:spPr>
          <p:txBody>
            <a:bodyPr wrap="none" lIns="0" tIns="0" rIns="0" bIns="0" anchor="t" anchorCtr="0">
              <a:spAutoFit/>
            </a:bodyPr>
            <a:lstStyle/>
            <a:p>
              <a:pPr algn="ctr"/>
              <a:r>
                <a:rPr lang="zh-CN" sz="4800" b="1" dirty="0">
                  <a:solidFill>
                    <a:srgbClr val="202124"/>
                  </a:solidFill>
                  <a:latin typeface="Segoe UI"/>
                  <a:ea typeface="Microsoft YaHei"/>
                  <a:cs typeface="Segoe UI"/>
                </a:rPr>
                <a:t>Optimizing Compiler</a:t>
              </a:r>
            </a:p>
          </p:txBody>
        </p:sp>
      </p:grpSp>
      <p:grpSp>
        <p:nvGrpSpPr>
          <p:cNvPr id="91" name="Group 91"/>
          <p:cNvGrpSpPr/>
          <p:nvPr/>
        </p:nvGrpSpPr>
        <p:grpSpPr>
          <a:xfrm>
            <a:off x="3732848" y="4314825"/>
            <a:ext cx="4726305" cy="342900"/>
            <a:chOff x="3732848" y="4314825"/>
            <a:chExt cx="4726305" cy="342900"/>
          </a:xfrm>
        </p:grpSpPr>
        <p:sp>
          <p:nvSpPr>
            <p:cNvPr id="89" name="TextBox 89"/>
            <p:cNvSpPr txBox="1"/>
            <p:nvPr/>
          </p:nvSpPr>
          <p:spPr>
            <a:xfrm>
              <a:off x="3732848" y="4314825"/>
              <a:ext cx="4726305" cy="304800"/>
            </a:xfrm>
            <a:prstGeom prst="rect">
              <a:avLst/>
            </a:prstGeom>
            <a:noFill/>
            <a:ln>
              <a:noFill/>
            </a:ln>
          </p:spPr>
          <p:txBody>
            <a:bodyPr wrap="none" lIns="0" tIns="0" rIns="0" bIns="0" anchor="t" anchorCtr="0">
              <a:spAutoFit/>
            </a:bodyPr>
            <a:lstStyle/>
            <a:p>
              <a:pPr algn="ctr"/>
              <a:r>
                <a:rPr lang="zh-CN" sz="1500" dirty="0">
                  <a:solidFill>
                    <a:srgbClr val="5F6368"/>
                  </a:solidFill>
                  <a:latin typeface="Segoe UI"/>
                  <a:ea typeface="Microsoft YaHei"/>
                  <a:cs typeface="Segoe UI"/>
                </a:rPr>
                <a:t>A Four-Phase Boolean Logic Compiler Pipeline</a:t>
              </a:r>
            </a:p>
          </p:txBody>
        </p:sp>
        <p:sp>
          <p:nvSpPr>
            <p:cNvPr id="90" name="Rectangle 90"/>
            <p:cNvSpPr/>
            <p:nvPr/>
          </p:nvSpPr>
          <p:spPr>
            <a:xfrm>
              <a:off x="4762500" y="4648200"/>
              <a:ext cx="2667000" cy="9525"/>
            </a:xfrm>
            <a:prstGeom prst="rect">
              <a:avLst/>
            </a:prstGeom>
            <a:solidFill>
              <a:srgbClr val="DADCE0"/>
            </a:solidFill>
            <a:ln>
              <a:noFill/>
            </a:ln>
          </p:spPr>
          <p:txBody>
            <a:bodyPr/>
            <a:lstStyle/>
            <a:p>
              <a:endParaRPr lang="zh-CN" altLang="en-US"/>
            </a:p>
          </p:txBody>
        </p:sp>
      </p:grpSp>
      <p:grpSp>
        <p:nvGrpSpPr>
          <p:cNvPr id="94" name="Group 94"/>
          <p:cNvGrpSpPr/>
          <p:nvPr/>
        </p:nvGrpSpPr>
        <p:grpSpPr>
          <a:xfrm>
            <a:off x="4697432" y="4831556"/>
            <a:ext cx="2797135" cy="450056"/>
            <a:chOff x="4697432" y="4831556"/>
            <a:chExt cx="2797135" cy="450056"/>
          </a:xfrm>
        </p:grpSpPr>
        <p:sp>
          <p:nvSpPr>
            <p:cNvPr id="92" name="TextBox 92"/>
            <p:cNvSpPr txBox="1"/>
            <p:nvPr/>
          </p:nvSpPr>
          <p:spPr>
            <a:xfrm>
              <a:off x="4697432" y="4831556"/>
              <a:ext cx="2797135" cy="228600"/>
            </a:xfrm>
            <a:prstGeom prst="rect">
              <a:avLst/>
            </a:prstGeom>
            <a:noFill/>
            <a:ln>
              <a:noFill/>
            </a:ln>
          </p:spPr>
          <p:txBody>
            <a:bodyPr wrap="none" lIns="0" tIns="0" rIns="0" bIns="0" anchor="t" anchorCtr="0">
              <a:spAutoFit/>
            </a:bodyPr>
            <a:lstStyle/>
            <a:p>
              <a:pPr algn="ctr"/>
              <a:r>
                <a:rPr lang="zh-CN" sz="1125" dirty="0">
                  <a:solidFill>
                    <a:srgbClr val="5F6368"/>
                  </a:solidFill>
                  <a:latin typeface="Segoe UI"/>
                  <a:ea typeface="Microsoft YaHei"/>
                  <a:cs typeface="Segoe UI"/>
                </a:rPr>
                <a:t>Shiyuan Lin · Ruikai Li · Fanqiao Lin</a:t>
              </a:r>
            </a:p>
          </p:txBody>
        </p:sp>
        <p:sp>
          <p:nvSpPr>
            <p:cNvPr id="93" name="TextBox 93"/>
            <p:cNvSpPr txBox="1"/>
            <p:nvPr/>
          </p:nvSpPr>
          <p:spPr>
            <a:xfrm>
              <a:off x="5082040" y="5068252"/>
              <a:ext cx="2027920" cy="213360"/>
            </a:xfrm>
            <a:prstGeom prst="rect">
              <a:avLst/>
            </a:prstGeom>
            <a:noFill/>
            <a:ln>
              <a:noFill/>
            </a:ln>
          </p:spPr>
          <p:txBody>
            <a:bodyPr wrap="none" lIns="0" tIns="0" rIns="0" bIns="0" anchor="t" anchorCtr="0">
              <a:spAutoFit/>
            </a:bodyPr>
            <a:lstStyle/>
            <a:p>
              <a:pPr algn="ctr"/>
              <a:r>
                <a:rPr lang="zh-CN" sz="1050" dirty="0">
                  <a:solidFill>
                    <a:srgbClr val="80868B"/>
                  </a:solidFill>
                  <a:latin typeface="Segoe UI"/>
                  <a:ea typeface="Microsoft YaHei"/>
                  <a:cs typeface="Segoe UI"/>
                </a:rPr>
                <a:t>HKUST-GZ · UFUG2106 · 2026</a:t>
              </a:r>
            </a:p>
          </p:txBody>
        </p:sp>
      </p:grpSp>
      <p:sp>
        <p:nvSpPr>
          <p:cNvPr id="95" name="TextBox 95"/>
          <p:cNvSpPr txBox="1"/>
          <p:nvPr/>
        </p:nvSpPr>
        <p:spPr>
          <a:xfrm>
            <a:off x="11507605" y="657844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01</a:t>
            </a:r>
          </a:p>
        </p:txBody>
      </p:sp>
      <p:pic>
        <p:nvPicPr>
          <p:cNvPr id="100" name="图片 99">
            <a:extLst>
              <a:ext uri="{FF2B5EF4-FFF2-40B4-BE49-F238E27FC236}">
                <a16:creationId xmlns:a16="http://schemas.microsoft.com/office/drawing/2014/main" id="{F6577C15-96FE-37FF-773B-17C3A19CC4B3}"/>
              </a:ext>
            </a:extLst>
          </p:cNvPr>
          <p:cNvPicPr>
            <a:picLocks noChangeAspect="1"/>
          </p:cNvPicPr>
          <p:nvPr/>
        </p:nvPicPr>
        <p:blipFill>
          <a:blip r:embed="rId3"/>
          <a:stretch>
            <a:fillRect/>
          </a:stretch>
        </p:blipFill>
        <p:spPr>
          <a:xfrm>
            <a:off x="113983" y="-49218"/>
            <a:ext cx="3327400" cy="133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5"/>
                                        </p:tgtEl>
                                        <p:attrNameLst>
                                          <p:attrName>style.visibility</p:attrName>
                                        </p:attrNameLst>
                                      </p:cBhvr>
                                      <p:to>
                                        <p:strVal val="visible"/>
                                      </p:to>
                                    </p:set>
                                    <p:animEffect transition="in" filter="fade">
                                      <p:cBhvr>
                                        <p:cTn id="7" dur="500"/>
                                        <p:tgtEl>
                                          <p:spTgt spid="8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88"/>
                                        </p:tgtEl>
                                        <p:attrNameLst>
                                          <p:attrName>style.visibility</p:attrName>
                                        </p:attrNameLst>
                                      </p:cBhvr>
                                      <p:to>
                                        <p:strVal val="visible"/>
                                      </p:to>
                                    </p:set>
                                    <p:animEffect transition="in" filter="fade">
                                      <p:cBhvr>
                                        <p:cTn id="11" dur="500"/>
                                        <p:tgtEl>
                                          <p:spTgt spid="88"/>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91"/>
                                        </p:tgtEl>
                                        <p:attrNameLst>
                                          <p:attrName>style.visibility</p:attrName>
                                        </p:attrNameLst>
                                      </p:cBhvr>
                                      <p:to>
                                        <p:strVal val="visible"/>
                                      </p:to>
                                    </p:set>
                                    <p:animEffect transition="in" filter="fade">
                                      <p:cBhvr>
                                        <p:cTn id="15" dur="500"/>
                                        <p:tgtEl>
                                          <p:spTgt spid="91"/>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4"/>
                                        </p:tgtEl>
                                        <p:attrNameLst>
                                          <p:attrName>style.visibility</p:attrName>
                                        </p:attrNameLst>
                                      </p:cBhvr>
                                      <p:to>
                                        <p:strVal val="visible"/>
                                      </p:to>
                                    </p:set>
                                    <p:animEffect transition="in" filter="fade">
                                      <p:cBhvr>
                                        <p:cTn id="19"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0"/>
      <p:bldP spid="88" grpId="0"/>
      <p:bldP spid="91" grpId="0"/>
      <p:bldP spid="9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3444597" y="394335"/>
            <a:ext cx="5302806" cy="760571"/>
            <a:chOff x="3444597" y="394335"/>
            <a:chExt cx="5302806" cy="760571"/>
          </a:xfrm>
        </p:grpSpPr>
        <p:sp>
          <p:nvSpPr>
            <p:cNvPr id="5" name="TextBox 5"/>
            <p:cNvSpPr txBox="1"/>
            <p:nvPr/>
          </p:nvSpPr>
          <p:spPr>
            <a:xfrm>
              <a:off x="5564848" y="394335"/>
              <a:ext cx="1062304" cy="548640"/>
            </a:xfrm>
            <a:prstGeom prst="rect">
              <a:avLst/>
            </a:prstGeom>
            <a:noFill/>
            <a:ln>
              <a:noFill/>
            </a:ln>
          </p:spPr>
          <p:txBody>
            <a:bodyPr wrap="none" lIns="0" tIns="0" rIns="0" bIns="0" anchor="t" anchorCtr="0">
              <a:spAutoFit/>
            </a:bodyPr>
            <a:lstStyle/>
            <a:p>
              <a:pPr algn="ctr"/>
              <a:r>
                <a:rPr lang="zh-CN" sz="2700" b="1" dirty="0">
                  <a:solidFill>
                    <a:srgbClr val="202124"/>
                  </a:solidFill>
                  <a:latin typeface="Segoe UI"/>
                  <a:ea typeface="Microsoft YaHei"/>
                  <a:cs typeface="Segoe UI"/>
                </a:rPr>
                <a:t>Team</a:t>
              </a:r>
            </a:p>
          </p:txBody>
        </p:sp>
        <p:sp>
          <p:nvSpPr>
            <p:cNvPr id="6" name="Rectangle 6"/>
            <p:cNvSpPr/>
            <p:nvPr/>
          </p:nvSpPr>
          <p:spPr>
            <a:xfrm>
              <a:off x="5524500" y="781050"/>
              <a:ext cx="1143000" cy="28575"/>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7" name="TextBox 7"/>
            <p:cNvSpPr txBox="1"/>
            <p:nvPr/>
          </p:nvSpPr>
          <p:spPr>
            <a:xfrm>
              <a:off x="3444597" y="926306"/>
              <a:ext cx="5302806" cy="228600"/>
            </a:xfrm>
            <a:prstGeom prst="rect">
              <a:avLst/>
            </a:prstGeom>
            <a:noFill/>
            <a:ln>
              <a:noFill/>
            </a:ln>
          </p:spPr>
          <p:txBody>
            <a:bodyPr wrap="none" lIns="0" tIns="0" rIns="0" bIns="0" anchor="t" anchorCtr="0">
              <a:spAutoFit/>
            </a:bodyPr>
            <a:lstStyle/>
            <a:p>
              <a:pPr algn="ctr"/>
              <a:r>
                <a:rPr lang="zh-CN" sz="1125" dirty="0">
                  <a:solidFill>
                    <a:srgbClr val="5F6368"/>
                  </a:solidFill>
                  <a:latin typeface="Segoe UI"/>
                  <a:ea typeface="Microsoft YaHei"/>
                  <a:cs typeface="Segoe UI"/>
                </a:rPr>
                <a:t>Division of labor and shared understanding across the full pipeline</a:t>
              </a:r>
            </a:p>
          </p:txBody>
        </p:sp>
      </p:grpSp>
      <p:grpSp>
        <p:nvGrpSpPr>
          <p:cNvPr id="25" name="Group 25"/>
          <p:cNvGrpSpPr/>
          <p:nvPr/>
        </p:nvGrpSpPr>
        <p:grpSpPr>
          <a:xfrm>
            <a:off x="571500" y="1238250"/>
            <a:ext cx="3429000" cy="3810000"/>
            <a:chOff x="571500" y="1238250"/>
            <a:chExt cx="3429000" cy="3810000"/>
          </a:xfrm>
        </p:grpSpPr>
        <p:sp>
          <p:nvSpPr>
            <p:cNvPr id="9" name="Rectangle 9"/>
            <p:cNvSpPr/>
            <p:nvPr/>
          </p:nvSpPr>
          <p:spPr>
            <a:xfrm>
              <a:off x="571500" y="1238250"/>
              <a:ext cx="3429000" cy="3810000"/>
            </a:xfrm>
            <a:prstGeom prst="roundRect">
              <a:avLst>
                <a:gd name="adj" fmla="val 3889"/>
              </a:avLst>
            </a:prstGeom>
            <a:solidFill>
              <a:srgbClr val="FFFFFF"/>
            </a:solidFill>
            <a:ln w="9525">
              <a:solidFill>
                <a:srgbClr val="4285F4">
                  <a:alpha val="40000"/>
                </a:srgbClr>
              </a:solidFill>
            </a:ln>
          </p:spPr>
          <p:txBody>
            <a:bodyPr/>
            <a:lstStyle/>
            <a:p>
              <a:endParaRPr lang="zh-CN" altLang="en-US"/>
            </a:p>
          </p:txBody>
        </p:sp>
        <p:sp>
          <p:nvSpPr>
            <p:cNvPr id="10" name="Rectangle 10"/>
            <p:cNvSpPr/>
            <p:nvPr/>
          </p:nvSpPr>
          <p:spPr>
            <a:xfrm>
              <a:off x="571500" y="1238250"/>
              <a:ext cx="3429000" cy="38100"/>
            </a:xfrm>
            <a:prstGeom prst="roundRect">
              <a:avLst>
                <a:gd name="adj" fmla="val 50000"/>
              </a:avLst>
            </a:prstGeom>
            <a:solidFill>
              <a:srgbClr val="4285F4"/>
            </a:solidFill>
            <a:ln>
              <a:noFill/>
            </a:ln>
          </p:spPr>
          <p:txBody>
            <a:bodyPr/>
            <a:lstStyle/>
            <a:p>
              <a:endParaRPr lang="zh-CN" altLang="en-US"/>
            </a:p>
          </p:txBody>
        </p:sp>
        <p:sp>
          <p:nvSpPr>
            <p:cNvPr id="11" name="Ellipse 11"/>
            <p:cNvSpPr/>
            <p:nvPr/>
          </p:nvSpPr>
          <p:spPr>
            <a:xfrm>
              <a:off x="1771650" y="1562100"/>
              <a:ext cx="1028700" cy="1028700"/>
            </a:xfrm>
            <a:prstGeom prst="ellipse">
              <a:avLst/>
            </a:prstGeom>
            <a:solidFill>
              <a:srgbClr val="4285F4">
                <a:alpha val="10000"/>
              </a:srgbClr>
            </a:solidFill>
            <a:ln w="14288">
              <a:solidFill>
                <a:srgbClr val="4285F4">
                  <a:alpha val="40000"/>
                </a:srgbClr>
              </a:solidFill>
            </a:ln>
          </p:spPr>
          <p:txBody>
            <a:bodyPr/>
            <a:lstStyle/>
            <a:p>
              <a:endParaRPr lang="zh-CN" altLang="en-US"/>
            </a:p>
          </p:txBody>
        </p:sp>
        <p:grpSp>
          <p:nvGrpSpPr>
            <p:cNvPr id="14" name="Group 14"/>
            <p:cNvGrpSpPr/>
            <p:nvPr/>
          </p:nvGrpSpPr>
          <p:grpSpPr>
            <a:xfrm>
              <a:off x="2152650" y="1885950"/>
              <a:ext cx="266700" cy="381000"/>
              <a:chOff x="2152650" y="1885950"/>
              <a:chExt cx="266700" cy="381000"/>
            </a:xfrm>
          </p:grpSpPr>
          <p:sp>
            <p:nvSpPr>
              <p:cNvPr id="12" name="Freeform 12"/>
              <p:cNvSpPr/>
              <p:nvPr/>
            </p:nvSpPr>
            <p:spPr>
              <a:xfrm>
                <a:off x="2190750" y="1885950"/>
                <a:ext cx="190500" cy="190500"/>
              </a:xfrm>
              <a:custGeom>
                <a:avLst/>
                <a:gdLst/>
                <a:ahLst/>
                <a:cxnLst/>
                <a:rect l="l" t="t" r="r" b="b"/>
                <a:pathLst>
                  <a:path w="190500" h="190500">
                    <a:moveTo>
                      <a:pt x="95250" y="0"/>
                    </a:moveTo>
                    <a:cubicBezTo>
                      <a:pt x="147855" y="0"/>
                      <a:pt x="190500" y="42645"/>
                      <a:pt x="190500" y="95250"/>
                    </a:cubicBezTo>
                    <a:cubicBezTo>
                      <a:pt x="190500" y="147855"/>
                      <a:pt x="147855" y="190500"/>
                      <a:pt x="95250" y="190500"/>
                    </a:cubicBezTo>
                    <a:cubicBezTo>
                      <a:pt x="42645" y="190500"/>
                      <a:pt x="0" y="147855"/>
                      <a:pt x="0" y="95250"/>
                    </a:cubicBezTo>
                    <a:lnTo>
                      <a:pt x="95" y="91116"/>
                    </a:lnTo>
                    <a:cubicBezTo>
                      <a:pt x="2308" y="40169"/>
                      <a:pt x="44255" y="3"/>
                      <a:pt x="95250" y="0"/>
                    </a:cubicBezTo>
                    <a:close/>
                  </a:path>
                </a:pathLst>
              </a:custGeom>
              <a:solidFill>
                <a:srgbClr val="4285F4"/>
              </a:solidFill>
              <a:ln>
                <a:noFill/>
              </a:ln>
            </p:spPr>
            <p:txBody>
              <a:bodyPr/>
              <a:lstStyle/>
              <a:p>
                <a:endParaRPr lang="zh-CN" altLang="en-US"/>
              </a:p>
            </p:txBody>
          </p:sp>
          <p:sp>
            <p:nvSpPr>
              <p:cNvPr id="13" name="Freeform 13"/>
              <p:cNvSpPr/>
              <p:nvPr/>
            </p:nvSpPr>
            <p:spPr>
              <a:xfrm>
                <a:off x="2152650" y="2114550"/>
                <a:ext cx="266700" cy="152400"/>
              </a:xfrm>
              <a:custGeom>
                <a:avLst/>
                <a:gdLst/>
                <a:ahLst/>
                <a:cxnLst/>
                <a:rect l="l" t="t" r="r" b="b"/>
                <a:pathLst>
                  <a:path w="266700" h="152400">
                    <a:moveTo>
                      <a:pt x="171450" y="0"/>
                    </a:moveTo>
                    <a:cubicBezTo>
                      <a:pt x="224055" y="0"/>
                      <a:pt x="266700" y="42645"/>
                      <a:pt x="266700" y="95250"/>
                    </a:cubicBezTo>
                    <a:lnTo>
                      <a:pt x="266700" y="114300"/>
                    </a:lnTo>
                    <a:cubicBezTo>
                      <a:pt x="266700" y="135342"/>
                      <a:pt x="249642" y="152400"/>
                      <a:pt x="228600" y="152400"/>
                    </a:cubicBezTo>
                    <a:lnTo>
                      <a:pt x="38100" y="152400"/>
                    </a:lnTo>
                    <a:cubicBezTo>
                      <a:pt x="17058" y="152400"/>
                      <a:pt x="0" y="135342"/>
                      <a:pt x="0" y="114300"/>
                    </a:cubicBezTo>
                    <a:lnTo>
                      <a:pt x="0" y="95250"/>
                    </a:lnTo>
                    <a:cubicBezTo>
                      <a:pt x="0" y="42645"/>
                      <a:pt x="42645" y="0"/>
                      <a:pt x="95250" y="0"/>
                    </a:cubicBezTo>
                    <a:lnTo>
                      <a:pt x="171450" y="0"/>
                    </a:lnTo>
                    <a:close/>
                  </a:path>
                </a:pathLst>
              </a:custGeom>
              <a:solidFill>
                <a:srgbClr val="4285F4"/>
              </a:solidFill>
              <a:ln>
                <a:noFill/>
              </a:ln>
            </p:spPr>
            <p:txBody>
              <a:bodyPr/>
              <a:lstStyle/>
              <a:p>
                <a:endParaRPr lang="zh-CN" altLang="en-US"/>
              </a:p>
            </p:txBody>
          </p:sp>
        </p:grpSp>
        <p:sp>
          <p:nvSpPr>
            <p:cNvPr id="15" name="TextBox 15"/>
            <p:cNvSpPr txBox="1"/>
            <p:nvPr/>
          </p:nvSpPr>
          <p:spPr>
            <a:xfrm>
              <a:off x="1657374" y="2657475"/>
              <a:ext cx="1257252"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Shiyuan Lin</a:t>
              </a:r>
            </a:p>
          </p:txBody>
        </p:sp>
        <p:sp>
          <p:nvSpPr>
            <p:cNvPr id="16" name="TextBox 16"/>
            <p:cNvSpPr txBox="1"/>
            <p:nvPr/>
          </p:nvSpPr>
          <p:spPr>
            <a:xfrm>
              <a:off x="1295305" y="2931795"/>
              <a:ext cx="1981390" cy="182880"/>
            </a:xfrm>
            <a:prstGeom prst="rect">
              <a:avLst/>
            </a:prstGeom>
            <a:noFill/>
            <a:ln>
              <a:noFill/>
            </a:ln>
          </p:spPr>
          <p:txBody>
            <a:bodyPr wrap="none" lIns="0" tIns="0" rIns="0" bIns="0" anchor="t" anchorCtr="0">
              <a:spAutoFit/>
            </a:bodyPr>
            <a:lstStyle/>
            <a:p>
              <a:pPr algn="ctr"/>
              <a:r>
                <a:rPr lang="zh-CN" sz="900" dirty="0">
                  <a:solidFill>
                    <a:srgbClr val="80868B"/>
                  </a:solidFill>
                  <a:latin typeface="Consolas"/>
                  <a:ea typeface="Microsoft YaHei"/>
                  <a:cs typeface="Consolas"/>
                </a:rPr>
                <a:t>slin954@connect.hkust-gz.edu</a:t>
              </a:r>
            </a:p>
          </p:txBody>
        </p:sp>
        <p:sp>
          <p:nvSpPr>
            <p:cNvPr id="17" name="Rectangle 17"/>
            <p:cNvSpPr/>
            <p:nvPr/>
          </p:nvSpPr>
          <p:spPr>
            <a:xfrm>
              <a:off x="952500" y="3200400"/>
              <a:ext cx="2667000" cy="9525"/>
            </a:xfrm>
            <a:prstGeom prst="rect">
              <a:avLst/>
            </a:prstGeom>
            <a:solidFill>
              <a:srgbClr val="DADCE0"/>
            </a:solidFill>
            <a:ln>
              <a:noFill/>
            </a:ln>
          </p:spPr>
          <p:txBody>
            <a:bodyPr/>
            <a:lstStyle/>
            <a:p>
              <a:endParaRPr lang="zh-CN" altLang="en-US"/>
            </a:p>
          </p:txBody>
        </p:sp>
        <p:sp>
          <p:nvSpPr>
            <p:cNvPr id="18" name="Rectangle 18"/>
            <p:cNvSpPr/>
            <p:nvPr/>
          </p:nvSpPr>
          <p:spPr>
            <a:xfrm>
              <a:off x="952500" y="3333750"/>
              <a:ext cx="2667000" cy="304800"/>
            </a:xfrm>
            <a:prstGeom prst="roundRect">
              <a:avLst>
                <a:gd name="adj" fmla="val 18750"/>
              </a:avLst>
            </a:prstGeom>
            <a:solidFill>
              <a:srgbClr val="4285F4">
                <a:alpha val="10000"/>
              </a:srgbClr>
            </a:solidFill>
            <a:ln>
              <a:noFill/>
            </a:ln>
          </p:spPr>
          <p:txBody>
            <a:bodyPr/>
            <a:lstStyle/>
            <a:p>
              <a:endParaRPr lang="zh-CN" altLang="en-US"/>
            </a:p>
          </p:txBody>
        </p:sp>
        <p:sp>
          <p:nvSpPr>
            <p:cNvPr id="19" name="TextBox 19"/>
            <p:cNvSpPr txBox="1"/>
            <p:nvPr/>
          </p:nvSpPr>
          <p:spPr>
            <a:xfrm>
              <a:off x="1523921" y="3420428"/>
              <a:ext cx="1524157" cy="213360"/>
            </a:xfrm>
            <a:prstGeom prst="rect">
              <a:avLst/>
            </a:prstGeom>
            <a:noFill/>
            <a:ln>
              <a:noFill/>
            </a:ln>
          </p:spPr>
          <p:txBody>
            <a:bodyPr wrap="none" lIns="0" tIns="0" rIns="0" bIns="0" anchor="t" anchorCtr="0">
              <a:spAutoFit/>
            </a:bodyPr>
            <a:lstStyle/>
            <a:p>
              <a:pPr algn="ctr"/>
              <a:r>
                <a:rPr lang="zh-CN" sz="1050" b="1" dirty="0">
                  <a:solidFill>
                    <a:srgbClr val="4285F4"/>
                  </a:solidFill>
                  <a:latin typeface="Segoe UI"/>
                  <a:ea typeface="Microsoft YaHei"/>
                  <a:cs typeface="Segoe UI"/>
                </a:rPr>
                <a:t>Pipeline Framework</a:t>
              </a:r>
            </a:p>
          </p:txBody>
        </p:sp>
        <p:sp>
          <p:nvSpPr>
            <p:cNvPr id="20" name="Rectangle 20"/>
            <p:cNvSpPr/>
            <p:nvPr/>
          </p:nvSpPr>
          <p:spPr>
            <a:xfrm>
              <a:off x="952500" y="3733800"/>
              <a:ext cx="2667000" cy="304800"/>
            </a:xfrm>
            <a:prstGeom prst="roundRect">
              <a:avLst>
                <a:gd name="adj" fmla="val 18750"/>
              </a:avLst>
            </a:prstGeom>
            <a:solidFill>
              <a:srgbClr val="4285F4">
                <a:alpha val="10000"/>
              </a:srgbClr>
            </a:solidFill>
            <a:ln>
              <a:noFill/>
            </a:ln>
          </p:spPr>
          <p:txBody>
            <a:bodyPr/>
            <a:lstStyle/>
            <a:p>
              <a:endParaRPr lang="zh-CN" altLang="en-US"/>
            </a:p>
          </p:txBody>
        </p:sp>
        <p:sp>
          <p:nvSpPr>
            <p:cNvPr id="21" name="TextBox 21"/>
            <p:cNvSpPr txBox="1"/>
            <p:nvPr/>
          </p:nvSpPr>
          <p:spPr>
            <a:xfrm>
              <a:off x="1648712" y="3820478"/>
              <a:ext cx="1274576" cy="213360"/>
            </a:xfrm>
            <a:prstGeom prst="rect">
              <a:avLst/>
            </a:prstGeom>
            <a:noFill/>
            <a:ln>
              <a:noFill/>
            </a:ln>
          </p:spPr>
          <p:txBody>
            <a:bodyPr wrap="none" lIns="0" tIns="0" rIns="0" bIns="0" anchor="t" anchorCtr="0">
              <a:spAutoFit/>
            </a:bodyPr>
            <a:lstStyle/>
            <a:p>
              <a:pPr algn="ctr"/>
              <a:r>
                <a:rPr lang="zh-CN" sz="1050" b="1" dirty="0">
                  <a:solidFill>
                    <a:srgbClr val="4285F4"/>
                  </a:solidFill>
                  <a:latin typeface="Segoe UI"/>
                  <a:ea typeface="Microsoft YaHei"/>
                  <a:cs typeface="Segoe UI"/>
                </a:rPr>
                <a:t>Phase 2: Parser</a:t>
              </a:r>
            </a:p>
          </p:txBody>
        </p:sp>
        <p:sp>
          <p:nvSpPr>
            <p:cNvPr id="22" name="TextBox 22"/>
            <p:cNvSpPr txBox="1"/>
            <p:nvPr/>
          </p:nvSpPr>
          <p:spPr>
            <a:xfrm>
              <a:off x="1266146" y="4295299"/>
              <a:ext cx="2039707"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Overall pipeline architecture</a:t>
              </a:r>
            </a:p>
          </p:txBody>
        </p:sp>
        <p:sp>
          <p:nvSpPr>
            <p:cNvPr id="23" name="TextBox 23"/>
            <p:cNvSpPr txBox="1"/>
            <p:nvPr/>
          </p:nvSpPr>
          <p:spPr>
            <a:xfrm>
              <a:off x="1205627" y="4466749"/>
              <a:ext cx="2160746"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Recursive descent + AST design</a:t>
              </a:r>
            </a:p>
          </p:txBody>
        </p:sp>
        <p:sp>
          <p:nvSpPr>
            <p:cNvPr id="24" name="TextBox 24"/>
            <p:cNvSpPr txBox="1"/>
            <p:nvPr/>
          </p:nvSpPr>
          <p:spPr>
            <a:xfrm>
              <a:off x="1319546" y="4638199"/>
              <a:ext cx="1932908"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Error hierarchy framework</a:t>
              </a:r>
            </a:p>
          </p:txBody>
        </p:sp>
      </p:grpSp>
      <p:grpSp>
        <p:nvGrpSpPr>
          <p:cNvPr id="42" name="Group 42"/>
          <p:cNvGrpSpPr/>
          <p:nvPr/>
        </p:nvGrpSpPr>
        <p:grpSpPr>
          <a:xfrm>
            <a:off x="4381500" y="1238250"/>
            <a:ext cx="3429000" cy="3810000"/>
            <a:chOff x="4381500" y="1238250"/>
            <a:chExt cx="3429000" cy="3810000"/>
          </a:xfrm>
        </p:grpSpPr>
        <p:sp>
          <p:nvSpPr>
            <p:cNvPr id="26" name="Rectangle 26"/>
            <p:cNvSpPr/>
            <p:nvPr/>
          </p:nvSpPr>
          <p:spPr>
            <a:xfrm>
              <a:off x="4381500" y="1238250"/>
              <a:ext cx="3429000" cy="3810000"/>
            </a:xfrm>
            <a:prstGeom prst="roundRect">
              <a:avLst>
                <a:gd name="adj" fmla="val 3889"/>
              </a:avLst>
            </a:prstGeom>
            <a:solidFill>
              <a:srgbClr val="FFFFFF"/>
            </a:solidFill>
            <a:ln w="9525">
              <a:solidFill>
                <a:srgbClr val="34A853">
                  <a:alpha val="40000"/>
                </a:srgbClr>
              </a:solidFill>
            </a:ln>
          </p:spPr>
          <p:txBody>
            <a:bodyPr/>
            <a:lstStyle/>
            <a:p>
              <a:endParaRPr lang="zh-CN" altLang="en-US"/>
            </a:p>
          </p:txBody>
        </p:sp>
        <p:sp>
          <p:nvSpPr>
            <p:cNvPr id="27" name="Rectangle 27"/>
            <p:cNvSpPr/>
            <p:nvPr/>
          </p:nvSpPr>
          <p:spPr>
            <a:xfrm>
              <a:off x="4381500" y="1238250"/>
              <a:ext cx="3429000" cy="38100"/>
            </a:xfrm>
            <a:prstGeom prst="roundRect">
              <a:avLst>
                <a:gd name="adj" fmla="val 50000"/>
              </a:avLst>
            </a:prstGeom>
            <a:solidFill>
              <a:srgbClr val="34A853"/>
            </a:solidFill>
            <a:ln>
              <a:noFill/>
            </a:ln>
          </p:spPr>
          <p:txBody>
            <a:bodyPr/>
            <a:lstStyle/>
            <a:p>
              <a:endParaRPr lang="zh-CN" altLang="en-US"/>
            </a:p>
          </p:txBody>
        </p:sp>
        <p:sp>
          <p:nvSpPr>
            <p:cNvPr id="28" name="Ellipse 28"/>
            <p:cNvSpPr/>
            <p:nvPr/>
          </p:nvSpPr>
          <p:spPr>
            <a:xfrm>
              <a:off x="5581650" y="1562100"/>
              <a:ext cx="1028700" cy="1028700"/>
            </a:xfrm>
            <a:prstGeom prst="ellipse">
              <a:avLst/>
            </a:prstGeom>
            <a:solidFill>
              <a:srgbClr val="34A853">
                <a:alpha val="10000"/>
              </a:srgbClr>
            </a:solidFill>
            <a:ln w="14288">
              <a:solidFill>
                <a:srgbClr val="34A853">
                  <a:alpha val="40000"/>
                </a:srgbClr>
              </a:solidFill>
            </a:ln>
          </p:spPr>
          <p:txBody>
            <a:bodyPr/>
            <a:lstStyle/>
            <a:p>
              <a:endParaRPr lang="zh-CN" altLang="en-US"/>
            </a:p>
          </p:txBody>
        </p:sp>
        <p:grpSp>
          <p:nvGrpSpPr>
            <p:cNvPr id="31" name="Group 31"/>
            <p:cNvGrpSpPr/>
            <p:nvPr/>
          </p:nvGrpSpPr>
          <p:grpSpPr>
            <a:xfrm>
              <a:off x="5962650" y="1885950"/>
              <a:ext cx="266700" cy="381000"/>
              <a:chOff x="5962650" y="1885950"/>
              <a:chExt cx="266700" cy="381000"/>
            </a:xfrm>
          </p:grpSpPr>
          <p:sp>
            <p:nvSpPr>
              <p:cNvPr id="29" name="Freeform 29"/>
              <p:cNvSpPr/>
              <p:nvPr/>
            </p:nvSpPr>
            <p:spPr>
              <a:xfrm>
                <a:off x="6000750" y="1885950"/>
                <a:ext cx="190500" cy="190500"/>
              </a:xfrm>
              <a:custGeom>
                <a:avLst/>
                <a:gdLst/>
                <a:ahLst/>
                <a:cxnLst/>
                <a:rect l="l" t="t" r="r" b="b"/>
                <a:pathLst>
                  <a:path w="190500" h="190500">
                    <a:moveTo>
                      <a:pt x="95250" y="0"/>
                    </a:moveTo>
                    <a:cubicBezTo>
                      <a:pt x="147855" y="0"/>
                      <a:pt x="190500" y="42645"/>
                      <a:pt x="190500" y="95250"/>
                    </a:cubicBezTo>
                    <a:cubicBezTo>
                      <a:pt x="190500" y="147855"/>
                      <a:pt x="147855" y="190500"/>
                      <a:pt x="95250" y="190500"/>
                    </a:cubicBezTo>
                    <a:cubicBezTo>
                      <a:pt x="42645" y="190500"/>
                      <a:pt x="0" y="147855"/>
                      <a:pt x="0" y="95250"/>
                    </a:cubicBezTo>
                    <a:lnTo>
                      <a:pt x="95" y="91116"/>
                    </a:lnTo>
                    <a:cubicBezTo>
                      <a:pt x="2308" y="40169"/>
                      <a:pt x="44255" y="3"/>
                      <a:pt x="95250" y="0"/>
                    </a:cubicBezTo>
                    <a:close/>
                  </a:path>
                </a:pathLst>
              </a:custGeom>
              <a:solidFill>
                <a:srgbClr val="34A853"/>
              </a:solidFill>
              <a:ln>
                <a:noFill/>
              </a:ln>
            </p:spPr>
            <p:txBody>
              <a:bodyPr/>
              <a:lstStyle/>
              <a:p>
                <a:endParaRPr lang="zh-CN" altLang="en-US"/>
              </a:p>
            </p:txBody>
          </p:sp>
          <p:sp>
            <p:nvSpPr>
              <p:cNvPr id="30" name="Freeform 30"/>
              <p:cNvSpPr/>
              <p:nvPr/>
            </p:nvSpPr>
            <p:spPr>
              <a:xfrm>
                <a:off x="5962650" y="2114550"/>
                <a:ext cx="266700" cy="152400"/>
              </a:xfrm>
              <a:custGeom>
                <a:avLst/>
                <a:gdLst/>
                <a:ahLst/>
                <a:cxnLst/>
                <a:rect l="l" t="t" r="r" b="b"/>
                <a:pathLst>
                  <a:path w="266700" h="152400">
                    <a:moveTo>
                      <a:pt x="171450" y="0"/>
                    </a:moveTo>
                    <a:cubicBezTo>
                      <a:pt x="224055" y="0"/>
                      <a:pt x="266700" y="42645"/>
                      <a:pt x="266700" y="95250"/>
                    </a:cubicBezTo>
                    <a:lnTo>
                      <a:pt x="266700" y="114300"/>
                    </a:lnTo>
                    <a:cubicBezTo>
                      <a:pt x="266700" y="135342"/>
                      <a:pt x="249642" y="152400"/>
                      <a:pt x="228600" y="152400"/>
                    </a:cubicBezTo>
                    <a:lnTo>
                      <a:pt x="38100" y="152400"/>
                    </a:lnTo>
                    <a:cubicBezTo>
                      <a:pt x="17058" y="152400"/>
                      <a:pt x="0" y="135342"/>
                      <a:pt x="0" y="114300"/>
                    </a:cubicBezTo>
                    <a:lnTo>
                      <a:pt x="0" y="95250"/>
                    </a:lnTo>
                    <a:cubicBezTo>
                      <a:pt x="0" y="42645"/>
                      <a:pt x="42645" y="0"/>
                      <a:pt x="95250" y="0"/>
                    </a:cubicBezTo>
                    <a:lnTo>
                      <a:pt x="171450" y="0"/>
                    </a:lnTo>
                    <a:close/>
                  </a:path>
                </a:pathLst>
              </a:custGeom>
              <a:solidFill>
                <a:srgbClr val="34A853"/>
              </a:solidFill>
              <a:ln>
                <a:noFill/>
              </a:ln>
            </p:spPr>
            <p:txBody>
              <a:bodyPr/>
              <a:lstStyle/>
              <a:p>
                <a:endParaRPr lang="zh-CN" altLang="en-US"/>
              </a:p>
            </p:txBody>
          </p:sp>
        </p:grpSp>
        <p:sp>
          <p:nvSpPr>
            <p:cNvPr id="32" name="TextBox 32"/>
            <p:cNvSpPr txBox="1"/>
            <p:nvPr/>
          </p:nvSpPr>
          <p:spPr>
            <a:xfrm>
              <a:off x="5622643" y="2657475"/>
              <a:ext cx="946714"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Ruikai Li</a:t>
              </a:r>
            </a:p>
          </p:txBody>
        </p:sp>
        <p:sp>
          <p:nvSpPr>
            <p:cNvPr id="33" name="TextBox 33"/>
            <p:cNvSpPr txBox="1"/>
            <p:nvPr/>
          </p:nvSpPr>
          <p:spPr>
            <a:xfrm>
              <a:off x="5049441" y="2931795"/>
              <a:ext cx="2093119" cy="182880"/>
            </a:xfrm>
            <a:prstGeom prst="rect">
              <a:avLst/>
            </a:prstGeom>
            <a:noFill/>
            <a:ln>
              <a:noFill/>
            </a:ln>
          </p:spPr>
          <p:txBody>
            <a:bodyPr wrap="none" lIns="0" tIns="0" rIns="0" bIns="0" anchor="t" anchorCtr="0">
              <a:spAutoFit/>
            </a:bodyPr>
            <a:lstStyle/>
            <a:p>
              <a:pPr algn="ctr"/>
              <a:r>
                <a:rPr lang="zh-CN" sz="900" dirty="0">
                  <a:solidFill>
                    <a:srgbClr val="80868B"/>
                  </a:solidFill>
                  <a:latin typeface="Consolas"/>
                  <a:ea typeface="Microsoft YaHei"/>
                  <a:cs typeface="Consolas"/>
                </a:rPr>
                <a:t>rli321@connect.hkust-gz.edu.cn</a:t>
              </a:r>
            </a:p>
          </p:txBody>
        </p:sp>
        <p:sp>
          <p:nvSpPr>
            <p:cNvPr id="34" name="Rectangle 34"/>
            <p:cNvSpPr/>
            <p:nvPr/>
          </p:nvSpPr>
          <p:spPr>
            <a:xfrm>
              <a:off x="4762500" y="3200400"/>
              <a:ext cx="2667000" cy="9525"/>
            </a:xfrm>
            <a:prstGeom prst="rect">
              <a:avLst/>
            </a:prstGeom>
            <a:solidFill>
              <a:srgbClr val="DADCE0"/>
            </a:solidFill>
            <a:ln>
              <a:noFill/>
            </a:ln>
          </p:spPr>
          <p:txBody>
            <a:bodyPr/>
            <a:lstStyle/>
            <a:p>
              <a:endParaRPr lang="zh-CN" altLang="en-US"/>
            </a:p>
          </p:txBody>
        </p:sp>
        <p:sp>
          <p:nvSpPr>
            <p:cNvPr id="35" name="Rectangle 35"/>
            <p:cNvSpPr/>
            <p:nvPr/>
          </p:nvSpPr>
          <p:spPr>
            <a:xfrm>
              <a:off x="4762500" y="3333750"/>
              <a:ext cx="2667000" cy="304800"/>
            </a:xfrm>
            <a:prstGeom prst="roundRect">
              <a:avLst>
                <a:gd name="adj" fmla="val 18750"/>
              </a:avLst>
            </a:prstGeom>
            <a:solidFill>
              <a:srgbClr val="34A853">
                <a:alpha val="10000"/>
              </a:srgbClr>
            </a:solidFill>
            <a:ln>
              <a:noFill/>
            </a:ln>
          </p:spPr>
          <p:txBody>
            <a:bodyPr/>
            <a:lstStyle/>
            <a:p>
              <a:endParaRPr lang="zh-CN" altLang="en-US"/>
            </a:p>
          </p:txBody>
        </p:sp>
        <p:sp>
          <p:nvSpPr>
            <p:cNvPr id="36" name="TextBox 36"/>
            <p:cNvSpPr txBox="1"/>
            <p:nvPr/>
          </p:nvSpPr>
          <p:spPr>
            <a:xfrm>
              <a:off x="5523120" y="3420428"/>
              <a:ext cx="1145760" cy="213360"/>
            </a:xfrm>
            <a:prstGeom prst="rect">
              <a:avLst/>
            </a:prstGeom>
            <a:noFill/>
            <a:ln>
              <a:noFill/>
            </a:ln>
          </p:spPr>
          <p:txBody>
            <a:bodyPr wrap="none" lIns="0" tIns="0" rIns="0" bIns="0" anchor="t" anchorCtr="0">
              <a:spAutoFit/>
            </a:bodyPr>
            <a:lstStyle/>
            <a:p>
              <a:pPr algn="ctr"/>
              <a:r>
                <a:rPr lang="zh-CN" sz="1050" b="1" dirty="0">
                  <a:solidFill>
                    <a:srgbClr val="34A853"/>
                  </a:solidFill>
                  <a:latin typeface="Segoe UI"/>
                  <a:ea typeface="Microsoft YaHei"/>
                  <a:cs typeface="Segoe UI"/>
                </a:rPr>
                <a:t>Phase 1: Lexer</a:t>
              </a:r>
            </a:p>
          </p:txBody>
        </p:sp>
        <p:sp>
          <p:nvSpPr>
            <p:cNvPr id="37" name="Rectangle 37"/>
            <p:cNvSpPr/>
            <p:nvPr/>
          </p:nvSpPr>
          <p:spPr>
            <a:xfrm>
              <a:off x="4762500" y="3733800"/>
              <a:ext cx="2667000" cy="304800"/>
            </a:xfrm>
            <a:prstGeom prst="roundRect">
              <a:avLst>
                <a:gd name="adj" fmla="val 18750"/>
              </a:avLst>
            </a:prstGeom>
            <a:solidFill>
              <a:srgbClr val="34A853">
                <a:alpha val="10000"/>
              </a:srgbClr>
            </a:solidFill>
            <a:ln>
              <a:noFill/>
            </a:ln>
          </p:spPr>
          <p:txBody>
            <a:bodyPr/>
            <a:lstStyle/>
            <a:p>
              <a:endParaRPr lang="zh-CN" altLang="en-US"/>
            </a:p>
          </p:txBody>
        </p:sp>
        <p:sp>
          <p:nvSpPr>
            <p:cNvPr id="38" name="TextBox 38"/>
            <p:cNvSpPr txBox="1"/>
            <p:nvPr/>
          </p:nvSpPr>
          <p:spPr>
            <a:xfrm>
              <a:off x="5333921" y="3820478"/>
              <a:ext cx="1524157" cy="213360"/>
            </a:xfrm>
            <a:prstGeom prst="rect">
              <a:avLst/>
            </a:prstGeom>
            <a:noFill/>
            <a:ln>
              <a:noFill/>
            </a:ln>
          </p:spPr>
          <p:txBody>
            <a:bodyPr wrap="none" lIns="0" tIns="0" rIns="0" bIns="0" anchor="t" anchorCtr="0">
              <a:spAutoFit/>
            </a:bodyPr>
            <a:lstStyle/>
            <a:p>
              <a:pPr algn="ctr"/>
              <a:r>
                <a:rPr lang="zh-CN" sz="1050" b="1" dirty="0">
                  <a:solidFill>
                    <a:srgbClr val="34A853"/>
                  </a:solidFill>
                  <a:latin typeface="Segoe UI"/>
                  <a:ea typeface="Microsoft YaHei"/>
                  <a:cs typeface="Segoe UI"/>
                </a:rPr>
                <a:t>Phase 3: Optimizer</a:t>
              </a:r>
            </a:p>
          </p:txBody>
        </p:sp>
        <p:sp>
          <p:nvSpPr>
            <p:cNvPr id="39" name="TextBox 39"/>
            <p:cNvSpPr txBox="1"/>
            <p:nvPr/>
          </p:nvSpPr>
          <p:spPr>
            <a:xfrm>
              <a:off x="5158026" y="4295299"/>
              <a:ext cx="1875949"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Buffer-based tokenization</a:t>
              </a:r>
            </a:p>
          </p:txBody>
        </p:sp>
        <p:sp>
          <p:nvSpPr>
            <p:cNvPr id="40" name="TextBox 40"/>
            <p:cNvSpPr txBox="1"/>
            <p:nvPr/>
          </p:nvSpPr>
          <p:spPr>
            <a:xfrm>
              <a:off x="4805589" y="4466749"/>
              <a:ext cx="2580823"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11 rewrite rules + consensus theorem</a:t>
              </a:r>
            </a:p>
          </p:txBody>
        </p:sp>
        <p:sp>
          <p:nvSpPr>
            <p:cNvPr id="41" name="TextBox 41"/>
            <p:cNvSpPr txBox="1"/>
            <p:nvPr/>
          </p:nvSpPr>
          <p:spPr>
            <a:xfrm>
              <a:off x="5076146" y="4638199"/>
              <a:ext cx="2039707"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Fixed-point optimization loop</a:t>
              </a:r>
            </a:p>
          </p:txBody>
        </p:sp>
      </p:grpSp>
      <p:grpSp>
        <p:nvGrpSpPr>
          <p:cNvPr id="59" name="Group 59"/>
          <p:cNvGrpSpPr/>
          <p:nvPr/>
        </p:nvGrpSpPr>
        <p:grpSpPr>
          <a:xfrm>
            <a:off x="8191500" y="1238250"/>
            <a:ext cx="3429000" cy="3810000"/>
            <a:chOff x="8191500" y="1238250"/>
            <a:chExt cx="3429000" cy="3810000"/>
          </a:xfrm>
        </p:grpSpPr>
        <p:sp>
          <p:nvSpPr>
            <p:cNvPr id="43" name="Rectangle 43"/>
            <p:cNvSpPr/>
            <p:nvPr/>
          </p:nvSpPr>
          <p:spPr>
            <a:xfrm>
              <a:off x="8191500" y="1238250"/>
              <a:ext cx="3429000" cy="3810000"/>
            </a:xfrm>
            <a:prstGeom prst="roundRect">
              <a:avLst>
                <a:gd name="adj" fmla="val 3889"/>
              </a:avLst>
            </a:prstGeom>
            <a:solidFill>
              <a:srgbClr val="FFFFFF"/>
            </a:solidFill>
            <a:ln w="9525">
              <a:solidFill>
                <a:srgbClr val="9334E6">
                  <a:alpha val="40000"/>
                </a:srgbClr>
              </a:solidFill>
            </a:ln>
          </p:spPr>
          <p:txBody>
            <a:bodyPr/>
            <a:lstStyle/>
            <a:p>
              <a:endParaRPr lang="zh-CN" altLang="en-US"/>
            </a:p>
          </p:txBody>
        </p:sp>
        <p:sp>
          <p:nvSpPr>
            <p:cNvPr id="44" name="Rectangle 44"/>
            <p:cNvSpPr/>
            <p:nvPr/>
          </p:nvSpPr>
          <p:spPr>
            <a:xfrm>
              <a:off x="8191500" y="1238250"/>
              <a:ext cx="3429000" cy="38100"/>
            </a:xfrm>
            <a:prstGeom prst="roundRect">
              <a:avLst>
                <a:gd name="adj" fmla="val 50000"/>
              </a:avLst>
            </a:prstGeom>
            <a:solidFill>
              <a:srgbClr val="9334E6"/>
            </a:solidFill>
            <a:ln>
              <a:noFill/>
            </a:ln>
          </p:spPr>
          <p:txBody>
            <a:bodyPr/>
            <a:lstStyle/>
            <a:p>
              <a:endParaRPr lang="zh-CN" altLang="en-US"/>
            </a:p>
          </p:txBody>
        </p:sp>
        <p:sp>
          <p:nvSpPr>
            <p:cNvPr id="45" name="Ellipse 45"/>
            <p:cNvSpPr/>
            <p:nvPr/>
          </p:nvSpPr>
          <p:spPr>
            <a:xfrm>
              <a:off x="9391650" y="1562100"/>
              <a:ext cx="1028700" cy="1028700"/>
            </a:xfrm>
            <a:prstGeom prst="ellipse">
              <a:avLst/>
            </a:prstGeom>
            <a:solidFill>
              <a:srgbClr val="9334E6">
                <a:alpha val="10000"/>
              </a:srgbClr>
            </a:solidFill>
            <a:ln w="14288">
              <a:solidFill>
                <a:srgbClr val="9334E6">
                  <a:alpha val="40000"/>
                </a:srgbClr>
              </a:solidFill>
            </a:ln>
          </p:spPr>
          <p:txBody>
            <a:bodyPr/>
            <a:lstStyle/>
            <a:p>
              <a:endParaRPr lang="zh-CN" altLang="en-US"/>
            </a:p>
          </p:txBody>
        </p:sp>
        <p:grpSp>
          <p:nvGrpSpPr>
            <p:cNvPr id="48" name="Group 48"/>
            <p:cNvGrpSpPr/>
            <p:nvPr/>
          </p:nvGrpSpPr>
          <p:grpSpPr>
            <a:xfrm>
              <a:off x="9772650" y="1885950"/>
              <a:ext cx="266700" cy="381000"/>
              <a:chOff x="9772650" y="1885950"/>
              <a:chExt cx="266700" cy="381000"/>
            </a:xfrm>
          </p:grpSpPr>
          <p:sp>
            <p:nvSpPr>
              <p:cNvPr id="46" name="Freeform 46"/>
              <p:cNvSpPr/>
              <p:nvPr/>
            </p:nvSpPr>
            <p:spPr>
              <a:xfrm>
                <a:off x="9810750" y="1885950"/>
                <a:ext cx="190500" cy="190500"/>
              </a:xfrm>
              <a:custGeom>
                <a:avLst/>
                <a:gdLst/>
                <a:ahLst/>
                <a:cxnLst/>
                <a:rect l="l" t="t" r="r" b="b"/>
                <a:pathLst>
                  <a:path w="190500" h="190500">
                    <a:moveTo>
                      <a:pt x="95250" y="0"/>
                    </a:moveTo>
                    <a:cubicBezTo>
                      <a:pt x="147855" y="0"/>
                      <a:pt x="190500" y="42645"/>
                      <a:pt x="190500" y="95250"/>
                    </a:cubicBezTo>
                    <a:cubicBezTo>
                      <a:pt x="190500" y="147855"/>
                      <a:pt x="147855" y="190500"/>
                      <a:pt x="95250" y="190500"/>
                    </a:cubicBezTo>
                    <a:cubicBezTo>
                      <a:pt x="42645" y="190500"/>
                      <a:pt x="0" y="147855"/>
                      <a:pt x="0" y="95250"/>
                    </a:cubicBezTo>
                    <a:lnTo>
                      <a:pt x="95" y="91116"/>
                    </a:lnTo>
                    <a:cubicBezTo>
                      <a:pt x="2308" y="40169"/>
                      <a:pt x="44255" y="3"/>
                      <a:pt x="95250" y="0"/>
                    </a:cubicBezTo>
                    <a:close/>
                  </a:path>
                </a:pathLst>
              </a:custGeom>
              <a:solidFill>
                <a:srgbClr val="9334E6"/>
              </a:solidFill>
              <a:ln>
                <a:noFill/>
              </a:ln>
            </p:spPr>
            <p:txBody>
              <a:bodyPr/>
              <a:lstStyle/>
              <a:p>
                <a:endParaRPr lang="zh-CN" altLang="en-US"/>
              </a:p>
            </p:txBody>
          </p:sp>
          <p:sp>
            <p:nvSpPr>
              <p:cNvPr id="47" name="Freeform 47"/>
              <p:cNvSpPr/>
              <p:nvPr/>
            </p:nvSpPr>
            <p:spPr>
              <a:xfrm>
                <a:off x="9772650" y="2114550"/>
                <a:ext cx="266700" cy="152400"/>
              </a:xfrm>
              <a:custGeom>
                <a:avLst/>
                <a:gdLst/>
                <a:ahLst/>
                <a:cxnLst/>
                <a:rect l="l" t="t" r="r" b="b"/>
                <a:pathLst>
                  <a:path w="266700" h="152400">
                    <a:moveTo>
                      <a:pt x="171450" y="0"/>
                    </a:moveTo>
                    <a:cubicBezTo>
                      <a:pt x="224055" y="0"/>
                      <a:pt x="266700" y="42645"/>
                      <a:pt x="266700" y="95250"/>
                    </a:cubicBezTo>
                    <a:lnTo>
                      <a:pt x="266700" y="114300"/>
                    </a:lnTo>
                    <a:cubicBezTo>
                      <a:pt x="266700" y="135342"/>
                      <a:pt x="249642" y="152400"/>
                      <a:pt x="228600" y="152400"/>
                    </a:cubicBezTo>
                    <a:lnTo>
                      <a:pt x="38100" y="152400"/>
                    </a:lnTo>
                    <a:cubicBezTo>
                      <a:pt x="17058" y="152400"/>
                      <a:pt x="0" y="135342"/>
                      <a:pt x="0" y="114300"/>
                    </a:cubicBezTo>
                    <a:lnTo>
                      <a:pt x="0" y="95250"/>
                    </a:lnTo>
                    <a:cubicBezTo>
                      <a:pt x="0" y="42645"/>
                      <a:pt x="42645" y="0"/>
                      <a:pt x="95250" y="0"/>
                    </a:cubicBezTo>
                    <a:lnTo>
                      <a:pt x="171450" y="0"/>
                    </a:lnTo>
                    <a:close/>
                  </a:path>
                </a:pathLst>
              </a:custGeom>
              <a:solidFill>
                <a:srgbClr val="9334E6"/>
              </a:solidFill>
              <a:ln>
                <a:noFill/>
              </a:ln>
            </p:spPr>
            <p:txBody>
              <a:bodyPr/>
              <a:lstStyle/>
              <a:p>
                <a:endParaRPr lang="zh-CN" altLang="en-US"/>
              </a:p>
            </p:txBody>
          </p:sp>
        </p:grpSp>
        <p:sp>
          <p:nvSpPr>
            <p:cNvPr id="49" name="TextBox 49"/>
            <p:cNvSpPr txBox="1"/>
            <p:nvPr/>
          </p:nvSpPr>
          <p:spPr>
            <a:xfrm>
              <a:off x="9277374" y="2657475"/>
              <a:ext cx="1257252"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Fanqiao Lin</a:t>
              </a:r>
            </a:p>
          </p:txBody>
        </p:sp>
        <p:sp>
          <p:nvSpPr>
            <p:cNvPr id="50" name="TextBox 50"/>
            <p:cNvSpPr txBox="1"/>
            <p:nvPr/>
          </p:nvSpPr>
          <p:spPr>
            <a:xfrm>
              <a:off x="8806863" y="2931795"/>
              <a:ext cx="2198275" cy="182880"/>
            </a:xfrm>
            <a:prstGeom prst="rect">
              <a:avLst/>
            </a:prstGeom>
            <a:noFill/>
            <a:ln>
              <a:noFill/>
            </a:ln>
          </p:spPr>
          <p:txBody>
            <a:bodyPr wrap="none" lIns="0" tIns="0" rIns="0" bIns="0" anchor="t" anchorCtr="0">
              <a:spAutoFit/>
            </a:bodyPr>
            <a:lstStyle/>
            <a:p>
              <a:pPr algn="ctr"/>
              <a:r>
                <a:rPr lang="zh-CN" sz="900" dirty="0">
                  <a:solidFill>
                    <a:srgbClr val="80868B"/>
                  </a:solidFill>
                  <a:latin typeface="Consolas"/>
                  <a:ea typeface="Microsoft YaHei"/>
                  <a:cs typeface="Consolas"/>
                </a:rPr>
                <a:t>flin752@connect.hkust-gz.edu.cn</a:t>
              </a:r>
            </a:p>
          </p:txBody>
        </p:sp>
        <p:sp>
          <p:nvSpPr>
            <p:cNvPr id="51" name="Rectangle 51"/>
            <p:cNvSpPr/>
            <p:nvPr/>
          </p:nvSpPr>
          <p:spPr>
            <a:xfrm>
              <a:off x="8572500" y="3200400"/>
              <a:ext cx="2667000" cy="9525"/>
            </a:xfrm>
            <a:prstGeom prst="rect">
              <a:avLst/>
            </a:prstGeom>
            <a:solidFill>
              <a:srgbClr val="DADCE0"/>
            </a:solidFill>
            <a:ln>
              <a:noFill/>
            </a:ln>
          </p:spPr>
          <p:txBody>
            <a:bodyPr/>
            <a:lstStyle/>
            <a:p>
              <a:endParaRPr lang="zh-CN" altLang="en-US"/>
            </a:p>
          </p:txBody>
        </p:sp>
        <p:sp>
          <p:nvSpPr>
            <p:cNvPr id="52" name="Rectangle 52"/>
            <p:cNvSpPr/>
            <p:nvPr/>
          </p:nvSpPr>
          <p:spPr>
            <a:xfrm>
              <a:off x="8572500" y="3333750"/>
              <a:ext cx="2667000" cy="304800"/>
            </a:xfrm>
            <a:prstGeom prst="roundRect">
              <a:avLst>
                <a:gd name="adj" fmla="val 18750"/>
              </a:avLst>
            </a:prstGeom>
            <a:solidFill>
              <a:srgbClr val="9334E6">
                <a:alpha val="10000"/>
              </a:srgbClr>
            </a:solidFill>
            <a:ln>
              <a:noFill/>
            </a:ln>
          </p:spPr>
          <p:txBody>
            <a:bodyPr/>
            <a:lstStyle/>
            <a:p>
              <a:endParaRPr lang="zh-CN" altLang="en-US"/>
            </a:p>
          </p:txBody>
        </p:sp>
        <p:sp>
          <p:nvSpPr>
            <p:cNvPr id="53" name="TextBox 53"/>
            <p:cNvSpPr txBox="1"/>
            <p:nvPr/>
          </p:nvSpPr>
          <p:spPr>
            <a:xfrm>
              <a:off x="9155998" y="3420428"/>
              <a:ext cx="1500004" cy="213360"/>
            </a:xfrm>
            <a:prstGeom prst="rect">
              <a:avLst/>
            </a:prstGeom>
            <a:noFill/>
            <a:ln>
              <a:noFill/>
            </a:ln>
          </p:spPr>
          <p:txBody>
            <a:bodyPr wrap="none" lIns="0" tIns="0" rIns="0" bIns="0" anchor="t" anchorCtr="0">
              <a:spAutoFit/>
            </a:bodyPr>
            <a:lstStyle/>
            <a:p>
              <a:pPr algn="ctr"/>
              <a:r>
                <a:rPr lang="zh-CN" sz="1050" b="1" dirty="0">
                  <a:solidFill>
                    <a:srgbClr val="9334E6"/>
                  </a:solidFill>
                  <a:latin typeface="Segoe UI"/>
                  <a:ea typeface="Microsoft YaHei"/>
                  <a:cs typeface="Segoe UI"/>
                </a:rPr>
                <a:t>Phase 4: Execution</a:t>
              </a:r>
            </a:p>
          </p:txBody>
        </p:sp>
        <p:sp>
          <p:nvSpPr>
            <p:cNvPr id="54" name="Rectangle 54"/>
            <p:cNvSpPr/>
            <p:nvPr/>
          </p:nvSpPr>
          <p:spPr>
            <a:xfrm>
              <a:off x="8572500" y="3733800"/>
              <a:ext cx="2667000" cy="304800"/>
            </a:xfrm>
            <a:prstGeom prst="roundRect">
              <a:avLst>
                <a:gd name="adj" fmla="val 18750"/>
              </a:avLst>
            </a:prstGeom>
            <a:solidFill>
              <a:srgbClr val="9334E6">
                <a:alpha val="10000"/>
              </a:srgbClr>
            </a:solidFill>
            <a:ln>
              <a:noFill/>
            </a:ln>
          </p:spPr>
          <p:txBody>
            <a:bodyPr/>
            <a:lstStyle/>
            <a:p>
              <a:endParaRPr lang="zh-CN" altLang="en-US"/>
            </a:p>
          </p:txBody>
        </p:sp>
        <p:sp>
          <p:nvSpPr>
            <p:cNvPr id="55" name="TextBox 55"/>
            <p:cNvSpPr txBox="1"/>
            <p:nvPr/>
          </p:nvSpPr>
          <p:spPr>
            <a:xfrm>
              <a:off x="9151972" y="3820478"/>
              <a:ext cx="1508055" cy="213360"/>
            </a:xfrm>
            <a:prstGeom prst="rect">
              <a:avLst/>
            </a:prstGeom>
            <a:noFill/>
            <a:ln>
              <a:noFill/>
            </a:ln>
          </p:spPr>
          <p:txBody>
            <a:bodyPr wrap="none" lIns="0" tIns="0" rIns="0" bIns="0" anchor="t" anchorCtr="0">
              <a:spAutoFit/>
            </a:bodyPr>
            <a:lstStyle/>
            <a:p>
              <a:pPr algn="ctr"/>
              <a:r>
                <a:rPr lang="zh-CN" sz="1050" b="1" dirty="0">
                  <a:solidFill>
                    <a:srgbClr val="9334E6"/>
                  </a:solidFill>
                  <a:latin typeface="Segoe UI"/>
                  <a:ea typeface="Microsoft YaHei"/>
                  <a:cs typeface="Segoe UI"/>
                </a:rPr>
                <a:t>Verification Engine</a:t>
              </a:r>
            </a:p>
          </p:txBody>
        </p:sp>
        <p:sp>
          <p:nvSpPr>
            <p:cNvPr id="56" name="TextBox 56"/>
            <p:cNvSpPr txBox="1"/>
            <p:nvPr/>
          </p:nvSpPr>
          <p:spPr>
            <a:xfrm>
              <a:off x="8765107" y="4295299"/>
              <a:ext cx="2281785"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Truth table equivalence checking</a:t>
              </a:r>
            </a:p>
          </p:txBody>
        </p:sp>
        <p:sp>
          <p:nvSpPr>
            <p:cNvPr id="57" name="TextBox 57"/>
            <p:cNvSpPr txBox="1"/>
            <p:nvPr/>
          </p:nvSpPr>
          <p:spPr>
            <a:xfrm>
              <a:off x="8932426" y="4466749"/>
              <a:ext cx="1947148"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Statement execution engine</a:t>
              </a:r>
            </a:p>
          </p:txBody>
        </p:sp>
        <p:sp>
          <p:nvSpPr>
            <p:cNvPr id="58" name="TextBox 58"/>
            <p:cNvSpPr txBox="1"/>
            <p:nvPr/>
          </p:nvSpPr>
          <p:spPr>
            <a:xfrm>
              <a:off x="9135344" y="4638199"/>
              <a:ext cx="1541312"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JSON output assembly</a:t>
              </a:r>
            </a:p>
          </p:txBody>
        </p:sp>
      </p:grpSp>
      <p:grpSp>
        <p:nvGrpSpPr>
          <p:cNvPr id="64" name="Group 64"/>
          <p:cNvGrpSpPr/>
          <p:nvPr/>
        </p:nvGrpSpPr>
        <p:grpSpPr>
          <a:xfrm>
            <a:off x="571500" y="5219700"/>
            <a:ext cx="11049000" cy="571500"/>
            <a:chOff x="571500" y="5219700"/>
            <a:chExt cx="11049000" cy="571500"/>
          </a:xfrm>
        </p:grpSpPr>
        <p:sp>
          <p:nvSpPr>
            <p:cNvPr id="60" name="Rectangle 60"/>
            <p:cNvSpPr/>
            <p:nvPr/>
          </p:nvSpPr>
          <p:spPr>
            <a:xfrm>
              <a:off x="571500" y="5219700"/>
              <a:ext cx="11049000" cy="571500"/>
            </a:xfrm>
            <a:prstGeom prst="roundRect">
              <a:avLst>
                <a:gd name="adj" fmla="val 16667"/>
              </a:avLst>
            </a:prstGeom>
            <a:solidFill>
              <a:srgbClr val="FFFFFF"/>
            </a:solidFill>
            <a:ln w="9525">
              <a:solidFill>
                <a:srgbClr val="DADCE0"/>
              </a:solidFill>
            </a:ln>
          </p:spPr>
          <p:txBody>
            <a:bodyPr/>
            <a:lstStyle/>
            <a:p>
              <a:endParaRPr lang="zh-CN" altLang="en-US"/>
            </a:p>
          </p:txBody>
        </p:sp>
        <p:sp>
          <p:nvSpPr>
            <p:cNvPr id="61" name="Rectangle 61"/>
            <p:cNvSpPr/>
            <p:nvPr/>
          </p:nvSpPr>
          <p:spPr>
            <a:xfrm>
              <a:off x="571500" y="5219700"/>
              <a:ext cx="38100" cy="571500"/>
            </a:xfrm>
            <a:prstGeom prst="roundRect">
              <a:avLst>
                <a:gd name="adj" fmla="val 50000"/>
              </a:avLst>
            </a:prstGeom>
            <a:gradFill>
              <a:gsLst>
                <a:gs pos="0">
                  <a:srgbClr val="4285F4"/>
                </a:gs>
                <a:gs pos="100000">
                  <a:srgbClr val="9334E6"/>
                </a:gs>
              </a:gsLst>
              <a:lin ang="0" scaled="1"/>
            </a:gradFill>
            <a:ln>
              <a:noFill/>
            </a:ln>
          </p:spPr>
          <p:txBody>
            <a:bodyPr/>
            <a:lstStyle/>
            <a:p>
              <a:endParaRPr lang="zh-CN" altLang="en-US"/>
            </a:p>
          </p:txBody>
        </p:sp>
        <p:sp>
          <p:nvSpPr>
            <p:cNvPr id="62" name="TextBox 62"/>
            <p:cNvSpPr txBox="1"/>
            <p:nvPr/>
          </p:nvSpPr>
          <p:spPr>
            <a:xfrm>
              <a:off x="3148073" y="5344478"/>
              <a:ext cx="5895854" cy="213360"/>
            </a:xfrm>
            <a:prstGeom prst="rect">
              <a:avLst/>
            </a:prstGeom>
            <a:noFill/>
            <a:ln>
              <a:noFill/>
            </a:ln>
          </p:spPr>
          <p:txBody>
            <a:bodyPr wrap="none" lIns="0" tIns="0" rIns="0" bIns="0" anchor="t" anchorCtr="0">
              <a:spAutoFit/>
            </a:bodyPr>
            <a:lstStyle/>
            <a:p>
              <a:pPr algn="ctr"/>
              <a:r>
                <a:rPr lang="zh-CN" sz="1050" b="1" dirty="0">
                  <a:solidFill>
                    <a:srgbClr val="202124"/>
                  </a:solidFill>
                  <a:latin typeface="Segoe UI"/>
                  <a:ea typeface="Microsoft YaHei"/>
                  <a:cs typeface="Segoe UI"/>
                </a:rPr>
                <a:t>All members contributed to the joint code review of the complete codebase</a:t>
              </a:r>
            </a:p>
          </p:txBody>
        </p:sp>
        <p:sp>
          <p:nvSpPr>
            <p:cNvPr id="63" name="TextBox 63"/>
            <p:cNvSpPr txBox="1"/>
            <p:nvPr/>
          </p:nvSpPr>
          <p:spPr>
            <a:xfrm>
              <a:off x="3726918" y="5581174"/>
              <a:ext cx="4738164"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and the writing of the technical brief — HKUST(GZ) · UFUG2106 · 2026</a:t>
              </a:r>
            </a:p>
          </p:txBody>
        </p:sp>
      </p:grpSp>
      <p:grpSp>
        <p:nvGrpSpPr>
          <p:cNvPr id="68" name="Group 68"/>
          <p:cNvGrpSpPr/>
          <p:nvPr/>
        </p:nvGrpSpPr>
        <p:grpSpPr>
          <a:xfrm>
            <a:off x="561022" y="6572250"/>
            <a:ext cx="11069956" cy="269081"/>
            <a:chOff x="561022" y="6572250"/>
            <a:chExt cx="11069956" cy="269081"/>
          </a:xfrm>
        </p:grpSpPr>
        <p:sp>
          <p:nvSpPr>
            <p:cNvPr id="65" name="Rectangle 65"/>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66" name="TextBox 66"/>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67" name="TextBox 67"/>
            <p:cNvSpPr txBox="1"/>
            <p:nvPr/>
          </p:nvSpPr>
          <p:spPr>
            <a:xfrm>
              <a:off x="11507605" y="667369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500"/>
                                        <p:tgtEl>
                                          <p:spTgt spid="42"/>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59"/>
                                        </p:tgtEl>
                                        <p:attrNameLst>
                                          <p:attrName>style.visibility</p:attrName>
                                        </p:attrNameLst>
                                      </p:cBhvr>
                                      <p:to>
                                        <p:strVal val="visible"/>
                                      </p:to>
                                    </p:set>
                                    <p:animEffect transition="in" filter="fade">
                                      <p:cBhvr>
                                        <p:cTn id="15" dur="500"/>
                                        <p:tgtEl>
                                          <p:spTgt spid="59"/>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42" grpId="0"/>
      <p:bldP spid="59" grpId="0"/>
      <p:bldP spid="6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28575" cy="6858000"/>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4" name="Rectangle 4"/>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37210" y="394335"/>
            <a:ext cx="11093767" cy="6351746"/>
            <a:chOff x="537210" y="394335"/>
            <a:chExt cx="11093767" cy="6351746"/>
          </a:xfrm>
        </p:grpSpPr>
        <p:sp>
          <p:nvSpPr>
            <p:cNvPr id="6" name="TextBox 6"/>
            <p:cNvSpPr txBox="1"/>
            <p:nvPr/>
          </p:nvSpPr>
          <p:spPr>
            <a:xfrm>
              <a:off x="537210" y="394335"/>
              <a:ext cx="2847767" cy="415498"/>
            </a:xfrm>
            <a:prstGeom prst="rect">
              <a:avLst/>
            </a:prstGeom>
            <a:noFill/>
            <a:ln>
              <a:noFill/>
            </a:ln>
          </p:spPr>
          <p:txBody>
            <a:bodyPr wrap="none" lIns="0" tIns="0" rIns="0" bIns="0" anchor="t" anchorCtr="0">
              <a:spAutoFit/>
            </a:bodyPr>
            <a:lstStyle/>
            <a:p>
              <a:pPr algn="l"/>
              <a:r>
                <a:rPr lang="en-US" altLang="zh-CN" sz="2700" b="1" dirty="0">
                  <a:solidFill>
                    <a:srgbClr val="202124"/>
                  </a:solidFill>
                  <a:latin typeface="Segoe UI"/>
                  <a:ea typeface="Microsoft YaHei"/>
                  <a:cs typeface="Segoe UI"/>
                </a:rPr>
                <a:t>Table</a:t>
              </a:r>
              <a:r>
                <a:rPr lang="zh-CN" altLang="en-US" sz="2700" b="1" dirty="0">
                  <a:solidFill>
                    <a:srgbClr val="202124"/>
                  </a:solidFill>
                  <a:latin typeface="Segoe UI"/>
                  <a:ea typeface="Microsoft YaHei"/>
                  <a:cs typeface="Segoe UI"/>
                </a:rPr>
                <a:t> </a:t>
              </a:r>
              <a:r>
                <a:rPr lang="en-US" altLang="zh-CN" sz="2700" b="1" dirty="0">
                  <a:solidFill>
                    <a:srgbClr val="202124"/>
                  </a:solidFill>
                  <a:latin typeface="Segoe UI"/>
                  <a:ea typeface="Microsoft YaHei"/>
                  <a:cs typeface="Segoe UI"/>
                </a:rPr>
                <a:t>of</a:t>
              </a:r>
              <a:r>
                <a:rPr lang="zh-CN" altLang="en-US" sz="2700" b="1" dirty="0">
                  <a:solidFill>
                    <a:srgbClr val="202124"/>
                  </a:solidFill>
                  <a:latin typeface="Segoe UI"/>
                  <a:ea typeface="Microsoft YaHei"/>
                  <a:cs typeface="Segoe UI"/>
                </a:rPr>
                <a:t> </a:t>
              </a:r>
              <a:r>
                <a:rPr lang="en-US" altLang="zh-CN" sz="2700" b="1" dirty="0">
                  <a:solidFill>
                    <a:srgbClr val="202124"/>
                  </a:solidFill>
                  <a:latin typeface="Segoe UI"/>
                  <a:ea typeface="Microsoft YaHei"/>
                  <a:cs typeface="Segoe UI"/>
                </a:rPr>
                <a:t>Contents</a:t>
              </a:r>
              <a:endParaRPr lang="zh-CN" sz="2700" b="1" dirty="0">
                <a:solidFill>
                  <a:srgbClr val="202124"/>
                </a:solidFill>
                <a:latin typeface="Segoe UI"/>
                <a:ea typeface="Microsoft YaHei"/>
                <a:cs typeface="Segoe UI"/>
              </a:endParaRPr>
            </a:p>
          </p:txBody>
        </p:sp>
        <p:sp>
          <p:nvSpPr>
            <p:cNvPr id="7" name="Rectangle 7"/>
            <p:cNvSpPr/>
            <p:nvPr/>
          </p:nvSpPr>
          <p:spPr>
            <a:xfrm>
              <a:off x="571499" y="809625"/>
              <a:ext cx="2591705" cy="45719"/>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8" name="TextBox 8"/>
            <p:cNvSpPr txBox="1"/>
            <p:nvPr/>
          </p:nvSpPr>
          <p:spPr>
            <a:xfrm>
              <a:off x="11477482" y="657844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02</a:t>
              </a:r>
            </a:p>
          </p:txBody>
        </p:sp>
      </p:grpSp>
      <p:grpSp>
        <p:nvGrpSpPr>
          <p:cNvPr id="34" name="Group 34"/>
          <p:cNvGrpSpPr/>
          <p:nvPr/>
        </p:nvGrpSpPr>
        <p:grpSpPr>
          <a:xfrm>
            <a:off x="902970" y="1312545"/>
            <a:ext cx="4431030" cy="4440555"/>
            <a:chOff x="902970" y="1312545"/>
            <a:chExt cx="4431030" cy="4440555"/>
          </a:xfrm>
        </p:grpSpPr>
        <p:grpSp>
          <p:nvGrpSpPr>
            <p:cNvPr id="15" name="Group 15"/>
            <p:cNvGrpSpPr/>
            <p:nvPr/>
          </p:nvGrpSpPr>
          <p:grpSpPr>
            <a:xfrm>
              <a:off x="902970" y="1312545"/>
              <a:ext cx="4431030" cy="1011555"/>
              <a:chOff x="902970" y="1312545"/>
              <a:chExt cx="4431030" cy="1011555"/>
            </a:xfrm>
          </p:grpSpPr>
          <p:sp>
            <p:nvSpPr>
              <p:cNvPr id="10" name="TextBox 10"/>
              <p:cNvSpPr txBox="1"/>
              <p:nvPr/>
            </p:nvSpPr>
            <p:spPr>
              <a:xfrm>
                <a:off x="902970" y="1312545"/>
                <a:ext cx="607424" cy="792480"/>
              </a:xfrm>
              <a:prstGeom prst="rect">
                <a:avLst/>
              </a:prstGeom>
              <a:noFill/>
              <a:ln>
                <a:noFill/>
              </a:ln>
            </p:spPr>
            <p:txBody>
              <a:bodyPr wrap="none" lIns="0" tIns="0" rIns="0" bIns="0" anchor="t" anchorCtr="0">
                <a:spAutoFit/>
              </a:bodyPr>
              <a:lstStyle/>
              <a:p>
                <a:pPr algn="l"/>
                <a:r>
                  <a:rPr lang="zh-CN" sz="3900" b="1" dirty="0">
                    <a:solidFill>
                      <a:srgbClr val="4285F4">
                        <a:alpha val="18000"/>
                      </a:srgbClr>
                    </a:solidFill>
                    <a:latin typeface="Segoe UI"/>
                    <a:ea typeface="Microsoft YaHei"/>
                    <a:cs typeface="Segoe UI"/>
                  </a:rPr>
                  <a:t>01</a:t>
                </a:r>
              </a:p>
            </p:txBody>
          </p:sp>
          <p:sp>
            <p:nvSpPr>
              <p:cNvPr id="11" name="Rectangle 11"/>
              <p:cNvSpPr/>
              <p:nvPr/>
            </p:nvSpPr>
            <p:spPr>
              <a:xfrm>
                <a:off x="952500" y="1771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12" name="Rectangle 12"/>
              <p:cNvSpPr/>
              <p:nvPr/>
            </p:nvSpPr>
            <p:spPr>
              <a:xfrm>
                <a:off x="952500" y="1771650"/>
                <a:ext cx="38100" cy="552450"/>
              </a:xfrm>
              <a:prstGeom prst="roundRect">
                <a:avLst>
                  <a:gd name="adj" fmla="val 50000"/>
                </a:avLst>
              </a:prstGeom>
              <a:solidFill>
                <a:srgbClr val="4285F4"/>
              </a:solidFill>
              <a:ln>
                <a:noFill/>
              </a:ln>
            </p:spPr>
            <p:txBody>
              <a:bodyPr/>
              <a:lstStyle/>
              <a:p>
                <a:endParaRPr lang="zh-CN" altLang="en-US"/>
              </a:p>
            </p:txBody>
          </p:sp>
          <p:sp>
            <p:nvSpPr>
              <p:cNvPr id="13" name="TextBox 13"/>
              <p:cNvSpPr txBox="1"/>
              <p:nvPr/>
            </p:nvSpPr>
            <p:spPr>
              <a:xfrm>
                <a:off x="1126808" y="1862614"/>
                <a:ext cx="1684566"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Project Overview</a:t>
                </a:r>
              </a:p>
            </p:txBody>
          </p:sp>
          <p:sp>
            <p:nvSpPr>
              <p:cNvPr id="14" name="TextBox 14"/>
              <p:cNvSpPr txBox="1"/>
              <p:nvPr/>
            </p:nvSpPr>
            <p:spPr>
              <a:xfrm>
                <a:off x="1130618" y="2095024"/>
                <a:ext cx="144163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What is LogicScript?</a:t>
                </a:r>
              </a:p>
            </p:txBody>
          </p:sp>
        </p:grpSp>
        <p:grpSp>
          <p:nvGrpSpPr>
            <p:cNvPr id="21" name="Group 21"/>
            <p:cNvGrpSpPr/>
            <p:nvPr/>
          </p:nvGrpSpPr>
          <p:grpSpPr>
            <a:xfrm>
              <a:off x="902970" y="2455545"/>
              <a:ext cx="4431030" cy="1011555"/>
              <a:chOff x="902970" y="2455545"/>
              <a:chExt cx="4431030" cy="1011555"/>
            </a:xfrm>
          </p:grpSpPr>
          <p:sp>
            <p:nvSpPr>
              <p:cNvPr id="16" name="TextBox 16"/>
              <p:cNvSpPr txBox="1"/>
              <p:nvPr/>
            </p:nvSpPr>
            <p:spPr>
              <a:xfrm>
                <a:off x="902970" y="2455545"/>
                <a:ext cx="756942" cy="792480"/>
              </a:xfrm>
              <a:prstGeom prst="rect">
                <a:avLst/>
              </a:prstGeom>
              <a:noFill/>
              <a:ln>
                <a:noFill/>
              </a:ln>
            </p:spPr>
            <p:txBody>
              <a:bodyPr wrap="none" lIns="0" tIns="0" rIns="0" bIns="0" anchor="t" anchorCtr="0">
                <a:spAutoFit/>
              </a:bodyPr>
              <a:lstStyle/>
              <a:p>
                <a:pPr algn="l"/>
                <a:r>
                  <a:rPr lang="zh-CN" sz="3900" b="1" dirty="0">
                    <a:solidFill>
                      <a:srgbClr val="34A853">
                        <a:alpha val="18000"/>
                      </a:srgbClr>
                    </a:solidFill>
                    <a:latin typeface="Segoe UI"/>
                    <a:ea typeface="Microsoft YaHei"/>
                    <a:cs typeface="Segoe UI"/>
                  </a:rPr>
                  <a:t>02</a:t>
                </a:r>
              </a:p>
            </p:txBody>
          </p:sp>
          <p:sp>
            <p:nvSpPr>
              <p:cNvPr id="17" name="Rectangle 17"/>
              <p:cNvSpPr/>
              <p:nvPr/>
            </p:nvSpPr>
            <p:spPr>
              <a:xfrm>
                <a:off x="952500" y="2914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18" name="Rectangle 18"/>
              <p:cNvSpPr/>
              <p:nvPr/>
            </p:nvSpPr>
            <p:spPr>
              <a:xfrm>
                <a:off x="952500" y="2914650"/>
                <a:ext cx="38100" cy="552450"/>
              </a:xfrm>
              <a:prstGeom prst="roundRect">
                <a:avLst>
                  <a:gd name="adj" fmla="val 50000"/>
                </a:avLst>
              </a:prstGeom>
              <a:solidFill>
                <a:srgbClr val="34A853"/>
              </a:solidFill>
              <a:ln>
                <a:noFill/>
              </a:ln>
            </p:spPr>
            <p:txBody>
              <a:bodyPr/>
              <a:lstStyle/>
              <a:p>
                <a:endParaRPr lang="zh-CN" altLang="en-US"/>
              </a:p>
            </p:txBody>
          </p:sp>
          <p:sp>
            <p:nvSpPr>
              <p:cNvPr id="19" name="TextBox 19"/>
              <p:cNvSpPr txBox="1"/>
              <p:nvPr/>
            </p:nvSpPr>
            <p:spPr>
              <a:xfrm>
                <a:off x="1126808" y="3005614"/>
                <a:ext cx="2134273"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Compiler Architecture</a:t>
                </a:r>
              </a:p>
            </p:txBody>
          </p:sp>
          <p:sp>
            <p:nvSpPr>
              <p:cNvPr id="20" name="TextBox 20"/>
              <p:cNvSpPr txBox="1"/>
              <p:nvPr/>
            </p:nvSpPr>
            <p:spPr>
              <a:xfrm>
                <a:off x="1130618" y="3238024"/>
                <a:ext cx="203258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Four-phase pipeline overview</a:t>
                </a:r>
              </a:p>
            </p:txBody>
          </p:sp>
        </p:grpSp>
        <p:grpSp>
          <p:nvGrpSpPr>
            <p:cNvPr id="27" name="Group 27"/>
            <p:cNvGrpSpPr/>
            <p:nvPr/>
          </p:nvGrpSpPr>
          <p:grpSpPr>
            <a:xfrm>
              <a:off x="902970" y="3598545"/>
              <a:ext cx="4431030" cy="1011555"/>
              <a:chOff x="902970" y="3598545"/>
              <a:chExt cx="4431030" cy="1011555"/>
            </a:xfrm>
          </p:grpSpPr>
          <p:sp>
            <p:nvSpPr>
              <p:cNvPr id="22" name="TextBox 22"/>
              <p:cNvSpPr txBox="1"/>
              <p:nvPr/>
            </p:nvSpPr>
            <p:spPr>
              <a:xfrm>
                <a:off x="902970" y="3598545"/>
                <a:ext cx="756942" cy="792480"/>
              </a:xfrm>
              <a:prstGeom prst="rect">
                <a:avLst/>
              </a:prstGeom>
              <a:noFill/>
              <a:ln>
                <a:noFill/>
              </a:ln>
            </p:spPr>
            <p:txBody>
              <a:bodyPr wrap="none" lIns="0" tIns="0" rIns="0" bIns="0" anchor="t" anchorCtr="0">
                <a:spAutoFit/>
              </a:bodyPr>
              <a:lstStyle/>
              <a:p>
                <a:pPr algn="l"/>
                <a:r>
                  <a:rPr lang="zh-CN" sz="3900" b="1" dirty="0">
                    <a:solidFill>
                      <a:srgbClr val="9334E6">
                        <a:alpha val="18000"/>
                      </a:srgbClr>
                    </a:solidFill>
                    <a:latin typeface="Segoe UI"/>
                    <a:ea typeface="Microsoft YaHei"/>
                    <a:cs typeface="Segoe UI"/>
                  </a:rPr>
                  <a:t>03</a:t>
                </a:r>
              </a:p>
            </p:txBody>
          </p:sp>
          <p:sp>
            <p:nvSpPr>
              <p:cNvPr id="23" name="Rectangle 23"/>
              <p:cNvSpPr/>
              <p:nvPr/>
            </p:nvSpPr>
            <p:spPr>
              <a:xfrm>
                <a:off x="952500" y="4057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24" name="Rectangle 24"/>
              <p:cNvSpPr/>
              <p:nvPr/>
            </p:nvSpPr>
            <p:spPr>
              <a:xfrm>
                <a:off x="952500" y="4057650"/>
                <a:ext cx="38100" cy="552450"/>
              </a:xfrm>
              <a:prstGeom prst="roundRect">
                <a:avLst>
                  <a:gd name="adj" fmla="val 50000"/>
                </a:avLst>
              </a:prstGeom>
              <a:solidFill>
                <a:srgbClr val="9334E6"/>
              </a:solidFill>
              <a:ln>
                <a:noFill/>
              </a:ln>
            </p:spPr>
            <p:txBody>
              <a:bodyPr/>
              <a:lstStyle/>
              <a:p>
                <a:endParaRPr lang="zh-CN" altLang="en-US"/>
              </a:p>
            </p:txBody>
          </p:sp>
          <p:sp>
            <p:nvSpPr>
              <p:cNvPr id="25" name="TextBox 25"/>
              <p:cNvSpPr txBox="1"/>
              <p:nvPr/>
            </p:nvSpPr>
            <p:spPr>
              <a:xfrm>
                <a:off x="1126808" y="4148614"/>
                <a:ext cx="2339573"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Example: Input → Output</a:t>
                </a:r>
              </a:p>
            </p:txBody>
          </p:sp>
          <p:sp>
            <p:nvSpPr>
              <p:cNvPr id="26" name="TextBox 26"/>
              <p:cNvSpPr txBox="1"/>
              <p:nvPr/>
            </p:nvSpPr>
            <p:spPr>
              <a:xfrm>
                <a:off x="1130618" y="4381024"/>
                <a:ext cx="154843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Concrete walkthrough</a:t>
                </a:r>
              </a:p>
            </p:txBody>
          </p:sp>
        </p:grpSp>
        <p:grpSp>
          <p:nvGrpSpPr>
            <p:cNvPr id="33" name="Group 33"/>
            <p:cNvGrpSpPr/>
            <p:nvPr/>
          </p:nvGrpSpPr>
          <p:grpSpPr>
            <a:xfrm>
              <a:off x="902970" y="4741545"/>
              <a:ext cx="4431030" cy="1011555"/>
              <a:chOff x="902970" y="4741545"/>
              <a:chExt cx="4431030" cy="1011555"/>
            </a:xfrm>
          </p:grpSpPr>
          <p:sp>
            <p:nvSpPr>
              <p:cNvPr id="28" name="TextBox 28"/>
              <p:cNvSpPr txBox="1"/>
              <p:nvPr/>
            </p:nvSpPr>
            <p:spPr>
              <a:xfrm>
                <a:off x="902970" y="4741545"/>
                <a:ext cx="756942" cy="792480"/>
              </a:xfrm>
              <a:prstGeom prst="rect">
                <a:avLst/>
              </a:prstGeom>
              <a:noFill/>
              <a:ln>
                <a:noFill/>
              </a:ln>
            </p:spPr>
            <p:txBody>
              <a:bodyPr wrap="none" lIns="0" tIns="0" rIns="0" bIns="0" anchor="t" anchorCtr="0">
                <a:spAutoFit/>
              </a:bodyPr>
              <a:lstStyle/>
              <a:p>
                <a:pPr algn="l"/>
                <a:r>
                  <a:rPr lang="zh-CN" sz="3900" b="1" dirty="0">
                    <a:solidFill>
                      <a:srgbClr val="1E8E3E">
                        <a:alpha val="18000"/>
                      </a:srgbClr>
                    </a:solidFill>
                    <a:latin typeface="Segoe UI"/>
                    <a:ea typeface="Microsoft YaHei"/>
                    <a:cs typeface="Segoe UI"/>
                  </a:rPr>
                  <a:t>04</a:t>
                </a:r>
              </a:p>
            </p:txBody>
          </p:sp>
          <p:sp>
            <p:nvSpPr>
              <p:cNvPr id="29" name="Rectangle 29"/>
              <p:cNvSpPr/>
              <p:nvPr/>
            </p:nvSpPr>
            <p:spPr>
              <a:xfrm>
                <a:off x="952500" y="5200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30" name="Rectangle 30"/>
              <p:cNvSpPr/>
              <p:nvPr/>
            </p:nvSpPr>
            <p:spPr>
              <a:xfrm>
                <a:off x="952500" y="5200650"/>
                <a:ext cx="38100" cy="552450"/>
              </a:xfrm>
              <a:prstGeom prst="roundRect">
                <a:avLst>
                  <a:gd name="adj" fmla="val 50000"/>
                </a:avLst>
              </a:prstGeom>
              <a:solidFill>
                <a:srgbClr val="1E8E3E"/>
              </a:solidFill>
              <a:ln>
                <a:noFill/>
              </a:ln>
            </p:spPr>
            <p:txBody>
              <a:bodyPr/>
              <a:lstStyle/>
              <a:p>
                <a:endParaRPr lang="zh-CN" altLang="en-US"/>
              </a:p>
            </p:txBody>
          </p:sp>
          <p:sp>
            <p:nvSpPr>
              <p:cNvPr id="31" name="TextBox 31"/>
              <p:cNvSpPr txBox="1"/>
              <p:nvPr/>
            </p:nvSpPr>
            <p:spPr>
              <a:xfrm>
                <a:off x="1126808" y="5291614"/>
                <a:ext cx="1987629"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Four Phase Deep Dive</a:t>
                </a:r>
              </a:p>
            </p:txBody>
          </p:sp>
          <p:sp>
            <p:nvSpPr>
              <p:cNvPr id="32" name="TextBox 32"/>
              <p:cNvSpPr txBox="1"/>
              <p:nvPr/>
            </p:nvSpPr>
            <p:spPr>
              <a:xfrm>
                <a:off x="1130618" y="5524024"/>
                <a:ext cx="2737461"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Lexer · Parser · Optimizer · Execution</a:t>
                </a:r>
              </a:p>
            </p:txBody>
          </p:sp>
        </p:grpSp>
      </p:grpSp>
      <p:grpSp>
        <p:nvGrpSpPr>
          <p:cNvPr id="53" name="Group 53"/>
          <p:cNvGrpSpPr/>
          <p:nvPr/>
        </p:nvGrpSpPr>
        <p:grpSpPr>
          <a:xfrm>
            <a:off x="6617970" y="2455545"/>
            <a:ext cx="4431030" cy="3297555"/>
            <a:chOff x="6617970" y="2455545"/>
            <a:chExt cx="4431030" cy="3297555"/>
          </a:xfrm>
        </p:grpSpPr>
        <p:grpSp>
          <p:nvGrpSpPr>
            <p:cNvPr id="40" name="Group 40"/>
            <p:cNvGrpSpPr/>
            <p:nvPr/>
          </p:nvGrpSpPr>
          <p:grpSpPr>
            <a:xfrm>
              <a:off x="6617970" y="2455545"/>
              <a:ext cx="4431030" cy="1011555"/>
              <a:chOff x="6617970" y="2455545"/>
              <a:chExt cx="4431030" cy="1011555"/>
            </a:xfrm>
          </p:grpSpPr>
          <p:sp>
            <p:nvSpPr>
              <p:cNvPr id="35" name="TextBox 35"/>
              <p:cNvSpPr txBox="1"/>
              <p:nvPr/>
            </p:nvSpPr>
            <p:spPr>
              <a:xfrm>
                <a:off x="6617970" y="2455545"/>
                <a:ext cx="756942" cy="792480"/>
              </a:xfrm>
              <a:prstGeom prst="rect">
                <a:avLst/>
              </a:prstGeom>
              <a:noFill/>
              <a:ln>
                <a:noFill/>
              </a:ln>
            </p:spPr>
            <p:txBody>
              <a:bodyPr wrap="none" lIns="0" tIns="0" rIns="0" bIns="0" anchor="t" anchorCtr="0">
                <a:spAutoFit/>
              </a:bodyPr>
              <a:lstStyle/>
              <a:p>
                <a:pPr algn="l"/>
                <a:r>
                  <a:rPr lang="zh-CN" sz="3900" b="1" dirty="0">
                    <a:solidFill>
                      <a:srgbClr val="EA4335">
                        <a:alpha val="18000"/>
                      </a:srgbClr>
                    </a:solidFill>
                    <a:latin typeface="Segoe UI"/>
                    <a:ea typeface="Microsoft YaHei"/>
                    <a:cs typeface="Segoe UI"/>
                  </a:rPr>
                  <a:t>05</a:t>
                </a:r>
              </a:p>
            </p:txBody>
          </p:sp>
          <p:sp>
            <p:nvSpPr>
              <p:cNvPr id="36" name="Rectangle 36"/>
              <p:cNvSpPr/>
              <p:nvPr/>
            </p:nvSpPr>
            <p:spPr>
              <a:xfrm>
                <a:off x="6667500" y="2914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37" name="Rectangle 37"/>
              <p:cNvSpPr/>
              <p:nvPr/>
            </p:nvSpPr>
            <p:spPr>
              <a:xfrm>
                <a:off x="6667500" y="2914650"/>
                <a:ext cx="38100" cy="552450"/>
              </a:xfrm>
              <a:prstGeom prst="roundRect">
                <a:avLst>
                  <a:gd name="adj" fmla="val 50000"/>
                </a:avLst>
              </a:prstGeom>
              <a:solidFill>
                <a:srgbClr val="EA4335"/>
              </a:solidFill>
              <a:ln>
                <a:noFill/>
              </a:ln>
            </p:spPr>
            <p:txBody>
              <a:bodyPr/>
              <a:lstStyle/>
              <a:p>
                <a:endParaRPr lang="zh-CN" altLang="en-US"/>
              </a:p>
            </p:txBody>
          </p:sp>
          <p:sp>
            <p:nvSpPr>
              <p:cNvPr id="38" name="TextBox 38"/>
              <p:cNvSpPr txBox="1"/>
              <p:nvPr/>
            </p:nvSpPr>
            <p:spPr>
              <a:xfrm>
                <a:off x="6841808" y="3005614"/>
                <a:ext cx="1283741"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Testing Suite</a:t>
                </a:r>
              </a:p>
            </p:txBody>
          </p:sp>
          <p:sp>
            <p:nvSpPr>
              <p:cNvPr id="39" name="TextBox 39"/>
              <p:cNvSpPr txBox="1"/>
              <p:nvPr/>
            </p:nvSpPr>
            <p:spPr>
              <a:xfrm>
                <a:off x="6845618" y="3238024"/>
                <a:ext cx="1754910"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Per-phase test coverage</a:t>
                </a:r>
              </a:p>
            </p:txBody>
          </p:sp>
        </p:grpSp>
        <p:grpSp>
          <p:nvGrpSpPr>
            <p:cNvPr id="46" name="Group 46"/>
            <p:cNvGrpSpPr/>
            <p:nvPr/>
          </p:nvGrpSpPr>
          <p:grpSpPr>
            <a:xfrm>
              <a:off x="6617970" y="3598545"/>
              <a:ext cx="4431030" cy="1011555"/>
              <a:chOff x="6617970" y="3598545"/>
              <a:chExt cx="4431030" cy="1011555"/>
            </a:xfrm>
          </p:grpSpPr>
          <p:sp>
            <p:nvSpPr>
              <p:cNvPr id="41" name="TextBox 41"/>
              <p:cNvSpPr txBox="1"/>
              <p:nvPr/>
            </p:nvSpPr>
            <p:spPr>
              <a:xfrm>
                <a:off x="6617970" y="3598545"/>
                <a:ext cx="756942" cy="792480"/>
              </a:xfrm>
              <a:prstGeom prst="rect">
                <a:avLst/>
              </a:prstGeom>
              <a:noFill/>
              <a:ln>
                <a:noFill/>
              </a:ln>
            </p:spPr>
            <p:txBody>
              <a:bodyPr wrap="none" lIns="0" tIns="0" rIns="0" bIns="0" anchor="t" anchorCtr="0">
                <a:spAutoFit/>
              </a:bodyPr>
              <a:lstStyle/>
              <a:p>
                <a:pPr algn="l"/>
                <a:r>
                  <a:rPr lang="zh-CN" sz="3900" b="1" dirty="0">
                    <a:solidFill>
                      <a:srgbClr val="4285F4">
                        <a:alpha val="18000"/>
                      </a:srgbClr>
                    </a:solidFill>
                    <a:latin typeface="Segoe UI"/>
                    <a:ea typeface="Microsoft YaHei"/>
                    <a:cs typeface="Segoe UI"/>
                  </a:rPr>
                  <a:t>06</a:t>
                </a:r>
              </a:p>
            </p:txBody>
          </p:sp>
          <p:sp>
            <p:nvSpPr>
              <p:cNvPr id="42" name="Rectangle 42"/>
              <p:cNvSpPr/>
              <p:nvPr/>
            </p:nvSpPr>
            <p:spPr>
              <a:xfrm>
                <a:off x="6667500" y="4057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43" name="Rectangle 43"/>
              <p:cNvSpPr/>
              <p:nvPr/>
            </p:nvSpPr>
            <p:spPr>
              <a:xfrm>
                <a:off x="6667500" y="4057650"/>
                <a:ext cx="38100" cy="552450"/>
              </a:xfrm>
              <a:prstGeom prst="roundRect">
                <a:avLst>
                  <a:gd name="adj" fmla="val 50000"/>
                </a:avLst>
              </a:prstGeom>
              <a:solidFill>
                <a:srgbClr val="4285F4"/>
              </a:solidFill>
              <a:ln>
                <a:noFill/>
              </a:ln>
            </p:spPr>
            <p:txBody>
              <a:bodyPr/>
              <a:lstStyle/>
              <a:p>
                <a:endParaRPr lang="zh-CN" altLang="en-US"/>
              </a:p>
            </p:txBody>
          </p:sp>
          <p:sp>
            <p:nvSpPr>
              <p:cNvPr id="44" name="TextBox 44"/>
              <p:cNvSpPr txBox="1"/>
              <p:nvPr/>
            </p:nvSpPr>
            <p:spPr>
              <a:xfrm>
                <a:off x="6841808" y="4148614"/>
                <a:ext cx="2505769"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Limitations &amp; Future Work</a:t>
                </a:r>
              </a:p>
            </p:txBody>
          </p:sp>
          <p:sp>
            <p:nvSpPr>
              <p:cNvPr id="45" name="TextBox 45"/>
              <p:cNvSpPr txBox="1"/>
              <p:nvPr/>
            </p:nvSpPr>
            <p:spPr>
              <a:xfrm>
                <a:off x="6845618" y="4381024"/>
                <a:ext cx="2182106"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Current constraints &amp; roadmap</a:t>
                </a:r>
              </a:p>
            </p:txBody>
          </p:sp>
        </p:grpSp>
        <p:grpSp>
          <p:nvGrpSpPr>
            <p:cNvPr id="52" name="Group 52"/>
            <p:cNvGrpSpPr/>
            <p:nvPr/>
          </p:nvGrpSpPr>
          <p:grpSpPr>
            <a:xfrm>
              <a:off x="6617970" y="4741545"/>
              <a:ext cx="4431030" cy="1011555"/>
              <a:chOff x="6617970" y="4741545"/>
              <a:chExt cx="4431030" cy="1011555"/>
            </a:xfrm>
          </p:grpSpPr>
          <p:sp>
            <p:nvSpPr>
              <p:cNvPr id="47" name="TextBox 47"/>
              <p:cNvSpPr txBox="1"/>
              <p:nvPr/>
            </p:nvSpPr>
            <p:spPr>
              <a:xfrm>
                <a:off x="6617970" y="4741545"/>
                <a:ext cx="756942" cy="792480"/>
              </a:xfrm>
              <a:prstGeom prst="rect">
                <a:avLst/>
              </a:prstGeom>
              <a:noFill/>
              <a:ln>
                <a:noFill/>
              </a:ln>
            </p:spPr>
            <p:txBody>
              <a:bodyPr wrap="none" lIns="0" tIns="0" rIns="0" bIns="0" anchor="t" anchorCtr="0">
                <a:spAutoFit/>
              </a:bodyPr>
              <a:lstStyle/>
              <a:p>
                <a:pPr algn="l"/>
                <a:r>
                  <a:rPr lang="zh-CN" sz="3900" b="1" dirty="0">
                    <a:solidFill>
                      <a:srgbClr val="34A853">
                        <a:alpha val="18000"/>
                      </a:srgbClr>
                    </a:solidFill>
                    <a:latin typeface="Segoe UI"/>
                    <a:ea typeface="Microsoft YaHei"/>
                    <a:cs typeface="Segoe UI"/>
                  </a:rPr>
                  <a:t>07</a:t>
                </a:r>
              </a:p>
            </p:txBody>
          </p:sp>
          <p:sp>
            <p:nvSpPr>
              <p:cNvPr id="48" name="Rectangle 48"/>
              <p:cNvSpPr/>
              <p:nvPr/>
            </p:nvSpPr>
            <p:spPr>
              <a:xfrm>
                <a:off x="6667500" y="5200650"/>
                <a:ext cx="4381500" cy="552450"/>
              </a:xfrm>
              <a:prstGeom prst="roundRect">
                <a:avLst>
                  <a:gd name="adj" fmla="val 13793"/>
                </a:avLst>
              </a:prstGeom>
              <a:solidFill>
                <a:srgbClr val="FFFFFF"/>
              </a:solidFill>
              <a:ln w="9525">
                <a:solidFill>
                  <a:srgbClr val="DADCE0"/>
                </a:solidFill>
              </a:ln>
            </p:spPr>
            <p:txBody>
              <a:bodyPr/>
              <a:lstStyle/>
              <a:p>
                <a:endParaRPr lang="zh-CN" altLang="en-US"/>
              </a:p>
            </p:txBody>
          </p:sp>
          <p:sp>
            <p:nvSpPr>
              <p:cNvPr id="49" name="Rectangle 49"/>
              <p:cNvSpPr/>
              <p:nvPr/>
            </p:nvSpPr>
            <p:spPr>
              <a:xfrm>
                <a:off x="6667500" y="5200650"/>
                <a:ext cx="38100" cy="552450"/>
              </a:xfrm>
              <a:prstGeom prst="roundRect">
                <a:avLst>
                  <a:gd name="adj" fmla="val 50000"/>
                </a:avLst>
              </a:prstGeom>
              <a:solidFill>
                <a:srgbClr val="34A853"/>
              </a:solidFill>
              <a:ln>
                <a:noFill/>
              </a:ln>
            </p:spPr>
            <p:txBody>
              <a:bodyPr/>
              <a:lstStyle/>
              <a:p>
                <a:endParaRPr lang="zh-CN" altLang="en-US"/>
              </a:p>
            </p:txBody>
          </p:sp>
          <p:sp>
            <p:nvSpPr>
              <p:cNvPr id="50" name="TextBox 50"/>
              <p:cNvSpPr txBox="1"/>
              <p:nvPr/>
            </p:nvSpPr>
            <p:spPr>
              <a:xfrm>
                <a:off x="6841808" y="5291614"/>
                <a:ext cx="501644"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Team</a:t>
                </a:r>
              </a:p>
            </p:txBody>
          </p:sp>
          <p:sp>
            <p:nvSpPr>
              <p:cNvPr id="51" name="TextBox 51"/>
              <p:cNvSpPr txBox="1"/>
              <p:nvPr/>
            </p:nvSpPr>
            <p:spPr>
              <a:xfrm>
                <a:off x="6845618" y="5524024"/>
                <a:ext cx="204682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Collaboration &amp; contributions</a:t>
                </a:r>
              </a:p>
            </p:txBody>
          </p:sp>
        </p:grpSp>
      </p:grpSp>
      <p:grpSp>
        <p:nvGrpSpPr>
          <p:cNvPr id="57" name="Group 57"/>
          <p:cNvGrpSpPr/>
          <p:nvPr/>
        </p:nvGrpSpPr>
        <p:grpSpPr>
          <a:xfrm>
            <a:off x="561022" y="6572250"/>
            <a:ext cx="11069955" cy="269081"/>
            <a:chOff x="561022" y="6572250"/>
            <a:chExt cx="11069955" cy="269081"/>
          </a:xfrm>
        </p:grpSpPr>
        <p:sp>
          <p:nvSpPr>
            <p:cNvPr id="54" name="Rectangle 54"/>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55" name="TextBox 55"/>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56" name="TextBox 56"/>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02</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fade">
                                      <p:cBhvr>
                                        <p:cTn id="11"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5227320" cy="632936"/>
            <a:chOff x="571500" y="379095"/>
            <a:chExt cx="5227320" cy="632936"/>
          </a:xfrm>
        </p:grpSpPr>
        <p:sp>
          <p:nvSpPr>
            <p:cNvPr id="5" name="Rectangle 5"/>
            <p:cNvSpPr/>
            <p:nvPr/>
          </p:nvSpPr>
          <p:spPr>
            <a:xfrm>
              <a:off x="571500" y="381000"/>
              <a:ext cx="47625" cy="342900"/>
            </a:xfrm>
            <a:prstGeom prst="roundRect">
              <a:avLst>
                <a:gd name="adj" fmla="val 40000"/>
              </a:avLst>
            </a:prstGeom>
            <a:solidFill>
              <a:srgbClr val="4285F4"/>
            </a:solidFill>
            <a:ln>
              <a:noFill/>
            </a:ln>
          </p:spPr>
          <p:txBody>
            <a:bodyPr/>
            <a:lstStyle/>
            <a:p>
              <a:endParaRPr lang="zh-CN" altLang="en-US"/>
            </a:p>
          </p:txBody>
        </p:sp>
        <p:sp>
          <p:nvSpPr>
            <p:cNvPr id="6" name="TextBox 6"/>
            <p:cNvSpPr txBox="1"/>
            <p:nvPr/>
          </p:nvSpPr>
          <p:spPr>
            <a:xfrm>
              <a:off x="693420" y="379095"/>
              <a:ext cx="3723018"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What is LogicScript?</a:t>
              </a:r>
            </a:p>
          </p:txBody>
        </p:sp>
        <p:sp>
          <p:nvSpPr>
            <p:cNvPr id="7" name="TextBox 7"/>
            <p:cNvSpPr txBox="1"/>
            <p:nvPr/>
          </p:nvSpPr>
          <p:spPr>
            <a:xfrm>
              <a:off x="709612" y="783431"/>
              <a:ext cx="5089208"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A custom micro-language with a four-phase optimizing compiler</a:t>
              </a:r>
            </a:p>
          </p:txBody>
        </p:sp>
      </p:grpSp>
      <p:grpSp>
        <p:nvGrpSpPr>
          <p:cNvPr id="31" name="Group 31"/>
          <p:cNvGrpSpPr/>
          <p:nvPr/>
        </p:nvGrpSpPr>
        <p:grpSpPr>
          <a:xfrm>
            <a:off x="571500" y="1238250"/>
            <a:ext cx="3429000" cy="4762500"/>
            <a:chOff x="571500" y="1238250"/>
            <a:chExt cx="3429000" cy="4762500"/>
          </a:xfrm>
          <a:effectLst>
            <a:glow rad="76200">
              <a:srgbClr val="4285F4">
                <a:alpha val="8000"/>
              </a:srgbClr>
            </a:glow>
          </a:effectLst>
        </p:grpSpPr>
        <p:sp>
          <p:nvSpPr>
            <p:cNvPr id="9" name="Rectangle 9"/>
            <p:cNvSpPr/>
            <p:nvPr/>
          </p:nvSpPr>
          <p:spPr>
            <a:xfrm>
              <a:off x="571500" y="1238250"/>
              <a:ext cx="3429000" cy="4762500"/>
            </a:xfrm>
            <a:prstGeom prst="roundRect">
              <a:avLst>
                <a:gd name="adj" fmla="val 3333"/>
              </a:avLst>
            </a:prstGeom>
            <a:solidFill>
              <a:srgbClr val="FFFFFF"/>
            </a:solidFill>
            <a:ln w="9525">
              <a:solidFill>
                <a:srgbClr val="4285F4">
                  <a:alpha val="30000"/>
                </a:srgbClr>
              </a:solidFill>
            </a:ln>
            <a:effectLst>
              <a:glow rad="76200">
                <a:srgbClr val="4285F4">
                  <a:alpha val="8000"/>
                </a:srgbClr>
              </a:glow>
            </a:effectLst>
          </p:spPr>
          <p:txBody>
            <a:bodyPr/>
            <a:lstStyle/>
            <a:p>
              <a:endParaRPr lang="zh-CN" altLang="en-US"/>
            </a:p>
          </p:txBody>
        </p:sp>
        <p:sp>
          <p:nvSpPr>
            <p:cNvPr id="10" name="Rectangle 10"/>
            <p:cNvSpPr/>
            <p:nvPr/>
          </p:nvSpPr>
          <p:spPr>
            <a:xfrm>
              <a:off x="571500" y="1238250"/>
              <a:ext cx="3429000" cy="38100"/>
            </a:xfrm>
            <a:prstGeom prst="roundRect">
              <a:avLst>
                <a:gd name="adj" fmla="val 50000"/>
              </a:avLst>
            </a:prstGeom>
            <a:solidFill>
              <a:srgbClr val="4285F4"/>
            </a:solidFill>
            <a:ln>
              <a:noFill/>
            </a:ln>
            <a:effectLst>
              <a:glow rad="76200">
                <a:srgbClr val="4285F4">
                  <a:alpha val="8000"/>
                </a:srgbClr>
              </a:glow>
            </a:effectLst>
          </p:spPr>
          <p:txBody>
            <a:bodyPr/>
            <a:lstStyle/>
            <a:p>
              <a:endParaRPr lang="zh-CN" altLang="en-US"/>
            </a:p>
          </p:txBody>
        </p:sp>
        <p:sp>
          <p:nvSpPr>
            <p:cNvPr id="11" name="Rectangle 11"/>
            <p:cNvSpPr/>
            <p:nvPr/>
          </p:nvSpPr>
          <p:spPr>
            <a:xfrm>
              <a:off x="1333500" y="1695450"/>
              <a:ext cx="1905000" cy="571500"/>
            </a:xfrm>
            <a:prstGeom prst="roundRect">
              <a:avLst>
                <a:gd name="adj" fmla="val 50000"/>
              </a:avLst>
            </a:prstGeom>
            <a:solidFill>
              <a:srgbClr val="4285F4">
                <a:alpha val="10000"/>
              </a:srgbClr>
            </a:solidFill>
            <a:ln>
              <a:noFill/>
            </a:ln>
            <a:effectLst>
              <a:glow rad="76200">
                <a:srgbClr val="4285F4">
                  <a:alpha val="8000"/>
                </a:srgbClr>
              </a:glow>
            </a:effectLst>
          </p:spPr>
          <p:txBody>
            <a:bodyPr/>
            <a:lstStyle/>
            <a:p>
              <a:endParaRPr lang="zh-CN" altLang="en-US"/>
            </a:p>
          </p:txBody>
        </p:sp>
        <p:sp>
          <p:nvSpPr>
            <p:cNvPr id="12" name="Freeform 12"/>
            <p:cNvSpPr/>
            <p:nvPr/>
          </p:nvSpPr>
          <p:spPr>
            <a:xfrm>
              <a:off x="2016123" y="1798753"/>
              <a:ext cx="367706" cy="369140"/>
            </a:xfrm>
            <a:custGeom>
              <a:avLst/>
              <a:gdLst/>
              <a:ahLst/>
              <a:cxnLst/>
              <a:rect l="l" t="t" r="r" b="b"/>
              <a:pathLst>
                <a:path w="367706" h="369140">
                  <a:moveTo>
                    <a:pt x="261940" y="31222"/>
                  </a:moveTo>
                  <a:cubicBezTo>
                    <a:pt x="335331" y="73594"/>
                    <a:pt x="367706" y="162544"/>
                    <a:pt x="338720" y="242178"/>
                  </a:cubicBezTo>
                  <a:cubicBezTo>
                    <a:pt x="309735" y="321812"/>
                    <a:pt x="227758" y="369140"/>
                    <a:pt x="144301" y="354423"/>
                  </a:cubicBezTo>
                  <a:cubicBezTo>
                    <a:pt x="60844" y="339706"/>
                    <a:pt x="0" y="267192"/>
                    <a:pt x="2" y="182447"/>
                  </a:cubicBezTo>
                  <a:lnTo>
                    <a:pt x="89" y="176789"/>
                  </a:lnTo>
                  <a:cubicBezTo>
                    <a:pt x="2079" y="115443"/>
                    <a:pt x="36129" y="59646"/>
                    <a:pt x="89775" y="29823"/>
                  </a:cubicBezTo>
                  <a:cubicBezTo>
                    <a:pt x="143421" y="0"/>
                    <a:pt x="208785" y="531"/>
                    <a:pt x="261940" y="31222"/>
                  </a:cubicBezTo>
                  <a:moveTo>
                    <a:pt x="152048" y="135176"/>
                  </a:moveTo>
                  <a:cubicBezTo>
                    <a:pt x="145229" y="128359"/>
                    <a:pt x="134175" y="128359"/>
                    <a:pt x="127356" y="135176"/>
                  </a:cubicBezTo>
                  <a:lnTo>
                    <a:pt x="92431" y="170101"/>
                  </a:lnTo>
                  <a:cubicBezTo>
                    <a:pt x="85614" y="176920"/>
                    <a:pt x="85614" y="187974"/>
                    <a:pt x="92431" y="194793"/>
                  </a:cubicBezTo>
                  <a:lnTo>
                    <a:pt x="127356" y="229718"/>
                  </a:lnTo>
                  <a:cubicBezTo>
                    <a:pt x="134175" y="236535"/>
                    <a:pt x="145229" y="236535"/>
                    <a:pt x="152048" y="229718"/>
                  </a:cubicBezTo>
                  <a:lnTo>
                    <a:pt x="153498" y="228077"/>
                  </a:lnTo>
                  <a:cubicBezTo>
                    <a:pt x="158890" y="221125"/>
                    <a:pt x="158269" y="211247"/>
                    <a:pt x="152048" y="205026"/>
                  </a:cubicBezTo>
                  <a:lnTo>
                    <a:pt x="129487" y="182447"/>
                  </a:lnTo>
                  <a:lnTo>
                    <a:pt x="152048" y="159868"/>
                  </a:lnTo>
                  <a:cubicBezTo>
                    <a:pt x="158865" y="153049"/>
                    <a:pt x="158865" y="141995"/>
                    <a:pt x="152048" y="135176"/>
                  </a:cubicBezTo>
                  <a:moveTo>
                    <a:pt x="221898" y="135176"/>
                  </a:moveTo>
                  <a:cubicBezTo>
                    <a:pt x="215079" y="128359"/>
                    <a:pt x="204025" y="128359"/>
                    <a:pt x="197206" y="135176"/>
                  </a:cubicBezTo>
                  <a:lnTo>
                    <a:pt x="195757" y="136818"/>
                  </a:lnTo>
                  <a:cubicBezTo>
                    <a:pt x="190364" y="143769"/>
                    <a:pt x="190985" y="153647"/>
                    <a:pt x="197206" y="159868"/>
                  </a:cubicBezTo>
                  <a:lnTo>
                    <a:pt x="219768" y="182447"/>
                  </a:lnTo>
                  <a:lnTo>
                    <a:pt x="197206" y="205026"/>
                  </a:lnTo>
                  <a:cubicBezTo>
                    <a:pt x="190588" y="211878"/>
                    <a:pt x="190683" y="222770"/>
                    <a:pt x="197419" y="229505"/>
                  </a:cubicBezTo>
                  <a:cubicBezTo>
                    <a:pt x="204155" y="236241"/>
                    <a:pt x="215046" y="236336"/>
                    <a:pt x="221898" y="229718"/>
                  </a:cubicBezTo>
                  <a:lnTo>
                    <a:pt x="256823" y="194793"/>
                  </a:lnTo>
                  <a:cubicBezTo>
                    <a:pt x="263640" y="187974"/>
                    <a:pt x="263640" y="176920"/>
                    <a:pt x="256823" y="170101"/>
                  </a:cubicBezTo>
                  <a:close/>
                </a:path>
              </a:pathLst>
            </a:custGeom>
            <a:solidFill>
              <a:srgbClr val="4285F4"/>
            </a:solidFill>
            <a:ln>
              <a:noFill/>
            </a:ln>
            <a:effectLst>
              <a:glow rad="76200">
                <a:srgbClr val="4285F4">
                  <a:alpha val="8000"/>
                </a:srgbClr>
              </a:glow>
            </a:effectLst>
          </p:spPr>
          <p:txBody>
            <a:bodyPr/>
            <a:lstStyle/>
            <a:p>
              <a:endParaRPr lang="zh-CN" altLang="en-US"/>
            </a:p>
          </p:txBody>
        </p:sp>
        <p:sp>
          <p:nvSpPr>
            <p:cNvPr id="13" name="TextBox 13"/>
            <p:cNvSpPr txBox="1"/>
            <p:nvPr/>
          </p:nvSpPr>
          <p:spPr>
            <a:xfrm>
              <a:off x="2856452" y="1352550"/>
              <a:ext cx="934498" cy="1219200"/>
            </a:xfrm>
            <a:prstGeom prst="rect">
              <a:avLst/>
            </a:prstGeom>
            <a:noFill/>
            <a:ln>
              <a:noFill/>
            </a:ln>
          </p:spPr>
          <p:txBody>
            <a:bodyPr wrap="none" lIns="0" tIns="0" rIns="0" bIns="0" anchor="t" anchorCtr="0">
              <a:spAutoFit/>
            </a:bodyPr>
            <a:lstStyle/>
            <a:p>
              <a:pPr algn="r"/>
              <a:r>
                <a:rPr lang="zh-CN" sz="6000" b="1" dirty="0">
                  <a:solidFill>
                    <a:srgbClr val="4285F4">
                      <a:alpha val="5000"/>
                    </a:srgbClr>
                  </a:solidFill>
                  <a:effectLst>
                    <a:glow rad="76200">
                      <a:srgbClr val="4285F4">
                        <a:alpha val="8000"/>
                      </a:srgbClr>
                    </a:glow>
                  </a:effectLst>
                  <a:latin typeface="Segoe UI"/>
                  <a:ea typeface="Microsoft YaHei"/>
                  <a:cs typeface="Segoe UI"/>
                </a:rPr>
                <a:t>01</a:t>
              </a:r>
            </a:p>
          </p:txBody>
        </p:sp>
        <p:sp>
          <p:nvSpPr>
            <p:cNvPr id="14" name="TextBox 14"/>
            <p:cNvSpPr txBox="1"/>
            <p:nvPr/>
          </p:nvSpPr>
          <p:spPr>
            <a:xfrm>
              <a:off x="950035" y="2486025"/>
              <a:ext cx="2671929" cy="304800"/>
            </a:xfrm>
            <a:prstGeom prst="rect">
              <a:avLst/>
            </a:prstGeom>
            <a:noFill/>
            <a:ln>
              <a:noFill/>
            </a:ln>
          </p:spPr>
          <p:txBody>
            <a:bodyPr wrap="none" lIns="0" tIns="0" rIns="0" bIns="0" anchor="t" anchorCtr="0">
              <a:spAutoFit/>
            </a:bodyPr>
            <a:lstStyle/>
            <a:p>
              <a:pPr algn="ctr"/>
              <a:r>
                <a:rPr lang="zh-CN" sz="1500" b="1" dirty="0">
                  <a:solidFill>
                    <a:srgbClr val="202124"/>
                  </a:solidFill>
                  <a:effectLst>
                    <a:glow rad="76200">
                      <a:srgbClr val="4285F4">
                        <a:alpha val="8000"/>
                      </a:srgbClr>
                    </a:glow>
                  </a:effectLst>
                  <a:latin typeface="Segoe UI"/>
                  <a:ea typeface="Microsoft YaHei"/>
                  <a:cs typeface="Segoe UI"/>
                </a:rPr>
                <a:t>Custom Micro-Language</a:t>
              </a:r>
            </a:p>
          </p:txBody>
        </p:sp>
        <p:sp>
          <p:nvSpPr>
            <p:cNvPr id="15" name="TextBox 15"/>
            <p:cNvSpPr txBox="1"/>
            <p:nvPr/>
          </p:nvSpPr>
          <p:spPr>
            <a:xfrm>
              <a:off x="1743204" y="2779395"/>
              <a:ext cx="1085593" cy="182880"/>
            </a:xfrm>
            <a:prstGeom prst="rect">
              <a:avLst/>
            </a:prstGeom>
            <a:noFill/>
            <a:ln>
              <a:noFill/>
            </a:ln>
          </p:spPr>
          <p:txBody>
            <a:bodyPr wrap="none" lIns="0" tIns="0" rIns="0" bIns="0" anchor="t" anchorCtr="0">
              <a:spAutoFit/>
            </a:bodyPr>
            <a:lstStyle/>
            <a:p>
              <a:pPr algn="ctr"/>
              <a:r>
                <a:rPr lang="zh-CN" sz="900" b="1" dirty="0">
                  <a:solidFill>
                    <a:srgbClr val="4285F4"/>
                  </a:solidFill>
                  <a:effectLst>
                    <a:glow rad="76200">
                      <a:srgbClr val="4285F4">
                        <a:alpha val="8000"/>
                      </a:srgbClr>
                    </a:glow>
                  </a:effectLst>
                  <a:latin typeface="Segoe UI"/>
                  <a:ea typeface="Microsoft YaHei"/>
                  <a:cs typeface="Segoe UI"/>
                </a:rPr>
                <a:t>LOGICSCRIPT DSL</a:t>
              </a:r>
            </a:p>
          </p:txBody>
        </p:sp>
        <p:sp>
          <p:nvSpPr>
            <p:cNvPr id="16" name="Rectangle 16"/>
            <p:cNvSpPr/>
            <p:nvPr/>
          </p:nvSpPr>
          <p:spPr>
            <a:xfrm>
              <a:off x="952500" y="3028950"/>
              <a:ext cx="2667000" cy="9525"/>
            </a:xfrm>
            <a:prstGeom prst="rect">
              <a:avLst/>
            </a:prstGeom>
            <a:solidFill>
              <a:srgbClr val="DADCE0"/>
            </a:solidFill>
            <a:ln>
              <a:noFill/>
            </a:ln>
            <a:effectLst>
              <a:glow rad="76200">
                <a:srgbClr val="4285F4">
                  <a:alpha val="8000"/>
                </a:srgbClr>
              </a:glow>
            </a:effectLst>
          </p:spPr>
          <p:txBody>
            <a:bodyPr/>
            <a:lstStyle/>
            <a:p>
              <a:endParaRPr lang="zh-CN" altLang="en-US"/>
            </a:p>
          </p:txBody>
        </p:sp>
        <p:sp>
          <p:nvSpPr>
            <p:cNvPr id="17" name="Ellipse 17"/>
            <p:cNvSpPr/>
            <p:nvPr/>
          </p:nvSpPr>
          <p:spPr>
            <a:xfrm>
              <a:off x="876300" y="3267075"/>
              <a:ext cx="57150" cy="57150"/>
            </a:xfrm>
            <a:prstGeom prst="ellipse">
              <a:avLst/>
            </a:prstGeom>
            <a:solidFill>
              <a:srgbClr val="4285F4"/>
            </a:solidFill>
            <a:ln>
              <a:noFill/>
            </a:ln>
            <a:effectLst>
              <a:glow rad="76200">
                <a:srgbClr val="4285F4">
                  <a:alpha val="8000"/>
                </a:srgbClr>
              </a:glow>
            </a:effectLst>
          </p:spPr>
          <p:txBody>
            <a:bodyPr/>
            <a:lstStyle/>
            <a:p>
              <a:endParaRPr lang="zh-CN" altLang="en-US"/>
            </a:p>
          </p:txBody>
        </p:sp>
        <p:sp>
          <p:nvSpPr>
            <p:cNvPr id="18" name="TextBox 18"/>
            <p:cNvSpPr txBox="1"/>
            <p:nvPr/>
          </p:nvSpPr>
          <p:spPr>
            <a:xfrm>
              <a:off x="1014412" y="3221831"/>
              <a:ext cx="1655207"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4285F4">
                        <a:alpha val="8000"/>
                      </a:srgbClr>
                    </a:glow>
                  </a:effectLst>
                  <a:latin typeface="Segoe UI"/>
                  <a:ea typeface="Microsoft YaHei"/>
                  <a:cs typeface="Segoe UI"/>
                </a:rPr>
                <a:t>Boolean assignments</a:t>
              </a:r>
            </a:p>
          </p:txBody>
        </p:sp>
        <p:sp>
          <p:nvSpPr>
            <p:cNvPr id="19" name="TextBox 19"/>
            <p:cNvSpPr txBox="1"/>
            <p:nvPr/>
          </p:nvSpPr>
          <p:spPr>
            <a:xfrm>
              <a:off x="1016318" y="3438049"/>
              <a:ext cx="1277874"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4285F4">
                        <a:alpha val="8000"/>
                      </a:srgbClr>
                    </a:glow>
                  </a:effectLst>
                  <a:latin typeface="Segoe UI"/>
                  <a:ea typeface="Microsoft YaHei"/>
                  <a:cs typeface="Segoe UI"/>
                </a:rPr>
                <a:t>let p = T | let q = F</a:t>
              </a:r>
            </a:p>
          </p:txBody>
        </p:sp>
        <p:sp>
          <p:nvSpPr>
            <p:cNvPr id="20" name="Ellipse 20"/>
            <p:cNvSpPr/>
            <p:nvPr/>
          </p:nvSpPr>
          <p:spPr>
            <a:xfrm>
              <a:off x="876300" y="3810000"/>
              <a:ext cx="57150" cy="57150"/>
            </a:xfrm>
            <a:prstGeom prst="ellipse">
              <a:avLst/>
            </a:prstGeom>
            <a:solidFill>
              <a:srgbClr val="4285F4"/>
            </a:solidFill>
            <a:ln>
              <a:noFill/>
            </a:ln>
            <a:effectLst>
              <a:glow rad="76200">
                <a:srgbClr val="4285F4">
                  <a:alpha val="8000"/>
                </a:srgbClr>
              </a:glow>
            </a:effectLst>
          </p:spPr>
          <p:txBody>
            <a:bodyPr/>
            <a:lstStyle/>
            <a:p>
              <a:endParaRPr lang="zh-CN" altLang="en-US"/>
            </a:p>
          </p:txBody>
        </p:sp>
        <p:sp>
          <p:nvSpPr>
            <p:cNvPr id="21" name="TextBox 21"/>
            <p:cNvSpPr txBox="1"/>
            <p:nvPr/>
          </p:nvSpPr>
          <p:spPr>
            <a:xfrm>
              <a:off x="1014412" y="3764756"/>
              <a:ext cx="1720929"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4285F4">
                        <a:alpha val="8000"/>
                      </a:srgbClr>
                    </a:glow>
                  </a:effectLst>
                  <a:latin typeface="Segoe UI"/>
                  <a:ea typeface="Microsoft YaHei"/>
                  <a:cs typeface="Segoe UI"/>
                </a:rPr>
                <a:t>Conditional execution</a:t>
              </a:r>
            </a:p>
          </p:txBody>
        </p:sp>
        <p:sp>
          <p:nvSpPr>
            <p:cNvPr id="22" name="TextBox 22"/>
            <p:cNvSpPr txBox="1"/>
            <p:nvPr/>
          </p:nvSpPr>
          <p:spPr>
            <a:xfrm>
              <a:off x="1016318" y="3980974"/>
              <a:ext cx="1555552"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4285F4">
                        <a:alpha val="8000"/>
                      </a:srgbClr>
                    </a:glow>
                  </a:effectLst>
                  <a:latin typeface="Segoe UI"/>
                  <a:ea typeface="Microsoft YaHei"/>
                  <a:cs typeface="Segoe UI"/>
                </a:rPr>
                <a:t>if &lt;expr&gt; then &lt;stmt&gt;</a:t>
              </a:r>
            </a:p>
          </p:txBody>
        </p:sp>
        <p:sp>
          <p:nvSpPr>
            <p:cNvPr id="23" name="Ellipse 23"/>
            <p:cNvSpPr/>
            <p:nvPr/>
          </p:nvSpPr>
          <p:spPr>
            <a:xfrm>
              <a:off x="876300" y="4352925"/>
              <a:ext cx="57150" cy="57150"/>
            </a:xfrm>
            <a:prstGeom prst="ellipse">
              <a:avLst/>
            </a:prstGeom>
            <a:solidFill>
              <a:srgbClr val="4285F4"/>
            </a:solidFill>
            <a:ln>
              <a:noFill/>
            </a:ln>
            <a:effectLst>
              <a:glow rad="76200">
                <a:srgbClr val="4285F4">
                  <a:alpha val="8000"/>
                </a:srgbClr>
              </a:glow>
            </a:effectLst>
          </p:spPr>
          <p:txBody>
            <a:bodyPr/>
            <a:lstStyle/>
            <a:p>
              <a:endParaRPr lang="zh-CN" altLang="en-US"/>
            </a:p>
          </p:txBody>
        </p:sp>
        <p:sp>
          <p:nvSpPr>
            <p:cNvPr id="24" name="TextBox 24"/>
            <p:cNvSpPr txBox="1"/>
            <p:nvPr/>
          </p:nvSpPr>
          <p:spPr>
            <a:xfrm>
              <a:off x="1014412" y="4307681"/>
              <a:ext cx="1301948"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4285F4">
                        <a:alpha val="8000"/>
                      </a:srgbClr>
                    </a:glow>
                  </a:effectLst>
                  <a:latin typeface="Segoe UI"/>
                  <a:ea typeface="Microsoft YaHei"/>
                  <a:cs typeface="Segoe UI"/>
                </a:rPr>
                <a:t>Logic operators</a:t>
              </a:r>
            </a:p>
          </p:txBody>
        </p:sp>
        <p:sp>
          <p:nvSpPr>
            <p:cNvPr id="25" name="TextBox 25"/>
            <p:cNvSpPr txBox="1"/>
            <p:nvPr/>
          </p:nvSpPr>
          <p:spPr>
            <a:xfrm>
              <a:off x="1016318" y="4523899"/>
              <a:ext cx="1705070"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4285F4">
                        <a:alpha val="8000"/>
                      </a:srgbClr>
                    </a:glow>
                  </a:effectLst>
                  <a:latin typeface="Segoe UI"/>
                  <a:ea typeface="Microsoft YaHei"/>
                  <a:cs typeface="Segoe UI"/>
                </a:rPr>
                <a:t>AND · OR · NOT · IMPLIES</a:t>
              </a:r>
            </a:p>
          </p:txBody>
        </p:sp>
        <p:sp>
          <p:nvSpPr>
            <p:cNvPr id="26" name="Ellipse 26"/>
            <p:cNvSpPr/>
            <p:nvPr/>
          </p:nvSpPr>
          <p:spPr>
            <a:xfrm>
              <a:off x="876300" y="4895850"/>
              <a:ext cx="57150" cy="57150"/>
            </a:xfrm>
            <a:prstGeom prst="ellipse">
              <a:avLst/>
            </a:prstGeom>
            <a:solidFill>
              <a:srgbClr val="4285F4"/>
            </a:solidFill>
            <a:ln>
              <a:noFill/>
            </a:ln>
            <a:effectLst>
              <a:glow rad="76200">
                <a:srgbClr val="4285F4">
                  <a:alpha val="8000"/>
                </a:srgbClr>
              </a:glow>
            </a:effectLst>
          </p:spPr>
          <p:txBody>
            <a:bodyPr/>
            <a:lstStyle/>
            <a:p>
              <a:endParaRPr lang="zh-CN" altLang="en-US"/>
            </a:p>
          </p:txBody>
        </p:sp>
        <p:sp>
          <p:nvSpPr>
            <p:cNvPr id="27" name="TextBox 27"/>
            <p:cNvSpPr txBox="1"/>
            <p:nvPr/>
          </p:nvSpPr>
          <p:spPr>
            <a:xfrm>
              <a:off x="1014412" y="4850606"/>
              <a:ext cx="1030843"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4285F4">
                        <a:alpha val="8000"/>
                      </a:srgbClr>
                    </a:glow>
                  </a:effectLst>
                  <a:latin typeface="Segoe UI"/>
                  <a:ea typeface="Microsoft YaHei"/>
                  <a:cs typeface="Segoe UI"/>
                </a:rPr>
                <a:t>Print output</a:t>
              </a:r>
            </a:p>
          </p:txBody>
        </p:sp>
        <p:sp>
          <p:nvSpPr>
            <p:cNvPr id="28" name="TextBox 28"/>
            <p:cNvSpPr txBox="1"/>
            <p:nvPr/>
          </p:nvSpPr>
          <p:spPr>
            <a:xfrm>
              <a:off x="1016318" y="5066824"/>
              <a:ext cx="1135475"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4285F4">
                        <a:alpha val="8000"/>
                      </a:srgbClr>
                    </a:glow>
                  </a:effectLst>
                  <a:latin typeface="Segoe UI"/>
                  <a:ea typeface="Microsoft YaHei"/>
                  <a:cs typeface="Segoe UI"/>
                </a:rPr>
                <a:t>print &lt;variable&gt;</a:t>
              </a:r>
            </a:p>
          </p:txBody>
        </p:sp>
        <p:sp>
          <p:nvSpPr>
            <p:cNvPr id="29" name="Rectangle 29"/>
            <p:cNvSpPr/>
            <p:nvPr/>
          </p:nvSpPr>
          <p:spPr>
            <a:xfrm>
              <a:off x="952500" y="5619750"/>
              <a:ext cx="1143000" cy="228600"/>
            </a:xfrm>
            <a:prstGeom prst="roundRect">
              <a:avLst>
                <a:gd name="adj" fmla="val 50000"/>
              </a:avLst>
            </a:prstGeom>
            <a:solidFill>
              <a:srgbClr val="4285F4">
                <a:alpha val="15000"/>
              </a:srgbClr>
            </a:solidFill>
            <a:ln w="9525">
              <a:solidFill>
                <a:srgbClr val="4285F4">
                  <a:alpha val="40000"/>
                </a:srgbClr>
              </a:solidFill>
            </a:ln>
            <a:effectLst>
              <a:glow rad="76200">
                <a:srgbClr val="4285F4">
                  <a:alpha val="8000"/>
                </a:srgbClr>
              </a:glow>
            </a:effectLst>
          </p:spPr>
          <p:txBody>
            <a:bodyPr/>
            <a:lstStyle/>
            <a:p>
              <a:endParaRPr lang="zh-CN" altLang="en-US"/>
            </a:p>
          </p:txBody>
        </p:sp>
        <p:sp>
          <p:nvSpPr>
            <p:cNvPr id="30" name="TextBox 30"/>
            <p:cNvSpPr txBox="1"/>
            <p:nvPr/>
          </p:nvSpPr>
          <p:spPr>
            <a:xfrm>
              <a:off x="996648" y="5684520"/>
              <a:ext cx="1054703" cy="182880"/>
            </a:xfrm>
            <a:prstGeom prst="rect">
              <a:avLst/>
            </a:prstGeom>
            <a:noFill/>
            <a:ln>
              <a:noFill/>
            </a:ln>
          </p:spPr>
          <p:txBody>
            <a:bodyPr wrap="none" lIns="0" tIns="0" rIns="0" bIns="0" anchor="t" anchorCtr="0">
              <a:spAutoFit/>
            </a:bodyPr>
            <a:lstStyle/>
            <a:p>
              <a:pPr algn="ctr"/>
              <a:r>
                <a:rPr lang="zh-CN" sz="900" dirty="0">
                  <a:solidFill>
                    <a:srgbClr val="4285F4"/>
                  </a:solidFill>
                  <a:effectLst>
                    <a:glow rad="76200">
                      <a:srgbClr val="4285F4">
                        <a:alpha val="8000"/>
                      </a:srgbClr>
                    </a:glow>
                  </a:effectLst>
                  <a:latin typeface="Segoe UI"/>
                  <a:ea typeface="Microsoft YaHei"/>
                  <a:cs typeface="Segoe UI"/>
                </a:rPr>
                <a:t>Single-file input</a:t>
              </a:r>
            </a:p>
          </p:txBody>
        </p:sp>
      </p:grpSp>
      <p:grpSp>
        <p:nvGrpSpPr>
          <p:cNvPr id="59" name="Group 59"/>
          <p:cNvGrpSpPr/>
          <p:nvPr/>
        </p:nvGrpSpPr>
        <p:grpSpPr>
          <a:xfrm>
            <a:off x="4381500" y="1238250"/>
            <a:ext cx="3429000" cy="4762500"/>
            <a:chOff x="4381500" y="1238250"/>
            <a:chExt cx="3429000" cy="4762500"/>
          </a:xfrm>
          <a:effectLst>
            <a:glow rad="76200">
              <a:srgbClr val="34A853">
                <a:alpha val="8000"/>
              </a:srgbClr>
            </a:glow>
          </a:effectLst>
        </p:grpSpPr>
        <p:sp>
          <p:nvSpPr>
            <p:cNvPr id="32" name="Rectangle 32"/>
            <p:cNvSpPr/>
            <p:nvPr/>
          </p:nvSpPr>
          <p:spPr>
            <a:xfrm>
              <a:off x="4381500" y="1238250"/>
              <a:ext cx="3429000" cy="4762500"/>
            </a:xfrm>
            <a:prstGeom prst="roundRect">
              <a:avLst>
                <a:gd name="adj" fmla="val 3333"/>
              </a:avLst>
            </a:prstGeom>
            <a:solidFill>
              <a:srgbClr val="FFFFFF"/>
            </a:solidFill>
            <a:ln w="9525">
              <a:solidFill>
                <a:srgbClr val="34A853">
                  <a:alpha val="30000"/>
                </a:srgbClr>
              </a:solidFill>
            </a:ln>
            <a:effectLst>
              <a:glow rad="76200">
                <a:srgbClr val="34A853">
                  <a:alpha val="8000"/>
                </a:srgbClr>
              </a:glow>
            </a:effectLst>
          </p:spPr>
          <p:txBody>
            <a:bodyPr/>
            <a:lstStyle/>
            <a:p>
              <a:endParaRPr lang="zh-CN" altLang="en-US"/>
            </a:p>
          </p:txBody>
        </p:sp>
        <p:sp>
          <p:nvSpPr>
            <p:cNvPr id="33" name="Rectangle 33"/>
            <p:cNvSpPr/>
            <p:nvPr/>
          </p:nvSpPr>
          <p:spPr>
            <a:xfrm>
              <a:off x="4381500" y="1238250"/>
              <a:ext cx="3429000" cy="38100"/>
            </a:xfrm>
            <a:prstGeom prst="roundRect">
              <a:avLst>
                <a:gd name="adj" fmla="val 50000"/>
              </a:avLst>
            </a:prstGeom>
            <a:solidFill>
              <a:srgbClr val="34A853"/>
            </a:solidFill>
            <a:ln>
              <a:noFill/>
            </a:ln>
            <a:effectLst>
              <a:glow rad="76200">
                <a:srgbClr val="34A853">
                  <a:alpha val="8000"/>
                </a:srgbClr>
              </a:glow>
            </a:effectLst>
          </p:spPr>
          <p:txBody>
            <a:bodyPr/>
            <a:lstStyle/>
            <a:p>
              <a:endParaRPr lang="zh-CN" altLang="en-US"/>
            </a:p>
          </p:txBody>
        </p:sp>
        <p:sp>
          <p:nvSpPr>
            <p:cNvPr id="34" name="Rectangle 34"/>
            <p:cNvSpPr/>
            <p:nvPr/>
          </p:nvSpPr>
          <p:spPr>
            <a:xfrm>
              <a:off x="5143500" y="1695450"/>
              <a:ext cx="1905000" cy="571500"/>
            </a:xfrm>
            <a:prstGeom prst="roundRect">
              <a:avLst>
                <a:gd name="adj" fmla="val 50000"/>
              </a:avLst>
            </a:prstGeom>
            <a:solidFill>
              <a:srgbClr val="34A853">
                <a:alpha val="10000"/>
              </a:srgbClr>
            </a:solidFill>
            <a:ln>
              <a:noFill/>
            </a:ln>
            <a:effectLst>
              <a:glow rad="76200">
                <a:srgbClr val="34A853">
                  <a:alpha val="8000"/>
                </a:srgbClr>
              </a:glow>
            </a:effectLst>
          </p:spPr>
          <p:txBody>
            <a:bodyPr/>
            <a:lstStyle/>
            <a:p>
              <a:endParaRPr lang="zh-CN" altLang="en-US"/>
            </a:p>
          </p:txBody>
        </p:sp>
        <p:grpSp>
          <p:nvGrpSpPr>
            <p:cNvPr id="39" name="Group 39"/>
            <p:cNvGrpSpPr/>
            <p:nvPr/>
          </p:nvGrpSpPr>
          <p:grpSpPr>
            <a:xfrm>
              <a:off x="5826125" y="1804874"/>
              <a:ext cx="349876" cy="352653"/>
              <a:chOff x="5826125" y="1804874"/>
              <a:chExt cx="349876" cy="352653"/>
            </a:xfrm>
          </p:grpSpPr>
          <p:sp>
            <p:nvSpPr>
              <p:cNvPr id="35" name="Freeform 35"/>
              <p:cNvSpPr/>
              <p:nvPr/>
            </p:nvSpPr>
            <p:spPr>
              <a:xfrm>
                <a:off x="6035675" y="2016125"/>
                <a:ext cx="140326" cy="140932"/>
              </a:xfrm>
              <a:custGeom>
                <a:avLst/>
                <a:gdLst/>
                <a:ahLst/>
                <a:cxnLst/>
                <a:rect l="l" t="t" r="r" b="b"/>
                <a:pathLst>
                  <a:path w="140326" h="140932">
                    <a:moveTo>
                      <a:pt x="69850" y="0"/>
                    </a:moveTo>
                    <a:cubicBezTo>
                      <a:pt x="107973" y="0"/>
                      <a:pt x="139055" y="30568"/>
                      <a:pt x="139690" y="68685"/>
                    </a:cubicBezTo>
                    <a:cubicBezTo>
                      <a:pt x="140326" y="106803"/>
                      <a:pt x="110281" y="138390"/>
                      <a:pt x="72179" y="139661"/>
                    </a:cubicBezTo>
                    <a:cubicBezTo>
                      <a:pt x="34077" y="140932"/>
                      <a:pt x="1993" y="111418"/>
                      <a:pt x="87" y="73343"/>
                    </a:cubicBezTo>
                    <a:lnTo>
                      <a:pt x="0" y="69850"/>
                    </a:lnTo>
                    <a:lnTo>
                      <a:pt x="87" y="66358"/>
                    </a:lnTo>
                    <a:cubicBezTo>
                      <a:pt x="1948" y="29184"/>
                      <a:pt x="32630" y="0"/>
                      <a:pt x="69850" y="0"/>
                    </a:cubicBezTo>
                    <a:close/>
                  </a:path>
                </a:pathLst>
              </a:custGeom>
              <a:solidFill>
                <a:srgbClr val="34A853"/>
              </a:solidFill>
              <a:ln>
                <a:noFill/>
              </a:ln>
              <a:effectLst>
                <a:glow rad="76200">
                  <a:srgbClr val="34A853">
                    <a:alpha val="8000"/>
                  </a:srgbClr>
                </a:glow>
              </a:effectLst>
            </p:spPr>
            <p:txBody>
              <a:bodyPr/>
              <a:lstStyle/>
              <a:p>
                <a:endParaRPr lang="zh-CN" altLang="en-US"/>
              </a:p>
            </p:txBody>
          </p:sp>
          <p:sp>
            <p:nvSpPr>
              <p:cNvPr id="36" name="Freeform 36"/>
              <p:cNvSpPr/>
              <p:nvPr/>
            </p:nvSpPr>
            <p:spPr>
              <a:xfrm>
                <a:off x="5999989" y="1804874"/>
                <a:ext cx="175386" cy="176818"/>
              </a:xfrm>
              <a:custGeom>
                <a:avLst/>
                <a:gdLst/>
                <a:ahLst/>
                <a:cxnLst/>
                <a:rect l="l" t="t" r="r" b="b"/>
                <a:pathLst>
                  <a:path w="175386" h="176818">
                    <a:moveTo>
                      <a:pt x="82957" y="6817"/>
                    </a:moveTo>
                    <a:cubicBezTo>
                      <a:pt x="89178" y="13038"/>
                      <a:pt x="89799" y="22916"/>
                      <a:pt x="84406" y="29868"/>
                    </a:cubicBezTo>
                    <a:lnTo>
                      <a:pt x="82957" y="31509"/>
                    </a:lnTo>
                    <a:lnTo>
                      <a:pt x="60378" y="54088"/>
                    </a:lnTo>
                    <a:lnTo>
                      <a:pt x="122999" y="54088"/>
                    </a:lnTo>
                    <a:cubicBezTo>
                      <a:pt x="150739" y="54086"/>
                      <a:pt x="173671" y="75710"/>
                      <a:pt x="175299" y="103402"/>
                    </a:cubicBezTo>
                    <a:lnTo>
                      <a:pt x="175386" y="106476"/>
                    </a:lnTo>
                    <a:lnTo>
                      <a:pt x="175386" y="158863"/>
                    </a:lnTo>
                    <a:cubicBezTo>
                      <a:pt x="175376" y="168102"/>
                      <a:pt x="168170" y="175735"/>
                      <a:pt x="158947" y="176276"/>
                    </a:cubicBezTo>
                    <a:cubicBezTo>
                      <a:pt x="149724" y="176818"/>
                      <a:pt x="141675" y="170081"/>
                      <a:pt x="140583" y="160906"/>
                    </a:cubicBezTo>
                    <a:lnTo>
                      <a:pt x="140461" y="158863"/>
                    </a:lnTo>
                    <a:lnTo>
                      <a:pt x="140461" y="106476"/>
                    </a:lnTo>
                    <a:cubicBezTo>
                      <a:pt x="140460" y="97622"/>
                      <a:pt x="133834" y="90171"/>
                      <a:pt x="125042" y="89135"/>
                    </a:cubicBezTo>
                    <a:lnTo>
                      <a:pt x="122999" y="89013"/>
                    </a:lnTo>
                    <a:lnTo>
                      <a:pt x="60395" y="89013"/>
                    </a:lnTo>
                    <a:lnTo>
                      <a:pt x="82957" y="111592"/>
                    </a:lnTo>
                    <a:cubicBezTo>
                      <a:pt x="89457" y="118114"/>
                      <a:pt x="89776" y="128562"/>
                      <a:pt x="83686" y="135468"/>
                    </a:cubicBezTo>
                    <a:cubicBezTo>
                      <a:pt x="77596" y="142374"/>
                      <a:pt x="67191" y="143366"/>
                      <a:pt x="59907" y="137733"/>
                    </a:cubicBezTo>
                    <a:lnTo>
                      <a:pt x="58265" y="136284"/>
                    </a:lnTo>
                    <a:lnTo>
                      <a:pt x="5878" y="83897"/>
                    </a:lnTo>
                    <a:cubicBezTo>
                      <a:pt x="1830" y="79941"/>
                      <a:pt x="0" y="74241"/>
                      <a:pt x="988" y="68669"/>
                    </a:cubicBezTo>
                    <a:lnTo>
                      <a:pt x="1617" y="66120"/>
                    </a:lnTo>
                    <a:lnTo>
                      <a:pt x="2315" y="64304"/>
                    </a:lnTo>
                    <a:cubicBezTo>
                      <a:pt x="3328" y="62103"/>
                      <a:pt x="4760" y="60113"/>
                      <a:pt x="6594" y="58471"/>
                    </a:cubicBezTo>
                    <a:lnTo>
                      <a:pt x="58265" y="6817"/>
                    </a:lnTo>
                    <a:cubicBezTo>
                      <a:pt x="65084" y="0"/>
                      <a:pt x="76138" y="0"/>
                      <a:pt x="82957" y="6817"/>
                    </a:cubicBezTo>
                    <a:close/>
                  </a:path>
                </a:pathLst>
              </a:custGeom>
              <a:solidFill>
                <a:srgbClr val="34A853"/>
              </a:solidFill>
              <a:ln>
                <a:noFill/>
              </a:ln>
              <a:effectLst>
                <a:glow rad="76200">
                  <a:srgbClr val="34A853">
                    <a:alpha val="8000"/>
                  </a:srgbClr>
                </a:glow>
              </a:effectLst>
            </p:spPr>
            <p:txBody>
              <a:bodyPr/>
              <a:lstStyle/>
              <a:p>
                <a:endParaRPr lang="zh-CN" altLang="en-US"/>
              </a:p>
            </p:txBody>
          </p:sp>
          <p:sp>
            <p:nvSpPr>
              <p:cNvPr id="37" name="Freeform 37"/>
              <p:cNvSpPr/>
              <p:nvPr/>
            </p:nvSpPr>
            <p:spPr>
              <a:xfrm>
                <a:off x="5826125" y="1981200"/>
                <a:ext cx="175386" cy="176327"/>
              </a:xfrm>
              <a:custGeom>
                <a:avLst/>
                <a:gdLst/>
                <a:ahLst/>
                <a:cxnLst/>
                <a:rect l="l" t="t" r="r" b="b"/>
                <a:pathLst>
                  <a:path w="175386" h="176327">
                    <a:moveTo>
                      <a:pt x="17463" y="0"/>
                    </a:moveTo>
                    <a:cubicBezTo>
                      <a:pt x="26316" y="1"/>
                      <a:pt x="33767" y="6627"/>
                      <a:pt x="34803" y="15419"/>
                    </a:cubicBezTo>
                    <a:lnTo>
                      <a:pt x="34925" y="17463"/>
                    </a:lnTo>
                    <a:lnTo>
                      <a:pt x="34925" y="69850"/>
                    </a:lnTo>
                    <a:cubicBezTo>
                      <a:pt x="34926" y="78703"/>
                      <a:pt x="41552" y="86154"/>
                      <a:pt x="50344" y="87190"/>
                    </a:cubicBezTo>
                    <a:lnTo>
                      <a:pt x="52388" y="87312"/>
                    </a:lnTo>
                    <a:lnTo>
                      <a:pt x="114991" y="87312"/>
                    </a:lnTo>
                    <a:lnTo>
                      <a:pt x="92429" y="64733"/>
                    </a:lnTo>
                    <a:cubicBezTo>
                      <a:pt x="86208" y="58512"/>
                      <a:pt x="85587" y="48635"/>
                      <a:pt x="90980" y="41683"/>
                    </a:cubicBezTo>
                    <a:lnTo>
                      <a:pt x="92429" y="40042"/>
                    </a:lnTo>
                    <a:cubicBezTo>
                      <a:pt x="98650" y="33821"/>
                      <a:pt x="108528" y="33200"/>
                      <a:pt x="115480" y="38592"/>
                    </a:cubicBezTo>
                    <a:lnTo>
                      <a:pt x="117121" y="40042"/>
                    </a:lnTo>
                    <a:lnTo>
                      <a:pt x="169508" y="92429"/>
                    </a:lnTo>
                    <a:cubicBezTo>
                      <a:pt x="173556" y="96384"/>
                      <a:pt x="175386" y="102084"/>
                      <a:pt x="174398" y="107656"/>
                    </a:cubicBezTo>
                    <a:lnTo>
                      <a:pt x="173769" y="110206"/>
                    </a:lnTo>
                    <a:lnTo>
                      <a:pt x="173071" y="112022"/>
                    </a:lnTo>
                    <a:cubicBezTo>
                      <a:pt x="172059" y="114238"/>
                      <a:pt x="170603" y="116223"/>
                      <a:pt x="168793" y="117854"/>
                    </a:cubicBezTo>
                    <a:lnTo>
                      <a:pt x="117121" y="169508"/>
                    </a:lnTo>
                    <a:cubicBezTo>
                      <a:pt x="110599" y="176008"/>
                      <a:pt x="100151" y="176327"/>
                      <a:pt x="93245" y="170238"/>
                    </a:cubicBezTo>
                    <a:cubicBezTo>
                      <a:pt x="86339" y="164148"/>
                      <a:pt x="85347" y="153742"/>
                      <a:pt x="90980" y="146458"/>
                    </a:cubicBezTo>
                    <a:lnTo>
                      <a:pt x="92429" y="144817"/>
                    </a:lnTo>
                    <a:lnTo>
                      <a:pt x="114973" y="122237"/>
                    </a:lnTo>
                    <a:lnTo>
                      <a:pt x="52388" y="122237"/>
                    </a:lnTo>
                    <a:cubicBezTo>
                      <a:pt x="24647" y="122239"/>
                      <a:pt x="1715" y="100616"/>
                      <a:pt x="87" y="72923"/>
                    </a:cubicBezTo>
                    <a:lnTo>
                      <a:pt x="0" y="69850"/>
                    </a:lnTo>
                    <a:lnTo>
                      <a:pt x="0" y="17463"/>
                    </a:lnTo>
                    <a:cubicBezTo>
                      <a:pt x="0" y="7818"/>
                      <a:pt x="7818" y="0"/>
                      <a:pt x="17463" y="0"/>
                    </a:cubicBezTo>
                    <a:close/>
                  </a:path>
                </a:pathLst>
              </a:custGeom>
              <a:solidFill>
                <a:srgbClr val="34A853"/>
              </a:solidFill>
              <a:ln>
                <a:noFill/>
              </a:ln>
              <a:effectLst>
                <a:glow rad="76200">
                  <a:srgbClr val="34A853">
                    <a:alpha val="8000"/>
                  </a:srgbClr>
                </a:glow>
              </a:effectLst>
            </p:spPr>
            <p:txBody>
              <a:bodyPr/>
              <a:lstStyle/>
              <a:p>
                <a:endParaRPr lang="zh-CN" altLang="en-US"/>
              </a:p>
            </p:txBody>
          </p:sp>
          <p:sp>
            <p:nvSpPr>
              <p:cNvPr id="38" name="Freeform 38"/>
              <p:cNvSpPr/>
              <p:nvPr/>
            </p:nvSpPr>
            <p:spPr>
              <a:xfrm>
                <a:off x="5826125" y="1806575"/>
                <a:ext cx="140326" cy="140932"/>
              </a:xfrm>
              <a:custGeom>
                <a:avLst/>
                <a:gdLst/>
                <a:ahLst/>
                <a:cxnLst/>
                <a:rect l="l" t="t" r="r" b="b"/>
                <a:pathLst>
                  <a:path w="140326" h="140932">
                    <a:moveTo>
                      <a:pt x="69850" y="0"/>
                    </a:moveTo>
                    <a:cubicBezTo>
                      <a:pt x="107973" y="0"/>
                      <a:pt x="139055" y="30568"/>
                      <a:pt x="139690" y="68685"/>
                    </a:cubicBezTo>
                    <a:cubicBezTo>
                      <a:pt x="140326" y="106803"/>
                      <a:pt x="110281" y="138390"/>
                      <a:pt x="72179" y="139661"/>
                    </a:cubicBezTo>
                    <a:cubicBezTo>
                      <a:pt x="34077" y="140932"/>
                      <a:pt x="1993" y="111418"/>
                      <a:pt x="87" y="73343"/>
                    </a:cubicBezTo>
                    <a:lnTo>
                      <a:pt x="0" y="69850"/>
                    </a:lnTo>
                    <a:lnTo>
                      <a:pt x="87" y="66358"/>
                    </a:lnTo>
                    <a:cubicBezTo>
                      <a:pt x="1948" y="29184"/>
                      <a:pt x="32630" y="0"/>
                      <a:pt x="69850" y="0"/>
                    </a:cubicBezTo>
                    <a:close/>
                  </a:path>
                </a:pathLst>
              </a:custGeom>
              <a:solidFill>
                <a:srgbClr val="34A853"/>
              </a:solidFill>
              <a:ln>
                <a:noFill/>
              </a:ln>
              <a:effectLst>
                <a:glow rad="76200">
                  <a:srgbClr val="34A853">
                    <a:alpha val="8000"/>
                  </a:srgbClr>
                </a:glow>
              </a:effectLst>
            </p:spPr>
            <p:txBody>
              <a:bodyPr/>
              <a:lstStyle/>
              <a:p>
                <a:endParaRPr lang="zh-CN" altLang="en-US"/>
              </a:p>
            </p:txBody>
          </p:sp>
        </p:grpSp>
        <p:sp>
          <p:nvSpPr>
            <p:cNvPr id="40" name="TextBox 40"/>
            <p:cNvSpPr txBox="1"/>
            <p:nvPr/>
          </p:nvSpPr>
          <p:spPr>
            <a:xfrm>
              <a:off x="6436424" y="1352550"/>
              <a:ext cx="1164526" cy="1219200"/>
            </a:xfrm>
            <a:prstGeom prst="rect">
              <a:avLst/>
            </a:prstGeom>
            <a:noFill/>
            <a:ln>
              <a:noFill/>
            </a:ln>
          </p:spPr>
          <p:txBody>
            <a:bodyPr wrap="none" lIns="0" tIns="0" rIns="0" bIns="0" anchor="t" anchorCtr="0">
              <a:spAutoFit/>
            </a:bodyPr>
            <a:lstStyle/>
            <a:p>
              <a:pPr algn="r"/>
              <a:r>
                <a:rPr lang="zh-CN" sz="6000" b="1" dirty="0">
                  <a:solidFill>
                    <a:srgbClr val="34A853">
                      <a:alpha val="5000"/>
                    </a:srgbClr>
                  </a:solidFill>
                  <a:effectLst>
                    <a:glow rad="76200">
                      <a:srgbClr val="34A853">
                        <a:alpha val="8000"/>
                      </a:srgbClr>
                    </a:glow>
                  </a:effectLst>
                  <a:latin typeface="Segoe UI"/>
                  <a:ea typeface="Microsoft YaHei"/>
                  <a:cs typeface="Segoe UI"/>
                </a:rPr>
                <a:t>02</a:t>
              </a:r>
            </a:p>
          </p:txBody>
        </p:sp>
        <p:sp>
          <p:nvSpPr>
            <p:cNvPr id="41" name="TextBox 41"/>
            <p:cNvSpPr txBox="1"/>
            <p:nvPr/>
          </p:nvSpPr>
          <p:spPr>
            <a:xfrm>
              <a:off x="4978563" y="2486025"/>
              <a:ext cx="2234875" cy="304800"/>
            </a:xfrm>
            <a:prstGeom prst="rect">
              <a:avLst/>
            </a:prstGeom>
            <a:noFill/>
            <a:ln>
              <a:noFill/>
            </a:ln>
          </p:spPr>
          <p:txBody>
            <a:bodyPr wrap="none" lIns="0" tIns="0" rIns="0" bIns="0" anchor="t" anchorCtr="0">
              <a:spAutoFit/>
            </a:bodyPr>
            <a:lstStyle/>
            <a:p>
              <a:pPr algn="ctr"/>
              <a:r>
                <a:rPr lang="zh-CN" sz="1500" b="1" dirty="0">
                  <a:solidFill>
                    <a:srgbClr val="202124"/>
                  </a:solidFill>
                  <a:effectLst>
                    <a:glow rad="76200">
                      <a:srgbClr val="34A853">
                        <a:alpha val="8000"/>
                      </a:srgbClr>
                    </a:glow>
                  </a:effectLst>
                  <a:latin typeface="Segoe UI"/>
                  <a:ea typeface="Microsoft YaHei"/>
                  <a:cs typeface="Segoe UI"/>
                </a:rPr>
                <a:t>Optimizing Compiler</a:t>
              </a:r>
            </a:p>
          </p:txBody>
        </p:sp>
        <p:sp>
          <p:nvSpPr>
            <p:cNvPr id="42" name="TextBox 42"/>
            <p:cNvSpPr txBox="1"/>
            <p:nvPr/>
          </p:nvSpPr>
          <p:spPr>
            <a:xfrm>
              <a:off x="5529051" y="2779395"/>
              <a:ext cx="1133899" cy="182880"/>
            </a:xfrm>
            <a:prstGeom prst="rect">
              <a:avLst/>
            </a:prstGeom>
            <a:noFill/>
            <a:ln>
              <a:noFill/>
            </a:ln>
          </p:spPr>
          <p:txBody>
            <a:bodyPr wrap="none" lIns="0" tIns="0" rIns="0" bIns="0" anchor="t" anchorCtr="0">
              <a:spAutoFit/>
            </a:bodyPr>
            <a:lstStyle/>
            <a:p>
              <a:pPr algn="ctr"/>
              <a:r>
                <a:rPr lang="zh-CN" sz="900" b="1" dirty="0">
                  <a:solidFill>
                    <a:srgbClr val="34A853"/>
                  </a:solidFill>
                  <a:effectLst>
                    <a:glow rad="76200">
                      <a:srgbClr val="34A853">
                        <a:alpha val="8000"/>
                      </a:srgbClr>
                    </a:glow>
                  </a:effectLst>
                  <a:latin typeface="Segoe UI"/>
                  <a:ea typeface="Microsoft YaHei"/>
                  <a:cs typeface="Segoe UI"/>
                </a:rPr>
                <a:t>4-PHASE PIPELINE</a:t>
              </a:r>
            </a:p>
          </p:txBody>
        </p:sp>
        <p:sp>
          <p:nvSpPr>
            <p:cNvPr id="43" name="Rectangle 43"/>
            <p:cNvSpPr/>
            <p:nvPr/>
          </p:nvSpPr>
          <p:spPr>
            <a:xfrm>
              <a:off x="4762500" y="3028950"/>
              <a:ext cx="2667000" cy="9525"/>
            </a:xfrm>
            <a:prstGeom prst="rect">
              <a:avLst/>
            </a:prstGeom>
            <a:solidFill>
              <a:srgbClr val="DADCE0"/>
            </a:solidFill>
            <a:ln>
              <a:noFill/>
            </a:ln>
            <a:effectLst>
              <a:glow rad="76200">
                <a:srgbClr val="34A853">
                  <a:alpha val="8000"/>
                </a:srgbClr>
              </a:glow>
            </a:effectLst>
          </p:spPr>
          <p:txBody>
            <a:bodyPr/>
            <a:lstStyle/>
            <a:p>
              <a:endParaRPr lang="zh-CN" altLang="en-US"/>
            </a:p>
          </p:txBody>
        </p:sp>
        <p:sp>
          <p:nvSpPr>
            <p:cNvPr id="44" name="Rectangle 44"/>
            <p:cNvSpPr/>
            <p:nvPr/>
          </p:nvSpPr>
          <p:spPr>
            <a:xfrm>
              <a:off x="4667250" y="3190875"/>
              <a:ext cx="2857500" cy="323850"/>
            </a:xfrm>
            <a:prstGeom prst="roundRect">
              <a:avLst>
                <a:gd name="adj" fmla="val 17647"/>
              </a:avLst>
            </a:prstGeom>
            <a:solidFill>
              <a:srgbClr val="F8F9FA"/>
            </a:solidFill>
            <a:ln>
              <a:noFill/>
            </a:ln>
            <a:effectLst>
              <a:glow rad="76200">
                <a:srgbClr val="34A853">
                  <a:alpha val="8000"/>
                </a:srgbClr>
              </a:glow>
            </a:effectLst>
          </p:spPr>
          <p:txBody>
            <a:bodyPr/>
            <a:lstStyle/>
            <a:p>
              <a:endParaRPr lang="zh-CN" altLang="en-US"/>
            </a:p>
          </p:txBody>
        </p:sp>
        <p:sp>
          <p:nvSpPr>
            <p:cNvPr id="45" name="TextBox 45"/>
            <p:cNvSpPr txBox="1"/>
            <p:nvPr/>
          </p:nvSpPr>
          <p:spPr>
            <a:xfrm>
              <a:off x="4654868" y="3295174"/>
              <a:ext cx="501801" cy="198120"/>
            </a:xfrm>
            <a:prstGeom prst="rect">
              <a:avLst/>
            </a:prstGeom>
            <a:noFill/>
            <a:ln>
              <a:noFill/>
            </a:ln>
          </p:spPr>
          <p:txBody>
            <a:bodyPr wrap="none" lIns="0" tIns="0" rIns="0" bIns="0" anchor="t" anchorCtr="0">
              <a:spAutoFit/>
            </a:bodyPr>
            <a:lstStyle/>
            <a:p>
              <a:pPr algn="l"/>
              <a:r>
                <a:rPr lang="zh-CN" sz="975" dirty="0">
                  <a:solidFill>
                    <a:srgbClr val="4285F4"/>
                  </a:solidFill>
                  <a:effectLst>
                    <a:glow rad="76200">
                      <a:srgbClr val="34A853">
                        <a:alpha val="8000"/>
                      </a:srgbClr>
                    </a:glow>
                  </a:effectLst>
                  <a:latin typeface="Consolas"/>
                  <a:ea typeface="Microsoft YaHei"/>
                  <a:cs typeface="Consolas"/>
                </a:rPr>
                <a:t>Phase 1</a:t>
              </a:r>
            </a:p>
          </p:txBody>
        </p:sp>
        <p:sp>
          <p:nvSpPr>
            <p:cNvPr id="46" name="TextBox 46"/>
            <p:cNvSpPr txBox="1"/>
            <p:nvPr/>
          </p:nvSpPr>
          <p:spPr>
            <a:xfrm>
              <a:off x="5607368" y="3295174"/>
              <a:ext cx="537400"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34A853">
                        <a:alpha val="8000"/>
                      </a:srgbClr>
                    </a:glow>
                  </a:effectLst>
                  <a:latin typeface="Consolas"/>
                  <a:ea typeface="Microsoft YaHei"/>
                  <a:cs typeface="Consolas"/>
                </a:rPr>
                <a:t>→ Lexer</a:t>
              </a:r>
            </a:p>
          </p:txBody>
        </p:sp>
        <p:sp>
          <p:nvSpPr>
            <p:cNvPr id="47" name="Rectangle 47"/>
            <p:cNvSpPr/>
            <p:nvPr/>
          </p:nvSpPr>
          <p:spPr>
            <a:xfrm>
              <a:off x="4667250" y="3619500"/>
              <a:ext cx="2857500" cy="323850"/>
            </a:xfrm>
            <a:prstGeom prst="roundRect">
              <a:avLst>
                <a:gd name="adj" fmla="val 17647"/>
              </a:avLst>
            </a:prstGeom>
            <a:solidFill>
              <a:srgbClr val="F8F9FA"/>
            </a:solidFill>
            <a:ln>
              <a:noFill/>
            </a:ln>
            <a:effectLst>
              <a:glow rad="76200">
                <a:srgbClr val="34A853">
                  <a:alpha val="8000"/>
                </a:srgbClr>
              </a:glow>
            </a:effectLst>
          </p:spPr>
          <p:txBody>
            <a:bodyPr/>
            <a:lstStyle/>
            <a:p>
              <a:endParaRPr lang="zh-CN" altLang="en-US"/>
            </a:p>
          </p:txBody>
        </p:sp>
        <p:sp>
          <p:nvSpPr>
            <p:cNvPr id="48" name="TextBox 48"/>
            <p:cNvSpPr txBox="1"/>
            <p:nvPr/>
          </p:nvSpPr>
          <p:spPr>
            <a:xfrm>
              <a:off x="4654868" y="3723799"/>
              <a:ext cx="537400" cy="198120"/>
            </a:xfrm>
            <a:prstGeom prst="rect">
              <a:avLst/>
            </a:prstGeom>
            <a:noFill/>
            <a:ln>
              <a:noFill/>
            </a:ln>
          </p:spPr>
          <p:txBody>
            <a:bodyPr wrap="none" lIns="0" tIns="0" rIns="0" bIns="0" anchor="t" anchorCtr="0">
              <a:spAutoFit/>
            </a:bodyPr>
            <a:lstStyle/>
            <a:p>
              <a:pPr algn="l"/>
              <a:r>
                <a:rPr lang="zh-CN" sz="975" dirty="0">
                  <a:solidFill>
                    <a:srgbClr val="34A853"/>
                  </a:solidFill>
                  <a:effectLst>
                    <a:glow rad="76200">
                      <a:srgbClr val="34A853">
                        <a:alpha val="8000"/>
                      </a:srgbClr>
                    </a:glow>
                  </a:effectLst>
                  <a:latin typeface="Consolas"/>
                  <a:ea typeface="Microsoft YaHei"/>
                  <a:cs typeface="Consolas"/>
                </a:rPr>
                <a:t>Phase 2</a:t>
              </a:r>
            </a:p>
          </p:txBody>
        </p:sp>
        <p:sp>
          <p:nvSpPr>
            <p:cNvPr id="49" name="TextBox 49"/>
            <p:cNvSpPr txBox="1"/>
            <p:nvPr/>
          </p:nvSpPr>
          <p:spPr>
            <a:xfrm>
              <a:off x="5607368" y="3723799"/>
              <a:ext cx="615720"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34A853">
                        <a:alpha val="8000"/>
                      </a:srgbClr>
                    </a:glow>
                  </a:effectLst>
                  <a:latin typeface="Consolas"/>
                  <a:ea typeface="Microsoft YaHei"/>
                  <a:cs typeface="Consolas"/>
                </a:rPr>
                <a:t>→ Parser</a:t>
              </a:r>
            </a:p>
          </p:txBody>
        </p:sp>
        <p:sp>
          <p:nvSpPr>
            <p:cNvPr id="50" name="Rectangle 50"/>
            <p:cNvSpPr/>
            <p:nvPr/>
          </p:nvSpPr>
          <p:spPr>
            <a:xfrm>
              <a:off x="4667250" y="4048125"/>
              <a:ext cx="2857500" cy="323850"/>
            </a:xfrm>
            <a:prstGeom prst="roundRect">
              <a:avLst>
                <a:gd name="adj" fmla="val 17647"/>
              </a:avLst>
            </a:prstGeom>
            <a:solidFill>
              <a:srgbClr val="F8F9FA"/>
            </a:solidFill>
            <a:ln>
              <a:noFill/>
            </a:ln>
            <a:effectLst>
              <a:glow rad="76200">
                <a:srgbClr val="34A853">
                  <a:alpha val="8000"/>
                </a:srgbClr>
              </a:glow>
            </a:effectLst>
          </p:spPr>
          <p:txBody>
            <a:bodyPr/>
            <a:lstStyle/>
            <a:p>
              <a:endParaRPr lang="zh-CN" altLang="en-US"/>
            </a:p>
          </p:txBody>
        </p:sp>
        <p:sp>
          <p:nvSpPr>
            <p:cNvPr id="51" name="TextBox 51"/>
            <p:cNvSpPr txBox="1"/>
            <p:nvPr/>
          </p:nvSpPr>
          <p:spPr>
            <a:xfrm>
              <a:off x="4654868" y="4152424"/>
              <a:ext cx="537400" cy="198120"/>
            </a:xfrm>
            <a:prstGeom prst="rect">
              <a:avLst/>
            </a:prstGeom>
            <a:noFill/>
            <a:ln>
              <a:noFill/>
            </a:ln>
          </p:spPr>
          <p:txBody>
            <a:bodyPr wrap="none" lIns="0" tIns="0" rIns="0" bIns="0" anchor="t" anchorCtr="0">
              <a:spAutoFit/>
            </a:bodyPr>
            <a:lstStyle/>
            <a:p>
              <a:pPr algn="l"/>
              <a:r>
                <a:rPr lang="zh-CN" sz="975" dirty="0">
                  <a:solidFill>
                    <a:srgbClr val="9334E6"/>
                  </a:solidFill>
                  <a:effectLst>
                    <a:glow rad="76200">
                      <a:srgbClr val="34A853">
                        <a:alpha val="8000"/>
                      </a:srgbClr>
                    </a:glow>
                  </a:effectLst>
                  <a:latin typeface="Consolas"/>
                  <a:ea typeface="Microsoft YaHei"/>
                  <a:cs typeface="Consolas"/>
                </a:rPr>
                <a:t>Phase 3</a:t>
              </a:r>
            </a:p>
          </p:txBody>
        </p:sp>
        <p:sp>
          <p:nvSpPr>
            <p:cNvPr id="52" name="TextBox 52"/>
            <p:cNvSpPr txBox="1"/>
            <p:nvPr/>
          </p:nvSpPr>
          <p:spPr>
            <a:xfrm>
              <a:off x="5607368" y="4152424"/>
              <a:ext cx="836438"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34A853">
                        <a:alpha val="8000"/>
                      </a:srgbClr>
                    </a:glow>
                  </a:effectLst>
                  <a:latin typeface="Consolas"/>
                  <a:ea typeface="Microsoft YaHei"/>
                  <a:cs typeface="Consolas"/>
                </a:rPr>
                <a:t>→ Optimizer</a:t>
              </a:r>
            </a:p>
          </p:txBody>
        </p:sp>
        <p:sp>
          <p:nvSpPr>
            <p:cNvPr id="53" name="Rectangle 53"/>
            <p:cNvSpPr/>
            <p:nvPr/>
          </p:nvSpPr>
          <p:spPr>
            <a:xfrm>
              <a:off x="4667250" y="4476750"/>
              <a:ext cx="2857500" cy="323850"/>
            </a:xfrm>
            <a:prstGeom prst="roundRect">
              <a:avLst>
                <a:gd name="adj" fmla="val 17647"/>
              </a:avLst>
            </a:prstGeom>
            <a:solidFill>
              <a:srgbClr val="F8F9FA"/>
            </a:solidFill>
            <a:ln>
              <a:noFill/>
            </a:ln>
            <a:effectLst>
              <a:glow rad="76200">
                <a:srgbClr val="34A853">
                  <a:alpha val="8000"/>
                </a:srgbClr>
              </a:glow>
            </a:effectLst>
          </p:spPr>
          <p:txBody>
            <a:bodyPr/>
            <a:lstStyle/>
            <a:p>
              <a:endParaRPr lang="zh-CN" altLang="en-US"/>
            </a:p>
          </p:txBody>
        </p:sp>
        <p:sp>
          <p:nvSpPr>
            <p:cNvPr id="54" name="TextBox 54"/>
            <p:cNvSpPr txBox="1"/>
            <p:nvPr/>
          </p:nvSpPr>
          <p:spPr>
            <a:xfrm>
              <a:off x="4654868" y="4581049"/>
              <a:ext cx="537400" cy="198120"/>
            </a:xfrm>
            <a:prstGeom prst="rect">
              <a:avLst/>
            </a:prstGeom>
            <a:noFill/>
            <a:ln>
              <a:noFill/>
            </a:ln>
          </p:spPr>
          <p:txBody>
            <a:bodyPr wrap="none" lIns="0" tIns="0" rIns="0" bIns="0" anchor="t" anchorCtr="0">
              <a:spAutoFit/>
            </a:bodyPr>
            <a:lstStyle/>
            <a:p>
              <a:pPr algn="l"/>
              <a:r>
                <a:rPr lang="zh-CN" sz="975" dirty="0">
                  <a:solidFill>
                    <a:srgbClr val="1E8E3E"/>
                  </a:solidFill>
                  <a:effectLst>
                    <a:glow rad="76200">
                      <a:srgbClr val="34A853">
                        <a:alpha val="8000"/>
                      </a:srgbClr>
                    </a:glow>
                  </a:effectLst>
                  <a:latin typeface="Consolas"/>
                  <a:ea typeface="Microsoft YaHei"/>
                  <a:cs typeface="Consolas"/>
                </a:rPr>
                <a:t>Phase 4</a:t>
              </a:r>
            </a:p>
          </p:txBody>
        </p:sp>
        <p:sp>
          <p:nvSpPr>
            <p:cNvPr id="55" name="TextBox 55"/>
            <p:cNvSpPr txBox="1"/>
            <p:nvPr/>
          </p:nvSpPr>
          <p:spPr>
            <a:xfrm>
              <a:off x="5607368" y="4581049"/>
              <a:ext cx="815078"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34A853">
                        <a:alpha val="8000"/>
                      </a:srgbClr>
                    </a:glow>
                  </a:effectLst>
                  <a:latin typeface="Consolas"/>
                  <a:ea typeface="Microsoft YaHei"/>
                  <a:cs typeface="Consolas"/>
                </a:rPr>
                <a:t>→ Execution</a:t>
              </a:r>
            </a:p>
          </p:txBody>
        </p:sp>
        <p:sp>
          <p:nvSpPr>
            <p:cNvPr id="56" name="TextBox 56"/>
            <p:cNvSpPr txBox="1"/>
            <p:nvPr/>
          </p:nvSpPr>
          <p:spPr>
            <a:xfrm>
              <a:off x="5439263" y="5038249"/>
              <a:ext cx="1313474" cy="198120"/>
            </a:xfrm>
            <a:prstGeom prst="rect">
              <a:avLst/>
            </a:prstGeom>
            <a:noFill/>
            <a:ln>
              <a:noFill/>
            </a:ln>
          </p:spPr>
          <p:txBody>
            <a:bodyPr wrap="none" lIns="0" tIns="0" rIns="0" bIns="0" anchor="t" anchorCtr="0">
              <a:spAutoFit/>
            </a:bodyPr>
            <a:lstStyle/>
            <a:p>
              <a:pPr algn="ctr"/>
              <a:r>
                <a:rPr lang="zh-CN" sz="975" dirty="0">
                  <a:solidFill>
                    <a:srgbClr val="5F6368"/>
                  </a:solidFill>
                  <a:effectLst>
                    <a:glow rad="76200">
                      <a:srgbClr val="34A853">
                        <a:alpha val="8000"/>
                      </a:srgbClr>
                    </a:glow>
                  </a:effectLst>
                  <a:latin typeface="Segoe UI"/>
                  <a:ea typeface="Microsoft YaHei"/>
                  <a:cs typeface="Segoe UI"/>
                </a:rPr>
                <a:t>JSON trace output</a:t>
              </a:r>
            </a:p>
          </p:txBody>
        </p:sp>
        <p:sp>
          <p:nvSpPr>
            <p:cNvPr id="57" name="Rectangle 57"/>
            <p:cNvSpPr/>
            <p:nvPr/>
          </p:nvSpPr>
          <p:spPr>
            <a:xfrm>
              <a:off x="4762500" y="5619750"/>
              <a:ext cx="1333500" cy="228600"/>
            </a:xfrm>
            <a:prstGeom prst="roundRect">
              <a:avLst>
                <a:gd name="adj" fmla="val 50000"/>
              </a:avLst>
            </a:prstGeom>
            <a:solidFill>
              <a:srgbClr val="34A853">
                <a:alpha val="15000"/>
              </a:srgbClr>
            </a:solidFill>
            <a:ln w="9525">
              <a:solidFill>
                <a:srgbClr val="34A853">
                  <a:alpha val="40000"/>
                </a:srgbClr>
              </a:solidFill>
            </a:ln>
            <a:effectLst>
              <a:glow rad="76200">
                <a:srgbClr val="34A853">
                  <a:alpha val="8000"/>
                </a:srgbClr>
              </a:glow>
            </a:effectLst>
          </p:spPr>
          <p:txBody>
            <a:bodyPr/>
            <a:lstStyle/>
            <a:p>
              <a:endParaRPr lang="zh-CN" altLang="en-US"/>
            </a:p>
          </p:txBody>
        </p:sp>
        <p:sp>
          <p:nvSpPr>
            <p:cNvPr id="58" name="TextBox 58"/>
            <p:cNvSpPr txBox="1"/>
            <p:nvPr/>
          </p:nvSpPr>
          <p:spPr>
            <a:xfrm>
              <a:off x="4839462" y="5684520"/>
              <a:ext cx="1179576" cy="182880"/>
            </a:xfrm>
            <a:prstGeom prst="rect">
              <a:avLst/>
            </a:prstGeom>
            <a:noFill/>
            <a:ln>
              <a:noFill/>
            </a:ln>
          </p:spPr>
          <p:txBody>
            <a:bodyPr wrap="none" lIns="0" tIns="0" rIns="0" bIns="0" anchor="t" anchorCtr="0">
              <a:spAutoFit/>
            </a:bodyPr>
            <a:lstStyle/>
            <a:p>
              <a:pPr algn="ctr"/>
              <a:r>
                <a:rPr lang="zh-CN" sz="900" dirty="0">
                  <a:solidFill>
                    <a:srgbClr val="34A853"/>
                  </a:solidFill>
                  <a:effectLst>
                    <a:glow rad="76200">
                      <a:srgbClr val="34A853">
                        <a:alpha val="8000"/>
                      </a:srgbClr>
                    </a:glow>
                  </a:effectLst>
                  <a:latin typeface="Segoe UI"/>
                  <a:ea typeface="Microsoft YaHei"/>
                  <a:cs typeface="Segoe UI"/>
                </a:rPr>
                <a:t>Boolean semantics</a:t>
              </a:r>
            </a:p>
          </p:txBody>
        </p:sp>
      </p:grpSp>
      <p:grpSp>
        <p:nvGrpSpPr>
          <p:cNvPr id="82" name="Group 82"/>
          <p:cNvGrpSpPr/>
          <p:nvPr/>
        </p:nvGrpSpPr>
        <p:grpSpPr>
          <a:xfrm>
            <a:off x="8191500" y="1238250"/>
            <a:ext cx="3429000" cy="4762500"/>
            <a:chOff x="8191500" y="1238250"/>
            <a:chExt cx="3429000" cy="4762500"/>
          </a:xfrm>
          <a:effectLst>
            <a:glow rad="76200">
              <a:srgbClr val="9334E6">
                <a:alpha val="8000"/>
              </a:srgbClr>
            </a:glow>
          </a:effectLst>
        </p:grpSpPr>
        <p:sp>
          <p:nvSpPr>
            <p:cNvPr id="60" name="Rectangle 60"/>
            <p:cNvSpPr/>
            <p:nvPr/>
          </p:nvSpPr>
          <p:spPr>
            <a:xfrm>
              <a:off x="8191500" y="1238250"/>
              <a:ext cx="3429000" cy="4762500"/>
            </a:xfrm>
            <a:prstGeom prst="roundRect">
              <a:avLst>
                <a:gd name="adj" fmla="val 3333"/>
              </a:avLst>
            </a:prstGeom>
            <a:solidFill>
              <a:srgbClr val="FFFFFF"/>
            </a:solidFill>
            <a:ln w="9525">
              <a:solidFill>
                <a:srgbClr val="9334E6">
                  <a:alpha val="30000"/>
                </a:srgbClr>
              </a:solidFill>
            </a:ln>
            <a:effectLst>
              <a:glow rad="76200">
                <a:srgbClr val="9334E6">
                  <a:alpha val="8000"/>
                </a:srgbClr>
              </a:glow>
            </a:effectLst>
          </p:spPr>
          <p:txBody>
            <a:bodyPr/>
            <a:lstStyle/>
            <a:p>
              <a:endParaRPr lang="zh-CN" altLang="en-US"/>
            </a:p>
          </p:txBody>
        </p:sp>
        <p:sp>
          <p:nvSpPr>
            <p:cNvPr id="61" name="Rectangle 61"/>
            <p:cNvSpPr/>
            <p:nvPr/>
          </p:nvSpPr>
          <p:spPr>
            <a:xfrm>
              <a:off x="8191500" y="1238250"/>
              <a:ext cx="3429000" cy="38100"/>
            </a:xfrm>
            <a:prstGeom prst="roundRect">
              <a:avLst>
                <a:gd name="adj" fmla="val 50000"/>
              </a:avLst>
            </a:prstGeom>
            <a:solidFill>
              <a:srgbClr val="9334E6"/>
            </a:solidFill>
            <a:ln>
              <a:noFill/>
            </a:ln>
            <a:effectLst>
              <a:glow rad="76200">
                <a:srgbClr val="9334E6">
                  <a:alpha val="8000"/>
                </a:srgbClr>
              </a:glow>
            </a:effectLst>
          </p:spPr>
          <p:txBody>
            <a:bodyPr/>
            <a:lstStyle/>
            <a:p>
              <a:endParaRPr lang="zh-CN" altLang="en-US"/>
            </a:p>
          </p:txBody>
        </p:sp>
        <p:sp>
          <p:nvSpPr>
            <p:cNvPr id="62" name="Rectangle 62"/>
            <p:cNvSpPr/>
            <p:nvPr/>
          </p:nvSpPr>
          <p:spPr>
            <a:xfrm>
              <a:off x="8953500" y="1695450"/>
              <a:ext cx="1905000" cy="571500"/>
            </a:xfrm>
            <a:prstGeom prst="roundRect">
              <a:avLst>
                <a:gd name="adj" fmla="val 50000"/>
              </a:avLst>
            </a:prstGeom>
            <a:solidFill>
              <a:srgbClr val="9334E6">
                <a:alpha val="10000"/>
              </a:srgbClr>
            </a:solidFill>
            <a:ln>
              <a:noFill/>
            </a:ln>
            <a:effectLst>
              <a:glow rad="76200">
                <a:srgbClr val="9334E6">
                  <a:alpha val="8000"/>
                </a:srgbClr>
              </a:glow>
            </a:effectLst>
          </p:spPr>
          <p:txBody>
            <a:bodyPr/>
            <a:lstStyle/>
            <a:p>
              <a:endParaRPr lang="zh-CN" altLang="en-US"/>
            </a:p>
          </p:txBody>
        </p:sp>
        <p:sp>
          <p:nvSpPr>
            <p:cNvPr id="63" name="Freeform 63"/>
            <p:cNvSpPr/>
            <p:nvPr/>
          </p:nvSpPr>
          <p:spPr>
            <a:xfrm>
              <a:off x="9636125" y="1798753"/>
              <a:ext cx="367237" cy="367838"/>
            </a:xfrm>
            <a:custGeom>
              <a:avLst/>
              <a:gdLst/>
              <a:ahLst/>
              <a:cxnLst/>
              <a:rect l="l" t="t" r="r" b="b"/>
              <a:pathLst>
                <a:path w="367237" h="367838">
                  <a:moveTo>
                    <a:pt x="261938" y="31222"/>
                  </a:moveTo>
                  <a:cubicBezTo>
                    <a:pt x="334711" y="73240"/>
                    <a:pt x="367237" y="161132"/>
                    <a:pt x="339349" y="240402"/>
                  </a:cubicBezTo>
                  <a:cubicBezTo>
                    <a:pt x="311461" y="319672"/>
                    <a:pt x="231068" y="367838"/>
                    <a:pt x="148016" y="355036"/>
                  </a:cubicBezTo>
                  <a:cubicBezTo>
                    <a:pt x="64965" y="342233"/>
                    <a:pt x="2809" y="272094"/>
                    <a:pt x="87" y="188105"/>
                  </a:cubicBezTo>
                  <a:lnTo>
                    <a:pt x="0" y="182447"/>
                  </a:lnTo>
                  <a:lnTo>
                    <a:pt x="87" y="176789"/>
                  </a:lnTo>
                  <a:cubicBezTo>
                    <a:pt x="2077" y="115443"/>
                    <a:pt x="36127" y="59646"/>
                    <a:pt x="89773" y="29823"/>
                  </a:cubicBezTo>
                  <a:cubicBezTo>
                    <a:pt x="143419" y="0"/>
                    <a:pt x="208783" y="531"/>
                    <a:pt x="261937" y="31222"/>
                  </a:cubicBezTo>
                  <a:close/>
                  <a:moveTo>
                    <a:pt x="239358" y="135176"/>
                  </a:moveTo>
                  <a:cubicBezTo>
                    <a:pt x="233137" y="128955"/>
                    <a:pt x="223260" y="128334"/>
                    <a:pt x="216308" y="133727"/>
                  </a:cubicBezTo>
                  <a:lnTo>
                    <a:pt x="214667" y="135176"/>
                  </a:lnTo>
                  <a:lnTo>
                    <a:pt x="157163" y="192663"/>
                  </a:lnTo>
                  <a:lnTo>
                    <a:pt x="134583" y="170101"/>
                  </a:lnTo>
                  <a:lnTo>
                    <a:pt x="132942" y="168652"/>
                  </a:lnTo>
                  <a:cubicBezTo>
                    <a:pt x="125990" y="163263"/>
                    <a:pt x="116116" y="163886"/>
                    <a:pt x="109896" y="170106"/>
                  </a:cubicBezTo>
                  <a:cubicBezTo>
                    <a:pt x="103677" y="176325"/>
                    <a:pt x="103054" y="186200"/>
                    <a:pt x="108442" y="193152"/>
                  </a:cubicBezTo>
                  <a:lnTo>
                    <a:pt x="109892" y="194793"/>
                  </a:lnTo>
                  <a:lnTo>
                    <a:pt x="144817" y="229718"/>
                  </a:lnTo>
                  <a:lnTo>
                    <a:pt x="146458" y="231168"/>
                  </a:lnTo>
                  <a:cubicBezTo>
                    <a:pt x="152757" y="236055"/>
                    <a:pt x="161568" y="236055"/>
                    <a:pt x="167867" y="231168"/>
                  </a:cubicBezTo>
                  <a:lnTo>
                    <a:pt x="169508" y="229718"/>
                  </a:lnTo>
                  <a:lnTo>
                    <a:pt x="239358" y="159868"/>
                  </a:lnTo>
                  <a:lnTo>
                    <a:pt x="240808" y="158227"/>
                  </a:lnTo>
                  <a:cubicBezTo>
                    <a:pt x="246200" y="151275"/>
                    <a:pt x="245579" y="141397"/>
                    <a:pt x="239358" y="135176"/>
                  </a:cubicBezTo>
                  <a:close/>
                </a:path>
              </a:pathLst>
            </a:custGeom>
            <a:solidFill>
              <a:srgbClr val="9334E6"/>
            </a:solidFill>
            <a:ln>
              <a:noFill/>
            </a:ln>
            <a:effectLst>
              <a:glow rad="76200">
                <a:srgbClr val="9334E6">
                  <a:alpha val="8000"/>
                </a:srgbClr>
              </a:glow>
            </a:effectLst>
          </p:spPr>
          <p:txBody>
            <a:bodyPr/>
            <a:lstStyle/>
            <a:p>
              <a:endParaRPr lang="zh-CN" altLang="en-US"/>
            </a:p>
          </p:txBody>
        </p:sp>
        <p:sp>
          <p:nvSpPr>
            <p:cNvPr id="64" name="TextBox 64"/>
            <p:cNvSpPr txBox="1"/>
            <p:nvPr/>
          </p:nvSpPr>
          <p:spPr>
            <a:xfrm>
              <a:off x="10246424" y="1352550"/>
              <a:ext cx="1164526" cy="1219200"/>
            </a:xfrm>
            <a:prstGeom prst="rect">
              <a:avLst/>
            </a:prstGeom>
            <a:noFill/>
            <a:ln>
              <a:noFill/>
            </a:ln>
          </p:spPr>
          <p:txBody>
            <a:bodyPr wrap="none" lIns="0" tIns="0" rIns="0" bIns="0" anchor="t" anchorCtr="0">
              <a:spAutoFit/>
            </a:bodyPr>
            <a:lstStyle/>
            <a:p>
              <a:pPr algn="r"/>
              <a:r>
                <a:rPr lang="zh-CN" sz="6000" b="1" dirty="0">
                  <a:solidFill>
                    <a:srgbClr val="9334E6">
                      <a:alpha val="5000"/>
                    </a:srgbClr>
                  </a:solidFill>
                  <a:effectLst>
                    <a:glow rad="76200">
                      <a:srgbClr val="9334E6">
                        <a:alpha val="8000"/>
                      </a:srgbClr>
                    </a:glow>
                  </a:effectLst>
                  <a:latin typeface="Segoe UI"/>
                  <a:ea typeface="Microsoft YaHei"/>
                  <a:cs typeface="Segoe UI"/>
                </a:rPr>
                <a:t>03</a:t>
              </a:r>
            </a:p>
          </p:txBody>
        </p:sp>
        <p:sp>
          <p:nvSpPr>
            <p:cNvPr id="65" name="TextBox 65"/>
            <p:cNvSpPr txBox="1"/>
            <p:nvPr/>
          </p:nvSpPr>
          <p:spPr>
            <a:xfrm>
              <a:off x="8805815" y="2486025"/>
              <a:ext cx="2200370" cy="304800"/>
            </a:xfrm>
            <a:prstGeom prst="rect">
              <a:avLst/>
            </a:prstGeom>
            <a:noFill/>
            <a:ln>
              <a:noFill/>
            </a:ln>
          </p:spPr>
          <p:txBody>
            <a:bodyPr wrap="none" lIns="0" tIns="0" rIns="0" bIns="0" anchor="t" anchorCtr="0">
              <a:spAutoFit/>
            </a:bodyPr>
            <a:lstStyle/>
            <a:p>
              <a:pPr algn="ctr"/>
              <a:r>
                <a:rPr lang="zh-CN" sz="1500" b="1" dirty="0">
                  <a:solidFill>
                    <a:srgbClr val="202124"/>
                  </a:solidFill>
                  <a:effectLst>
                    <a:glow rad="76200">
                      <a:srgbClr val="9334E6">
                        <a:alpha val="8000"/>
                      </a:srgbClr>
                    </a:glow>
                  </a:effectLst>
                  <a:latin typeface="Segoe UI"/>
                  <a:ea typeface="Microsoft YaHei"/>
                  <a:cs typeface="Segoe UI"/>
                </a:rPr>
                <a:t>Formal Verification</a:t>
              </a:r>
            </a:p>
          </p:txBody>
        </p:sp>
        <p:sp>
          <p:nvSpPr>
            <p:cNvPr id="66" name="TextBox 66"/>
            <p:cNvSpPr txBox="1"/>
            <p:nvPr/>
          </p:nvSpPr>
          <p:spPr>
            <a:xfrm>
              <a:off x="9173430" y="2779395"/>
              <a:ext cx="1465140" cy="182880"/>
            </a:xfrm>
            <a:prstGeom prst="rect">
              <a:avLst/>
            </a:prstGeom>
            <a:noFill/>
            <a:ln>
              <a:noFill/>
            </a:ln>
          </p:spPr>
          <p:txBody>
            <a:bodyPr wrap="none" lIns="0" tIns="0" rIns="0" bIns="0" anchor="t" anchorCtr="0">
              <a:spAutoFit/>
            </a:bodyPr>
            <a:lstStyle/>
            <a:p>
              <a:pPr algn="ctr"/>
              <a:r>
                <a:rPr lang="zh-CN" sz="900" b="1" dirty="0">
                  <a:solidFill>
                    <a:srgbClr val="9334E6"/>
                  </a:solidFill>
                  <a:effectLst>
                    <a:glow rad="76200">
                      <a:srgbClr val="9334E6">
                        <a:alpha val="8000"/>
                      </a:srgbClr>
                    </a:glow>
                  </a:effectLst>
                  <a:latin typeface="Segoe UI"/>
                  <a:ea typeface="Microsoft YaHei"/>
                  <a:cs typeface="Segoe UI"/>
                </a:rPr>
                <a:t>EQUIVALENCE CHECKING</a:t>
              </a:r>
            </a:p>
          </p:txBody>
        </p:sp>
        <p:sp>
          <p:nvSpPr>
            <p:cNvPr id="67" name="Rectangle 67"/>
            <p:cNvSpPr/>
            <p:nvPr/>
          </p:nvSpPr>
          <p:spPr>
            <a:xfrm>
              <a:off x="8572500" y="3028950"/>
              <a:ext cx="2667000" cy="9525"/>
            </a:xfrm>
            <a:prstGeom prst="rect">
              <a:avLst/>
            </a:prstGeom>
            <a:solidFill>
              <a:srgbClr val="DADCE0"/>
            </a:solidFill>
            <a:ln>
              <a:noFill/>
            </a:ln>
            <a:effectLst>
              <a:glow rad="76200">
                <a:srgbClr val="9334E6">
                  <a:alpha val="8000"/>
                </a:srgbClr>
              </a:glow>
            </a:effectLst>
          </p:spPr>
          <p:txBody>
            <a:bodyPr/>
            <a:lstStyle/>
            <a:p>
              <a:endParaRPr lang="zh-CN" altLang="en-US"/>
            </a:p>
          </p:txBody>
        </p:sp>
        <p:sp>
          <p:nvSpPr>
            <p:cNvPr id="68" name="Ellipse 68"/>
            <p:cNvSpPr/>
            <p:nvPr/>
          </p:nvSpPr>
          <p:spPr>
            <a:xfrm>
              <a:off x="8496300" y="3267075"/>
              <a:ext cx="57150" cy="57150"/>
            </a:xfrm>
            <a:prstGeom prst="ellipse">
              <a:avLst/>
            </a:prstGeom>
            <a:solidFill>
              <a:srgbClr val="9334E6"/>
            </a:solidFill>
            <a:ln>
              <a:noFill/>
            </a:ln>
            <a:effectLst>
              <a:glow rad="76200">
                <a:srgbClr val="9334E6">
                  <a:alpha val="8000"/>
                </a:srgbClr>
              </a:glow>
            </a:effectLst>
          </p:spPr>
          <p:txBody>
            <a:bodyPr/>
            <a:lstStyle/>
            <a:p>
              <a:endParaRPr lang="zh-CN" altLang="en-US"/>
            </a:p>
          </p:txBody>
        </p:sp>
        <p:sp>
          <p:nvSpPr>
            <p:cNvPr id="69" name="TextBox 69"/>
            <p:cNvSpPr txBox="1"/>
            <p:nvPr/>
          </p:nvSpPr>
          <p:spPr>
            <a:xfrm>
              <a:off x="8634412" y="3221831"/>
              <a:ext cx="1975604"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9334E6">
                        <a:alpha val="8000"/>
                      </a:srgbClr>
                    </a:glow>
                  </a:effectLst>
                  <a:latin typeface="Segoe UI"/>
                  <a:ea typeface="Microsoft YaHei"/>
                  <a:cs typeface="Segoe UI"/>
                </a:rPr>
                <a:t>Post-optimization check</a:t>
              </a:r>
            </a:p>
          </p:txBody>
        </p:sp>
        <p:sp>
          <p:nvSpPr>
            <p:cNvPr id="70" name="TextBox 70"/>
            <p:cNvSpPr txBox="1"/>
            <p:nvPr/>
          </p:nvSpPr>
          <p:spPr>
            <a:xfrm>
              <a:off x="8636318" y="3438049"/>
              <a:ext cx="1996988"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9334E6">
                        <a:alpha val="8000"/>
                      </a:srgbClr>
                    </a:glow>
                  </a:effectLst>
                  <a:latin typeface="Segoe UI"/>
                  <a:ea typeface="Microsoft YaHei"/>
                  <a:cs typeface="Segoe UI"/>
                </a:rPr>
                <a:t>Every optimized AST verified</a:t>
              </a:r>
            </a:p>
          </p:txBody>
        </p:sp>
        <p:sp>
          <p:nvSpPr>
            <p:cNvPr id="71" name="Ellipse 71"/>
            <p:cNvSpPr/>
            <p:nvPr/>
          </p:nvSpPr>
          <p:spPr>
            <a:xfrm>
              <a:off x="8496300" y="3810000"/>
              <a:ext cx="57150" cy="57150"/>
            </a:xfrm>
            <a:prstGeom prst="ellipse">
              <a:avLst/>
            </a:prstGeom>
            <a:solidFill>
              <a:srgbClr val="9334E6"/>
            </a:solidFill>
            <a:ln>
              <a:noFill/>
            </a:ln>
            <a:effectLst>
              <a:glow rad="76200">
                <a:srgbClr val="9334E6">
                  <a:alpha val="8000"/>
                </a:srgbClr>
              </a:glow>
            </a:effectLst>
          </p:spPr>
          <p:txBody>
            <a:bodyPr/>
            <a:lstStyle/>
            <a:p>
              <a:endParaRPr lang="zh-CN" altLang="en-US"/>
            </a:p>
          </p:txBody>
        </p:sp>
        <p:sp>
          <p:nvSpPr>
            <p:cNvPr id="72" name="TextBox 72"/>
            <p:cNvSpPr txBox="1"/>
            <p:nvPr/>
          </p:nvSpPr>
          <p:spPr>
            <a:xfrm>
              <a:off x="8634412" y="3764756"/>
              <a:ext cx="1975604"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9334E6">
                        <a:alpha val="8000"/>
                      </a:srgbClr>
                    </a:glow>
                  </a:effectLst>
                  <a:latin typeface="Segoe UI"/>
                  <a:ea typeface="Microsoft YaHei"/>
                  <a:cs typeface="Segoe UI"/>
                </a:rPr>
                <a:t>Truth table enumeration</a:t>
              </a:r>
            </a:p>
          </p:txBody>
        </p:sp>
        <p:sp>
          <p:nvSpPr>
            <p:cNvPr id="73" name="TextBox 73"/>
            <p:cNvSpPr txBox="1"/>
            <p:nvPr/>
          </p:nvSpPr>
          <p:spPr>
            <a:xfrm>
              <a:off x="8636318" y="3980974"/>
              <a:ext cx="1790510"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9334E6">
                        <a:alpha val="8000"/>
                      </a:srgbClr>
                    </a:glow>
                  </a:effectLst>
                  <a:latin typeface="Segoe UI"/>
                  <a:ea typeface="Microsoft YaHei"/>
                  <a:cs typeface="Segoe UI"/>
                </a:rPr>
                <a:t>Exhaustive 2ⁿ comparison</a:t>
              </a:r>
            </a:p>
          </p:txBody>
        </p:sp>
        <p:sp>
          <p:nvSpPr>
            <p:cNvPr id="74" name="Ellipse 74"/>
            <p:cNvSpPr/>
            <p:nvPr/>
          </p:nvSpPr>
          <p:spPr>
            <a:xfrm>
              <a:off x="8496300" y="4352925"/>
              <a:ext cx="57150" cy="57150"/>
            </a:xfrm>
            <a:prstGeom prst="ellipse">
              <a:avLst/>
            </a:prstGeom>
            <a:solidFill>
              <a:srgbClr val="9334E6"/>
            </a:solidFill>
            <a:ln>
              <a:noFill/>
            </a:ln>
            <a:effectLst>
              <a:glow rad="76200">
                <a:srgbClr val="9334E6">
                  <a:alpha val="8000"/>
                </a:srgbClr>
              </a:glow>
            </a:effectLst>
          </p:spPr>
          <p:txBody>
            <a:bodyPr/>
            <a:lstStyle/>
            <a:p>
              <a:endParaRPr lang="zh-CN" altLang="en-US"/>
            </a:p>
          </p:txBody>
        </p:sp>
        <p:sp>
          <p:nvSpPr>
            <p:cNvPr id="75" name="TextBox 75"/>
            <p:cNvSpPr txBox="1"/>
            <p:nvPr/>
          </p:nvSpPr>
          <p:spPr>
            <a:xfrm>
              <a:off x="8634412" y="4307681"/>
              <a:ext cx="1704499"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9334E6">
                        <a:alpha val="8000"/>
                      </a:srgbClr>
                    </a:glow>
                  </a:effectLst>
                  <a:latin typeface="Segoe UI"/>
                  <a:ea typeface="Microsoft YaHei"/>
                  <a:cs typeface="Segoe UI"/>
                </a:rPr>
                <a:t>Semantic equivalence</a:t>
              </a:r>
            </a:p>
          </p:txBody>
        </p:sp>
        <p:sp>
          <p:nvSpPr>
            <p:cNvPr id="76" name="TextBox 76"/>
            <p:cNvSpPr txBox="1"/>
            <p:nvPr/>
          </p:nvSpPr>
          <p:spPr>
            <a:xfrm>
              <a:off x="8636318" y="4523899"/>
              <a:ext cx="1883069"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9334E6">
                        <a:alpha val="8000"/>
                      </a:srgbClr>
                    </a:glow>
                  </a:effectLst>
                  <a:latin typeface="Segoe UI"/>
                  <a:ea typeface="Microsoft YaHei"/>
                  <a:cs typeface="Segoe UI"/>
                </a:rPr>
                <a:t>original = optimized output</a:t>
              </a:r>
            </a:p>
          </p:txBody>
        </p:sp>
        <p:sp>
          <p:nvSpPr>
            <p:cNvPr id="77" name="Ellipse 77"/>
            <p:cNvSpPr/>
            <p:nvPr/>
          </p:nvSpPr>
          <p:spPr>
            <a:xfrm>
              <a:off x="8496300" y="4895850"/>
              <a:ext cx="57150" cy="57150"/>
            </a:xfrm>
            <a:prstGeom prst="ellipse">
              <a:avLst/>
            </a:prstGeom>
            <a:solidFill>
              <a:srgbClr val="9334E6"/>
            </a:solidFill>
            <a:ln>
              <a:noFill/>
            </a:ln>
            <a:effectLst>
              <a:glow rad="76200">
                <a:srgbClr val="9334E6">
                  <a:alpha val="8000"/>
                </a:srgbClr>
              </a:glow>
            </a:effectLst>
          </p:spPr>
          <p:txBody>
            <a:bodyPr/>
            <a:lstStyle/>
            <a:p>
              <a:endParaRPr lang="zh-CN" altLang="en-US"/>
            </a:p>
          </p:txBody>
        </p:sp>
        <p:sp>
          <p:nvSpPr>
            <p:cNvPr id="78" name="TextBox 78"/>
            <p:cNvSpPr txBox="1"/>
            <p:nvPr/>
          </p:nvSpPr>
          <p:spPr>
            <a:xfrm>
              <a:off x="8634412" y="4850606"/>
              <a:ext cx="1901666" cy="228600"/>
            </a:xfrm>
            <a:prstGeom prst="rect">
              <a:avLst/>
            </a:prstGeom>
            <a:noFill/>
            <a:ln>
              <a:noFill/>
            </a:ln>
          </p:spPr>
          <p:txBody>
            <a:bodyPr wrap="none" lIns="0" tIns="0" rIns="0" bIns="0" anchor="t" anchorCtr="0">
              <a:spAutoFit/>
            </a:bodyPr>
            <a:lstStyle/>
            <a:p>
              <a:pPr algn="l"/>
              <a:r>
                <a:rPr lang="zh-CN" sz="1125" dirty="0">
                  <a:solidFill>
                    <a:srgbClr val="202124"/>
                  </a:solidFill>
                  <a:effectLst>
                    <a:glow rad="76200">
                      <a:srgbClr val="9334E6">
                        <a:alpha val="8000"/>
                      </a:srgbClr>
                    </a:glow>
                  </a:effectLst>
                  <a:latin typeface="Segoe UI"/>
                  <a:ea typeface="Microsoft YaHei"/>
                  <a:cs typeface="Segoe UI"/>
                </a:rPr>
                <a:t>Graceful error handling</a:t>
              </a:r>
            </a:p>
          </p:txBody>
        </p:sp>
        <p:sp>
          <p:nvSpPr>
            <p:cNvPr id="79" name="TextBox 79"/>
            <p:cNvSpPr txBox="1"/>
            <p:nvPr/>
          </p:nvSpPr>
          <p:spPr>
            <a:xfrm>
              <a:off x="8636318" y="5066824"/>
              <a:ext cx="1854589" cy="198120"/>
            </a:xfrm>
            <a:prstGeom prst="rect">
              <a:avLst/>
            </a:prstGeom>
            <a:noFill/>
            <a:ln>
              <a:noFill/>
            </a:ln>
          </p:spPr>
          <p:txBody>
            <a:bodyPr wrap="none" lIns="0" tIns="0" rIns="0" bIns="0" anchor="t" anchorCtr="0">
              <a:spAutoFit/>
            </a:bodyPr>
            <a:lstStyle/>
            <a:p>
              <a:pPr algn="l"/>
              <a:r>
                <a:rPr lang="zh-CN" sz="975" dirty="0">
                  <a:solidFill>
                    <a:srgbClr val="5F6368"/>
                  </a:solidFill>
                  <a:effectLst>
                    <a:glow rad="76200">
                      <a:srgbClr val="9334E6">
                        <a:alpha val="8000"/>
                      </a:srgbClr>
                    </a:glow>
                  </a:effectLst>
                  <a:latin typeface="Segoe UI"/>
                  <a:ea typeface="Microsoft YaHei"/>
                  <a:cs typeface="Segoe UI"/>
                </a:rPr>
                <a:t>Phase + line in every error</a:t>
              </a:r>
            </a:p>
          </p:txBody>
        </p:sp>
        <p:sp>
          <p:nvSpPr>
            <p:cNvPr id="80" name="Rectangle 80"/>
            <p:cNvSpPr/>
            <p:nvPr/>
          </p:nvSpPr>
          <p:spPr>
            <a:xfrm>
              <a:off x="8572500" y="5619750"/>
              <a:ext cx="1333500" cy="228600"/>
            </a:xfrm>
            <a:prstGeom prst="roundRect">
              <a:avLst>
                <a:gd name="adj" fmla="val 50000"/>
              </a:avLst>
            </a:prstGeom>
            <a:solidFill>
              <a:srgbClr val="9334E6">
                <a:alpha val="15000"/>
              </a:srgbClr>
            </a:solidFill>
            <a:ln w="9525">
              <a:solidFill>
                <a:srgbClr val="9334E6">
                  <a:alpha val="40000"/>
                </a:srgbClr>
              </a:solidFill>
            </a:ln>
            <a:effectLst>
              <a:glow rad="76200">
                <a:srgbClr val="9334E6">
                  <a:alpha val="8000"/>
                </a:srgbClr>
              </a:glow>
            </a:effectLst>
          </p:spPr>
          <p:txBody>
            <a:bodyPr/>
            <a:lstStyle/>
            <a:p>
              <a:endParaRPr lang="zh-CN" altLang="en-US"/>
            </a:p>
          </p:txBody>
        </p:sp>
        <p:sp>
          <p:nvSpPr>
            <p:cNvPr id="81" name="TextBox 81"/>
            <p:cNvSpPr txBox="1"/>
            <p:nvPr/>
          </p:nvSpPr>
          <p:spPr>
            <a:xfrm>
              <a:off x="8629745" y="5684520"/>
              <a:ext cx="1219009" cy="182880"/>
            </a:xfrm>
            <a:prstGeom prst="rect">
              <a:avLst/>
            </a:prstGeom>
            <a:noFill/>
            <a:ln>
              <a:noFill/>
            </a:ln>
          </p:spPr>
          <p:txBody>
            <a:bodyPr wrap="none" lIns="0" tIns="0" rIns="0" bIns="0" anchor="t" anchorCtr="0">
              <a:spAutoFit/>
            </a:bodyPr>
            <a:lstStyle/>
            <a:p>
              <a:pPr algn="ctr"/>
              <a:r>
                <a:rPr lang="zh-CN" sz="900" dirty="0">
                  <a:solidFill>
                    <a:srgbClr val="9334E6"/>
                  </a:solidFill>
                  <a:effectLst>
                    <a:glow rad="76200">
                      <a:srgbClr val="9334E6">
                        <a:alpha val="8000"/>
                      </a:srgbClr>
                    </a:glow>
                  </a:effectLst>
                  <a:latin typeface="Segoe UI"/>
                  <a:ea typeface="Microsoft YaHei"/>
                  <a:cs typeface="Segoe UI"/>
                </a:rPr>
                <a:t>Correctness proof</a:t>
              </a:r>
            </a:p>
          </p:txBody>
        </p:sp>
      </p:grpSp>
      <p:grpSp>
        <p:nvGrpSpPr>
          <p:cNvPr id="86" name="Group 86"/>
          <p:cNvGrpSpPr/>
          <p:nvPr/>
        </p:nvGrpSpPr>
        <p:grpSpPr>
          <a:xfrm>
            <a:off x="561022" y="6572250"/>
            <a:ext cx="11069955" cy="269081"/>
            <a:chOff x="561022" y="6572250"/>
            <a:chExt cx="11069955" cy="269081"/>
          </a:xfrm>
        </p:grpSpPr>
        <p:sp>
          <p:nvSpPr>
            <p:cNvPr id="83" name="Rectangle 83"/>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84" name="TextBox 84"/>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85" name="TextBox 85"/>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03</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500"/>
                                        <p:tgtEl>
                                          <p:spTgt spid="59"/>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82"/>
                                        </p:tgtEl>
                                        <p:attrNameLst>
                                          <p:attrName>style.visibility</p:attrName>
                                        </p:attrNameLst>
                                      </p:cBhvr>
                                      <p:to>
                                        <p:strVal val="visible"/>
                                      </p:to>
                                    </p:set>
                                    <p:animEffect transition="in" filter="fade">
                                      <p:cBhvr>
                                        <p:cTn id="1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59" grpId="0"/>
      <p:bldP spid="8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6204942" cy="632936"/>
            <a:chOff x="571500" y="379095"/>
            <a:chExt cx="6204942" cy="632936"/>
          </a:xfrm>
        </p:grpSpPr>
        <p:sp>
          <p:nvSpPr>
            <p:cNvPr id="5" name="Rectangle 5"/>
            <p:cNvSpPr/>
            <p:nvPr/>
          </p:nvSpPr>
          <p:spPr>
            <a:xfrm>
              <a:off x="571500" y="381000"/>
              <a:ext cx="47625" cy="342900"/>
            </a:xfrm>
            <a:prstGeom prst="roundRect">
              <a:avLst>
                <a:gd name="adj" fmla="val 40000"/>
              </a:avLst>
            </a:prstGeom>
            <a:solidFill>
              <a:srgbClr val="4285F4"/>
            </a:solidFill>
            <a:ln>
              <a:noFill/>
            </a:ln>
          </p:spPr>
          <p:txBody>
            <a:bodyPr/>
            <a:lstStyle/>
            <a:p>
              <a:endParaRPr lang="zh-CN" altLang="en-US"/>
            </a:p>
          </p:txBody>
        </p:sp>
        <p:sp>
          <p:nvSpPr>
            <p:cNvPr id="6" name="TextBox 6"/>
            <p:cNvSpPr txBox="1"/>
            <p:nvPr/>
          </p:nvSpPr>
          <p:spPr>
            <a:xfrm>
              <a:off x="693420" y="379095"/>
              <a:ext cx="5158397"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Four-Phase Compiler Pipeline</a:t>
              </a:r>
            </a:p>
          </p:txBody>
        </p:sp>
        <p:sp>
          <p:nvSpPr>
            <p:cNvPr id="7" name="TextBox 7"/>
            <p:cNvSpPr txBox="1"/>
            <p:nvPr/>
          </p:nvSpPr>
          <p:spPr>
            <a:xfrm>
              <a:off x="709612" y="783431"/>
              <a:ext cx="6066830"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Each phase output is the next phase's input — sequential, typed, verifiable</a:t>
              </a:r>
            </a:p>
          </p:txBody>
        </p:sp>
      </p:grpSp>
      <p:grpSp>
        <p:nvGrpSpPr>
          <p:cNvPr id="11" name="Group 11"/>
          <p:cNvGrpSpPr/>
          <p:nvPr/>
        </p:nvGrpSpPr>
        <p:grpSpPr>
          <a:xfrm>
            <a:off x="120626" y="1381125"/>
            <a:ext cx="1422765" cy="4095750"/>
            <a:chOff x="120626" y="1381125"/>
            <a:chExt cx="1422765" cy="4095750"/>
          </a:xfrm>
        </p:grpSpPr>
        <p:sp>
          <p:nvSpPr>
            <p:cNvPr id="9" name="Rectangle 9"/>
            <p:cNvSpPr/>
            <p:nvPr/>
          </p:nvSpPr>
          <p:spPr>
            <a:xfrm>
              <a:off x="333375" y="1381125"/>
              <a:ext cx="1000125" cy="4095750"/>
            </a:xfrm>
            <a:prstGeom prst="roundRect">
              <a:avLst>
                <a:gd name="adj" fmla="val 7619"/>
              </a:avLst>
            </a:prstGeom>
            <a:solidFill>
              <a:srgbClr val="FFFFFF"/>
            </a:solidFill>
            <a:ln w="9525">
              <a:solidFill>
                <a:srgbClr val="DADCE0"/>
              </a:solidFill>
            </a:ln>
          </p:spPr>
          <p:txBody>
            <a:bodyPr/>
            <a:lstStyle/>
            <a:p>
              <a:endParaRPr lang="zh-CN" altLang="en-US"/>
            </a:p>
          </p:txBody>
        </p:sp>
        <p:sp>
          <p:nvSpPr>
            <p:cNvPr id="10" name="TextBox 10"/>
            <p:cNvSpPr txBox="1"/>
            <p:nvPr/>
          </p:nvSpPr>
          <p:spPr>
            <a:xfrm rot="-5400000">
              <a:off x="120626" y="3425190"/>
              <a:ext cx="1422765" cy="198120"/>
            </a:xfrm>
            <a:prstGeom prst="rect">
              <a:avLst/>
            </a:prstGeom>
            <a:noFill/>
            <a:ln>
              <a:noFill/>
            </a:ln>
          </p:spPr>
          <p:txBody>
            <a:bodyPr wrap="none" lIns="0" tIns="0" rIns="0" bIns="0" anchor="t" anchorCtr="0">
              <a:spAutoFit/>
            </a:bodyPr>
            <a:lstStyle/>
            <a:p>
              <a:pPr algn="ctr"/>
              <a:r>
                <a:rPr lang="zh-CN" sz="975" b="1" dirty="0">
                  <a:solidFill>
                    <a:srgbClr val="80868B"/>
                  </a:solidFill>
                  <a:latin typeface="Segoe UI"/>
                  <a:ea typeface="Microsoft YaHei"/>
                  <a:cs typeface="Segoe UI"/>
                </a:rPr>
                <a:t>SOURCE FILE (.txt)</a:t>
              </a:r>
            </a:p>
          </p:txBody>
        </p:sp>
      </p:grpSp>
      <p:sp>
        <p:nvSpPr>
          <p:cNvPr id="12" name="Line 12"/>
          <p:cNvSpPr/>
          <p:nvPr/>
        </p:nvSpPr>
        <p:spPr>
          <a:xfrm>
            <a:off x="1333500" y="3429000"/>
            <a:ext cx="266700" cy="1"/>
          </a:xfrm>
          <a:prstGeom prst="line">
            <a:avLst/>
          </a:prstGeom>
          <a:noFill/>
          <a:ln w="19050">
            <a:solidFill>
              <a:srgbClr val="DADCE0"/>
            </a:solidFill>
            <a:tailEnd type="triangle" w="lg" len="lg"/>
          </a:ln>
        </p:spPr>
        <p:txBody>
          <a:bodyPr/>
          <a:lstStyle/>
          <a:p>
            <a:endParaRPr lang="zh-CN" altLang="en-US"/>
          </a:p>
        </p:txBody>
      </p:sp>
      <p:grpSp>
        <p:nvGrpSpPr>
          <p:cNvPr id="36" name="Group 36"/>
          <p:cNvGrpSpPr/>
          <p:nvPr/>
        </p:nvGrpSpPr>
        <p:grpSpPr>
          <a:xfrm>
            <a:off x="1619250" y="1238250"/>
            <a:ext cx="2190750" cy="4381500"/>
            <a:chOff x="1619250" y="1238250"/>
            <a:chExt cx="2190750" cy="4381500"/>
          </a:xfrm>
        </p:grpSpPr>
        <p:sp>
          <p:nvSpPr>
            <p:cNvPr id="13" name="Rectangle 13"/>
            <p:cNvSpPr/>
            <p:nvPr/>
          </p:nvSpPr>
          <p:spPr>
            <a:xfrm>
              <a:off x="1619250" y="1238250"/>
              <a:ext cx="2190750" cy="4381500"/>
            </a:xfrm>
            <a:prstGeom prst="roundRect">
              <a:avLst>
                <a:gd name="adj" fmla="val 4348"/>
              </a:avLst>
            </a:prstGeom>
            <a:solidFill>
              <a:srgbClr val="FFFFFF"/>
            </a:solidFill>
            <a:ln w="14288">
              <a:solidFill>
                <a:srgbClr val="4285F4"/>
              </a:solidFill>
            </a:ln>
          </p:spPr>
          <p:txBody>
            <a:bodyPr/>
            <a:lstStyle/>
            <a:p>
              <a:endParaRPr lang="zh-CN" altLang="en-US"/>
            </a:p>
          </p:txBody>
        </p:sp>
        <p:sp>
          <p:nvSpPr>
            <p:cNvPr id="14" name="Freeform 14"/>
            <p:cNvSpPr/>
            <p:nvPr/>
          </p:nvSpPr>
          <p:spPr>
            <a:xfrm>
              <a:off x="1619250" y="1238250"/>
              <a:ext cx="2190750" cy="571500"/>
            </a:xfrm>
            <a:custGeom>
              <a:avLst/>
              <a:gdLst/>
              <a:ahLst/>
              <a:cxnLst/>
              <a:rect l="l" t="t" r="r" b="b"/>
              <a:pathLst>
                <a:path w="2190750" h="571500">
                  <a:moveTo>
                    <a:pt x="0" y="95250"/>
                  </a:moveTo>
                  <a:cubicBezTo>
                    <a:pt x="0" y="42645"/>
                    <a:pt x="42645" y="0"/>
                    <a:pt x="95250" y="0"/>
                  </a:cubicBezTo>
                  <a:lnTo>
                    <a:pt x="2095500" y="0"/>
                  </a:lnTo>
                  <a:cubicBezTo>
                    <a:pt x="2148105" y="0"/>
                    <a:pt x="2190750" y="42645"/>
                    <a:pt x="2190750" y="95250"/>
                  </a:cubicBezTo>
                  <a:lnTo>
                    <a:pt x="2190750" y="571500"/>
                  </a:lnTo>
                  <a:lnTo>
                    <a:pt x="0" y="571500"/>
                  </a:lnTo>
                  <a:close/>
                </a:path>
              </a:pathLst>
            </a:custGeom>
            <a:solidFill>
              <a:srgbClr val="4285F4"/>
            </a:solidFill>
            <a:ln>
              <a:noFill/>
            </a:ln>
          </p:spPr>
          <p:txBody>
            <a:bodyPr/>
            <a:lstStyle/>
            <a:p>
              <a:endParaRPr lang="zh-CN" altLang="en-US"/>
            </a:p>
          </p:txBody>
        </p:sp>
        <p:sp>
          <p:nvSpPr>
            <p:cNvPr id="15" name="Rectangle 15"/>
            <p:cNvSpPr/>
            <p:nvPr/>
          </p:nvSpPr>
          <p:spPr>
            <a:xfrm>
              <a:off x="1762125" y="1333500"/>
              <a:ext cx="323850" cy="323850"/>
            </a:xfrm>
            <a:prstGeom prst="roundRect">
              <a:avLst>
                <a:gd name="adj" fmla="val 17647"/>
              </a:avLst>
            </a:prstGeom>
            <a:solidFill>
              <a:srgbClr val="FFFFFF">
                <a:alpha val="30000"/>
              </a:srgbClr>
            </a:solidFill>
            <a:ln>
              <a:noFill/>
            </a:ln>
          </p:spPr>
          <p:txBody>
            <a:bodyPr/>
            <a:lstStyle/>
            <a:p>
              <a:endParaRPr lang="zh-CN" altLang="en-US"/>
            </a:p>
          </p:txBody>
        </p:sp>
        <p:sp>
          <p:nvSpPr>
            <p:cNvPr id="16" name="TextBox 16"/>
            <p:cNvSpPr txBox="1"/>
            <p:nvPr/>
          </p:nvSpPr>
          <p:spPr>
            <a:xfrm>
              <a:off x="1824760" y="1414939"/>
              <a:ext cx="198581" cy="259080"/>
            </a:xfrm>
            <a:prstGeom prst="rect">
              <a:avLst/>
            </a:prstGeom>
            <a:noFill/>
            <a:ln>
              <a:noFill/>
            </a:ln>
          </p:spPr>
          <p:txBody>
            <a:bodyPr wrap="none" lIns="0" tIns="0" rIns="0" bIns="0" anchor="t" anchorCtr="0">
              <a:spAutoFit/>
            </a:bodyPr>
            <a:lstStyle/>
            <a:p>
              <a:pPr algn="ctr"/>
              <a:r>
                <a:rPr lang="zh-CN" sz="1275" b="1" dirty="0">
                  <a:solidFill>
                    <a:srgbClr val="202124"/>
                  </a:solidFill>
                  <a:latin typeface="Segoe UI"/>
                  <a:ea typeface="Microsoft YaHei"/>
                  <a:cs typeface="Segoe UI"/>
                </a:rPr>
                <a:t>01</a:t>
              </a:r>
            </a:p>
          </p:txBody>
        </p:sp>
        <p:sp>
          <p:nvSpPr>
            <p:cNvPr id="17" name="TextBox 17"/>
            <p:cNvSpPr txBox="1"/>
            <p:nvPr/>
          </p:nvSpPr>
          <p:spPr>
            <a:xfrm>
              <a:off x="2172652" y="1351121"/>
              <a:ext cx="637145" cy="289560"/>
            </a:xfrm>
            <a:prstGeom prst="rect">
              <a:avLst/>
            </a:prstGeom>
            <a:noFill/>
            <a:ln>
              <a:noFill/>
            </a:ln>
          </p:spPr>
          <p:txBody>
            <a:bodyPr wrap="none" lIns="0" tIns="0" rIns="0" bIns="0" anchor="t" anchorCtr="0">
              <a:spAutoFit/>
            </a:bodyPr>
            <a:lstStyle/>
            <a:p>
              <a:pPr algn="l"/>
              <a:r>
                <a:rPr lang="zh-CN" sz="1425" b="1" dirty="0">
                  <a:solidFill>
                    <a:srgbClr val="202124"/>
                  </a:solidFill>
                  <a:latin typeface="Segoe UI"/>
                  <a:ea typeface="Microsoft YaHei"/>
                  <a:cs typeface="Segoe UI"/>
                </a:rPr>
                <a:t>Lexer</a:t>
              </a:r>
            </a:p>
          </p:txBody>
        </p:sp>
        <p:sp>
          <p:nvSpPr>
            <p:cNvPr id="18" name="Freeform 18"/>
            <p:cNvSpPr/>
            <p:nvPr/>
          </p:nvSpPr>
          <p:spPr>
            <a:xfrm>
              <a:off x="3376612" y="1395412"/>
              <a:ext cx="257180" cy="272185"/>
            </a:xfrm>
            <a:custGeom>
              <a:avLst/>
              <a:gdLst/>
              <a:ahLst/>
              <a:cxnLst/>
              <a:rect l="l" t="t" r="r" b="b"/>
              <a:pathLst>
                <a:path w="257180" h="272185">
                  <a:moveTo>
                    <a:pt x="242888" y="0"/>
                  </a:moveTo>
                  <a:lnTo>
                    <a:pt x="14288" y="0"/>
                  </a:lnTo>
                  <a:cubicBezTo>
                    <a:pt x="6397" y="0"/>
                    <a:pt x="0" y="6397"/>
                    <a:pt x="0" y="14288"/>
                  </a:cubicBezTo>
                  <a:lnTo>
                    <a:pt x="0" y="46106"/>
                  </a:lnTo>
                  <a:lnTo>
                    <a:pt x="114" y="49292"/>
                  </a:lnTo>
                  <a:cubicBezTo>
                    <a:pt x="826" y="58832"/>
                    <a:pt x="4709" y="67860"/>
                    <a:pt x="11144" y="74938"/>
                  </a:cubicBezTo>
                  <a:lnTo>
                    <a:pt x="71438" y="141246"/>
                  </a:lnTo>
                  <a:lnTo>
                    <a:pt x="71438" y="257175"/>
                  </a:lnTo>
                  <a:cubicBezTo>
                    <a:pt x="71436" y="261768"/>
                    <a:pt x="73643" y="266081"/>
                    <a:pt x="77368" y="268767"/>
                  </a:cubicBezTo>
                  <a:cubicBezTo>
                    <a:pt x="81093" y="271453"/>
                    <a:pt x="85883" y="272185"/>
                    <a:pt x="90240" y="270734"/>
                  </a:cubicBezTo>
                  <a:lnTo>
                    <a:pt x="175965" y="242159"/>
                  </a:lnTo>
                  <a:lnTo>
                    <a:pt x="177508" y="241544"/>
                  </a:lnTo>
                  <a:cubicBezTo>
                    <a:pt x="182531" y="239193"/>
                    <a:pt x="185739" y="234146"/>
                    <a:pt x="185738" y="228600"/>
                  </a:cubicBezTo>
                  <a:lnTo>
                    <a:pt x="185738" y="134503"/>
                  </a:lnTo>
                  <a:lnTo>
                    <a:pt x="244616" y="75638"/>
                  </a:lnTo>
                  <a:cubicBezTo>
                    <a:pt x="252662" y="67595"/>
                    <a:pt x="257180" y="56682"/>
                    <a:pt x="257175" y="45306"/>
                  </a:cubicBezTo>
                  <a:lnTo>
                    <a:pt x="257175" y="14288"/>
                  </a:lnTo>
                  <a:cubicBezTo>
                    <a:pt x="257175" y="6397"/>
                    <a:pt x="250778" y="0"/>
                    <a:pt x="242888" y="0"/>
                  </a:cubicBezTo>
                  <a:close/>
                </a:path>
              </a:pathLst>
            </a:custGeom>
            <a:solidFill>
              <a:srgbClr val="202124"/>
            </a:solidFill>
            <a:ln>
              <a:noFill/>
            </a:ln>
          </p:spPr>
          <p:txBody>
            <a:bodyPr/>
            <a:lstStyle/>
            <a:p>
              <a:endParaRPr lang="zh-CN" altLang="en-US"/>
            </a:p>
          </p:txBody>
        </p:sp>
        <p:sp>
          <p:nvSpPr>
            <p:cNvPr id="19" name="Rectangle 19"/>
            <p:cNvSpPr/>
            <p:nvPr/>
          </p:nvSpPr>
          <p:spPr>
            <a:xfrm>
              <a:off x="1619250" y="1809750"/>
              <a:ext cx="2190750" cy="304800"/>
            </a:xfrm>
            <a:prstGeom prst="rect">
              <a:avLst/>
            </a:prstGeom>
            <a:solidFill>
              <a:srgbClr val="4285F4">
                <a:alpha val="12000"/>
              </a:srgbClr>
            </a:solidFill>
            <a:ln>
              <a:noFill/>
            </a:ln>
          </p:spPr>
          <p:txBody>
            <a:bodyPr/>
            <a:lstStyle/>
            <a:p>
              <a:endParaRPr lang="zh-CN" altLang="en-US"/>
            </a:p>
          </p:txBody>
        </p:sp>
        <p:sp>
          <p:nvSpPr>
            <p:cNvPr id="20" name="TextBox 20"/>
            <p:cNvSpPr txBox="1"/>
            <p:nvPr/>
          </p:nvSpPr>
          <p:spPr>
            <a:xfrm>
              <a:off x="2282242" y="1912620"/>
              <a:ext cx="864765" cy="182880"/>
            </a:xfrm>
            <a:prstGeom prst="rect">
              <a:avLst/>
            </a:prstGeom>
            <a:noFill/>
            <a:ln>
              <a:noFill/>
            </a:ln>
          </p:spPr>
          <p:txBody>
            <a:bodyPr wrap="none" lIns="0" tIns="0" rIns="0" bIns="0" anchor="t" anchorCtr="0">
              <a:spAutoFit/>
            </a:bodyPr>
            <a:lstStyle/>
            <a:p>
              <a:pPr algn="ctr"/>
              <a:r>
                <a:rPr lang="zh-CN" sz="900" b="1" dirty="0">
                  <a:solidFill>
                    <a:srgbClr val="4285F4"/>
                  </a:solidFill>
                  <a:latin typeface="Segoe UI"/>
                  <a:ea typeface="Microsoft YaHei"/>
                  <a:cs typeface="Segoe UI"/>
                </a:rPr>
                <a:t>Tokenization</a:t>
              </a:r>
            </a:p>
          </p:txBody>
        </p:sp>
        <p:sp>
          <p:nvSpPr>
            <p:cNvPr id="21" name="Ellipse 21"/>
            <p:cNvSpPr/>
            <p:nvPr/>
          </p:nvSpPr>
          <p:spPr>
            <a:xfrm>
              <a:off x="1781175" y="2428875"/>
              <a:ext cx="57150" cy="57150"/>
            </a:xfrm>
            <a:prstGeom prst="ellipse">
              <a:avLst/>
            </a:prstGeom>
            <a:solidFill>
              <a:srgbClr val="4285F4"/>
            </a:solidFill>
            <a:ln>
              <a:noFill/>
            </a:ln>
          </p:spPr>
          <p:txBody>
            <a:bodyPr/>
            <a:lstStyle/>
            <a:p>
              <a:endParaRPr lang="zh-CN" altLang="en-US"/>
            </a:p>
          </p:txBody>
        </p:sp>
        <p:sp>
          <p:nvSpPr>
            <p:cNvPr id="22" name="TextBox 22"/>
            <p:cNvSpPr txBox="1"/>
            <p:nvPr/>
          </p:nvSpPr>
          <p:spPr>
            <a:xfrm>
              <a:off x="1910715" y="2391728"/>
              <a:ext cx="1422178"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Buffer-based scan</a:t>
              </a:r>
            </a:p>
          </p:txBody>
        </p:sp>
        <p:sp>
          <p:nvSpPr>
            <p:cNvPr id="23" name="TextBox 23"/>
            <p:cNvSpPr txBox="1"/>
            <p:nvPr/>
          </p:nvSpPr>
          <p:spPr>
            <a:xfrm>
              <a:off x="1912620" y="2569845"/>
              <a:ext cx="15870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Handles attached parens</a:t>
              </a:r>
            </a:p>
          </p:txBody>
        </p:sp>
        <p:sp>
          <p:nvSpPr>
            <p:cNvPr id="24" name="Ellipse 24"/>
            <p:cNvSpPr/>
            <p:nvPr/>
          </p:nvSpPr>
          <p:spPr>
            <a:xfrm>
              <a:off x="1781175" y="2886075"/>
              <a:ext cx="57150" cy="57150"/>
            </a:xfrm>
            <a:prstGeom prst="ellipse">
              <a:avLst/>
            </a:prstGeom>
            <a:solidFill>
              <a:srgbClr val="4285F4"/>
            </a:solidFill>
            <a:ln>
              <a:noFill/>
            </a:ln>
          </p:spPr>
          <p:txBody>
            <a:bodyPr/>
            <a:lstStyle/>
            <a:p>
              <a:endParaRPr lang="zh-CN" altLang="en-US"/>
            </a:p>
          </p:txBody>
        </p:sp>
        <p:sp>
          <p:nvSpPr>
            <p:cNvPr id="25" name="TextBox 25"/>
            <p:cNvSpPr txBox="1"/>
            <p:nvPr/>
          </p:nvSpPr>
          <p:spPr>
            <a:xfrm>
              <a:off x="1910715" y="2848928"/>
              <a:ext cx="1192149"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TOKEN_MAP dict</a:t>
              </a:r>
            </a:p>
          </p:txBody>
        </p:sp>
        <p:sp>
          <p:nvSpPr>
            <p:cNvPr id="26" name="TextBox 26"/>
            <p:cNvSpPr txBox="1"/>
            <p:nvPr/>
          </p:nvSpPr>
          <p:spPr>
            <a:xfrm>
              <a:off x="1912620" y="3027045"/>
              <a:ext cx="117957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13 reserved words</a:t>
              </a:r>
            </a:p>
          </p:txBody>
        </p:sp>
        <p:sp>
          <p:nvSpPr>
            <p:cNvPr id="27" name="Ellipse 27"/>
            <p:cNvSpPr/>
            <p:nvPr/>
          </p:nvSpPr>
          <p:spPr>
            <a:xfrm>
              <a:off x="1781175" y="3343275"/>
              <a:ext cx="57150" cy="57150"/>
            </a:xfrm>
            <a:prstGeom prst="ellipse">
              <a:avLst/>
            </a:prstGeom>
            <a:solidFill>
              <a:srgbClr val="4285F4"/>
            </a:solidFill>
            <a:ln>
              <a:noFill/>
            </a:ln>
          </p:spPr>
          <p:txBody>
            <a:bodyPr/>
            <a:lstStyle/>
            <a:p>
              <a:endParaRPr lang="zh-CN" altLang="en-US"/>
            </a:p>
          </p:txBody>
        </p:sp>
        <p:sp>
          <p:nvSpPr>
            <p:cNvPr id="28" name="TextBox 28"/>
            <p:cNvSpPr txBox="1"/>
            <p:nvPr/>
          </p:nvSpPr>
          <p:spPr>
            <a:xfrm>
              <a:off x="1910715" y="3306128"/>
              <a:ext cx="969788"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Variable rule</a:t>
              </a:r>
            </a:p>
          </p:txBody>
        </p:sp>
        <p:sp>
          <p:nvSpPr>
            <p:cNvPr id="29" name="TextBox 29"/>
            <p:cNvSpPr txBox="1"/>
            <p:nvPr/>
          </p:nvSpPr>
          <p:spPr>
            <a:xfrm>
              <a:off x="1912620" y="3484245"/>
              <a:ext cx="151476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Single lowercase letter</a:t>
              </a:r>
            </a:p>
          </p:txBody>
        </p:sp>
        <p:sp>
          <p:nvSpPr>
            <p:cNvPr id="30" name="Rectangle 30"/>
            <p:cNvSpPr/>
            <p:nvPr/>
          </p:nvSpPr>
          <p:spPr>
            <a:xfrm>
              <a:off x="1619250" y="4210050"/>
              <a:ext cx="2190750" cy="9525"/>
            </a:xfrm>
            <a:prstGeom prst="rect">
              <a:avLst/>
            </a:prstGeom>
            <a:solidFill>
              <a:srgbClr val="DADCE0"/>
            </a:solidFill>
            <a:ln>
              <a:noFill/>
            </a:ln>
          </p:spPr>
          <p:txBody>
            <a:bodyPr/>
            <a:lstStyle/>
            <a:p>
              <a:endParaRPr lang="zh-CN" altLang="en-US"/>
            </a:p>
          </p:txBody>
        </p:sp>
        <p:sp>
          <p:nvSpPr>
            <p:cNvPr id="31" name="Rectangle 31"/>
            <p:cNvSpPr/>
            <p:nvPr/>
          </p:nvSpPr>
          <p:spPr>
            <a:xfrm>
              <a:off x="1790700" y="4343400"/>
              <a:ext cx="1847850" cy="1047750"/>
            </a:xfrm>
            <a:prstGeom prst="roundRect">
              <a:avLst>
                <a:gd name="adj" fmla="val 5455"/>
              </a:avLst>
            </a:prstGeom>
            <a:solidFill>
              <a:srgbClr val="F8F9FA"/>
            </a:solidFill>
            <a:ln>
              <a:noFill/>
            </a:ln>
          </p:spPr>
          <p:txBody>
            <a:bodyPr/>
            <a:lstStyle/>
            <a:p>
              <a:endParaRPr lang="zh-CN" altLang="en-US"/>
            </a:p>
          </p:txBody>
        </p:sp>
        <p:sp>
          <p:nvSpPr>
            <p:cNvPr id="32" name="TextBox 32"/>
            <p:cNvSpPr txBox="1"/>
            <p:nvPr/>
          </p:nvSpPr>
          <p:spPr>
            <a:xfrm>
              <a:off x="2482745" y="4435316"/>
              <a:ext cx="463760" cy="167640"/>
            </a:xfrm>
            <a:prstGeom prst="rect">
              <a:avLst/>
            </a:prstGeom>
            <a:noFill/>
            <a:ln>
              <a:noFill/>
            </a:ln>
          </p:spPr>
          <p:txBody>
            <a:bodyPr wrap="none" lIns="0" tIns="0" rIns="0" bIns="0" anchor="t" anchorCtr="0">
              <a:spAutoFit/>
            </a:bodyPr>
            <a:lstStyle/>
            <a:p>
              <a:pPr algn="ctr"/>
              <a:r>
                <a:rPr lang="zh-CN" sz="825" b="1" dirty="0">
                  <a:solidFill>
                    <a:srgbClr val="5F6368"/>
                  </a:solidFill>
                  <a:latin typeface="Segoe UI"/>
                  <a:ea typeface="Microsoft YaHei"/>
                  <a:cs typeface="Segoe UI"/>
                </a:rPr>
                <a:t>OUTPUT</a:t>
              </a:r>
            </a:p>
          </p:txBody>
        </p:sp>
        <p:sp>
          <p:nvSpPr>
            <p:cNvPr id="33" name="TextBox 33"/>
            <p:cNvSpPr txBox="1"/>
            <p:nvPr/>
          </p:nvSpPr>
          <p:spPr>
            <a:xfrm>
              <a:off x="2137982" y="4665345"/>
              <a:ext cx="1153287" cy="182880"/>
            </a:xfrm>
            <a:prstGeom prst="rect">
              <a:avLst/>
            </a:prstGeom>
            <a:noFill/>
            <a:ln>
              <a:noFill/>
            </a:ln>
          </p:spPr>
          <p:txBody>
            <a:bodyPr wrap="none" lIns="0" tIns="0" rIns="0" bIns="0" anchor="t" anchorCtr="0">
              <a:spAutoFit/>
            </a:bodyPr>
            <a:lstStyle/>
            <a:p>
              <a:pPr algn="ctr"/>
              <a:r>
                <a:rPr lang="zh-CN" sz="900" dirty="0">
                  <a:solidFill>
                    <a:srgbClr val="4285F4"/>
                  </a:solidFill>
                  <a:latin typeface="Consolas"/>
                  <a:ea typeface="Microsoft YaHei"/>
                  <a:cs typeface="Consolas"/>
                </a:rPr>
                <a:t>[{line, token[]}]</a:t>
              </a:r>
            </a:p>
          </p:txBody>
        </p:sp>
        <p:sp>
          <p:nvSpPr>
            <p:cNvPr id="34" name="TextBox 34"/>
            <p:cNvSpPr txBox="1"/>
            <p:nvPr/>
          </p:nvSpPr>
          <p:spPr>
            <a:xfrm>
              <a:off x="1875472" y="4882991"/>
              <a:ext cx="1081278"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LET VAR_P EQ TRUE</a:t>
              </a:r>
            </a:p>
          </p:txBody>
        </p:sp>
        <p:sp>
          <p:nvSpPr>
            <p:cNvPr id="35" name="TextBox 35"/>
            <p:cNvSpPr txBox="1"/>
            <p:nvPr/>
          </p:nvSpPr>
          <p:spPr>
            <a:xfrm>
              <a:off x="1875472" y="5054441"/>
              <a:ext cx="1171646"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LET VAR_Q EQ FALSE</a:t>
              </a:r>
            </a:p>
          </p:txBody>
        </p:sp>
      </p:grpSp>
      <p:grpSp>
        <p:nvGrpSpPr>
          <p:cNvPr id="38" name="Group 38"/>
          <p:cNvGrpSpPr/>
          <p:nvPr/>
        </p:nvGrpSpPr>
        <p:grpSpPr>
          <a:xfrm>
            <a:off x="3810000" y="3429000"/>
            <a:ext cx="285750" cy="9525"/>
            <a:chOff x="3810000" y="3429000"/>
            <a:chExt cx="285750" cy="9525"/>
          </a:xfrm>
        </p:grpSpPr>
        <p:sp>
          <p:nvSpPr>
            <p:cNvPr id="37" name="Freeform 37"/>
            <p:cNvSpPr/>
            <p:nvPr/>
          </p:nvSpPr>
          <p:spPr>
            <a:xfrm>
              <a:off x="3810000" y="3429000"/>
              <a:ext cx="285750" cy="9525"/>
            </a:xfrm>
            <a:custGeom>
              <a:avLst/>
              <a:gdLst/>
              <a:ahLst/>
              <a:cxnLst/>
              <a:rect l="l" t="t" r="r" b="b"/>
              <a:pathLst>
                <a:path w="285750" h="9525">
                  <a:moveTo>
                    <a:pt x="0" y="0"/>
                  </a:moveTo>
                  <a:lnTo>
                    <a:pt x="285750" y="0"/>
                  </a:lnTo>
                </a:path>
              </a:pathLst>
            </a:custGeom>
            <a:solidFill>
              <a:srgbClr val="000000"/>
            </a:solidFill>
            <a:ln w="19050">
              <a:solidFill>
                <a:srgbClr val="4285F4">
                  <a:alpha val="60000"/>
                </a:srgbClr>
              </a:solidFill>
              <a:tailEnd type="triangle" w="lg" len="lg"/>
            </a:ln>
          </p:spPr>
          <p:txBody>
            <a:bodyPr/>
            <a:lstStyle/>
            <a:p>
              <a:endParaRPr lang="zh-CN" altLang="en-US"/>
            </a:p>
          </p:txBody>
        </p:sp>
      </p:grpSp>
      <p:grpSp>
        <p:nvGrpSpPr>
          <p:cNvPr id="66" name="Group 66"/>
          <p:cNvGrpSpPr/>
          <p:nvPr/>
        </p:nvGrpSpPr>
        <p:grpSpPr>
          <a:xfrm>
            <a:off x="4114800" y="1238250"/>
            <a:ext cx="2190750" cy="4381500"/>
            <a:chOff x="4114800" y="1238250"/>
            <a:chExt cx="2190750" cy="4381500"/>
          </a:xfrm>
        </p:grpSpPr>
        <p:sp>
          <p:nvSpPr>
            <p:cNvPr id="39" name="Rectangle 39"/>
            <p:cNvSpPr/>
            <p:nvPr/>
          </p:nvSpPr>
          <p:spPr>
            <a:xfrm>
              <a:off x="4114800" y="1238250"/>
              <a:ext cx="2190750" cy="4381500"/>
            </a:xfrm>
            <a:prstGeom prst="roundRect">
              <a:avLst>
                <a:gd name="adj" fmla="val 4348"/>
              </a:avLst>
            </a:prstGeom>
            <a:solidFill>
              <a:srgbClr val="FFFFFF"/>
            </a:solidFill>
            <a:ln w="14288">
              <a:solidFill>
                <a:srgbClr val="34A853"/>
              </a:solidFill>
            </a:ln>
          </p:spPr>
          <p:txBody>
            <a:bodyPr/>
            <a:lstStyle/>
            <a:p>
              <a:endParaRPr lang="zh-CN" altLang="en-US"/>
            </a:p>
          </p:txBody>
        </p:sp>
        <p:sp>
          <p:nvSpPr>
            <p:cNvPr id="40" name="Freeform 40"/>
            <p:cNvSpPr/>
            <p:nvPr/>
          </p:nvSpPr>
          <p:spPr>
            <a:xfrm>
              <a:off x="4114800" y="1238250"/>
              <a:ext cx="2190750" cy="571500"/>
            </a:xfrm>
            <a:custGeom>
              <a:avLst/>
              <a:gdLst/>
              <a:ahLst/>
              <a:cxnLst/>
              <a:rect l="l" t="t" r="r" b="b"/>
              <a:pathLst>
                <a:path w="2190750" h="571500">
                  <a:moveTo>
                    <a:pt x="0" y="95250"/>
                  </a:moveTo>
                  <a:cubicBezTo>
                    <a:pt x="0" y="42645"/>
                    <a:pt x="42645" y="0"/>
                    <a:pt x="95250" y="0"/>
                  </a:cubicBezTo>
                  <a:lnTo>
                    <a:pt x="2095500" y="0"/>
                  </a:lnTo>
                  <a:cubicBezTo>
                    <a:pt x="2148105" y="0"/>
                    <a:pt x="2190750" y="42645"/>
                    <a:pt x="2190750" y="95250"/>
                  </a:cubicBezTo>
                  <a:lnTo>
                    <a:pt x="2190750" y="571500"/>
                  </a:lnTo>
                  <a:lnTo>
                    <a:pt x="0" y="571500"/>
                  </a:lnTo>
                  <a:close/>
                </a:path>
              </a:pathLst>
            </a:custGeom>
            <a:solidFill>
              <a:srgbClr val="34A853"/>
            </a:solidFill>
            <a:ln>
              <a:noFill/>
            </a:ln>
          </p:spPr>
          <p:txBody>
            <a:bodyPr/>
            <a:lstStyle/>
            <a:p>
              <a:endParaRPr lang="zh-CN" altLang="en-US"/>
            </a:p>
          </p:txBody>
        </p:sp>
        <p:sp>
          <p:nvSpPr>
            <p:cNvPr id="41" name="Rectangle 41"/>
            <p:cNvSpPr/>
            <p:nvPr/>
          </p:nvSpPr>
          <p:spPr>
            <a:xfrm>
              <a:off x="4257675" y="1333500"/>
              <a:ext cx="323850" cy="323850"/>
            </a:xfrm>
            <a:prstGeom prst="roundRect">
              <a:avLst>
                <a:gd name="adj" fmla="val 17647"/>
              </a:avLst>
            </a:prstGeom>
            <a:solidFill>
              <a:srgbClr val="FFFFFF">
                <a:alpha val="30000"/>
              </a:srgbClr>
            </a:solidFill>
            <a:ln>
              <a:noFill/>
            </a:ln>
          </p:spPr>
          <p:txBody>
            <a:bodyPr/>
            <a:lstStyle/>
            <a:p>
              <a:endParaRPr lang="zh-CN" altLang="en-US"/>
            </a:p>
          </p:txBody>
        </p:sp>
        <p:sp>
          <p:nvSpPr>
            <p:cNvPr id="42" name="TextBox 42"/>
            <p:cNvSpPr txBox="1"/>
            <p:nvPr/>
          </p:nvSpPr>
          <p:spPr>
            <a:xfrm>
              <a:off x="4295869" y="1414939"/>
              <a:ext cx="247462" cy="259080"/>
            </a:xfrm>
            <a:prstGeom prst="rect">
              <a:avLst/>
            </a:prstGeom>
            <a:noFill/>
            <a:ln>
              <a:noFill/>
            </a:ln>
          </p:spPr>
          <p:txBody>
            <a:bodyPr wrap="none" lIns="0" tIns="0" rIns="0" bIns="0" anchor="t" anchorCtr="0">
              <a:spAutoFit/>
            </a:bodyPr>
            <a:lstStyle/>
            <a:p>
              <a:pPr algn="ctr"/>
              <a:r>
                <a:rPr lang="zh-CN" sz="1275" b="1" dirty="0">
                  <a:solidFill>
                    <a:srgbClr val="202124"/>
                  </a:solidFill>
                  <a:latin typeface="Segoe UI"/>
                  <a:ea typeface="Microsoft YaHei"/>
                  <a:cs typeface="Segoe UI"/>
                </a:rPr>
                <a:t>02</a:t>
              </a:r>
            </a:p>
          </p:txBody>
        </p:sp>
        <p:sp>
          <p:nvSpPr>
            <p:cNvPr id="43" name="TextBox 43"/>
            <p:cNvSpPr txBox="1"/>
            <p:nvPr/>
          </p:nvSpPr>
          <p:spPr>
            <a:xfrm>
              <a:off x="4668202" y="1351121"/>
              <a:ext cx="757335" cy="289560"/>
            </a:xfrm>
            <a:prstGeom prst="rect">
              <a:avLst/>
            </a:prstGeom>
            <a:noFill/>
            <a:ln>
              <a:noFill/>
            </a:ln>
          </p:spPr>
          <p:txBody>
            <a:bodyPr wrap="none" lIns="0" tIns="0" rIns="0" bIns="0" anchor="t" anchorCtr="0">
              <a:spAutoFit/>
            </a:bodyPr>
            <a:lstStyle/>
            <a:p>
              <a:pPr algn="l"/>
              <a:r>
                <a:rPr lang="zh-CN" sz="1425" b="1" dirty="0">
                  <a:solidFill>
                    <a:srgbClr val="202124"/>
                  </a:solidFill>
                  <a:latin typeface="Segoe UI"/>
                  <a:ea typeface="Microsoft YaHei"/>
                  <a:cs typeface="Segoe UI"/>
                </a:rPr>
                <a:t>Parser</a:t>
              </a:r>
            </a:p>
          </p:txBody>
        </p:sp>
        <p:grpSp>
          <p:nvGrpSpPr>
            <p:cNvPr id="48" name="Group 48"/>
            <p:cNvGrpSpPr/>
            <p:nvPr/>
          </p:nvGrpSpPr>
          <p:grpSpPr>
            <a:xfrm>
              <a:off x="5857875" y="1379734"/>
              <a:ext cx="286262" cy="288534"/>
              <a:chOff x="5857875" y="1379734"/>
              <a:chExt cx="286262" cy="288534"/>
            </a:xfrm>
          </p:grpSpPr>
          <p:sp>
            <p:nvSpPr>
              <p:cNvPr id="44" name="Freeform 44"/>
              <p:cNvSpPr/>
              <p:nvPr/>
            </p:nvSpPr>
            <p:spPr>
              <a:xfrm>
                <a:off x="6029325" y="155257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202124"/>
              </a:solidFill>
              <a:ln>
                <a:noFill/>
              </a:ln>
            </p:spPr>
            <p:txBody>
              <a:bodyPr/>
              <a:lstStyle/>
              <a:p>
                <a:endParaRPr lang="zh-CN" altLang="en-US"/>
              </a:p>
            </p:txBody>
          </p:sp>
          <p:sp>
            <p:nvSpPr>
              <p:cNvPr id="45" name="Freeform 45"/>
              <p:cNvSpPr/>
              <p:nvPr/>
            </p:nvSpPr>
            <p:spPr>
              <a:xfrm>
                <a:off x="6000127" y="1379734"/>
                <a:ext cx="143498" cy="144669"/>
              </a:xfrm>
              <a:custGeom>
                <a:avLst/>
                <a:gdLst/>
                <a:ahLst/>
                <a:cxnLst/>
                <a:rect l="l" t="t" r="r" b="b"/>
                <a:pathLst>
                  <a:path w="143498" h="144669">
                    <a:moveTo>
                      <a:pt x="67874" y="5578"/>
                    </a:moveTo>
                    <a:cubicBezTo>
                      <a:pt x="72964" y="10668"/>
                      <a:pt x="73472" y="18749"/>
                      <a:pt x="69060" y="24437"/>
                    </a:cubicBezTo>
                    <a:lnTo>
                      <a:pt x="67874" y="25780"/>
                    </a:lnTo>
                    <a:lnTo>
                      <a:pt x="49400" y="44254"/>
                    </a:lnTo>
                    <a:lnTo>
                      <a:pt x="100635" y="44254"/>
                    </a:lnTo>
                    <a:cubicBezTo>
                      <a:pt x="123332" y="44253"/>
                      <a:pt x="142095" y="61944"/>
                      <a:pt x="143426" y="84602"/>
                    </a:cubicBezTo>
                    <a:lnTo>
                      <a:pt x="143498" y="87116"/>
                    </a:lnTo>
                    <a:lnTo>
                      <a:pt x="143498" y="129979"/>
                    </a:lnTo>
                    <a:cubicBezTo>
                      <a:pt x="143489" y="137538"/>
                      <a:pt x="137594" y="143783"/>
                      <a:pt x="130047" y="144226"/>
                    </a:cubicBezTo>
                    <a:cubicBezTo>
                      <a:pt x="122501" y="144669"/>
                      <a:pt x="115916" y="139157"/>
                      <a:pt x="115023" y="131650"/>
                    </a:cubicBezTo>
                    <a:lnTo>
                      <a:pt x="114923" y="129979"/>
                    </a:lnTo>
                    <a:lnTo>
                      <a:pt x="114923" y="87116"/>
                    </a:lnTo>
                    <a:cubicBezTo>
                      <a:pt x="114922" y="79873"/>
                      <a:pt x="109500" y="73776"/>
                      <a:pt x="102307" y="72929"/>
                    </a:cubicBezTo>
                    <a:lnTo>
                      <a:pt x="100635" y="72829"/>
                    </a:lnTo>
                    <a:lnTo>
                      <a:pt x="49414" y="72829"/>
                    </a:lnTo>
                    <a:lnTo>
                      <a:pt x="67874" y="91303"/>
                    </a:lnTo>
                    <a:cubicBezTo>
                      <a:pt x="73192" y="96639"/>
                      <a:pt x="73453" y="105187"/>
                      <a:pt x="68470" y="110838"/>
                    </a:cubicBezTo>
                    <a:cubicBezTo>
                      <a:pt x="63488" y="116488"/>
                      <a:pt x="54974" y="117299"/>
                      <a:pt x="49014" y="112691"/>
                    </a:cubicBezTo>
                    <a:lnTo>
                      <a:pt x="47671" y="111505"/>
                    </a:lnTo>
                    <a:lnTo>
                      <a:pt x="4809" y="68643"/>
                    </a:lnTo>
                    <a:cubicBezTo>
                      <a:pt x="1498" y="65407"/>
                      <a:pt x="0" y="60743"/>
                      <a:pt x="808" y="56184"/>
                    </a:cubicBezTo>
                    <a:lnTo>
                      <a:pt x="1323" y="54098"/>
                    </a:lnTo>
                    <a:lnTo>
                      <a:pt x="1894" y="52612"/>
                    </a:lnTo>
                    <a:cubicBezTo>
                      <a:pt x="2723" y="50812"/>
                      <a:pt x="3895" y="49183"/>
                      <a:pt x="5395" y="47840"/>
                    </a:cubicBezTo>
                    <a:lnTo>
                      <a:pt x="47671" y="5578"/>
                    </a:lnTo>
                    <a:cubicBezTo>
                      <a:pt x="53251" y="0"/>
                      <a:pt x="62295" y="0"/>
                      <a:pt x="67874" y="5578"/>
                    </a:cubicBezTo>
                    <a:close/>
                  </a:path>
                </a:pathLst>
              </a:custGeom>
              <a:solidFill>
                <a:srgbClr val="202124"/>
              </a:solidFill>
              <a:ln>
                <a:noFill/>
              </a:ln>
            </p:spPr>
            <p:txBody>
              <a:bodyPr/>
              <a:lstStyle/>
              <a:p>
                <a:endParaRPr lang="zh-CN" altLang="en-US"/>
              </a:p>
            </p:txBody>
          </p:sp>
          <p:sp>
            <p:nvSpPr>
              <p:cNvPr id="46" name="Freeform 46"/>
              <p:cNvSpPr/>
              <p:nvPr/>
            </p:nvSpPr>
            <p:spPr>
              <a:xfrm>
                <a:off x="5857875" y="1524000"/>
                <a:ext cx="143498" cy="144268"/>
              </a:xfrm>
              <a:custGeom>
                <a:avLst/>
                <a:gdLst/>
                <a:ahLst/>
                <a:cxnLst/>
                <a:rect l="l" t="t" r="r" b="b"/>
                <a:pathLst>
                  <a:path w="143498" h="144268">
                    <a:moveTo>
                      <a:pt x="14288" y="0"/>
                    </a:moveTo>
                    <a:cubicBezTo>
                      <a:pt x="21531" y="1"/>
                      <a:pt x="27628" y="5422"/>
                      <a:pt x="28475" y="12616"/>
                    </a:cubicBezTo>
                    <a:lnTo>
                      <a:pt x="28575" y="14288"/>
                    </a:lnTo>
                    <a:lnTo>
                      <a:pt x="28575" y="57150"/>
                    </a:lnTo>
                    <a:cubicBezTo>
                      <a:pt x="28576" y="64393"/>
                      <a:pt x="33997" y="70490"/>
                      <a:pt x="41191" y="71337"/>
                    </a:cubicBezTo>
                    <a:lnTo>
                      <a:pt x="42862" y="71438"/>
                    </a:lnTo>
                    <a:lnTo>
                      <a:pt x="94083" y="71438"/>
                    </a:lnTo>
                    <a:lnTo>
                      <a:pt x="75624" y="52964"/>
                    </a:lnTo>
                    <a:cubicBezTo>
                      <a:pt x="70534" y="47874"/>
                      <a:pt x="70026" y="39792"/>
                      <a:pt x="74438" y="34104"/>
                    </a:cubicBezTo>
                    <a:lnTo>
                      <a:pt x="75624" y="32761"/>
                    </a:lnTo>
                    <a:cubicBezTo>
                      <a:pt x="80714" y="27672"/>
                      <a:pt x="88796" y="27163"/>
                      <a:pt x="94483" y="31575"/>
                    </a:cubicBezTo>
                    <a:lnTo>
                      <a:pt x="95826" y="32761"/>
                    </a:lnTo>
                    <a:lnTo>
                      <a:pt x="138689" y="75624"/>
                    </a:lnTo>
                    <a:cubicBezTo>
                      <a:pt x="142000" y="78860"/>
                      <a:pt x="143498" y="83524"/>
                      <a:pt x="142689" y="88082"/>
                    </a:cubicBezTo>
                    <a:lnTo>
                      <a:pt x="142175" y="90168"/>
                    </a:lnTo>
                    <a:lnTo>
                      <a:pt x="141603" y="91654"/>
                    </a:lnTo>
                    <a:cubicBezTo>
                      <a:pt x="140775" y="93468"/>
                      <a:pt x="139584" y="95092"/>
                      <a:pt x="138103" y="96426"/>
                    </a:cubicBezTo>
                    <a:lnTo>
                      <a:pt x="95826" y="138689"/>
                    </a:lnTo>
                    <a:cubicBezTo>
                      <a:pt x="90490" y="144007"/>
                      <a:pt x="81942" y="144268"/>
                      <a:pt x="76291" y="139285"/>
                    </a:cubicBezTo>
                    <a:cubicBezTo>
                      <a:pt x="70641" y="134303"/>
                      <a:pt x="69830" y="125789"/>
                      <a:pt x="74438" y="119829"/>
                    </a:cubicBezTo>
                    <a:lnTo>
                      <a:pt x="75624" y="118486"/>
                    </a:lnTo>
                    <a:lnTo>
                      <a:pt x="94069" y="100012"/>
                    </a:lnTo>
                    <a:lnTo>
                      <a:pt x="42862" y="100012"/>
                    </a:lnTo>
                    <a:cubicBezTo>
                      <a:pt x="20166" y="100014"/>
                      <a:pt x="1403" y="82322"/>
                      <a:pt x="71" y="59665"/>
                    </a:cubicBezTo>
                    <a:lnTo>
                      <a:pt x="0" y="57150"/>
                    </a:lnTo>
                    <a:lnTo>
                      <a:pt x="0" y="14288"/>
                    </a:lnTo>
                    <a:cubicBezTo>
                      <a:pt x="0" y="6397"/>
                      <a:pt x="6397" y="0"/>
                      <a:pt x="14288" y="0"/>
                    </a:cubicBezTo>
                    <a:close/>
                  </a:path>
                </a:pathLst>
              </a:custGeom>
              <a:solidFill>
                <a:srgbClr val="202124"/>
              </a:solidFill>
              <a:ln>
                <a:noFill/>
              </a:ln>
            </p:spPr>
            <p:txBody>
              <a:bodyPr/>
              <a:lstStyle/>
              <a:p>
                <a:endParaRPr lang="zh-CN" altLang="en-US"/>
              </a:p>
            </p:txBody>
          </p:sp>
          <p:sp>
            <p:nvSpPr>
              <p:cNvPr id="47" name="Freeform 47"/>
              <p:cNvSpPr/>
              <p:nvPr/>
            </p:nvSpPr>
            <p:spPr>
              <a:xfrm>
                <a:off x="5857875" y="138112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202124"/>
              </a:solidFill>
              <a:ln>
                <a:noFill/>
              </a:ln>
            </p:spPr>
            <p:txBody>
              <a:bodyPr/>
              <a:lstStyle/>
              <a:p>
                <a:endParaRPr lang="zh-CN" altLang="en-US"/>
              </a:p>
            </p:txBody>
          </p:sp>
        </p:grpSp>
        <p:sp>
          <p:nvSpPr>
            <p:cNvPr id="49" name="Rectangle 49"/>
            <p:cNvSpPr/>
            <p:nvPr/>
          </p:nvSpPr>
          <p:spPr>
            <a:xfrm>
              <a:off x="4114800" y="1809750"/>
              <a:ext cx="2190750" cy="304800"/>
            </a:xfrm>
            <a:prstGeom prst="rect">
              <a:avLst/>
            </a:prstGeom>
            <a:solidFill>
              <a:srgbClr val="34A853">
                <a:alpha val="12000"/>
              </a:srgbClr>
            </a:solidFill>
            <a:ln>
              <a:noFill/>
            </a:ln>
          </p:spPr>
          <p:txBody>
            <a:bodyPr/>
            <a:lstStyle/>
            <a:p>
              <a:endParaRPr lang="zh-CN" altLang="en-US"/>
            </a:p>
          </p:txBody>
        </p:sp>
        <p:sp>
          <p:nvSpPr>
            <p:cNvPr id="50" name="TextBox 50"/>
            <p:cNvSpPr txBox="1"/>
            <p:nvPr/>
          </p:nvSpPr>
          <p:spPr>
            <a:xfrm>
              <a:off x="4701883" y="1912620"/>
              <a:ext cx="1016584" cy="182880"/>
            </a:xfrm>
            <a:prstGeom prst="rect">
              <a:avLst/>
            </a:prstGeom>
            <a:noFill/>
            <a:ln>
              <a:noFill/>
            </a:ln>
          </p:spPr>
          <p:txBody>
            <a:bodyPr wrap="none" lIns="0" tIns="0" rIns="0" bIns="0" anchor="t" anchorCtr="0">
              <a:spAutoFit/>
            </a:bodyPr>
            <a:lstStyle/>
            <a:p>
              <a:pPr algn="ctr"/>
              <a:r>
                <a:rPr lang="zh-CN" sz="900" b="1" dirty="0">
                  <a:solidFill>
                    <a:srgbClr val="34A853"/>
                  </a:solidFill>
                  <a:latin typeface="Segoe UI"/>
                  <a:ea typeface="Microsoft YaHei"/>
                  <a:cs typeface="Segoe UI"/>
                </a:rPr>
                <a:t>AST Generation</a:t>
              </a:r>
            </a:p>
          </p:txBody>
        </p:sp>
        <p:sp>
          <p:nvSpPr>
            <p:cNvPr id="51" name="Ellipse 51"/>
            <p:cNvSpPr/>
            <p:nvPr/>
          </p:nvSpPr>
          <p:spPr>
            <a:xfrm>
              <a:off x="4276725" y="2428875"/>
              <a:ext cx="57150" cy="57150"/>
            </a:xfrm>
            <a:prstGeom prst="ellipse">
              <a:avLst/>
            </a:prstGeom>
            <a:solidFill>
              <a:srgbClr val="34A853"/>
            </a:solidFill>
            <a:ln>
              <a:noFill/>
            </a:ln>
          </p:spPr>
          <p:txBody>
            <a:bodyPr/>
            <a:lstStyle/>
            <a:p>
              <a:endParaRPr lang="zh-CN" altLang="en-US"/>
            </a:p>
          </p:txBody>
        </p:sp>
        <p:sp>
          <p:nvSpPr>
            <p:cNvPr id="52" name="TextBox 52"/>
            <p:cNvSpPr txBox="1"/>
            <p:nvPr/>
          </p:nvSpPr>
          <p:spPr>
            <a:xfrm>
              <a:off x="4406265" y="2391728"/>
              <a:ext cx="138384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Recursive descent</a:t>
              </a:r>
            </a:p>
          </p:txBody>
        </p:sp>
        <p:sp>
          <p:nvSpPr>
            <p:cNvPr id="53" name="TextBox 53"/>
            <p:cNvSpPr txBox="1"/>
            <p:nvPr/>
          </p:nvSpPr>
          <p:spPr>
            <a:xfrm>
              <a:off x="4408170" y="2569845"/>
              <a:ext cx="148847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Mirrors grammar rules</a:t>
              </a:r>
            </a:p>
          </p:txBody>
        </p:sp>
        <p:sp>
          <p:nvSpPr>
            <p:cNvPr id="54" name="Ellipse 54"/>
            <p:cNvSpPr/>
            <p:nvPr/>
          </p:nvSpPr>
          <p:spPr>
            <a:xfrm>
              <a:off x="4276725" y="2886075"/>
              <a:ext cx="57150" cy="57150"/>
            </a:xfrm>
            <a:prstGeom prst="ellipse">
              <a:avLst/>
            </a:prstGeom>
            <a:solidFill>
              <a:srgbClr val="34A853"/>
            </a:solidFill>
            <a:ln>
              <a:noFill/>
            </a:ln>
          </p:spPr>
          <p:txBody>
            <a:bodyPr/>
            <a:lstStyle/>
            <a:p>
              <a:endParaRPr lang="zh-CN" altLang="en-US"/>
            </a:p>
          </p:txBody>
        </p:sp>
        <p:sp>
          <p:nvSpPr>
            <p:cNvPr id="55" name="TextBox 55"/>
            <p:cNvSpPr txBox="1"/>
            <p:nvPr/>
          </p:nvSpPr>
          <p:spPr>
            <a:xfrm>
              <a:off x="4406265" y="2848928"/>
              <a:ext cx="1429845"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7 parser functions</a:t>
              </a:r>
            </a:p>
          </p:txBody>
        </p:sp>
        <p:sp>
          <p:nvSpPr>
            <p:cNvPr id="56" name="TextBox 56"/>
            <p:cNvSpPr txBox="1"/>
            <p:nvPr/>
          </p:nvSpPr>
          <p:spPr>
            <a:xfrm>
              <a:off x="4408170" y="3027045"/>
              <a:ext cx="131102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Single responsibility</a:t>
              </a:r>
            </a:p>
          </p:txBody>
        </p:sp>
        <p:sp>
          <p:nvSpPr>
            <p:cNvPr id="57" name="Ellipse 57"/>
            <p:cNvSpPr/>
            <p:nvPr/>
          </p:nvSpPr>
          <p:spPr>
            <a:xfrm>
              <a:off x="4276725" y="3343275"/>
              <a:ext cx="57150" cy="57150"/>
            </a:xfrm>
            <a:prstGeom prst="ellipse">
              <a:avLst/>
            </a:prstGeom>
            <a:solidFill>
              <a:srgbClr val="34A853"/>
            </a:solidFill>
            <a:ln>
              <a:noFill/>
            </a:ln>
          </p:spPr>
          <p:txBody>
            <a:bodyPr/>
            <a:lstStyle/>
            <a:p>
              <a:endParaRPr lang="zh-CN" altLang="en-US"/>
            </a:p>
          </p:txBody>
        </p:sp>
        <p:sp>
          <p:nvSpPr>
            <p:cNvPr id="58" name="TextBox 58"/>
            <p:cNvSpPr txBox="1"/>
            <p:nvPr/>
          </p:nvSpPr>
          <p:spPr>
            <a:xfrm>
              <a:off x="4406265" y="3306128"/>
              <a:ext cx="1146143"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LET / IF / PRINT</a:t>
              </a:r>
            </a:p>
          </p:txBody>
        </p:sp>
        <p:sp>
          <p:nvSpPr>
            <p:cNvPr id="59" name="TextBox 59"/>
            <p:cNvSpPr txBox="1"/>
            <p:nvPr/>
          </p:nvSpPr>
          <p:spPr>
            <a:xfrm>
              <a:off x="4408170" y="3484245"/>
              <a:ext cx="128473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Statement dispatch</a:t>
              </a:r>
            </a:p>
          </p:txBody>
        </p:sp>
        <p:sp>
          <p:nvSpPr>
            <p:cNvPr id="60" name="Rectangle 60"/>
            <p:cNvSpPr/>
            <p:nvPr/>
          </p:nvSpPr>
          <p:spPr>
            <a:xfrm>
              <a:off x="4114800" y="4210050"/>
              <a:ext cx="2190750" cy="9525"/>
            </a:xfrm>
            <a:prstGeom prst="rect">
              <a:avLst/>
            </a:prstGeom>
            <a:solidFill>
              <a:srgbClr val="DADCE0"/>
            </a:solidFill>
            <a:ln>
              <a:noFill/>
            </a:ln>
          </p:spPr>
          <p:txBody>
            <a:bodyPr/>
            <a:lstStyle/>
            <a:p>
              <a:endParaRPr lang="zh-CN" altLang="en-US"/>
            </a:p>
          </p:txBody>
        </p:sp>
        <p:sp>
          <p:nvSpPr>
            <p:cNvPr id="61" name="Rectangle 61"/>
            <p:cNvSpPr/>
            <p:nvPr/>
          </p:nvSpPr>
          <p:spPr>
            <a:xfrm>
              <a:off x="4286250" y="4343400"/>
              <a:ext cx="1847850" cy="1047750"/>
            </a:xfrm>
            <a:prstGeom prst="roundRect">
              <a:avLst>
                <a:gd name="adj" fmla="val 5455"/>
              </a:avLst>
            </a:prstGeom>
            <a:solidFill>
              <a:srgbClr val="F8F9FA"/>
            </a:solidFill>
            <a:ln>
              <a:noFill/>
            </a:ln>
          </p:spPr>
          <p:txBody>
            <a:bodyPr/>
            <a:lstStyle/>
            <a:p>
              <a:endParaRPr lang="zh-CN" altLang="en-US"/>
            </a:p>
          </p:txBody>
        </p:sp>
        <p:sp>
          <p:nvSpPr>
            <p:cNvPr id="62" name="TextBox 62"/>
            <p:cNvSpPr txBox="1"/>
            <p:nvPr/>
          </p:nvSpPr>
          <p:spPr>
            <a:xfrm>
              <a:off x="4978295" y="4435316"/>
              <a:ext cx="463760" cy="167640"/>
            </a:xfrm>
            <a:prstGeom prst="rect">
              <a:avLst/>
            </a:prstGeom>
            <a:noFill/>
            <a:ln>
              <a:noFill/>
            </a:ln>
          </p:spPr>
          <p:txBody>
            <a:bodyPr wrap="none" lIns="0" tIns="0" rIns="0" bIns="0" anchor="t" anchorCtr="0">
              <a:spAutoFit/>
            </a:bodyPr>
            <a:lstStyle/>
            <a:p>
              <a:pPr algn="ctr"/>
              <a:r>
                <a:rPr lang="zh-CN" sz="825" b="1" dirty="0">
                  <a:solidFill>
                    <a:srgbClr val="5F6368"/>
                  </a:solidFill>
                  <a:latin typeface="Segoe UI"/>
                  <a:ea typeface="Microsoft YaHei"/>
                  <a:cs typeface="Segoe UI"/>
                </a:rPr>
                <a:t>OUTPUT</a:t>
              </a:r>
            </a:p>
          </p:txBody>
        </p:sp>
        <p:sp>
          <p:nvSpPr>
            <p:cNvPr id="63" name="TextBox 63"/>
            <p:cNvSpPr txBox="1"/>
            <p:nvPr/>
          </p:nvSpPr>
          <p:spPr>
            <a:xfrm>
              <a:off x="4778121" y="4665345"/>
              <a:ext cx="864108" cy="182880"/>
            </a:xfrm>
            <a:prstGeom prst="rect">
              <a:avLst/>
            </a:prstGeom>
            <a:noFill/>
            <a:ln>
              <a:noFill/>
            </a:ln>
          </p:spPr>
          <p:txBody>
            <a:bodyPr wrap="none" lIns="0" tIns="0" rIns="0" bIns="0" anchor="t" anchorCtr="0">
              <a:spAutoFit/>
            </a:bodyPr>
            <a:lstStyle/>
            <a:p>
              <a:pPr algn="ctr"/>
              <a:r>
                <a:rPr lang="zh-CN" sz="900" dirty="0">
                  <a:solidFill>
                    <a:srgbClr val="34A853"/>
                  </a:solidFill>
                  <a:latin typeface="Consolas"/>
                  <a:ea typeface="Microsoft YaHei"/>
                  <a:cs typeface="Consolas"/>
                </a:rPr>
                <a:t>[{line, ast}]</a:t>
              </a:r>
            </a:p>
          </p:txBody>
        </p:sp>
        <p:sp>
          <p:nvSpPr>
            <p:cNvPr id="64" name="TextBox 64"/>
            <p:cNvSpPr txBox="1"/>
            <p:nvPr/>
          </p:nvSpPr>
          <p:spPr>
            <a:xfrm>
              <a:off x="4371022" y="4882991"/>
              <a:ext cx="1015008"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["LET","VAR_P",</a:t>
              </a:r>
            </a:p>
          </p:txBody>
        </p:sp>
        <p:sp>
          <p:nvSpPr>
            <p:cNvPr id="65" name="TextBox 65"/>
            <p:cNvSpPr txBox="1"/>
            <p:nvPr/>
          </p:nvSpPr>
          <p:spPr>
            <a:xfrm>
              <a:off x="4371022" y="5054441"/>
              <a:ext cx="484846"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"TRUE"]</a:t>
              </a:r>
            </a:p>
          </p:txBody>
        </p:sp>
      </p:grpSp>
      <p:grpSp>
        <p:nvGrpSpPr>
          <p:cNvPr id="68" name="Group 68"/>
          <p:cNvGrpSpPr/>
          <p:nvPr/>
        </p:nvGrpSpPr>
        <p:grpSpPr>
          <a:xfrm>
            <a:off x="6305550" y="3429000"/>
            <a:ext cx="285750" cy="9525"/>
            <a:chOff x="6305550" y="3429000"/>
            <a:chExt cx="285750" cy="9525"/>
          </a:xfrm>
        </p:grpSpPr>
        <p:sp>
          <p:nvSpPr>
            <p:cNvPr id="67" name="Freeform 67"/>
            <p:cNvSpPr/>
            <p:nvPr/>
          </p:nvSpPr>
          <p:spPr>
            <a:xfrm>
              <a:off x="6305550" y="3429000"/>
              <a:ext cx="285750" cy="9525"/>
            </a:xfrm>
            <a:custGeom>
              <a:avLst/>
              <a:gdLst/>
              <a:ahLst/>
              <a:cxnLst/>
              <a:rect l="l" t="t" r="r" b="b"/>
              <a:pathLst>
                <a:path w="285750" h="9525">
                  <a:moveTo>
                    <a:pt x="0" y="0"/>
                  </a:moveTo>
                  <a:lnTo>
                    <a:pt x="285750" y="0"/>
                  </a:lnTo>
                </a:path>
              </a:pathLst>
            </a:custGeom>
            <a:solidFill>
              <a:srgbClr val="000000"/>
            </a:solidFill>
            <a:ln w="19050">
              <a:solidFill>
                <a:srgbClr val="34A853">
                  <a:alpha val="60000"/>
                </a:srgbClr>
              </a:solidFill>
              <a:tailEnd type="triangle" w="lg" len="lg"/>
            </a:ln>
          </p:spPr>
          <p:txBody>
            <a:bodyPr/>
            <a:lstStyle/>
            <a:p>
              <a:endParaRPr lang="zh-CN" altLang="en-US"/>
            </a:p>
          </p:txBody>
        </p:sp>
      </p:grpSp>
      <p:grpSp>
        <p:nvGrpSpPr>
          <p:cNvPr id="92" name="Group 92"/>
          <p:cNvGrpSpPr/>
          <p:nvPr/>
        </p:nvGrpSpPr>
        <p:grpSpPr>
          <a:xfrm>
            <a:off x="6610350" y="1238250"/>
            <a:ext cx="2190750" cy="4381500"/>
            <a:chOff x="6610350" y="1238250"/>
            <a:chExt cx="2190750" cy="4381500"/>
          </a:xfrm>
        </p:grpSpPr>
        <p:sp>
          <p:nvSpPr>
            <p:cNvPr id="69" name="Rectangle 69"/>
            <p:cNvSpPr/>
            <p:nvPr/>
          </p:nvSpPr>
          <p:spPr>
            <a:xfrm>
              <a:off x="6610350" y="1238250"/>
              <a:ext cx="2190750" cy="4381500"/>
            </a:xfrm>
            <a:prstGeom prst="roundRect">
              <a:avLst>
                <a:gd name="adj" fmla="val 4348"/>
              </a:avLst>
            </a:prstGeom>
            <a:solidFill>
              <a:srgbClr val="FFFFFF"/>
            </a:solidFill>
            <a:ln w="14288">
              <a:solidFill>
                <a:srgbClr val="9334E6"/>
              </a:solidFill>
            </a:ln>
          </p:spPr>
          <p:txBody>
            <a:bodyPr/>
            <a:lstStyle/>
            <a:p>
              <a:endParaRPr lang="zh-CN" altLang="en-US"/>
            </a:p>
          </p:txBody>
        </p:sp>
        <p:sp>
          <p:nvSpPr>
            <p:cNvPr id="70" name="Freeform 70"/>
            <p:cNvSpPr/>
            <p:nvPr/>
          </p:nvSpPr>
          <p:spPr>
            <a:xfrm>
              <a:off x="6610350" y="1238250"/>
              <a:ext cx="2190750" cy="571500"/>
            </a:xfrm>
            <a:custGeom>
              <a:avLst/>
              <a:gdLst/>
              <a:ahLst/>
              <a:cxnLst/>
              <a:rect l="l" t="t" r="r" b="b"/>
              <a:pathLst>
                <a:path w="2190750" h="571500">
                  <a:moveTo>
                    <a:pt x="0" y="95250"/>
                  </a:moveTo>
                  <a:cubicBezTo>
                    <a:pt x="0" y="42645"/>
                    <a:pt x="42645" y="0"/>
                    <a:pt x="95250" y="0"/>
                  </a:cubicBezTo>
                  <a:lnTo>
                    <a:pt x="2095500" y="0"/>
                  </a:lnTo>
                  <a:cubicBezTo>
                    <a:pt x="2148105" y="0"/>
                    <a:pt x="2190750" y="42645"/>
                    <a:pt x="2190750" y="95250"/>
                  </a:cubicBezTo>
                  <a:lnTo>
                    <a:pt x="2190750" y="571500"/>
                  </a:lnTo>
                  <a:lnTo>
                    <a:pt x="0" y="571500"/>
                  </a:lnTo>
                  <a:close/>
                </a:path>
              </a:pathLst>
            </a:custGeom>
            <a:solidFill>
              <a:srgbClr val="9334E6"/>
            </a:solidFill>
            <a:ln>
              <a:noFill/>
            </a:ln>
          </p:spPr>
          <p:txBody>
            <a:bodyPr/>
            <a:lstStyle/>
            <a:p>
              <a:endParaRPr lang="zh-CN" altLang="en-US"/>
            </a:p>
          </p:txBody>
        </p:sp>
        <p:sp>
          <p:nvSpPr>
            <p:cNvPr id="71" name="Rectangle 71"/>
            <p:cNvSpPr/>
            <p:nvPr/>
          </p:nvSpPr>
          <p:spPr>
            <a:xfrm>
              <a:off x="6753225" y="1333500"/>
              <a:ext cx="323850" cy="323850"/>
            </a:xfrm>
            <a:prstGeom prst="roundRect">
              <a:avLst>
                <a:gd name="adj" fmla="val 17647"/>
              </a:avLst>
            </a:prstGeom>
            <a:solidFill>
              <a:srgbClr val="FFFFFF">
                <a:alpha val="30000"/>
              </a:srgbClr>
            </a:solidFill>
            <a:ln>
              <a:noFill/>
            </a:ln>
          </p:spPr>
          <p:txBody>
            <a:bodyPr/>
            <a:lstStyle/>
            <a:p>
              <a:endParaRPr lang="zh-CN" altLang="en-US"/>
            </a:p>
          </p:txBody>
        </p:sp>
        <p:sp>
          <p:nvSpPr>
            <p:cNvPr id="72" name="TextBox 72"/>
            <p:cNvSpPr txBox="1"/>
            <p:nvPr/>
          </p:nvSpPr>
          <p:spPr>
            <a:xfrm>
              <a:off x="6791419" y="1414939"/>
              <a:ext cx="247462" cy="259080"/>
            </a:xfrm>
            <a:prstGeom prst="rect">
              <a:avLst/>
            </a:prstGeom>
            <a:noFill/>
            <a:ln>
              <a:noFill/>
            </a:ln>
          </p:spPr>
          <p:txBody>
            <a:bodyPr wrap="none" lIns="0" tIns="0" rIns="0" bIns="0" anchor="t" anchorCtr="0">
              <a:spAutoFit/>
            </a:bodyPr>
            <a:lstStyle/>
            <a:p>
              <a:pPr algn="ctr"/>
              <a:r>
                <a:rPr lang="zh-CN" sz="1275" b="1" dirty="0">
                  <a:solidFill>
                    <a:srgbClr val="202124"/>
                  </a:solidFill>
                  <a:latin typeface="Segoe UI"/>
                  <a:ea typeface="Microsoft YaHei"/>
                  <a:cs typeface="Segoe UI"/>
                </a:rPr>
                <a:t>03</a:t>
              </a:r>
            </a:p>
          </p:txBody>
        </p:sp>
        <p:sp>
          <p:nvSpPr>
            <p:cNvPr id="73" name="TextBox 73"/>
            <p:cNvSpPr txBox="1"/>
            <p:nvPr/>
          </p:nvSpPr>
          <p:spPr>
            <a:xfrm>
              <a:off x="7163752" y="1351121"/>
              <a:ext cx="1096052" cy="289560"/>
            </a:xfrm>
            <a:prstGeom prst="rect">
              <a:avLst/>
            </a:prstGeom>
            <a:noFill/>
            <a:ln>
              <a:noFill/>
            </a:ln>
          </p:spPr>
          <p:txBody>
            <a:bodyPr wrap="none" lIns="0" tIns="0" rIns="0" bIns="0" anchor="t" anchorCtr="0">
              <a:spAutoFit/>
            </a:bodyPr>
            <a:lstStyle/>
            <a:p>
              <a:pPr algn="l"/>
              <a:r>
                <a:rPr lang="zh-CN" sz="1425" b="1" dirty="0">
                  <a:solidFill>
                    <a:srgbClr val="202124"/>
                  </a:solidFill>
                  <a:latin typeface="Segoe UI"/>
                  <a:ea typeface="Microsoft YaHei"/>
                  <a:cs typeface="Segoe UI"/>
                </a:rPr>
                <a:t>Optimizer</a:t>
              </a:r>
            </a:p>
          </p:txBody>
        </p:sp>
        <p:sp>
          <p:nvSpPr>
            <p:cNvPr id="74" name="Freeform 74"/>
            <p:cNvSpPr/>
            <p:nvPr/>
          </p:nvSpPr>
          <p:spPr>
            <a:xfrm>
              <a:off x="8381353" y="1381125"/>
              <a:ext cx="229894" cy="291051"/>
            </a:xfrm>
            <a:custGeom>
              <a:avLst/>
              <a:gdLst/>
              <a:ahLst/>
              <a:cxnLst/>
              <a:rect l="l" t="t" r="r" b="b"/>
              <a:pathLst>
                <a:path w="229894" h="291051">
                  <a:moveTo>
                    <a:pt x="129234" y="0"/>
                  </a:moveTo>
                  <a:lnTo>
                    <a:pt x="129492" y="14"/>
                  </a:lnTo>
                  <a:lnTo>
                    <a:pt x="129720" y="29"/>
                  </a:lnTo>
                  <a:lnTo>
                    <a:pt x="130906" y="100"/>
                  </a:lnTo>
                  <a:lnTo>
                    <a:pt x="131063" y="129"/>
                  </a:lnTo>
                  <a:lnTo>
                    <a:pt x="131220" y="129"/>
                  </a:lnTo>
                  <a:lnTo>
                    <a:pt x="131763" y="257"/>
                  </a:lnTo>
                  <a:lnTo>
                    <a:pt x="132506" y="371"/>
                  </a:lnTo>
                  <a:lnTo>
                    <a:pt x="132735" y="457"/>
                  </a:lnTo>
                  <a:lnTo>
                    <a:pt x="132892" y="471"/>
                  </a:lnTo>
                  <a:lnTo>
                    <a:pt x="133306" y="629"/>
                  </a:lnTo>
                  <a:lnTo>
                    <a:pt x="134049" y="829"/>
                  </a:lnTo>
                  <a:lnTo>
                    <a:pt x="134321" y="957"/>
                  </a:lnTo>
                  <a:lnTo>
                    <a:pt x="134535" y="1014"/>
                  </a:lnTo>
                  <a:lnTo>
                    <a:pt x="134935" y="1214"/>
                  </a:lnTo>
                  <a:lnTo>
                    <a:pt x="135507" y="1457"/>
                  </a:lnTo>
                  <a:lnTo>
                    <a:pt x="135807" y="1629"/>
                  </a:lnTo>
                  <a:lnTo>
                    <a:pt x="136121" y="1772"/>
                  </a:lnTo>
                  <a:lnTo>
                    <a:pt x="136450" y="1986"/>
                  </a:lnTo>
                  <a:lnTo>
                    <a:pt x="136892" y="2229"/>
                  </a:lnTo>
                  <a:lnTo>
                    <a:pt x="137378" y="2572"/>
                  </a:lnTo>
                  <a:lnTo>
                    <a:pt x="137635" y="2729"/>
                  </a:lnTo>
                  <a:lnTo>
                    <a:pt x="137821" y="2900"/>
                  </a:lnTo>
                  <a:lnTo>
                    <a:pt x="138164" y="3143"/>
                  </a:lnTo>
                  <a:lnTo>
                    <a:pt x="138707" y="3629"/>
                  </a:lnTo>
                  <a:lnTo>
                    <a:pt x="139021" y="3872"/>
                  </a:lnTo>
                  <a:lnTo>
                    <a:pt x="139136" y="4015"/>
                  </a:lnTo>
                  <a:lnTo>
                    <a:pt x="139336" y="4186"/>
                  </a:lnTo>
                  <a:lnTo>
                    <a:pt x="139850" y="4772"/>
                  </a:lnTo>
                  <a:lnTo>
                    <a:pt x="140221" y="5158"/>
                  </a:lnTo>
                  <a:lnTo>
                    <a:pt x="140307" y="5286"/>
                  </a:lnTo>
                  <a:cubicBezTo>
                    <a:pt x="142022" y="7387"/>
                    <a:pt x="143108" y="9887"/>
                    <a:pt x="143422" y="12616"/>
                  </a:cubicBezTo>
                  <a:lnTo>
                    <a:pt x="143436" y="12787"/>
                  </a:lnTo>
                  <a:lnTo>
                    <a:pt x="143465" y="13373"/>
                  </a:lnTo>
                  <a:lnTo>
                    <a:pt x="143522" y="14288"/>
                  </a:lnTo>
                  <a:lnTo>
                    <a:pt x="143522" y="100012"/>
                  </a:lnTo>
                  <a:lnTo>
                    <a:pt x="214959" y="100012"/>
                  </a:lnTo>
                  <a:cubicBezTo>
                    <a:pt x="220056" y="100011"/>
                    <a:pt x="224767" y="102725"/>
                    <a:pt x="227323" y="107133"/>
                  </a:cubicBezTo>
                  <a:cubicBezTo>
                    <a:pt x="229879" y="111542"/>
                    <a:pt x="229894" y="116979"/>
                    <a:pt x="227361" y="121401"/>
                  </a:cubicBezTo>
                  <a:lnTo>
                    <a:pt x="226504" y="122701"/>
                  </a:lnTo>
                  <a:lnTo>
                    <a:pt x="112204" y="279864"/>
                  </a:lnTo>
                  <a:cubicBezTo>
                    <a:pt x="104088" y="291051"/>
                    <a:pt x="86372" y="285293"/>
                    <a:pt x="86372" y="271462"/>
                  </a:cubicBezTo>
                  <a:lnTo>
                    <a:pt x="86372" y="185738"/>
                  </a:lnTo>
                  <a:lnTo>
                    <a:pt x="14934" y="185738"/>
                  </a:lnTo>
                  <a:cubicBezTo>
                    <a:pt x="9838" y="185739"/>
                    <a:pt x="5127" y="183025"/>
                    <a:pt x="2571" y="178617"/>
                  </a:cubicBezTo>
                  <a:cubicBezTo>
                    <a:pt x="14" y="174208"/>
                    <a:pt x="0" y="168771"/>
                    <a:pt x="2533" y="164349"/>
                  </a:cubicBezTo>
                  <a:lnTo>
                    <a:pt x="3390" y="163049"/>
                  </a:lnTo>
                  <a:lnTo>
                    <a:pt x="117690" y="5886"/>
                  </a:lnTo>
                  <a:lnTo>
                    <a:pt x="117833" y="5701"/>
                  </a:lnTo>
                  <a:lnTo>
                    <a:pt x="118090" y="5358"/>
                  </a:lnTo>
                  <a:lnTo>
                    <a:pt x="118562" y="4815"/>
                  </a:lnTo>
                  <a:lnTo>
                    <a:pt x="118819" y="4501"/>
                  </a:lnTo>
                  <a:lnTo>
                    <a:pt x="118947" y="4386"/>
                  </a:lnTo>
                  <a:lnTo>
                    <a:pt x="119133" y="4186"/>
                  </a:lnTo>
                  <a:lnTo>
                    <a:pt x="119705" y="3672"/>
                  </a:lnTo>
                  <a:lnTo>
                    <a:pt x="120105" y="3300"/>
                  </a:lnTo>
                  <a:lnTo>
                    <a:pt x="120219" y="3215"/>
                  </a:lnTo>
                  <a:cubicBezTo>
                    <a:pt x="121893" y="1844"/>
                    <a:pt x="123857" y="872"/>
                    <a:pt x="125963" y="371"/>
                  </a:cubicBezTo>
                  <a:lnTo>
                    <a:pt x="126120" y="357"/>
                  </a:lnTo>
                  <a:lnTo>
                    <a:pt x="126505" y="286"/>
                  </a:lnTo>
                  <a:lnTo>
                    <a:pt x="127563" y="100"/>
                  </a:lnTo>
                  <a:lnTo>
                    <a:pt x="127720" y="86"/>
                  </a:lnTo>
                  <a:lnTo>
                    <a:pt x="128306" y="57"/>
                  </a:lnTo>
                  <a:close/>
                </a:path>
              </a:pathLst>
            </a:custGeom>
            <a:solidFill>
              <a:srgbClr val="202124"/>
            </a:solidFill>
            <a:ln>
              <a:noFill/>
            </a:ln>
          </p:spPr>
          <p:txBody>
            <a:bodyPr/>
            <a:lstStyle/>
            <a:p>
              <a:endParaRPr lang="zh-CN" altLang="en-US"/>
            </a:p>
          </p:txBody>
        </p:sp>
        <p:sp>
          <p:nvSpPr>
            <p:cNvPr id="75" name="Rectangle 75"/>
            <p:cNvSpPr/>
            <p:nvPr/>
          </p:nvSpPr>
          <p:spPr>
            <a:xfrm>
              <a:off x="6610350" y="1809750"/>
              <a:ext cx="2190750" cy="304800"/>
            </a:xfrm>
            <a:prstGeom prst="rect">
              <a:avLst/>
            </a:prstGeom>
            <a:solidFill>
              <a:srgbClr val="9334E6">
                <a:alpha val="12000"/>
              </a:srgbClr>
            </a:solidFill>
            <a:ln>
              <a:noFill/>
            </a:ln>
          </p:spPr>
          <p:txBody>
            <a:bodyPr/>
            <a:lstStyle/>
            <a:p>
              <a:endParaRPr lang="zh-CN" altLang="en-US"/>
            </a:p>
          </p:txBody>
        </p:sp>
        <p:sp>
          <p:nvSpPr>
            <p:cNvPr id="76" name="TextBox 76"/>
            <p:cNvSpPr txBox="1"/>
            <p:nvPr/>
          </p:nvSpPr>
          <p:spPr>
            <a:xfrm>
              <a:off x="6966254" y="1912620"/>
              <a:ext cx="1478942" cy="182880"/>
            </a:xfrm>
            <a:prstGeom prst="rect">
              <a:avLst/>
            </a:prstGeom>
            <a:noFill/>
            <a:ln>
              <a:noFill/>
            </a:ln>
          </p:spPr>
          <p:txBody>
            <a:bodyPr wrap="none" lIns="0" tIns="0" rIns="0" bIns="0" anchor="t" anchorCtr="0">
              <a:spAutoFit/>
            </a:bodyPr>
            <a:lstStyle/>
            <a:p>
              <a:pPr algn="ctr"/>
              <a:r>
                <a:rPr lang="zh-CN" sz="900" b="1" dirty="0">
                  <a:solidFill>
                    <a:srgbClr val="9334E6"/>
                  </a:solidFill>
                  <a:latin typeface="Segoe UI"/>
                  <a:ea typeface="Microsoft YaHei"/>
                  <a:cs typeface="Segoe UI"/>
                </a:rPr>
                <a:t>Boolean Simplification</a:t>
              </a:r>
            </a:p>
          </p:txBody>
        </p:sp>
        <p:sp>
          <p:nvSpPr>
            <p:cNvPr id="77" name="Ellipse 77"/>
            <p:cNvSpPr/>
            <p:nvPr/>
          </p:nvSpPr>
          <p:spPr>
            <a:xfrm>
              <a:off x="6772275" y="2428875"/>
              <a:ext cx="57150" cy="57150"/>
            </a:xfrm>
            <a:prstGeom prst="ellipse">
              <a:avLst/>
            </a:prstGeom>
            <a:solidFill>
              <a:srgbClr val="9334E6"/>
            </a:solidFill>
            <a:ln>
              <a:noFill/>
            </a:ln>
          </p:spPr>
          <p:txBody>
            <a:bodyPr/>
            <a:lstStyle/>
            <a:p>
              <a:endParaRPr lang="zh-CN" altLang="en-US"/>
            </a:p>
          </p:txBody>
        </p:sp>
        <p:sp>
          <p:nvSpPr>
            <p:cNvPr id="78" name="TextBox 78"/>
            <p:cNvSpPr txBox="1"/>
            <p:nvPr/>
          </p:nvSpPr>
          <p:spPr>
            <a:xfrm>
              <a:off x="6901815" y="2391728"/>
              <a:ext cx="1176814"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11 rewrite rules</a:t>
              </a:r>
            </a:p>
          </p:txBody>
        </p:sp>
        <p:sp>
          <p:nvSpPr>
            <p:cNvPr id="79" name="TextBox 79"/>
            <p:cNvSpPr txBox="1"/>
            <p:nvPr/>
          </p:nvSpPr>
          <p:spPr>
            <a:xfrm>
              <a:off x="6903720" y="2569845"/>
              <a:ext cx="154105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De Morgan, absorption…</a:t>
              </a:r>
            </a:p>
          </p:txBody>
        </p:sp>
        <p:sp>
          <p:nvSpPr>
            <p:cNvPr id="80" name="Ellipse 80"/>
            <p:cNvSpPr/>
            <p:nvPr/>
          </p:nvSpPr>
          <p:spPr>
            <a:xfrm>
              <a:off x="6772275" y="2886075"/>
              <a:ext cx="57150" cy="57150"/>
            </a:xfrm>
            <a:prstGeom prst="ellipse">
              <a:avLst/>
            </a:prstGeom>
            <a:solidFill>
              <a:srgbClr val="9334E6"/>
            </a:solidFill>
            <a:ln>
              <a:noFill/>
            </a:ln>
          </p:spPr>
          <p:txBody>
            <a:bodyPr/>
            <a:lstStyle/>
            <a:p>
              <a:endParaRPr lang="zh-CN" altLang="en-US"/>
            </a:p>
          </p:txBody>
        </p:sp>
        <p:sp>
          <p:nvSpPr>
            <p:cNvPr id="81" name="TextBox 81"/>
            <p:cNvSpPr txBox="1"/>
            <p:nvPr/>
          </p:nvSpPr>
          <p:spPr>
            <a:xfrm>
              <a:off x="6901815" y="2848928"/>
              <a:ext cx="122282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Fixed-point loop</a:t>
              </a:r>
            </a:p>
          </p:txBody>
        </p:sp>
        <p:sp>
          <p:nvSpPr>
            <p:cNvPr id="82" name="TextBox 82"/>
            <p:cNvSpPr txBox="1"/>
            <p:nvPr/>
          </p:nvSpPr>
          <p:spPr>
            <a:xfrm>
              <a:off x="6903720" y="3027045"/>
              <a:ext cx="114671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Max 64 iterations</a:t>
              </a:r>
            </a:p>
          </p:txBody>
        </p:sp>
        <p:sp>
          <p:nvSpPr>
            <p:cNvPr id="83" name="Ellipse 83"/>
            <p:cNvSpPr/>
            <p:nvPr/>
          </p:nvSpPr>
          <p:spPr>
            <a:xfrm>
              <a:off x="6772275" y="3343275"/>
              <a:ext cx="57150" cy="57150"/>
            </a:xfrm>
            <a:prstGeom prst="ellipse">
              <a:avLst/>
            </a:prstGeom>
            <a:solidFill>
              <a:srgbClr val="9334E6"/>
            </a:solidFill>
            <a:ln>
              <a:noFill/>
            </a:ln>
          </p:spPr>
          <p:txBody>
            <a:bodyPr/>
            <a:lstStyle/>
            <a:p>
              <a:endParaRPr lang="zh-CN" altLang="en-US"/>
            </a:p>
          </p:txBody>
        </p:sp>
        <p:sp>
          <p:nvSpPr>
            <p:cNvPr id="84" name="TextBox 84"/>
            <p:cNvSpPr txBox="1"/>
            <p:nvPr/>
          </p:nvSpPr>
          <p:spPr>
            <a:xfrm>
              <a:off x="6901815" y="3306128"/>
              <a:ext cx="1583198"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Bottom-up traversal</a:t>
              </a:r>
            </a:p>
          </p:txBody>
        </p:sp>
        <p:sp>
          <p:nvSpPr>
            <p:cNvPr id="85" name="TextBox 85"/>
            <p:cNvSpPr txBox="1"/>
            <p:nvPr/>
          </p:nvSpPr>
          <p:spPr>
            <a:xfrm>
              <a:off x="6903720" y="3484245"/>
              <a:ext cx="155419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Children before parents</a:t>
              </a:r>
            </a:p>
          </p:txBody>
        </p:sp>
        <p:sp>
          <p:nvSpPr>
            <p:cNvPr id="86" name="Rectangle 86"/>
            <p:cNvSpPr/>
            <p:nvPr/>
          </p:nvSpPr>
          <p:spPr>
            <a:xfrm>
              <a:off x="6610350" y="4210050"/>
              <a:ext cx="2190750" cy="9525"/>
            </a:xfrm>
            <a:prstGeom prst="rect">
              <a:avLst/>
            </a:prstGeom>
            <a:solidFill>
              <a:srgbClr val="DADCE0"/>
            </a:solidFill>
            <a:ln>
              <a:noFill/>
            </a:ln>
          </p:spPr>
          <p:txBody>
            <a:bodyPr/>
            <a:lstStyle/>
            <a:p>
              <a:endParaRPr lang="zh-CN" altLang="en-US"/>
            </a:p>
          </p:txBody>
        </p:sp>
        <p:sp>
          <p:nvSpPr>
            <p:cNvPr id="87" name="Rectangle 87"/>
            <p:cNvSpPr/>
            <p:nvPr/>
          </p:nvSpPr>
          <p:spPr>
            <a:xfrm>
              <a:off x="6781800" y="4343400"/>
              <a:ext cx="1847850" cy="1047750"/>
            </a:xfrm>
            <a:prstGeom prst="roundRect">
              <a:avLst>
                <a:gd name="adj" fmla="val 5455"/>
              </a:avLst>
            </a:prstGeom>
            <a:solidFill>
              <a:srgbClr val="F8F9FA"/>
            </a:solidFill>
            <a:ln>
              <a:noFill/>
            </a:ln>
          </p:spPr>
          <p:txBody>
            <a:bodyPr/>
            <a:lstStyle/>
            <a:p>
              <a:endParaRPr lang="zh-CN" altLang="en-US"/>
            </a:p>
          </p:txBody>
        </p:sp>
        <p:sp>
          <p:nvSpPr>
            <p:cNvPr id="88" name="TextBox 88"/>
            <p:cNvSpPr txBox="1"/>
            <p:nvPr/>
          </p:nvSpPr>
          <p:spPr>
            <a:xfrm>
              <a:off x="7473845" y="4435316"/>
              <a:ext cx="463760" cy="167640"/>
            </a:xfrm>
            <a:prstGeom prst="rect">
              <a:avLst/>
            </a:prstGeom>
            <a:noFill/>
            <a:ln>
              <a:noFill/>
            </a:ln>
          </p:spPr>
          <p:txBody>
            <a:bodyPr wrap="none" lIns="0" tIns="0" rIns="0" bIns="0" anchor="t" anchorCtr="0">
              <a:spAutoFit/>
            </a:bodyPr>
            <a:lstStyle/>
            <a:p>
              <a:pPr algn="ctr"/>
              <a:r>
                <a:rPr lang="zh-CN" sz="825" b="1" dirty="0">
                  <a:solidFill>
                    <a:srgbClr val="5F6368"/>
                  </a:solidFill>
                  <a:latin typeface="Segoe UI"/>
                  <a:ea typeface="Microsoft YaHei"/>
                  <a:cs typeface="Segoe UI"/>
                </a:rPr>
                <a:t>OUTPUT</a:t>
              </a:r>
            </a:p>
          </p:txBody>
        </p:sp>
        <p:sp>
          <p:nvSpPr>
            <p:cNvPr id="89" name="TextBox 89"/>
            <p:cNvSpPr txBox="1"/>
            <p:nvPr/>
          </p:nvSpPr>
          <p:spPr>
            <a:xfrm>
              <a:off x="7017353" y="4665345"/>
              <a:ext cx="1376743" cy="182880"/>
            </a:xfrm>
            <a:prstGeom prst="rect">
              <a:avLst/>
            </a:prstGeom>
            <a:noFill/>
            <a:ln>
              <a:noFill/>
            </a:ln>
          </p:spPr>
          <p:txBody>
            <a:bodyPr wrap="none" lIns="0" tIns="0" rIns="0" bIns="0" anchor="t" anchorCtr="0">
              <a:spAutoFit/>
            </a:bodyPr>
            <a:lstStyle/>
            <a:p>
              <a:pPr algn="ctr"/>
              <a:r>
                <a:rPr lang="zh-CN" sz="900" dirty="0">
                  <a:solidFill>
                    <a:srgbClr val="9334E6"/>
                  </a:solidFill>
                  <a:latin typeface="Consolas"/>
                  <a:ea typeface="Microsoft YaHei"/>
                  <a:cs typeface="Consolas"/>
                </a:rPr>
                <a:t>[{line, ast}] + seeds</a:t>
              </a:r>
            </a:p>
          </p:txBody>
        </p:sp>
        <p:sp>
          <p:nvSpPr>
            <p:cNvPr id="90" name="TextBox 90"/>
            <p:cNvSpPr txBox="1"/>
            <p:nvPr/>
          </p:nvSpPr>
          <p:spPr>
            <a:xfrm>
              <a:off x="6866572" y="4882991"/>
              <a:ext cx="846320"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optimized_ast</a:t>
              </a:r>
            </a:p>
          </p:txBody>
        </p:sp>
        <p:sp>
          <p:nvSpPr>
            <p:cNvPr id="91" name="TextBox 91"/>
            <p:cNvSpPr txBox="1"/>
            <p:nvPr/>
          </p:nvSpPr>
          <p:spPr>
            <a:xfrm>
              <a:off x="6866572" y="5054441"/>
              <a:ext cx="755952"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verif. seeds</a:t>
              </a:r>
            </a:p>
          </p:txBody>
        </p:sp>
      </p:grpSp>
      <p:grpSp>
        <p:nvGrpSpPr>
          <p:cNvPr id="94" name="Group 94"/>
          <p:cNvGrpSpPr/>
          <p:nvPr/>
        </p:nvGrpSpPr>
        <p:grpSpPr>
          <a:xfrm>
            <a:off x="8801100" y="3429000"/>
            <a:ext cx="285750" cy="9525"/>
            <a:chOff x="8801100" y="3429000"/>
            <a:chExt cx="285750" cy="9525"/>
          </a:xfrm>
        </p:grpSpPr>
        <p:sp>
          <p:nvSpPr>
            <p:cNvPr id="93" name="Freeform 93"/>
            <p:cNvSpPr/>
            <p:nvPr/>
          </p:nvSpPr>
          <p:spPr>
            <a:xfrm>
              <a:off x="8801100" y="3429000"/>
              <a:ext cx="285750" cy="9525"/>
            </a:xfrm>
            <a:custGeom>
              <a:avLst/>
              <a:gdLst/>
              <a:ahLst/>
              <a:cxnLst/>
              <a:rect l="l" t="t" r="r" b="b"/>
              <a:pathLst>
                <a:path w="285750" h="9525">
                  <a:moveTo>
                    <a:pt x="0" y="0"/>
                  </a:moveTo>
                  <a:lnTo>
                    <a:pt x="285750" y="0"/>
                  </a:lnTo>
                </a:path>
              </a:pathLst>
            </a:custGeom>
            <a:solidFill>
              <a:srgbClr val="000000"/>
            </a:solidFill>
            <a:ln w="19050">
              <a:solidFill>
                <a:srgbClr val="9334E6">
                  <a:alpha val="60000"/>
                </a:srgbClr>
              </a:solidFill>
              <a:tailEnd type="triangle" w="lg" len="lg"/>
            </a:ln>
          </p:spPr>
          <p:txBody>
            <a:bodyPr/>
            <a:lstStyle/>
            <a:p>
              <a:endParaRPr lang="zh-CN" altLang="en-US"/>
            </a:p>
          </p:txBody>
        </p:sp>
      </p:grpSp>
      <p:grpSp>
        <p:nvGrpSpPr>
          <p:cNvPr id="118" name="Group 118"/>
          <p:cNvGrpSpPr/>
          <p:nvPr/>
        </p:nvGrpSpPr>
        <p:grpSpPr>
          <a:xfrm>
            <a:off x="9105900" y="1238250"/>
            <a:ext cx="2190750" cy="4381500"/>
            <a:chOff x="9105900" y="1238250"/>
            <a:chExt cx="2190750" cy="4381500"/>
          </a:xfrm>
        </p:grpSpPr>
        <p:sp>
          <p:nvSpPr>
            <p:cNvPr id="95" name="Rectangle 95"/>
            <p:cNvSpPr/>
            <p:nvPr/>
          </p:nvSpPr>
          <p:spPr>
            <a:xfrm>
              <a:off x="9105900" y="1238250"/>
              <a:ext cx="2190750" cy="4381500"/>
            </a:xfrm>
            <a:prstGeom prst="roundRect">
              <a:avLst>
                <a:gd name="adj" fmla="val 4348"/>
              </a:avLst>
            </a:prstGeom>
            <a:solidFill>
              <a:srgbClr val="FFFFFF"/>
            </a:solidFill>
            <a:ln w="14288">
              <a:solidFill>
                <a:srgbClr val="1E8E3E"/>
              </a:solidFill>
            </a:ln>
          </p:spPr>
          <p:txBody>
            <a:bodyPr/>
            <a:lstStyle/>
            <a:p>
              <a:endParaRPr lang="zh-CN" altLang="en-US"/>
            </a:p>
          </p:txBody>
        </p:sp>
        <p:sp>
          <p:nvSpPr>
            <p:cNvPr id="96" name="Freeform 96"/>
            <p:cNvSpPr/>
            <p:nvPr/>
          </p:nvSpPr>
          <p:spPr>
            <a:xfrm>
              <a:off x="9105900" y="1238250"/>
              <a:ext cx="2190750" cy="571500"/>
            </a:xfrm>
            <a:custGeom>
              <a:avLst/>
              <a:gdLst/>
              <a:ahLst/>
              <a:cxnLst/>
              <a:rect l="l" t="t" r="r" b="b"/>
              <a:pathLst>
                <a:path w="2190750" h="571500">
                  <a:moveTo>
                    <a:pt x="0" y="95250"/>
                  </a:moveTo>
                  <a:cubicBezTo>
                    <a:pt x="0" y="42645"/>
                    <a:pt x="42645" y="0"/>
                    <a:pt x="95250" y="0"/>
                  </a:cubicBezTo>
                  <a:lnTo>
                    <a:pt x="2095500" y="0"/>
                  </a:lnTo>
                  <a:cubicBezTo>
                    <a:pt x="2148105" y="0"/>
                    <a:pt x="2190750" y="42645"/>
                    <a:pt x="2190750" y="95250"/>
                  </a:cubicBezTo>
                  <a:lnTo>
                    <a:pt x="2190750" y="571500"/>
                  </a:lnTo>
                  <a:lnTo>
                    <a:pt x="0" y="571500"/>
                  </a:lnTo>
                  <a:close/>
                </a:path>
              </a:pathLst>
            </a:custGeom>
            <a:solidFill>
              <a:srgbClr val="1E8E3E"/>
            </a:solidFill>
            <a:ln>
              <a:noFill/>
            </a:ln>
          </p:spPr>
          <p:txBody>
            <a:bodyPr/>
            <a:lstStyle/>
            <a:p>
              <a:endParaRPr lang="zh-CN" altLang="en-US"/>
            </a:p>
          </p:txBody>
        </p:sp>
        <p:sp>
          <p:nvSpPr>
            <p:cNvPr id="97" name="Rectangle 97"/>
            <p:cNvSpPr/>
            <p:nvPr/>
          </p:nvSpPr>
          <p:spPr>
            <a:xfrm>
              <a:off x="9248775" y="1333500"/>
              <a:ext cx="323850" cy="323850"/>
            </a:xfrm>
            <a:prstGeom prst="roundRect">
              <a:avLst>
                <a:gd name="adj" fmla="val 17647"/>
              </a:avLst>
            </a:prstGeom>
            <a:solidFill>
              <a:srgbClr val="FFFFFF">
                <a:alpha val="30000"/>
              </a:srgbClr>
            </a:solidFill>
            <a:ln>
              <a:noFill/>
            </a:ln>
          </p:spPr>
          <p:txBody>
            <a:bodyPr/>
            <a:lstStyle/>
            <a:p>
              <a:endParaRPr lang="zh-CN" altLang="en-US"/>
            </a:p>
          </p:txBody>
        </p:sp>
        <p:sp>
          <p:nvSpPr>
            <p:cNvPr id="98" name="TextBox 98"/>
            <p:cNvSpPr txBox="1"/>
            <p:nvPr/>
          </p:nvSpPr>
          <p:spPr>
            <a:xfrm>
              <a:off x="9286969" y="1414939"/>
              <a:ext cx="247462" cy="259080"/>
            </a:xfrm>
            <a:prstGeom prst="rect">
              <a:avLst/>
            </a:prstGeom>
            <a:noFill/>
            <a:ln>
              <a:noFill/>
            </a:ln>
          </p:spPr>
          <p:txBody>
            <a:bodyPr wrap="none" lIns="0" tIns="0" rIns="0" bIns="0" anchor="t" anchorCtr="0">
              <a:spAutoFit/>
            </a:bodyPr>
            <a:lstStyle/>
            <a:p>
              <a:pPr algn="ctr"/>
              <a:r>
                <a:rPr lang="zh-CN" sz="1275" b="1" dirty="0">
                  <a:solidFill>
                    <a:srgbClr val="202124"/>
                  </a:solidFill>
                  <a:latin typeface="Segoe UI"/>
                  <a:ea typeface="Microsoft YaHei"/>
                  <a:cs typeface="Segoe UI"/>
                </a:rPr>
                <a:t>04</a:t>
              </a:r>
            </a:p>
          </p:txBody>
        </p:sp>
        <p:sp>
          <p:nvSpPr>
            <p:cNvPr id="99" name="TextBox 99"/>
            <p:cNvSpPr txBox="1"/>
            <p:nvPr/>
          </p:nvSpPr>
          <p:spPr>
            <a:xfrm>
              <a:off x="9659302" y="1351121"/>
              <a:ext cx="1063273" cy="289560"/>
            </a:xfrm>
            <a:prstGeom prst="rect">
              <a:avLst/>
            </a:prstGeom>
            <a:noFill/>
            <a:ln>
              <a:noFill/>
            </a:ln>
          </p:spPr>
          <p:txBody>
            <a:bodyPr wrap="none" lIns="0" tIns="0" rIns="0" bIns="0" anchor="t" anchorCtr="0">
              <a:spAutoFit/>
            </a:bodyPr>
            <a:lstStyle/>
            <a:p>
              <a:pPr algn="l"/>
              <a:r>
                <a:rPr lang="zh-CN" sz="1425" b="1" dirty="0">
                  <a:solidFill>
                    <a:srgbClr val="202124"/>
                  </a:solidFill>
                  <a:latin typeface="Segoe UI"/>
                  <a:ea typeface="Microsoft YaHei"/>
                  <a:cs typeface="Segoe UI"/>
                </a:rPr>
                <a:t>Execution</a:t>
              </a:r>
            </a:p>
          </p:txBody>
        </p:sp>
        <p:sp>
          <p:nvSpPr>
            <p:cNvPr id="100" name="Freeform 100"/>
            <p:cNvSpPr/>
            <p:nvPr/>
          </p:nvSpPr>
          <p:spPr>
            <a:xfrm>
              <a:off x="10848975" y="1374725"/>
              <a:ext cx="300466" cy="300958"/>
            </a:xfrm>
            <a:custGeom>
              <a:avLst/>
              <a:gdLst/>
              <a:ahLst/>
              <a:cxnLst/>
              <a:rect l="l" t="t" r="r" b="b"/>
              <a:pathLst>
                <a:path w="300466" h="300958">
                  <a:moveTo>
                    <a:pt x="214312" y="25545"/>
                  </a:moveTo>
                  <a:cubicBezTo>
                    <a:pt x="273854" y="59924"/>
                    <a:pt x="300466" y="131835"/>
                    <a:pt x="277649" y="196693"/>
                  </a:cubicBezTo>
                  <a:cubicBezTo>
                    <a:pt x="254832" y="261550"/>
                    <a:pt x="189056" y="300958"/>
                    <a:pt x="121104" y="290484"/>
                  </a:cubicBezTo>
                  <a:cubicBezTo>
                    <a:pt x="53153" y="280009"/>
                    <a:pt x="2298" y="222622"/>
                    <a:pt x="71" y="153904"/>
                  </a:cubicBezTo>
                  <a:lnTo>
                    <a:pt x="0" y="149275"/>
                  </a:lnTo>
                  <a:lnTo>
                    <a:pt x="71" y="144646"/>
                  </a:lnTo>
                  <a:cubicBezTo>
                    <a:pt x="1699" y="94454"/>
                    <a:pt x="29558" y="48801"/>
                    <a:pt x="73450" y="24400"/>
                  </a:cubicBezTo>
                  <a:cubicBezTo>
                    <a:pt x="117343" y="0"/>
                    <a:pt x="170823" y="435"/>
                    <a:pt x="214312" y="25545"/>
                  </a:cubicBezTo>
                  <a:close/>
                  <a:moveTo>
                    <a:pt x="195839" y="110599"/>
                  </a:moveTo>
                  <a:cubicBezTo>
                    <a:pt x="190749" y="105509"/>
                    <a:pt x="182667" y="105001"/>
                    <a:pt x="176979" y="109413"/>
                  </a:cubicBezTo>
                  <a:lnTo>
                    <a:pt x="175636" y="110599"/>
                  </a:lnTo>
                  <a:lnTo>
                    <a:pt x="128588" y="157633"/>
                  </a:lnTo>
                  <a:lnTo>
                    <a:pt x="110114" y="139174"/>
                  </a:lnTo>
                  <a:lnTo>
                    <a:pt x="108771" y="137988"/>
                  </a:lnTo>
                  <a:cubicBezTo>
                    <a:pt x="103083" y="133579"/>
                    <a:pt x="95004" y="134089"/>
                    <a:pt x="89915" y="139177"/>
                  </a:cubicBezTo>
                  <a:cubicBezTo>
                    <a:pt x="84826" y="144266"/>
                    <a:pt x="84317" y="152345"/>
                    <a:pt x="88725" y="158033"/>
                  </a:cubicBezTo>
                  <a:lnTo>
                    <a:pt x="89911" y="159376"/>
                  </a:lnTo>
                  <a:lnTo>
                    <a:pt x="118486" y="187951"/>
                  </a:lnTo>
                  <a:lnTo>
                    <a:pt x="119829" y="189137"/>
                  </a:lnTo>
                  <a:cubicBezTo>
                    <a:pt x="124983" y="193136"/>
                    <a:pt x="132192" y="193136"/>
                    <a:pt x="137346" y="189137"/>
                  </a:cubicBezTo>
                  <a:lnTo>
                    <a:pt x="138689" y="187951"/>
                  </a:lnTo>
                  <a:lnTo>
                    <a:pt x="195839" y="130801"/>
                  </a:lnTo>
                  <a:lnTo>
                    <a:pt x="197025" y="129458"/>
                  </a:lnTo>
                  <a:cubicBezTo>
                    <a:pt x="201437" y="123771"/>
                    <a:pt x="200928" y="115689"/>
                    <a:pt x="195839" y="110599"/>
                  </a:cubicBezTo>
                  <a:close/>
                </a:path>
              </a:pathLst>
            </a:custGeom>
            <a:solidFill>
              <a:srgbClr val="202124"/>
            </a:solidFill>
            <a:ln>
              <a:noFill/>
            </a:ln>
          </p:spPr>
          <p:txBody>
            <a:bodyPr/>
            <a:lstStyle/>
            <a:p>
              <a:endParaRPr lang="zh-CN" altLang="en-US"/>
            </a:p>
          </p:txBody>
        </p:sp>
        <p:sp>
          <p:nvSpPr>
            <p:cNvPr id="101" name="Rectangle 101"/>
            <p:cNvSpPr/>
            <p:nvPr/>
          </p:nvSpPr>
          <p:spPr>
            <a:xfrm>
              <a:off x="9105900" y="1809750"/>
              <a:ext cx="2190750" cy="304800"/>
            </a:xfrm>
            <a:prstGeom prst="rect">
              <a:avLst/>
            </a:prstGeom>
            <a:solidFill>
              <a:srgbClr val="1E8E3E">
                <a:alpha val="12000"/>
              </a:srgbClr>
            </a:solidFill>
            <a:ln>
              <a:noFill/>
            </a:ln>
          </p:spPr>
          <p:txBody>
            <a:bodyPr/>
            <a:lstStyle/>
            <a:p>
              <a:endParaRPr lang="zh-CN" altLang="en-US"/>
            </a:p>
          </p:txBody>
        </p:sp>
        <p:sp>
          <p:nvSpPr>
            <p:cNvPr id="102" name="TextBox 102"/>
            <p:cNvSpPr txBox="1"/>
            <p:nvPr/>
          </p:nvSpPr>
          <p:spPr>
            <a:xfrm>
              <a:off x="9786145" y="1912620"/>
              <a:ext cx="830261" cy="182880"/>
            </a:xfrm>
            <a:prstGeom prst="rect">
              <a:avLst/>
            </a:prstGeom>
            <a:noFill/>
            <a:ln>
              <a:noFill/>
            </a:ln>
          </p:spPr>
          <p:txBody>
            <a:bodyPr wrap="none" lIns="0" tIns="0" rIns="0" bIns="0" anchor="t" anchorCtr="0">
              <a:spAutoFit/>
            </a:bodyPr>
            <a:lstStyle/>
            <a:p>
              <a:pPr algn="ctr"/>
              <a:r>
                <a:rPr lang="zh-CN" sz="900" b="1" dirty="0">
                  <a:solidFill>
                    <a:srgbClr val="1E8E3E"/>
                  </a:solidFill>
                  <a:latin typeface="Segoe UI"/>
                  <a:ea typeface="Microsoft YaHei"/>
                  <a:cs typeface="Segoe UI"/>
                </a:rPr>
                <a:t>Verify + Run</a:t>
              </a:r>
            </a:p>
          </p:txBody>
        </p:sp>
        <p:sp>
          <p:nvSpPr>
            <p:cNvPr id="103" name="Ellipse 103"/>
            <p:cNvSpPr/>
            <p:nvPr/>
          </p:nvSpPr>
          <p:spPr>
            <a:xfrm>
              <a:off x="9267825" y="2428875"/>
              <a:ext cx="57150" cy="57150"/>
            </a:xfrm>
            <a:prstGeom prst="ellipse">
              <a:avLst/>
            </a:prstGeom>
            <a:solidFill>
              <a:srgbClr val="1E8E3E"/>
            </a:solidFill>
            <a:ln>
              <a:noFill/>
            </a:ln>
          </p:spPr>
          <p:txBody>
            <a:bodyPr/>
            <a:lstStyle/>
            <a:p>
              <a:endParaRPr lang="zh-CN" altLang="en-US"/>
            </a:p>
          </p:txBody>
        </p:sp>
        <p:sp>
          <p:nvSpPr>
            <p:cNvPr id="104" name="TextBox 104"/>
            <p:cNvSpPr txBox="1"/>
            <p:nvPr/>
          </p:nvSpPr>
          <p:spPr>
            <a:xfrm>
              <a:off x="9397365" y="2391728"/>
              <a:ext cx="1345502"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Equivalence check</a:t>
              </a:r>
            </a:p>
          </p:txBody>
        </p:sp>
        <p:sp>
          <p:nvSpPr>
            <p:cNvPr id="105" name="TextBox 105"/>
            <p:cNvSpPr txBox="1"/>
            <p:nvPr/>
          </p:nvSpPr>
          <p:spPr>
            <a:xfrm>
              <a:off x="9399270" y="2569845"/>
              <a:ext cx="129130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2ⁿ truth table rows</a:t>
              </a:r>
            </a:p>
          </p:txBody>
        </p:sp>
        <p:sp>
          <p:nvSpPr>
            <p:cNvPr id="106" name="Ellipse 106"/>
            <p:cNvSpPr/>
            <p:nvPr/>
          </p:nvSpPr>
          <p:spPr>
            <a:xfrm>
              <a:off x="9267825" y="2886075"/>
              <a:ext cx="57150" cy="57150"/>
            </a:xfrm>
            <a:prstGeom prst="ellipse">
              <a:avLst/>
            </a:prstGeom>
            <a:solidFill>
              <a:srgbClr val="1E8E3E"/>
            </a:solidFill>
            <a:ln>
              <a:noFill/>
            </a:ln>
          </p:spPr>
          <p:txBody>
            <a:bodyPr/>
            <a:lstStyle/>
            <a:p>
              <a:endParaRPr lang="zh-CN" altLang="en-US"/>
            </a:p>
          </p:txBody>
        </p:sp>
        <p:sp>
          <p:nvSpPr>
            <p:cNvPr id="107" name="TextBox 107"/>
            <p:cNvSpPr txBox="1"/>
            <p:nvPr/>
          </p:nvSpPr>
          <p:spPr>
            <a:xfrm>
              <a:off x="9397365" y="2848928"/>
              <a:ext cx="1583198"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Statement execution</a:t>
              </a:r>
            </a:p>
          </p:txBody>
        </p:sp>
        <p:sp>
          <p:nvSpPr>
            <p:cNvPr id="108" name="TextBox 108"/>
            <p:cNvSpPr txBox="1"/>
            <p:nvPr/>
          </p:nvSpPr>
          <p:spPr>
            <a:xfrm>
              <a:off x="9399270" y="3027045"/>
              <a:ext cx="122558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State dict updates</a:t>
              </a:r>
            </a:p>
          </p:txBody>
        </p:sp>
        <p:sp>
          <p:nvSpPr>
            <p:cNvPr id="109" name="Ellipse 109"/>
            <p:cNvSpPr/>
            <p:nvPr/>
          </p:nvSpPr>
          <p:spPr>
            <a:xfrm>
              <a:off x="9267825" y="3343275"/>
              <a:ext cx="57150" cy="57150"/>
            </a:xfrm>
            <a:prstGeom prst="ellipse">
              <a:avLst/>
            </a:prstGeom>
            <a:solidFill>
              <a:srgbClr val="1E8E3E"/>
            </a:solidFill>
            <a:ln>
              <a:noFill/>
            </a:ln>
          </p:spPr>
          <p:txBody>
            <a:bodyPr/>
            <a:lstStyle/>
            <a:p>
              <a:endParaRPr lang="zh-CN" altLang="en-US"/>
            </a:p>
          </p:txBody>
        </p:sp>
        <p:sp>
          <p:nvSpPr>
            <p:cNvPr id="110" name="TextBox 110"/>
            <p:cNvSpPr txBox="1"/>
            <p:nvPr/>
          </p:nvSpPr>
          <p:spPr>
            <a:xfrm>
              <a:off x="9397365" y="3306128"/>
              <a:ext cx="141451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JSON trace output</a:t>
              </a:r>
            </a:p>
          </p:txBody>
        </p:sp>
        <p:sp>
          <p:nvSpPr>
            <p:cNvPr id="111" name="TextBox 111"/>
            <p:cNvSpPr txBox="1"/>
            <p:nvPr/>
          </p:nvSpPr>
          <p:spPr>
            <a:xfrm>
              <a:off x="9399270" y="3484245"/>
              <a:ext cx="120586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Full pipeline result</a:t>
              </a:r>
            </a:p>
          </p:txBody>
        </p:sp>
        <p:sp>
          <p:nvSpPr>
            <p:cNvPr id="112" name="Rectangle 112"/>
            <p:cNvSpPr/>
            <p:nvPr/>
          </p:nvSpPr>
          <p:spPr>
            <a:xfrm>
              <a:off x="9105900" y="4210050"/>
              <a:ext cx="2190750" cy="9525"/>
            </a:xfrm>
            <a:prstGeom prst="rect">
              <a:avLst/>
            </a:prstGeom>
            <a:solidFill>
              <a:srgbClr val="DADCE0"/>
            </a:solidFill>
            <a:ln>
              <a:noFill/>
            </a:ln>
          </p:spPr>
          <p:txBody>
            <a:bodyPr/>
            <a:lstStyle/>
            <a:p>
              <a:endParaRPr lang="zh-CN" altLang="en-US"/>
            </a:p>
          </p:txBody>
        </p:sp>
        <p:sp>
          <p:nvSpPr>
            <p:cNvPr id="113" name="Rectangle 113"/>
            <p:cNvSpPr/>
            <p:nvPr/>
          </p:nvSpPr>
          <p:spPr>
            <a:xfrm>
              <a:off x="9277350" y="4343400"/>
              <a:ext cx="1847850" cy="1047750"/>
            </a:xfrm>
            <a:prstGeom prst="roundRect">
              <a:avLst>
                <a:gd name="adj" fmla="val 5455"/>
              </a:avLst>
            </a:prstGeom>
            <a:solidFill>
              <a:srgbClr val="F8F9FA"/>
            </a:solidFill>
            <a:ln>
              <a:noFill/>
            </a:ln>
          </p:spPr>
          <p:txBody>
            <a:bodyPr/>
            <a:lstStyle/>
            <a:p>
              <a:endParaRPr lang="zh-CN" altLang="en-US"/>
            </a:p>
          </p:txBody>
        </p:sp>
        <p:sp>
          <p:nvSpPr>
            <p:cNvPr id="114" name="TextBox 114"/>
            <p:cNvSpPr txBox="1"/>
            <p:nvPr/>
          </p:nvSpPr>
          <p:spPr>
            <a:xfrm>
              <a:off x="9969395" y="4435316"/>
              <a:ext cx="463760" cy="167640"/>
            </a:xfrm>
            <a:prstGeom prst="rect">
              <a:avLst/>
            </a:prstGeom>
            <a:noFill/>
            <a:ln>
              <a:noFill/>
            </a:ln>
          </p:spPr>
          <p:txBody>
            <a:bodyPr wrap="none" lIns="0" tIns="0" rIns="0" bIns="0" anchor="t" anchorCtr="0">
              <a:spAutoFit/>
            </a:bodyPr>
            <a:lstStyle/>
            <a:p>
              <a:pPr algn="ctr"/>
              <a:r>
                <a:rPr lang="zh-CN" sz="825" b="1" dirty="0">
                  <a:solidFill>
                    <a:srgbClr val="5F6368"/>
                  </a:solidFill>
                  <a:latin typeface="Segoe UI"/>
                  <a:ea typeface="Microsoft YaHei"/>
                  <a:cs typeface="Segoe UI"/>
                </a:rPr>
                <a:t>OUTPUT</a:t>
              </a:r>
            </a:p>
          </p:txBody>
        </p:sp>
        <p:sp>
          <p:nvSpPr>
            <p:cNvPr id="115" name="TextBox 115"/>
            <p:cNvSpPr txBox="1"/>
            <p:nvPr/>
          </p:nvSpPr>
          <p:spPr>
            <a:xfrm>
              <a:off x="9519476" y="4665345"/>
              <a:ext cx="1363599" cy="182880"/>
            </a:xfrm>
            <a:prstGeom prst="rect">
              <a:avLst/>
            </a:prstGeom>
            <a:noFill/>
            <a:ln>
              <a:noFill/>
            </a:ln>
          </p:spPr>
          <p:txBody>
            <a:bodyPr wrap="none" lIns="0" tIns="0" rIns="0" bIns="0" anchor="t" anchorCtr="0">
              <a:spAutoFit/>
            </a:bodyPr>
            <a:lstStyle/>
            <a:p>
              <a:pPr algn="ctr"/>
              <a:r>
                <a:rPr lang="zh-CN" sz="900" dirty="0">
                  <a:solidFill>
                    <a:srgbClr val="1E8E3E"/>
                  </a:solidFill>
                  <a:latin typeface="Consolas"/>
                  <a:ea typeface="Microsoft YaHei"/>
                  <a:cs typeface="Consolas"/>
                </a:rPr>
                <a:t>{phase_4_execution}</a:t>
              </a:r>
            </a:p>
          </p:txBody>
        </p:sp>
        <p:sp>
          <p:nvSpPr>
            <p:cNvPr id="116" name="TextBox 116"/>
            <p:cNvSpPr txBox="1"/>
            <p:nvPr/>
          </p:nvSpPr>
          <p:spPr>
            <a:xfrm>
              <a:off x="9362122" y="4882991"/>
              <a:ext cx="792099"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verifications</a:t>
              </a:r>
            </a:p>
          </p:txBody>
        </p:sp>
        <p:sp>
          <p:nvSpPr>
            <p:cNvPr id="117" name="TextBox 117"/>
            <p:cNvSpPr txBox="1"/>
            <p:nvPr/>
          </p:nvSpPr>
          <p:spPr>
            <a:xfrm>
              <a:off x="9362122" y="5054441"/>
              <a:ext cx="918615" cy="167640"/>
            </a:xfrm>
            <a:prstGeom prst="rect">
              <a:avLst/>
            </a:prstGeom>
            <a:noFill/>
            <a:ln>
              <a:noFill/>
            </a:ln>
          </p:spPr>
          <p:txBody>
            <a:bodyPr wrap="none" lIns="0" tIns="0" rIns="0" bIns="0" anchor="t" anchorCtr="0">
              <a:spAutoFit/>
            </a:bodyPr>
            <a:lstStyle/>
            <a:p>
              <a:pPr algn="l"/>
              <a:r>
                <a:rPr lang="zh-CN" sz="825" dirty="0">
                  <a:solidFill>
                    <a:srgbClr val="80868B"/>
                  </a:solidFill>
                  <a:latin typeface="Consolas"/>
                  <a:ea typeface="Microsoft YaHei"/>
                  <a:cs typeface="Consolas"/>
                </a:rPr>
                <a:t>printed_output</a:t>
              </a:r>
            </a:p>
          </p:txBody>
        </p:sp>
      </p:grpSp>
      <p:grpSp>
        <p:nvGrpSpPr>
          <p:cNvPr id="122" name="Group 122"/>
          <p:cNvGrpSpPr/>
          <p:nvPr/>
        </p:nvGrpSpPr>
        <p:grpSpPr>
          <a:xfrm>
            <a:off x="11296650" y="1381125"/>
            <a:ext cx="919344" cy="4095750"/>
            <a:chOff x="11296650" y="1381125"/>
            <a:chExt cx="919344" cy="4095750"/>
          </a:xfrm>
        </p:grpSpPr>
        <p:sp>
          <p:nvSpPr>
            <p:cNvPr id="119" name="Line 119"/>
            <p:cNvSpPr/>
            <p:nvPr/>
          </p:nvSpPr>
          <p:spPr>
            <a:xfrm>
              <a:off x="11296650" y="3429000"/>
              <a:ext cx="228600" cy="1"/>
            </a:xfrm>
            <a:prstGeom prst="line">
              <a:avLst/>
            </a:prstGeom>
            <a:noFill/>
            <a:ln w="19050">
              <a:solidFill>
                <a:srgbClr val="1E8E3E">
                  <a:alpha val="60000"/>
                </a:srgbClr>
              </a:solidFill>
              <a:tailEnd type="triangle" w="lg" len="lg"/>
            </a:ln>
          </p:spPr>
          <p:txBody>
            <a:bodyPr/>
            <a:lstStyle/>
            <a:p>
              <a:endParaRPr lang="zh-CN" altLang="en-US"/>
            </a:p>
          </p:txBody>
        </p:sp>
        <p:sp>
          <p:nvSpPr>
            <p:cNvPr id="120" name="Rectangle 120"/>
            <p:cNvSpPr/>
            <p:nvPr/>
          </p:nvSpPr>
          <p:spPr>
            <a:xfrm>
              <a:off x="11544300" y="1381125"/>
              <a:ext cx="476250" cy="4095750"/>
            </a:xfrm>
            <a:prstGeom prst="roundRect">
              <a:avLst>
                <a:gd name="adj" fmla="val 16000"/>
              </a:avLst>
            </a:prstGeom>
            <a:solidFill>
              <a:srgbClr val="FFFFFF"/>
            </a:solidFill>
            <a:ln w="9525">
              <a:solidFill>
                <a:srgbClr val="1E8E3E">
                  <a:alpha val="50000"/>
                </a:srgbClr>
              </a:solidFill>
            </a:ln>
          </p:spPr>
          <p:txBody>
            <a:bodyPr/>
            <a:lstStyle/>
            <a:p>
              <a:endParaRPr lang="zh-CN" altLang="en-US"/>
            </a:p>
          </p:txBody>
        </p:sp>
        <p:sp>
          <p:nvSpPr>
            <p:cNvPr id="121" name="TextBox 121"/>
            <p:cNvSpPr txBox="1"/>
            <p:nvPr/>
          </p:nvSpPr>
          <p:spPr>
            <a:xfrm rot="-5400000">
              <a:off x="11337427" y="3432810"/>
              <a:ext cx="878567" cy="182880"/>
            </a:xfrm>
            <a:prstGeom prst="rect">
              <a:avLst/>
            </a:prstGeom>
            <a:noFill/>
            <a:ln>
              <a:noFill/>
            </a:ln>
          </p:spPr>
          <p:txBody>
            <a:bodyPr wrap="none" lIns="0" tIns="0" rIns="0" bIns="0" anchor="t" anchorCtr="0">
              <a:spAutoFit/>
            </a:bodyPr>
            <a:lstStyle/>
            <a:p>
              <a:pPr algn="ctr"/>
              <a:r>
                <a:rPr lang="zh-CN" sz="900" b="1" dirty="0">
                  <a:solidFill>
                    <a:srgbClr val="1E8E3E"/>
                  </a:solidFill>
                  <a:latin typeface="Segoe UI"/>
                  <a:ea typeface="Microsoft YaHei"/>
                  <a:cs typeface="Segoe UI"/>
                </a:rPr>
                <a:t>JSON OUTPUT</a:t>
              </a:r>
            </a:p>
          </p:txBody>
        </p:sp>
      </p:grpSp>
      <p:grpSp>
        <p:nvGrpSpPr>
          <p:cNvPr id="126" name="Group 126"/>
          <p:cNvGrpSpPr/>
          <p:nvPr/>
        </p:nvGrpSpPr>
        <p:grpSpPr>
          <a:xfrm>
            <a:off x="561022" y="6572250"/>
            <a:ext cx="11069955" cy="269081"/>
            <a:chOff x="561022" y="6572250"/>
            <a:chExt cx="11069955" cy="269081"/>
          </a:xfrm>
        </p:grpSpPr>
        <p:sp>
          <p:nvSpPr>
            <p:cNvPr id="123" name="Rectangle 123"/>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124" name="TextBox 124"/>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125" name="TextBox 125"/>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04</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500"/>
                                        <p:tgtEl>
                                          <p:spTgt spid="36"/>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500"/>
                                        <p:tgtEl>
                                          <p:spTgt spid="38"/>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500"/>
                                        <p:tgtEl>
                                          <p:spTgt spid="66"/>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68"/>
                                        </p:tgtEl>
                                        <p:attrNameLst>
                                          <p:attrName>style.visibility</p:attrName>
                                        </p:attrNameLst>
                                      </p:cBhvr>
                                      <p:to>
                                        <p:strVal val="visible"/>
                                      </p:to>
                                    </p:set>
                                    <p:animEffect transition="in" filter="fade">
                                      <p:cBhvr>
                                        <p:cTn id="23" dur="500"/>
                                        <p:tgtEl>
                                          <p:spTgt spid="68"/>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92"/>
                                        </p:tgtEl>
                                        <p:attrNameLst>
                                          <p:attrName>style.visibility</p:attrName>
                                        </p:attrNameLst>
                                      </p:cBhvr>
                                      <p:to>
                                        <p:strVal val="visible"/>
                                      </p:to>
                                    </p:set>
                                    <p:animEffect transition="in" filter="fade">
                                      <p:cBhvr>
                                        <p:cTn id="27" dur="500"/>
                                        <p:tgtEl>
                                          <p:spTgt spid="92"/>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94"/>
                                        </p:tgtEl>
                                        <p:attrNameLst>
                                          <p:attrName>style.visibility</p:attrName>
                                        </p:attrNameLst>
                                      </p:cBhvr>
                                      <p:to>
                                        <p:strVal val="visible"/>
                                      </p:to>
                                    </p:set>
                                    <p:animEffect transition="in" filter="fade">
                                      <p:cBhvr>
                                        <p:cTn id="31" dur="500"/>
                                        <p:tgtEl>
                                          <p:spTgt spid="94"/>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118"/>
                                        </p:tgtEl>
                                        <p:attrNameLst>
                                          <p:attrName>style.visibility</p:attrName>
                                        </p:attrNameLst>
                                      </p:cBhvr>
                                      <p:to>
                                        <p:strVal val="visible"/>
                                      </p:to>
                                    </p:set>
                                    <p:animEffect transition="in" filter="fade">
                                      <p:cBhvr>
                                        <p:cTn id="35" dur="500"/>
                                        <p:tgtEl>
                                          <p:spTgt spid="118"/>
                                        </p:tgtEl>
                                      </p:cBhvr>
                                    </p:animEffect>
                                  </p:childTnLst>
                                </p:cTn>
                              </p:par>
                            </p:childTnLst>
                          </p:cTn>
                        </p:par>
                        <p:par>
                          <p:cTn id="36" fill="hold">
                            <p:stCondLst>
                              <p:cond delay="4000"/>
                            </p:stCondLst>
                            <p:childTnLst>
                              <p:par>
                                <p:cTn id="37" presetID="10" presetClass="entr" presetSubtype="0" fill="hold" nodeType="afterEffect">
                                  <p:stCondLst>
                                    <p:cond delay="0"/>
                                  </p:stCondLst>
                                  <p:childTnLst>
                                    <p:set>
                                      <p:cBhvr>
                                        <p:cTn id="38" dur="1" fill="hold">
                                          <p:stCondLst>
                                            <p:cond delay="0"/>
                                          </p:stCondLst>
                                        </p:cTn>
                                        <p:tgtEl>
                                          <p:spTgt spid="122"/>
                                        </p:tgtEl>
                                        <p:attrNameLst>
                                          <p:attrName>style.visibility</p:attrName>
                                        </p:attrNameLst>
                                      </p:cBhvr>
                                      <p:to>
                                        <p:strVal val="visible"/>
                                      </p:to>
                                    </p:set>
                                    <p:animEffect transition="in" filter="fade">
                                      <p:cBhvr>
                                        <p:cTn id="39"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36" grpId="0"/>
      <p:bldP spid="38" grpId="0"/>
      <p:bldP spid="66" grpId="0"/>
      <p:bldP spid="68" grpId="0"/>
      <p:bldP spid="92" grpId="0"/>
      <p:bldP spid="94" grpId="0"/>
      <p:bldP spid="118" grpId="0"/>
      <p:bldP spid="1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4120972" cy="632936"/>
            <a:chOff x="571500" y="379095"/>
            <a:chExt cx="4120972" cy="632936"/>
          </a:xfrm>
        </p:grpSpPr>
        <p:sp>
          <p:nvSpPr>
            <p:cNvPr id="5" name="Rectangle 5"/>
            <p:cNvSpPr/>
            <p:nvPr/>
          </p:nvSpPr>
          <p:spPr>
            <a:xfrm>
              <a:off x="571500" y="381000"/>
              <a:ext cx="47625" cy="342900"/>
            </a:xfrm>
            <a:prstGeom prst="roundRect">
              <a:avLst>
                <a:gd name="adj" fmla="val 40000"/>
              </a:avLst>
            </a:prstGeom>
            <a:solidFill>
              <a:srgbClr val="34A853"/>
            </a:solidFill>
            <a:ln>
              <a:noFill/>
            </a:ln>
          </p:spPr>
          <p:txBody>
            <a:bodyPr/>
            <a:lstStyle/>
            <a:p>
              <a:endParaRPr lang="zh-CN" altLang="en-US"/>
            </a:p>
          </p:txBody>
        </p:sp>
        <p:sp>
          <p:nvSpPr>
            <p:cNvPr id="6" name="TextBox 6"/>
            <p:cNvSpPr txBox="1"/>
            <p:nvPr/>
          </p:nvSpPr>
          <p:spPr>
            <a:xfrm>
              <a:off x="693420" y="379095"/>
              <a:ext cx="3999052"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Concrete Walkthrough</a:t>
              </a:r>
            </a:p>
          </p:txBody>
        </p:sp>
        <p:sp>
          <p:nvSpPr>
            <p:cNvPr id="7" name="TextBox 7"/>
            <p:cNvSpPr txBox="1"/>
            <p:nvPr/>
          </p:nvSpPr>
          <p:spPr>
            <a:xfrm>
              <a:off x="709612" y="783431"/>
              <a:ext cx="3815834"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Four source lines through the complete pipeline</a:t>
              </a:r>
            </a:p>
          </p:txBody>
        </p:sp>
      </p:grpSp>
      <p:grpSp>
        <p:nvGrpSpPr>
          <p:cNvPr id="50" name="Group 50"/>
          <p:cNvGrpSpPr/>
          <p:nvPr/>
        </p:nvGrpSpPr>
        <p:grpSpPr>
          <a:xfrm>
            <a:off x="571500" y="1143000"/>
            <a:ext cx="4953000" cy="5143500"/>
            <a:chOff x="571500" y="1143000"/>
            <a:chExt cx="4953000" cy="5143500"/>
          </a:xfrm>
        </p:grpSpPr>
        <p:sp>
          <p:nvSpPr>
            <p:cNvPr id="9" name="Rectangle 9"/>
            <p:cNvSpPr/>
            <p:nvPr/>
          </p:nvSpPr>
          <p:spPr>
            <a:xfrm>
              <a:off x="571500" y="1143000"/>
              <a:ext cx="4953000" cy="5143500"/>
            </a:xfrm>
            <a:prstGeom prst="roundRect">
              <a:avLst>
                <a:gd name="adj" fmla="val 1923"/>
              </a:avLst>
            </a:prstGeom>
            <a:solidFill>
              <a:srgbClr val="FFFFFF"/>
            </a:solidFill>
            <a:ln w="9525">
              <a:solidFill>
                <a:srgbClr val="DADCE0"/>
              </a:solidFill>
            </a:ln>
          </p:spPr>
          <p:txBody>
            <a:bodyPr/>
            <a:lstStyle/>
            <a:p>
              <a:endParaRPr lang="zh-CN" altLang="en-US"/>
            </a:p>
          </p:txBody>
        </p:sp>
        <p:sp>
          <p:nvSpPr>
            <p:cNvPr id="10" name="Rectangle 10"/>
            <p:cNvSpPr/>
            <p:nvPr/>
          </p:nvSpPr>
          <p:spPr>
            <a:xfrm>
              <a:off x="571500" y="1143000"/>
              <a:ext cx="4953000" cy="438150"/>
            </a:xfrm>
            <a:prstGeom prst="roundRect">
              <a:avLst>
                <a:gd name="adj" fmla="val 21739"/>
              </a:avLst>
            </a:prstGeom>
            <a:solidFill>
              <a:srgbClr val="F8F9FA"/>
            </a:solidFill>
            <a:ln>
              <a:noFill/>
            </a:ln>
          </p:spPr>
          <p:txBody>
            <a:bodyPr/>
            <a:lstStyle/>
            <a:p>
              <a:endParaRPr lang="zh-CN" altLang="en-US"/>
            </a:p>
          </p:txBody>
        </p:sp>
        <p:sp>
          <p:nvSpPr>
            <p:cNvPr id="11" name="Rectangle 11"/>
            <p:cNvSpPr/>
            <p:nvPr/>
          </p:nvSpPr>
          <p:spPr>
            <a:xfrm>
              <a:off x="571500" y="1428750"/>
              <a:ext cx="4953000" cy="152400"/>
            </a:xfrm>
            <a:prstGeom prst="rect">
              <a:avLst/>
            </a:prstGeom>
            <a:solidFill>
              <a:srgbClr val="F8F9FA"/>
            </a:solidFill>
            <a:ln>
              <a:noFill/>
            </a:ln>
          </p:spPr>
          <p:txBody>
            <a:bodyPr/>
            <a:lstStyle/>
            <a:p>
              <a:endParaRPr lang="zh-CN" altLang="en-US"/>
            </a:p>
          </p:txBody>
        </p:sp>
        <p:sp>
          <p:nvSpPr>
            <p:cNvPr id="12" name="Ellipse 12"/>
            <p:cNvSpPr/>
            <p:nvPr/>
          </p:nvSpPr>
          <p:spPr>
            <a:xfrm>
              <a:off x="800100" y="1304925"/>
              <a:ext cx="114300" cy="114300"/>
            </a:xfrm>
            <a:prstGeom prst="ellipse">
              <a:avLst/>
            </a:prstGeom>
            <a:solidFill>
              <a:srgbClr val="EA4335"/>
            </a:solidFill>
            <a:ln>
              <a:noFill/>
            </a:ln>
          </p:spPr>
          <p:txBody>
            <a:bodyPr/>
            <a:lstStyle/>
            <a:p>
              <a:endParaRPr lang="zh-CN" altLang="en-US"/>
            </a:p>
          </p:txBody>
        </p:sp>
        <p:sp>
          <p:nvSpPr>
            <p:cNvPr id="13" name="Ellipse 13"/>
            <p:cNvSpPr/>
            <p:nvPr/>
          </p:nvSpPr>
          <p:spPr>
            <a:xfrm>
              <a:off x="990600" y="1304925"/>
              <a:ext cx="114300" cy="114300"/>
            </a:xfrm>
            <a:prstGeom prst="ellipse">
              <a:avLst/>
            </a:prstGeom>
            <a:solidFill>
              <a:srgbClr val="5F6368"/>
            </a:solidFill>
            <a:ln>
              <a:noFill/>
            </a:ln>
          </p:spPr>
          <p:txBody>
            <a:bodyPr/>
            <a:lstStyle/>
            <a:p>
              <a:endParaRPr lang="zh-CN" altLang="en-US"/>
            </a:p>
          </p:txBody>
        </p:sp>
        <p:sp>
          <p:nvSpPr>
            <p:cNvPr id="14" name="Ellipse 14"/>
            <p:cNvSpPr/>
            <p:nvPr/>
          </p:nvSpPr>
          <p:spPr>
            <a:xfrm>
              <a:off x="1181100" y="1304925"/>
              <a:ext cx="114300" cy="114300"/>
            </a:xfrm>
            <a:prstGeom prst="ellipse">
              <a:avLst/>
            </a:prstGeom>
            <a:solidFill>
              <a:srgbClr val="1E8E3E"/>
            </a:solidFill>
            <a:ln>
              <a:noFill/>
            </a:ln>
          </p:spPr>
          <p:txBody>
            <a:bodyPr/>
            <a:lstStyle/>
            <a:p>
              <a:endParaRPr lang="zh-CN" altLang="en-US"/>
            </a:p>
          </p:txBody>
        </p:sp>
        <p:sp>
          <p:nvSpPr>
            <p:cNvPr id="15" name="TextBox 15"/>
            <p:cNvSpPr txBox="1"/>
            <p:nvPr/>
          </p:nvSpPr>
          <p:spPr>
            <a:xfrm>
              <a:off x="2510480" y="1313974"/>
              <a:ext cx="694039"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Consolas"/>
                  <a:ea typeface="Microsoft YaHei"/>
                  <a:cs typeface="Consolas"/>
                </a:rPr>
                <a:t>input.txt</a:t>
              </a:r>
            </a:p>
          </p:txBody>
        </p:sp>
        <p:sp>
          <p:nvSpPr>
            <p:cNvPr id="16" name="TextBox 16"/>
            <p:cNvSpPr txBox="1"/>
            <p:nvPr/>
          </p:nvSpPr>
          <p:spPr>
            <a:xfrm>
              <a:off x="842962" y="1859756"/>
              <a:ext cx="77867" cy="228600"/>
            </a:xfrm>
            <a:prstGeom prst="rect">
              <a:avLst/>
            </a:prstGeom>
            <a:noFill/>
            <a:ln>
              <a:noFill/>
            </a:ln>
          </p:spPr>
          <p:txBody>
            <a:bodyPr wrap="none" lIns="0" tIns="0" rIns="0" bIns="0" anchor="t" anchorCtr="0">
              <a:spAutoFit/>
            </a:bodyPr>
            <a:lstStyle/>
            <a:p>
              <a:pPr algn="l"/>
              <a:r>
                <a:rPr lang="zh-CN" sz="1125" dirty="0">
                  <a:solidFill>
                    <a:srgbClr val="80868B"/>
                  </a:solidFill>
                  <a:latin typeface="Consolas"/>
                  <a:ea typeface="Microsoft YaHei"/>
                  <a:cs typeface="Consolas"/>
                </a:rPr>
                <a:t>1</a:t>
              </a:r>
            </a:p>
          </p:txBody>
        </p:sp>
        <p:sp>
          <p:nvSpPr>
            <p:cNvPr id="17" name="TextBox 17"/>
            <p:cNvSpPr txBox="1"/>
            <p:nvPr/>
          </p:nvSpPr>
          <p:spPr>
            <a:xfrm>
              <a:off x="1128712" y="1859756"/>
              <a:ext cx="258604"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let</a:t>
              </a:r>
            </a:p>
          </p:txBody>
        </p:sp>
        <p:sp>
          <p:nvSpPr>
            <p:cNvPr id="18" name="TextBox 18"/>
            <p:cNvSpPr txBox="1"/>
            <p:nvPr/>
          </p:nvSpPr>
          <p:spPr>
            <a:xfrm>
              <a:off x="1481138" y="1859756"/>
              <a:ext cx="258604"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p =</a:t>
              </a:r>
            </a:p>
          </p:txBody>
        </p:sp>
        <p:sp>
          <p:nvSpPr>
            <p:cNvPr id="19" name="TextBox 19"/>
            <p:cNvSpPr txBox="1"/>
            <p:nvPr/>
          </p:nvSpPr>
          <p:spPr>
            <a:xfrm>
              <a:off x="2081212" y="1859756"/>
              <a:ext cx="118943" cy="228600"/>
            </a:xfrm>
            <a:prstGeom prst="rect">
              <a:avLst/>
            </a:prstGeom>
            <a:noFill/>
            <a:ln>
              <a:noFill/>
            </a:ln>
          </p:spPr>
          <p:txBody>
            <a:bodyPr wrap="none" lIns="0" tIns="0" rIns="0" bIns="0" anchor="t" anchorCtr="0">
              <a:spAutoFit/>
            </a:bodyPr>
            <a:lstStyle/>
            <a:p>
              <a:pPr algn="l"/>
              <a:r>
                <a:rPr lang="zh-CN" sz="1125" dirty="0">
                  <a:solidFill>
                    <a:srgbClr val="1E8E3E"/>
                  </a:solidFill>
                  <a:latin typeface="Consolas"/>
                  <a:ea typeface="Microsoft YaHei"/>
                  <a:cs typeface="Consolas"/>
                </a:rPr>
                <a:t>T</a:t>
              </a:r>
            </a:p>
          </p:txBody>
        </p:sp>
        <p:sp>
          <p:nvSpPr>
            <p:cNvPr id="20" name="TextBox 20"/>
            <p:cNvSpPr txBox="1"/>
            <p:nvPr/>
          </p:nvSpPr>
          <p:spPr>
            <a:xfrm>
              <a:off x="842962" y="2202656"/>
              <a:ext cx="118943" cy="228600"/>
            </a:xfrm>
            <a:prstGeom prst="rect">
              <a:avLst/>
            </a:prstGeom>
            <a:noFill/>
            <a:ln>
              <a:noFill/>
            </a:ln>
          </p:spPr>
          <p:txBody>
            <a:bodyPr wrap="none" lIns="0" tIns="0" rIns="0" bIns="0" anchor="t" anchorCtr="0">
              <a:spAutoFit/>
            </a:bodyPr>
            <a:lstStyle/>
            <a:p>
              <a:pPr algn="l"/>
              <a:r>
                <a:rPr lang="zh-CN" sz="1125" dirty="0">
                  <a:solidFill>
                    <a:srgbClr val="80868B"/>
                  </a:solidFill>
                  <a:latin typeface="Consolas"/>
                  <a:ea typeface="Microsoft YaHei"/>
                  <a:cs typeface="Consolas"/>
                </a:rPr>
                <a:t>2</a:t>
              </a:r>
            </a:p>
          </p:txBody>
        </p:sp>
        <p:sp>
          <p:nvSpPr>
            <p:cNvPr id="21" name="TextBox 21"/>
            <p:cNvSpPr txBox="1"/>
            <p:nvPr/>
          </p:nvSpPr>
          <p:spPr>
            <a:xfrm>
              <a:off x="1128712" y="2202656"/>
              <a:ext cx="258604"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let</a:t>
              </a:r>
            </a:p>
          </p:txBody>
        </p:sp>
        <p:sp>
          <p:nvSpPr>
            <p:cNvPr id="22" name="TextBox 22"/>
            <p:cNvSpPr txBox="1"/>
            <p:nvPr/>
          </p:nvSpPr>
          <p:spPr>
            <a:xfrm>
              <a:off x="1481138" y="2202656"/>
              <a:ext cx="258604"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q =</a:t>
              </a:r>
            </a:p>
          </p:txBody>
        </p:sp>
        <p:sp>
          <p:nvSpPr>
            <p:cNvPr id="23" name="TextBox 23"/>
            <p:cNvSpPr txBox="1"/>
            <p:nvPr/>
          </p:nvSpPr>
          <p:spPr>
            <a:xfrm>
              <a:off x="2081212" y="2202656"/>
              <a:ext cx="118943" cy="228600"/>
            </a:xfrm>
            <a:prstGeom prst="rect">
              <a:avLst/>
            </a:prstGeom>
            <a:noFill/>
            <a:ln>
              <a:noFill/>
            </a:ln>
          </p:spPr>
          <p:txBody>
            <a:bodyPr wrap="none" lIns="0" tIns="0" rIns="0" bIns="0" anchor="t" anchorCtr="0">
              <a:spAutoFit/>
            </a:bodyPr>
            <a:lstStyle/>
            <a:p>
              <a:pPr algn="l"/>
              <a:r>
                <a:rPr lang="zh-CN" sz="1125" dirty="0">
                  <a:solidFill>
                    <a:srgbClr val="EA4335"/>
                  </a:solidFill>
                  <a:latin typeface="Consolas"/>
                  <a:ea typeface="Microsoft YaHei"/>
                  <a:cs typeface="Consolas"/>
                </a:rPr>
                <a:t>F</a:t>
              </a:r>
            </a:p>
          </p:txBody>
        </p:sp>
        <p:sp>
          <p:nvSpPr>
            <p:cNvPr id="24" name="TextBox 24"/>
            <p:cNvSpPr txBox="1"/>
            <p:nvPr/>
          </p:nvSpPr>
          <p:spPr>
            <a:xfrm>
              <a:off x="842962" y="2545556"/>
              <a:ext cx="118943" cy="228600"/>
            </a:xfrm>
            <a:prstGeom prst="rect">
              <a:avLst/>
            </a:prstGeom>
            <a:noFill/>
            <a:ln>
              <a:noFill/>
            </a:ln>
          </p:spPr>
          <p:txBody>
            <a:bodyPr wrap="none" lIns="0" tIns="0" rIns="0" bIns="0" anchor="t" anchorCtr="0">
              <a:spAutoFit/>
            </a:bodyPr>
            <a:lstStyle/>
            <a:p>
              <a:pPr algn="l"/>
              <a:r>
                <a:rPr lang="zh-CN" sz="1125" dirty="0">
                  <a:solidFill>
                    <a:srgbClr val="80868B"/>
                  </a:solidFill>
                  <a:latin typeface="Consolas"/>
                  <a:ea typeface="Microsoft YaHei"/>
                  <a:cs typeface="Consolas"/>
                </a:rPr>
                <a:t>3</a:t>
              </a:r>
            </a:p>
          </p:txBody>
        </p:sp>
        <p:sp>
          <p:nvSpPr>
            <p:cNvPr id="25" name="TextBox 25"/>
            <p:cNvSpPr txBox="1"/>
            <p:nvPr/>
          </p:nvSpPr>
          <p:spPr>
            <a:xfrm>
              <a:off x="1128712" y="2545556"/>
              <a:ext cx="258604"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let</a:t>
              </a:r>
            </a:p>
          </p:txBody>
        </p:sp>
        <p:sp>
          <p:nvSpPr>
            <p:cNvPr id="26" name="TextBox 26"/>
            <p:cNvSpPr txBox="1"/>
            <p:nvPr/>
          </p:nvSpPr>
          <p:spPr>
            <a:xfrm>
              <a:off x="1481138" y="2545556"/>
              <a:ext cx="258604"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r =</a:t>
              </a:r>
            </a:p>
          </p:txBody>
        </p:sp>
        <p:sp>
          <p:nvSpPr>
            <p:cNvPr id="27" name="TextBox 27"/>
            <p:cNvSpPr txBox="1"/>
            <p:nvPr/>
          </p:nvSpPr>
          <p:spPr>
            <a:xfrm>
              <a:off x="2052638" y="2545556"/>
              <a:ext cx="118943"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a:t>
              </a:r>
            </a:p>
          </p:txBody>
        </p:sp>
        <p:sp>
          <p:nvSpPr>
            <p:cNvPr id="28" name="TextBox 28"/>
            <p:cNvSpPr txBox="1"/>
            <p:nvPr/>
          </p:nvSpPr>
          <p:spPr>
            <a:xfrm>
              <a:off x="2185988" y="2545556"/>
              <a:ext cx="332542" cy="228600"/>
            </a:xfrm>
            <a:prstGeom prst="rect">
              <a:avLst/>
            </a:prstGeom>
            <a:noFill/>
            <a:ln>
              <a:noFill/>
            </a:ln>
          </p:spPr>
          <p:txBody>
            <a:bodyPr wrap="none" lIns="0" tIns="0" rIns="0" bIns="0" anchor="t" anchorCtr="0">
              <a:spAutoFit/>
            </a:bodyPr>
            <a:lstStyle/>
            <a:p>
              <a:pPr algn="l"/>
              <a:r>
                <a:rPr lang="zh-CN" sz="1125" dirty="0">
                  <a:solidFill>
                    <a:srgbClr val="9334E6"/>
                  </a:solidFill>
                  <a:latin typeface="Consolas"/>
                  <a:ea typeface="Microsoft YaHei"/>
                  <a:cs typeface="Consolas"/>
                </a:rPr>
                <a:t>NOT</a:t>
              </a:r>
            </a:p>
          </p:txBody>
        </p:sp>
        <p:sp>
          <p:nvSpPr>
            <p:cNvPr id="29" name="TextBox 29"/>
            <p:cNvSpPr txBox="1"/>
            <p:nvPr/>
          </p:nvSpPr>
          <p:spPr>
            <a:xfrm>
              <a:off x="2633662" y="2545556"/>
              <a:ext cx="209312"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a:t>
              </a:r>
            </a:p>
          </p:txBody>
        </p:sp>
        <p:sp>
          <p:nvSpPr>
            <p:cNvPr id="30" name="TextBox 30"/>
            <p:cNvSpPr txBox="1"/>
            <p:nvPr/>
          </p:nvSpPr>
          <p:spPr>
            <a:xfrm>
              <a:off x="2909888" y="2545556"/>
              <a:ext cx="332542" cy="228600"/>
            </a:xfrm>
            <a:prstGeom prst="rect">
              <a:avLst/>
            </a:prstGeom>
            <a:noFill/>
            <a:ln>
              <a:noFill/>
            </a:ln>
          </p:spPr>
          <p:txBody>
            <a:bodyPr wrap="none" lIns="0" tIns="0" rIns="0" bIns="0" anchor="t" anchorCtr="0">
              <a:spAutoFit/>
            </a:bodyPr>
            <a:lstStyle/>
            <a:p>
              <a:pPr algn="l"/>
              <a:r>
                <a:rPr lang="zh-CN" sz="1125" dirty="0">
                  <a:solidFill>
                    <a:srgbClr val="9334E6"/>
                  </a:solidFill>
                  <a:latin typeface="Consolas"/>
                  <a:ea typeface="Microsoft YaHei"/>
                  <a:cs typeface="Consolas"/>
                </a:rPr>
                <a:t>NOT</a:t>
              </a:r>
            </a:p>
          </p:txBody>
        </p:sp>
        <p:sp>
          <p:nvSpPr>
            <p:cNvPr id="31" name="TextBox 31"/>
            <p:cNvSpPr txBox="1"/>
            <p:nvPr/>
          </p:nvSpPr>
          <p:spPr>
            <a:xfrm>
              <a:off x="3357562" y="2545556"/>
              <a:ext cx="209312"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p)</a:t>
              </a:r>
            </a:p>
          </p:txBody>
        </p:sp>
        <p:sp>
          <p:nvSpPr>
            <p:cNvPr id="32" name="TextBox 32"/>
            <p:cNvSpPr txBox="1"/>
            <p:nvPr/>
          </p:nvSpPr>
          <p:spPr>
            <a:xfrm>
              <a:off x="1128712" y="2774156"/>
              <a:ext cx="299680" cy="228600"/>
            </a:xfrm>
            <a:prstGeom prst="rect">
              <a:avLst/>
            </a:prstGeom>
            <a:noFill/>
            <a:ln>
              <a:noFill/>
            </a:ln>
          </p:spPr>
          <p:txBody>
            <a:bodyPr wrap="none" lIns="0" tIns="0" rIns="0" bIns="0" anchor="t" anchorCtr="0">
              <a:spAutoFit/>
            </a:bodyPr>
            <a:lstStyle/>
            <a:p>
              <a:pPr algn="l"/>
              <a:r>
                <a:rPr lang="zh-CN" sz="1125" dirty="0">
                  <a:solidFill>
                    <a:srgbClr val="34A853"/>
                  </a:solidFill>
                  <a:latin typeface="Consolas"/>
                  <a:ea typeface="Microsoft YaHei"/>
                  <a:cs typeface="Consolas"/>
                </a:rPr>
                <a:t>AND</a:t>
              </a:r>
            </a:p>
          </p:txBody>
        </p:sp>
        <p:sp>
          <p:nvSpPr>
            <p:cNvPr id="33" name="TextBox 33"/>
            <p:cNvSpPr txBox="1"/>
            <p:nvPr/>
          </p:nvSpPr>
          <p:spPr>
            <a:xfrm>
              <a:off x="1852612" y="2774156"/>
              <a:ext cx="299680"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q))</a:t>
              </a:r>
            </a:p>
          </p:txBody>
        </p:sp>
        <p:sp>
          <p:nvSpPr>
            <p:cNvPr id="34" name="TextBox 34"/>
            <p:cNvSpPr txBox="1"/>
            <p:nvPr/>
          </p:nvSpPr>
          <p:spPr>
            <a:xfrm>
              <a:off x="842962" y="3155156"/>
              <a:ext cx="118943" cy="228600"/>
            </a:xfrm>
            <a:prstGeom prst="rect">
              <a:avLst/>
            </a:prstGeom>
            <a:noFill/>
            <a:ln>
              <a:noFill/>
            </a:ln>
          </p:spPr>
          <p:txBody>
            <a:bodyPr wrap="none" lIns="0" tIns="0" rIns="0" bIns="0" anchor="t" anchorCtr="0">
              <a:spAutoFit/>
            </a:bodyPr>
            <a:lstStyle/>
            <a:p>
              <a:pPr algn="l"/>
              <a:r>
                <a:rPr lang="zh-CN" sz="1125" dirty="0">
                  <a:solidFill>
                    <a:srgbClr val="80868B"/>
                  </a:solidFill>
                  <a:latin typeface="Consolas"/>
                  <a:ea typeface="Microsoft YaHei"/>
                  <a:cs typeface="Consolas"/>
                </a:rPr>
                <a:t>4</a:t>
              </a:r>
            </a:p>
          </p:txBody>
        </p:sp>
        <p:sp>
          <p:nvSpPr>
            <p:cNvPr id="35" name="TextBox 35"/>
            <p:cNvSpPr txBox="1"/>
            <p:nvPr/>
          </p:nvSpPr>
          <p:spPr>
            <a:xfrm>
              <a:off x="1128712" y="3155156"/>
              <a:ext cx="168235"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if</a:t>
              </a:r>
            </a:p>
          </p:txBody>
        </p:sp>
        <p:sp>
          <p:nvSpPr>
            <p:cNvPr id="36" name="TextBox 36"/>
            <p:cNvSpPr txBox="1"/>
            <p:nvPr/>
          </p:nvSpPr>
          <p:spPr>
            <a:xfrm>
              <a:off x="1404938" y="3155156"/>
              <a:ext cx="118943"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r</a:t>
              </a:r>
            </a:p>
          </p:txBody>
        </p:sp>
        <p:sp>
          <p:nvSpPr>
            <p:cNvPr id="37" name="TextBox 37"/>
            <p:cNvSpPr txBox="1"/>
            <p:nvPr/>
          </p:nvSpPr>
          <p:spPr>
            <a:xfrm>
              <a:off x="1690688" y="3155156"/>
              <a:ext cx="390049"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then</a:t>
              </a:r>
            </a:p>
          </p:txBody>
        </p:sp>
        <p:sp>
          <p:nvSpPr>
            <p:cNvPr id="38" name="TextBox 38"/>
            <p:cNvSpPr txBox="1"/>
            <p:nvPr/>
          </p:nvSpPr>
          <p:spPr>
            <a:xfrm>
              <a:off x="2176462" y="3155156"/>
              <a:ext cx="439341" cy="228600"/>
            </a:xfrm>
            <a:prstGeom prst="rect">
              <a:avLst/>
            </a:prstGeom>
            <a:noFill/>
            <a:ln>
              <a:noFill/>
            </a:ln>
          </p:spPr>
          <p:txBody>
            <a:bodyPr wrap="none" lIns="0" tIns="0" rIns="0" bIns="0" anchor="t" anchorCtr="0">
              <a:spAutoFit/>
            </a:bodyPr>
            <a:lstStyle/>
            <a:p>
              <a:pPr algn="l"/>
              <a:r>
                <a:rPr lang="zh-CN" sz="1125" dirty="0">
                  <a:solidFill>
                    <a:srgbClr val="4285F4"/>
                  </a:solidFill>
                  <a:latin typeface="Consolas"/>
                  <a:ea typeface="Microsoft YaHei"/>
                  <a:cs typeface="Consolas"/>
                </a:rPr>
                <a:t>print</a:t>
              </a:r>
            </a:p>
          </p:txBody>
        </p:sp>
        <p:sp>
          <p:nvSpPr>
            <p:cNvPr id="39" name="TextBox 39"/>
            <p:cNvSpPr txBox="1"/>
            <p:nvPr/>
          </p:nvSpPr>
          <p:spPr>
            <a:xfrm>
              <a:off x="2900362" y="3155156"/>
              <a:ext cx="118943"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p</a:t>
              </a:r>
            </a:p>
          </p:txBody>
        </p:sp>
        <p:sp>
          <p:nvSpPr>
            <p:cNvPr id="40" name="Rectangle 40"/>
            <p:cNvSpPr/>
            <p:nvPr/>
          </p:nvSpPr>
          <p:spPr>
            <a:xfrm>
              <a:off x="762000" y="3524250"/>
              <a:ext cx="4572000" cy="9525"/>
            </a:xfrm>
            <a:prstGeom prst="rect">
              <a:avLst/>
            </a:prstGeom>
            <a:solidFill>
              <a:srgbClr val="DADCE0"/>
            </a:solidFill>
            <a:ln>
              <a:noFill/>
            </a:ln>
          </p:spPr>
          <p:txBody>
            <a:bodyPr/>
            <a:lstStyle/>
            <a:p>
              <a:endParaRPr lang="zh-CN" altLang="en-US"/>
            </a:p>
          </p:txBody>
        </p:sp>
        <p:sp>
          <p:nvSpPr>
            <p:cNvPr id="41" name="TextBox 41"/>
            <p:cNvSpPr txBox="1"/>
            <p:nvPr/>
          </p:nvSpPr>
          <p:spPr>
            <a:xfrm>
              <a:off x="844868" y="3704749"/>
              <a:ext cx="315041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After Phase 3 optimization, line 3 simplifies:</a:t>
              </a:r>
            </a:p>
          </p:txBody>
        </p:sp>
        <p:sp>
          <p:nvSpPr>
            <p:cNvPr id="42" name="TextBox 42"/>
            <p:cNvSpPr txBox="1"/>
            <p:nvPr/>
          </p:nvSpPr>
          <p:spPr>
            <a:xfrm>
              <a:off x="844868" y="3990499"/>
              <a:ext cx="1427393" cy="198120"/>
            </a:xfrm>
            <a:prstGeom prst="rect">
              <a:avLst/>
            </a:prstGeom>
            <a:noFill/>
            <a:ln>
              <a:noFill/>
            </a:ln>
          </p:spPr>
          <p:txBody>
            <a:bodyPr wrap="none" lIns="0" tIns="0" rIns="0" bIns="0" anchor="t" anchorCtr="0">
              <a:spAutoFit/>
            </a:bodyPr>
            <a:lstStyle/>
            <a:p>
              <a:pPr algn="l"/>
              <a:r>
                <a:rPr lang="zh-CN" sz="975" dirty="0">
                  <a:solidFill>
                    <a:srgbClr val="80868B"/>
                  </a:solidFill>
                  <a:latin typeface="Consolas"/>
                  <a:ea typeface="Microsoft YaHei"/>
                  <a:cs typeface="Consolas"/>
                </a:rPr>
                <a:t>NOT ((NOT p) AND q)</a:t>
              </a:r>
            </a:p>
          </p:txBody>
        </p:sp>
        <p:sp>
          <p:nvSpPr>
            <p:cNvPr id="43" name="TextBox 43"/>
            <p:cNvSpPr txBox="1"/>
            <p:nvPr/>
          </p:nvSpPr>
          <p:spPr>
            <a:xfrm>
              <a:off x="1701165" y="4230052"/>
              <a:ext cx="2234946" cy="213360"/>
            </a:xfrm>
            <a:prstGeom prst="rect">
              <a:avLst/>
            </a:prstGeom>
            <a:noFill/>
            <a:ln>
              <a:noFill/>
            </a:ln>
          </p:spPr>
          <p:txBody>
            <a:bodyPr wrap="none" lIns="0" tIns="0" rIns="0" bIns="0" anchor="t" anchorCtr="0">
              <a:spAutoFit/>
            </a:bodyPr>
            <a:lstStyle/>
            <a:p>
              <a:pPr algn="l"/>
              <a:r>
                <a:rPr lang="zh-CN" sz="1050" dirty="0">
                  <a:solidFill>
                    <a:srgbClr val="9334E6"/>
                  </a:solidFill>
                  <a:latin typeface="Segoe UI"/>
                  <a:ea typeface="Microsoft YaHei"/>
                  <a:cs typeface="Segoe UI"/>
                </a:rPr>
                <a:t>↓ De Morgan + Double Negation</a:t>
              </a:r>
            </a:p>
          </p:txBody>
        </p:sp>
        <p:sp>
          <p:nvSpPr>
            <p:cNvPr id="44" name="TextBox 44"/>
            <p:cNvSpPr txBox="1"/>
            <p:nvPr/>
          </p:nvSpPr>
          <p:spPr>
            <a:xfrm>
              <a:off x="844868" y="4485799"/>
              <a:ext cx="1071396"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(p OR (NOT q))</a:t>
              </a:r>
            </a:p>
          </p:txBody>
        </p:sp>
        <p:sp>
          <p:nvSpPr>
            <p:cNvPr id="45" name="Rectangle 45"/>
            <p:cNvSpPr/>
            <p:nvPr/>
          </p:nvSpPr>
          <p:spPr>
            <a:xfrm>
              <a:off x="857250" y="4819650"/>
              <a:ext cx="1714500" cy="266700"/>
            </a:xfrm>
            <a:prstGeom prst="roundRect">
              <a:avLst>
                <a:gd name="adj" fmla="val 50000"/>
              </a:avLst>
            </a:prstGeom>
            <a:solidFill>
              <a:srgbClr val="1E8E3E">
                <a:alpha val="15000"/>
              </a:srgbClr>
            </a:solidFill>
            <a:ln w="9525">
              <a:solidFill>
                <a:srgbClr val="1E8E3E">
                  <a:alpha val="50000"/>
                </a:srgbClr>
              </a:solidFill>
            </a:ln>
          </p:spPr>
          <p:txBody>
            <a:bodyPr/>
            <a:lstStyle/>
            <a:p>
              <a:endParaRPr lang="zh-CN" altLang="en-US"/>
            </a:p>
          </p:txBody>
        </p:sp>
        <p:sp>
          <p:nvSpPr>
            <p:cNvPr id="46" name="TextBox 46"/>
            <p:cNvSpPr txBox="1"/>
            <p:nvPr/>
          </p:nvSpPr>
          <p:spPr>
            <a:xfrm>
              <a:off x="932096" y="4895374"/>
              <a:ext cx="1564807" cy="198120"/>
            </a:xfrm>
            <a:prstGeom prst="rect">
              <a:avLst/>
            </a:prstGeom>
            <a:noFill/>
            <a:ln>
              <a:noFill/>
            </a:ln>
          </p:spPr>
          <p:txBody>
            <a:bodyPr wrap="none" lIns="0" tIns="0" rIns="0" bIns="0" anchor="t" anchorCtr="0">
              <a:spAutoFit/>
            </a:bodyPr>
            <a:lstStyle/>
            <a:p>
              <a:pPr algn="ctr"/>
              <a:r>
                <a:rPr lang="zh-CN" sz="975" b="1" dirty="0">
                  <a:solidFill>
                    <a:srgbClr val="1E8E3E"/>
                  </a:solidFill>
                  <a:latin typeface="Segoe UI"/>
                  <a:ea typeface="Microsoft YaHei"/>
                  <a:cs typeface="Segoe UI"/>
                </a:rPr>
                <a:t>✓ is_equivalent: TRUE</a:t>
              </a:r>
            </a:p>
          </p:txBody>
        </p:sp>
        <p:sp>
          <p:nvSpPr>
            <p:cNvPr id="47" name="TextBox 47"/>
            <p:cNvSpPr txBox="1"/>
            <p:nvPr/>
          </p:nvSpPr>
          <p:spPr>
            <a:xfrm>
              <a:off x="844868" y="5323999"/>
              <a:ext cx="2182106"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r = (T OR (NOT F)) = (T OR T) =</a:t>
              </a:r>
            </a:p>
          </p:txBody>
        </p:sp>
        <p:sp>
          <p:nvSpPr>
            <p:cNvPr id="48" name="TextBox 48"/>
            <p:cNvSpPr txBox="1"/>
            <p:nvPr/>
          </p:nvSpPr>
          <p:spPr>
            <a:xfrm>
              <a:off x="3511868" y="5323999"/>
              <a:ext cx="353706" cy="198120"/>
            </a:xfrm>
            <a:prstGeom prst="rect">
              <a:avLst/>
            </a:prstGeom>
            <a:noFill/>
            <a:ln>
              <a:noFill/>
            </a:ln>
          </p:spPr>
          <p:txBody>
            <a:bodyPr wrap="none" lIns="0" tIns="0" rIns="0" bIns="0" anchor="t" anchorCtr="0">
              <a:spAutoFit/>
            </a:bodyPr>
            <a:lstStyle/>
            <a:p>
              <a:pPr algn="l"/>
              <a:r>
                <a:rPr lang="zh-CN" sz="975" b="1" dirty="0">
                  <a:solidFill>
                    <a:srgbClr val="1E8E3E"/>
                  </a:solidFill>
                  <a:latin typeface="Segoe UI"/>
                  <a:ea typeface="Microsoft YaHei"/>
                  <a:cs typeface="Segoe UI"/>
                </a:rPr>
                <a:t>TRUE</a:t>
              </a:r>
            </a:p>
          </p:txBody>
        </p:sp>
        <p:sp>
          <p:nvSpPr>
            <p:cNvPr id="49" name="TextBox 49"/>
            <p:cNvSpPr txBox="1"/>
            <p:nvPr/>
          </p:nvSpPr>
          <p:spPr>
            <a:xfrm>
              <a:off x="844868" y="5533549"/>
              <a:ext cx="2324505"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condition TRUE → executes print p</a:t>
              </a:r>
            </a:p>
          </p:txBody>
        </p:sp>
      </p:grpSp>
      <p:sp>
        <p:nvSpPr>
          <p:cNvPr id="51" name="TextBox 51"/>
          <p:cNvSpPr txBox="1"/>
          <p:nvPr/>
        </p:nvSpPr>
        <p:spPr>
          <a:xfrm>
            <a:off x="5642085" y="3428999"/>
            <a:ext cx="330451" cy="323165"/>
          </a:xfrm>
          <a:prstGeom prst="rect">
            <a:avLst/>
          </a:prstGeom>
          <a:noFill/>
          <a:ln>
            <a:noFill/>
          </a:ln>
        </p:spPr>
        <p:txBody>
          <a:bodyPr wrap="square" lIns="0" tIns="0" rIns="0" bIns="0" anchor="t" anchorCtr="0">
            <a:spAutoFit/>
          </a:bodyPr>
          <a:lstStyle/>
          <a:p>
            <a:pPr algn="ctr"/>
            <a:r>
              <a:rPr lang="zh-CN" sz="2100" dirty="0">
                <a:solidFill>
                  <a:srgbClr val="4285F4"/>
                </a:solidFill>
                <a:latin typeface="Segoe UI"/>
                <a:ea typeface="Microsoft YaHei"/>
                <a:cs typeface="Segoe UI"/>
              </a:rPr>
              <a:t>→</a:t>
            </a:r>
          </a:p>
        </p:txBody>
      </p:sp>
      <p:grpSp>
        <p:nvGrpSpPr>
          <p:cNvPr id="92" name="Group 92"/>
          <p:cNvGrpSpPr/>
          <p:nvPr/>
        </p:nvGrpSpPr>
        <p:grpSpPr>
          <a:xfrm>
            <a:off x="6096000" y="1143000"/>
            <a:ext cx="5867400" cy="5143500"/>
            <a:chOff x="6096000" y="1143000"/>
            <a:chExt cx="5524500" cy="5143500"/>
          </a:xfrm>
        </p:grpSpPr>
        <p:sp>
          <p:nvSpPr>
            <p:cNvPr id="54" name="Rectangle 54"/>
            <p:cNvSpPr/>
            <p:nvPr/>
          </p:nvSpPr>
          <p:spPr>
            <a:xfrm>
              <a:off x="6096000" y="1143000"/>
              <a:ext cx="5524500" cy="5143500"/>
            </a:xfrm>
            <a:prstGeom prst="roundRect">
              <a:avLst>
                <a:gd name="adj" fmla="val 1852"/>
              </a:avLst>
            </a:prstGeom>
            <a:solidFill>
              <a:srgbClr val="FFFFFF"/>
            </a:solidFill>
            <a:ln w="9525">
              <a:solidFill>
                <a:srgbClr val="DADCE0"/>
              </a:solidFill>
            </a:ln>
          </p:spPr>
          <p:txBody>
            <a:bodyPr/>
            <a:lstStyle/>
            <a:p>
              <a:endParaRPr lang="zh-CN" altLang="en-US" dirty="0"/>
            </a:p>
          </p:txBody>
        </p:sp>
        <p:sp>
          <p:nvSpPr>
            <p:cNvPr id="55" name="Rectangle 55"/>
            <p:cNvSpPr/>
            <p:nvPr/>
          </p:nvSpPr>
          <p:spPr>
            <a:xfrm>
              <a:off x="6096000" y="1143000"/>
              <a:ext cx="5524500" cy="438150"/>
            </a:xfrm>
            <a:prstGeom prst="roundRect">
              <a:avLst>
                <a:gd name="adj" fmla="val 21739"/>
              </a:avLst>
            </a:prstGeom>
            <a:solidFill>
              <a:srgbClr val="F8F9FA"/>
            </a:solidFill>
            <a:ln>
              <a:noFill/>
            </a:ln>
          </p:spPr>
          <p:txBody>
            <a:bodyPr/>
            <a:lstStyle/>
            <a:p>
              <a:endParaRPr lang="zh-CN" altLang="en-US"/>
            </a:p>
          </p:txBody>
        </p:sp>
        <p:sp>
          <p:nvSpPr>
            <p:cNvPr id="56" name="Rectangle 56"/>
            <p:cNvSpPr/>
            <p:nvPr/>
          </p:nvSpPr>
          <p:spPr>
            <a:xfrm>
              <a:off x="6096000" y="1428750"/>
              <a:ext cx="5524500" cy="152400"/>
            </a:xfrm>
            <a:prstGeom prst="rect">
              <a:avLst/>
            </a:prstGeom>
            <a:solidFill>
              <a:srgbClr val="F8F9FA"/>
            </a:solidFill>
            <a:ln>
              <a:noFill/>
            </a:ln>
          </p:spPr>
          <p:txBody>
            <a:bodyPr/>
            <a:lstStyle/>
            <a:p>
              <a:endParaRPr lang="zh-CN" altLang="en-US"/>
            </a:p>
          </p:txBody>
        </p:sp>
        <p:sp>
          <p:nvSpPr>
            <p:cNvPr id="57" name="Ellipse 57"/>
            <p:cNvSpPr/>
            <p:nvPr/>
          </p:nvSpPr>
          <p:spPr>
            <a:xfrm>
              <a:off x="6324600" y="1304925"/>
              <a:ext cx="114300" cy="114300"/>
            </a:xfrm>
            <a:prstGeom prst="ellipse">
              <a:avLst/>
            </a:prstGeom>
            <a:solidFill>
              <a:srgbClr val="EA4335"/>
            </a:solidFill>
            <a:ln>
              <a:noFill/>
            </a:ln>
          </p:spPr>
          <p:txBody>
            <a:bodyPr/>
            <a:lstStyle/>
            <a:p>
              <a:endParaRPr lang="zh-CN" altLang="en-US"/>
            </a:p>
          </p:txBody>
        </p:sp>
        <p:sp>
          <p:nvSpPr>
            <p:cNvPr id="58" name="Ellipse 58"/>
            <p:cNvSpPr/>
            <p:nvPr/>
          </p:nvSpPr>
          <p:spPr>
            <a:xfrm>
              <a:off x="6515100" y="1304925"/>
              <a:ext cx="114300" cy="114300"/>
            </a:xfrm>
            <a:prstGeom prst="ellipse">
              <a:avLst/>
            </a:prstGeom>
            <a:solidFill>
              <a:srgbClr val="5F6368"/>
            </a:solidFill>
            <a:ln>
              <a:noFill/>
            </a:ln>
          </p:spPr>
          <p:txBody>
            <a:bodyPr/>
            <a:lstStyle/>
            <a:p>
              <a:endParaRPr lang="zh-CN" altLang="en-US"/>
            </a:p>
          </p:txBody>
        </p:sp>
        <p:sp>
          <p:nvSpPr>
            <p:cNvPr id="59" name="Ellipse 59"/>
            <p:cNvSpPr/>
            <p:nvPr/>
          </p:nvSpPr>
          <p:spPr>
            <a:xfrm>
              <a:off x="6705600" y="1304925"/>
              <a:ext cx="114300" cy="114300"/>
            </a:xfrm>
            <a:prstGeom prst="ellipse">
              <a:avLst/>
            </a:prstGeom>
            <a:solidFill>
              <a:srgbClr val="1E8E3E"/>
            </a:solidFill>
            <a:ln>
              <a:noFill/>
            </a:ln>
          </p:spPr>
          <p:txBody>
            <a:bodyPr/>
            <a:lstStyle/>
            <a:p>
              <a:endParaRPr lang="zh-CN" altLang="en-US"/>
            </a:p>
          </p:txBody>
        </p:sp>
        <p:sp>
          <p:nvSpPr>
            <p:cNvPr id="60" name="TextBox 60"/>
            <p:cNvSpPr txBox="1"/>
            <p:nvPr/>
          </p:nvSpPr>
          <p:spPr>
            <a:xfrm>
              <a:off x="8031102" y="1313974"/>
              <a:ext cx="1654300" cy="150041"/>
            </a:xfrm>
            <a:prstGeom prst="rect">
              <a:avLst/>
            </a:prstGeom>
            <a:noFill/>
            <a:ln>
              <a:noFill/>
            </a:ln>
          </p:spPr>
          <p:txBody>
            <a:bodyPr wrap="none" lIns="0" tIns="0" rIns="0" bIns="0" anchor="t" anchorCtr="0">
              <a:spAutoFit/>
            </a:bodyPr>
            <a:lstStyle/>
            <a:p>
              <a:pPr algn="ctr"/>
              <a:r>
                <a:rPr lang="zh-CN" sz="975" dirty="0">
                  <a:solidFill>
                    <a:srgbClr val="5F6368"/>
                  </a:solidFill>
                  <a:latin typeface="Consolas"/>
                  <a:ea typeface="Microsoft YaHei"/>
                  <a:cs typeface="Consolas"/>
                </a:rPr>
                <a:t>output.json</a:t>
              </a:r>
              <a:r>
                <a:rPr lang="zh-CN" altLang="en-US" sz="975" dirty="0">
                  <a:solidFill>
                    <a:srgbClr val="5F6368"/>
                  </a:solidFill>
                  <a:latin typeface="Consolas"/>
                  <a:ea typeface="Microsoft YaHei"/>
                  <a:cs typeface="Consolas"/>
                </a:rPr>
                <a:t> </a:t>
              </a:r>
              <a:r>
                <a:rPr lang="en-US" altLang="zh-CN" sz="975" dirty="0">
                  <a:solidFill>
                    <a:srgbClr val="5F6368"/>
                  </a:solidFill>
                  <a:latin typeface="Consolas"/>
                  <a:ea typeface="Microsoft YaHei"/>
                  <a:cs typeface="Consolas"/>
                </a:rPr>
                <a:t>(Simplified)</a:t>
              </a:r>
              <a:endParaRPr lang="zh-CN" sz="975" dirty="0">
                <a:solidFill>
                  <a:srgbClr val="5F6368"/>
                </a:solidFill>
                <a:latin typeface="Consolas"/>
                <a:ea typeface="Microsoft YaHei"/>
                <a:cs typeface="Consolas"/>
              </a:endParaRPr>
            </a:p>
          </p:txBody>
        </p:sp>
        <p:sp>
          <p:nvSpPr>
            <p:cNvPr id="61" name="TextBox 61"/>
            <p:cNvSpPr txBox="1"/>
            <p:nvPr/>
          </p:nvSpPr>
          <p:spPr>
            <a:xfrm>
              <a:off x="6369368" y="179974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62" name="TextBox 62"/>
            <p:cNvSpPr txBox="1"/>
            <p:nvPr/>
          </p:nvSpPr>
          <p:spPr>
            <a:xfrm>
              <a:off x="6559868" y="2009299"/>
              <a:ext cx="1128355" cy="198120"/>
            </a:xfrm>
            <a:prstGeom prst="rect">
              <a:avLst/>
            </a:prstGeom>
            <a:noFill/>
            <a:ln>
              <a:noFill/>
            </a:ln>
          </p:spPr>
          <p:txBody>
            <a:bodyPr wrap="none" lIns="0" tIns="0" rIns="0" bIns="0" anchor="t" anchorCtr="0">
              <a:spAutoFit/>
            </a:bodyPr>
            <a:lstStyle/>
            <a:p>
              <a:pPr algn="l"/>
              <a:r>
                <a:rPr lang="zh-CN" sz="975" dirty="0">
                  <a:solidFill>
                    <a:srgbClr val="4285F4"/>
                  </a:solidFill>
                  <a:latin typeface="Consolas"/>
                  <a:ea typeface="Microsoft YaHei"/>
                  <a:cs typeface="Consolas"/>
                </a:rPr>
                <a:t>"phase_1_lexer"</a:t>
              </a:r>
            </a:p>
          </p:txBody>
        </p:sp>
        <p:sp>
          <p:nvSpPr>
            <p:cNvPr id="63" name="TextBox 63"/>
            <p:cNvSpPr txBox="1"/>
            <p:nvPr/>
          </p:nvSpPr>
          <p:spPr>
            <a:xfrm>
              <a:off x="7893368" y="2009299"/>
              <a:ext cx="22412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a:t>
              </a:r>
            </a:p>
          </p:txBody>
        </p:sp>
        <p:sp>
          <p:nvSpPr>
            <p:cNvPr id="64" name="TextBox 64"/>
            <p:cNvSpPr txBox="1"/>
            <p:nvPr/>
          </p:nvSpPr>
          <p:spPr>
            <a:xfrm>
              <a:off x="6751320" y="2207895"/>
              <a:ext cx="302637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{line:1, token:["LET","VAR_P","EQ","TRUE"]}</a:t>
              </a:r>
            </a:p>
          </p:txBody>
        </p:sp>
        <p:sp>
          <p:nvSpPr>
            <p:cNvPr id="65" name="TextBox 65"/>
            <p:cNvSpPr txBox="1"/>
            <p:nvPr/>
          </p:nvSpPr>
          <p:spPr>
            <a:xfrm>
              <a:off x="6751320" y="2379345"/>
              <a:ext cx="369017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{line:4, token:["IF","VAR_R","THEN","PRINT","VAR_P"]}</a:t>
              </a:r>
            </a:p>
          </p:txBody>
        </p:sp>
        <p:sp>
          <p:nvSpPr>
            <p:cNvPr id="66" name="TextBox 66"/>
            <p:cNvSpPr txBox="1"/>
            <p:nvPr/>
          </p:nvSpPr>
          <p:spPr>
            <a:xfrm>
              <a:off x="6559868" y="2542699"/>
              <a:ext cx="18140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67" name="TextBox 67"/>
            <p:cNvSpPr txBox="1"/>
            <p:nvPr/>
          </p:nvSpPr>
          <p:spPr>
            <a:xfrm>
              <a:off x="6559868" y="2790349"/>
              <a:ext cx="1277874"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"phase_2_parser"</a:t>
              </a:r>
            </a:p>
          </p:txBody>
        </p:sp>
        <p:sp>
          <p:nvSpPr>
            <p:cNvPr id="68" name="TextBox 68"/>
            <p:cNvSpPr txBox="1"/>
            <p:nvPr/>
          </p:nvSpPr>
          <p:spPr>
            <a:xfrm>
              <a:off x="7950518" y="2790349"/>
              <a:ext cx="22412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a:t>
              </a:r>
            </a:p>
          </p:txBody>
        </p:sp>
        <p:sp>
          <p:nvSpPr>
            <p:cNvPr id="69" name="TextBox 69"/>
            <p:cNvSpPr txBox="1"/>
            <p:nvPr/>
          </p:nvSpPr>
          <p:spPr>
            <a:xfrm>
              <a:off x="6751320" y="2988945"/>
              <a:ext cx="249402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{line:1, ast:["LET","VAR_P","TRUE"]}</a:t>
              </a:r>
            </a:p>
          </p:txBody>
        </p:sp>
        <p:sp>
          <p:nvSpPr>
            <p:cNvPr id="70" name="TextBox 70"/>
            <p:cNvSpPr txBox="1"/>
            <p:nvPr/>
          </p:nvSpPr>
          <p:spPr>
            <a:xfrm>
              <a:off x="6751320" y="3160395"/>
              <a:ext cx="318411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{line:4, ast:["IF","VAR_R",["PRINT","VAR_P"]]}</a:t>
              </a:r>
            </a:p>
          </p:txBody>
        </p:sp>
        <p:sp>
          <p:nvSpPr>
            <p:cNvPr id="71" name="TextBox 71"/>
            <p:cNvSpPr txBox="1"/>
            <p:nvPr/>
          </p:nvSpPr>
          <p:spPr>
            <a:xfrm>
              <a:off x="6559868" y="3323749"/>
              <a:ext cx="18140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72" name="Rectangle 72"/>
            <p:cNvSpPr/>
            <p:nvPr/>
          </p:nvSpPr>
          <p:spPr>
            <a:xfrm>
              <a:off x="6286500" y="3562350"/>
              <a:ext cx="5143500" cy="9525"/>
            </a:xfrm>
            <a:prstGeom prst="rect">
              <a:avLst/>
            </a:prstGeom>
            <a:solidFill>
              <a:srgbClr val="DADCE0"/>
            </a:solidFill>
            <a:ln>
              <a:noFill/>
            </a:ln>
          </p:spPr>
          <p:txBody>
            <a:bodyPr/>
            <a:lstStyle/>
            <a:p>
              <a:endParaRPr lang="zh-CN" altLang="en-US"/>
            </a:p>
          </p:txBody>
        </p:sp>
        <p:sp>
          <p:nvSpPr>
            <p:cNvPr id="74" name="TextBox 74"/>
            <p:cNvSpPr txBox="1"/>
            <p:nvPr/>
          </p:nvSpPr>
          <p:spPr>
            <a:xfrm>
              <a:off x="6559868" y="3799999"/>
              <a:ext cx="1477232" cy="198120"/>
            </a:xfrm>
            <a:prstGeom prst="rect">
              <a:avLst/>
            </a:prstGeom>
            <a:noFill/>
            <a:ln>
              <a:noFill/>
            </a:ln>
          </p:spPr>
          <p:txBody>
            <a:bodyPr wrap="none" lIns="0" tIns="0" rIns="0" bIns="0" anchor="t" anchorCtr="0">
              <a:spAutoFit/>
            </a:bodyPr>
            <a:lstStyle/>
            <a:p>
              <a:pPr algn="l"/>
              <a:r>
                <a:rPr lang="zh-CN" sz="975" dirty="0">
                  <a:solidFill>
                    <a:srgbClr val="1E8E3E"/>
                  </a:solidFill>
                  <a:latin typeface="Consolas"/>
                  <a:ea typeface="Microsoft YaHei"/>
                  <a:cs typeface="Consolas"/>
                </a:rPr>
                <a:t>"phase_4_execution"</a:t>
              </a:r>
            </a:p>
          </p:txBody>
        </p:sp>
        <p:sp>
          <p:nvSpPr>
            <p:cNvPr id="75" name="TextBox 75"/>
            <p:cNvSpPr txBox="1"/>
            <p:nvPr/>
          </p:nvSpPr>
          <p:spPr>
            <a:xfrm>
              <a:off x="8293418" y="3799999"/>
              <a:ext cx="22412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a:t>
              </a:r>
            </a:p>
          </p:txBody>
        </p:sp>
        <p:sp>
          <p:nvSpPr>
            <p:cNvPr id="76" name="TextBox 76"/>
            <p:cNvSpPr txBox="1"/>
            <p:nvPr/>
          </p:nvSpPr>
          <p:spPr>
            <a:xfrm>
              <a:off x="6751320" y="4036695"/>
              <a:ext cx="119272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"verifications": [</a:t>
              </a:r>
            </a:p>
          </p:txBody>
        </p:sp>
        <p:sp>
          <p:nvSpPr>
            <p:cNvPr id="77" name="TextBox 77"/>
            <p:cNvSpPr txBox="1"/>
            <p:nvPr/>
          </p:nvSpPr>
          <p:spPr>
            <a:xfrm>
              <a:off x="6941820" y="4208145"/>
              <a:ext cx="148847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{line:3, is_equivalent:</a:t>
              </a:r>
            </a:p>
          </p:txBody>
        </p:sp>
        <p:sp>
          <p:nvSpPr>
            <p:cNvPr id="78" name="TextBox 78"/>
            <p:cNvSpPr txBox="1"/>
            <p:nvPr/>
          </p:nvSpPr>
          <p:spPr>
            <a:xfrm>
              <a:off x="8846820" y="4208145"/>
              <a:ext cx="456628"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"TRUE"</a:t>
              </a:r>
            </a:p>
          </p:txBody>
        </p:sp>
        <p:sp>
          <p:nvSpPr>
            <p:cNvPr id="79" name="TextBox 79"/>
            <p:cNvSpPr txBox="1"/>
            <p:nvPr/>
          </p:nvSpPr>
          <p:spPr>
            <a:xfrm>
              <a:off x="9304020" y="4208145"/>
              <a:ext cx="951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80" name="TextBox 80"/>
            <p:cNvSpPr txBox="1"/>
            <p:nvPr/>
          </p:nvSpPr>
          <p:spPr>
            <a:xfrm>
              <a:off x="6751320" y="4379595"/>
              <a:ext cx="167449"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81" name="TextBox 81"/>
            <p:cNvSpPr txBox="1"/>
            <p:nvPr/>
          </p:nvSpPr>
          <p:spPr>
            <a:xfrm>
              <a:off x="6751320" y="4589145"/>
              <a:ext cx="96926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"final_state":</a:t>
              </a:r>
            </a:p>
          </p:txBody>
        </p:sp>
        <p:sp>
          <p:nvSpPr>
            <p:cNvPr id="82" name="TextBox 82"/>
            <p:cNvSpPr txBox="1"/>
            <p:nvPr/>
          </p:nvSpPr>
          <p:spPr>
            <a:xfrm>
              <a:off x="7894320" y="4589145"/>
              <a:ext cx="528923"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{VAR_P:</a:t>
              </a:r>
            </a:p>
          </p:txBody>
        </p:sp>
        <p:sp>
          <p:nvSpPr>
            <p:cNvPr id="83" name="TextBox 83"/>
            <p:cNvSpPr txBox="1"/>
            <p:nvPr/>
          </p:nvSpPr>
          <p:spPr>
            <a:xfrm>
              <a:off x="8437245" y="4589145"/>
              <a:ext cx="456628"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"TRUE"</a:t>
              </a:r>
            </a:p>
          </p:txBody>
        </p:sp>
        <p:sp>
          <p:nvSpPr>
            <p:cNvPr id="84" name="TextBox 84"/>
            <p:cNvSpPr txBox="1"/>
            <p:nvPr/>
          </p:nvSpPr>
          <p:spPr>
            <a:xfrm>
              <a:off x="8894445" y="4589145"/>
              <a:ext cx="167449"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85" name="TextBox 85"/>
            <p:cNvSpPr txBox="1"/>
            <p:nvPr/>
          </p:nvSpPr>
          <p:spPr>
            <a:xfrm>
              <a:off x="6751320" y="4798695"/>
              <a:ext cx="133073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"printed_output": [</a:t>
              </a:r>
            </a:p>
          </p:txBody>
        </p:sp>
        <p:sp>
          <p:nvSpPr>
            <p:cNvPr id="86" name="TextBox 86"/>
            <p:cNvSpPr txBox="1"/>
            <p:nvPr/>
          </p:nvSpPr>
          <p:spPr>
            <a:xfrm>
              <a:off x="6941820" y="4989195"/>
              <a:ext cx="108099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{line:4, output:</a:t>
              </a:r>
            </a:p>
          </p:txBody>
        </p:sp>
        <p:sp>
          <p:nvSpPr>
            <p:cNvPr id="87" name="TextBox 87"/>
            <p:cNvSpPr txBox="1"/>
            <p:nvPr/>
          </p:nvSpPr>
          <p:spPr>
            <a:xfrm>
              <a:off x="8275320" y="4989195"/>
              <a:ext cx="456628"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"TRUE"</a:t>
              </a:r>
            </a:p>
          </p:txBody>
        </p:sp>
        <p:sp>
          <p:nvSpPr>
            <p:cNvPr id="88" name="TextBox 88"/>
            <p:cNvSpPr txBox="1"/>
            <p:nvPr/>
          </p:nvSpPr>
          <p:spPr>
            <a:xfrm>
              <a:off x="8732520" y="4989195"/>
              <a:ext cx="951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89" name="TextBox 89"/>
            <p:cNvSpPr txBox="1"/>
            <p:nvPr/>
          </p:nvSpPr>
          <p:spPr>
            <a:xfrm>
              <a:off x="6751320" y="5179695"/>
              <a:ext cx="951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90" name="TextBox 90"/>
            <p:cNvSpPr txBox="1"/>
            <p:nvPr/>
          </p:nvSpPr>
          <p:spPr>
            <a:xfrm>
              <a:off x="6559868" y="536209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91" name="TextBox 91"/>
            <p:cNvSpPr txBox="1"/>
            <p:nvPr/>
          </p:nvSpPr>
          <p:spPr>
            <a:xfrm>
              <a:off x="6369368" y="555259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grpSp>
      <p:grpSp>
        <p:nvGrpSpPr>
          <p:cNvPr id="96" name="Group 96"/>
          <p:cNvGrpSpPr/>
          <p:nvPr/>
        </p:nvGrpSpPr>
        <p:grpSpPr>
          <a:xfrm>
            <a:off x="561022" y="6572250"/>
            <a:ext cx="11069955" cy="269081"/>
            <a:chOff x="561022" y="6572250"/>
            <a:chExt cx="11069955" cy="269081"/>
          </a:xfrm>
        </p:grpSpPr>
        <p:sp>
          <p:nvSpPr>
            <p:cNvPr id="93" name="Rectangle 93"/>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94" name="TextBox 94"/>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95" name="TextBox 95"/>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05</a:t>
              </a:r>
            </a:p>
          </p:txBody>
        </p:sp>
      </p:grpSp>
      <p:pic>
        <p:nvPicPr>
          <p:cNvPr id="97" name="图片 96">
            <a:extLst>
              <a:ext uri="{FF2B5EF4-FFF2-40B4-BE49-F238E27FC236}">
                <a16:creationId xmlns:a16="http://schemas.microsoft.com/office/drawing/2014/main" id="{A4A2D9D5-96C2-36F7-0365-32DA3035C356}"/>
              </a:ext>
            </a:extLst>
          </p:cNvPr>
          <p:cNvPicPr>
            <a:picLocks noChangeAspect="1"/>
          </p:cNvPicPr>
          <p:nvPr/>
        </p:nvPicPr>
        <p:blipFill>
          <a:blip r:embed="rId3"/>
          <a:stretch>
            <a:fillRect/>
          </a:stretch>
        </p:blipFill>
        <p:spPr>
          <a:xfrm>
            <a:off x="6096000" y="1684357"/>
            <a:ext cx="5867400" cy="4762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2"/>
                                        </p:tgtEl>
                                        <p:attrNameLst>
                                          <p:attrName>style.visibility</p:attrName>
                                        </p:attrNameLst>
                                      </p:cBhvr>
                                      <p:to>
                                        <p:strVal val="visible"/>
                                      </p:to>
                                    </p:set>
                                    <p:animEffect transition="in" filter="fade">
                                      <p:cBhvr>
                                        <p:cTn id="11"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9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57212" y="316230"/>
            <a:ext cx="4546997" cy="648176"/>
            <a:chOff x="557212" y="316230"/>
            <a:chExt cx="4546997" cy="648176"/>
          </a:xfrm>
        </p:grpSpPr>
        <p:sp>
          <p:nvSpPr>
            <p:cNvPr id="5" name="Rectangle 5"/>
            <p:cNvSpPr/>
            <p:nvPr/>
          </p:nvSpPr>
          <p:spPr>
            <a:xfrm>
              <a:off x="571500" y="333375"/>
              <a:ext cx="666750" cy="304800"/>
            </a:xfrm>
            <a:prstGeom prst="roundRect">
              <a:avLst>
                <a:gd name="adj" fmla="val 50000"/>
              </a:avLst>
            </a:prstGeom>
            <a:solidFill>
              <a:srgbClr val="4285F4">
                <a:alpha val="15000"/>
              </a:srgbClr>
            </a:solidFill>
            <a:ln w="9525">
              <a:solidFill>
                <a:srgbClr val="4285F4">
                  <a:alpha val="50000"/>
                </a:srgbClr>
              </a:solidFill>
            </a:ln>
          </p:spPr>
          <p:txBody>
            <a:bodyPr/>
            <a:lstStyle/>
            <a:p>
              <a:endParaRPr lang="zh-CN" altLang="en-US"/>
            </a:p>
          </p:txBody>
        </p:sp>
        <p:sp>
          <p:nvSpPr>
            <p:cNvPr id="6" name="TextBox 6"/>
            <p:cNvSpPr txBox="1"/>
            <p:nvPr/>
          </p:nvSpPr>
          <p:spPr>
            <a:xfrm>
              <a:off x="642049" y="428149"/>
              <a:ext cx="525653" cy="198120"/>
            </a:xfrm>
            <a:prstGeom prst="rect">
              <a:avLst/>
            </a:prstGeom>
            <a:noFill/>
            <a:ln>
              <a:noFill/>
            </a:ln>
          </p:spPr>
          <p:txBody>
            <a:bodyPr wrap="none" lIns="0" tIns="0" rIns="0" bIns="0" anchor="t" anchorCtr="0">
              <a:spAutoFit/>
            </a:bodyPr>
            <a:lstStyle/>
            <a:p>
              <a:pPr algn="ctr"/>
              <a:r>
                <a:rPr lang="zh-CN" sz="975" b="1" dirty="0">
                  <a:solidFill>
                    <a:srgbClr val="4285F4"/>
                  </a:solidFill>
                  <a:latin typeface="Segoe UI"/>
                  <a:ea typeface="Microsoft YaHei"/>
                  <a:cs typeface="Segoe UI"/>
                </a:rPr>
                <a:t>Phase 1</a:t>
              </a:r>
            </a:p>
          </p:txBody>
        </p:sp>
        <p:sp>
          <p:nvSpPr>
            <p:cNvPr id="7" name="TextBox 7"/>
            <p:cNvSpPr txBox="1"/>
            <p:nvPr/>
          </p:nvSpPr>
          <p:spPr>
            <a:xfrm>
              <a:off x="1354455" y="316230"/>
              <a:ext cx="2758478"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Lexical Analysis</a:t>
              </a:r>
            </a:p>
          </p:txBody>
        </p:sp>
        <p:sp>
          <p:nvSpPr>
            <p:cNvPr id="8" name="TextBox 8"/>
            <p:cNvSpPr txBox="1"/>
            <p:nvPr/>
          </p:nvSpPr>
          <p:spPr>
            <a:xfrm>
              <a:off x="557212" y="735806"/>
              <a:ext cx="4546997"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Tokenizing source lines into structured token sequences</a:t>
              </a:r>
            </a:p>
          </p:txBody>
        </p:sp>
      </p:grpSp>
      <p:grpSp>
        <p:nvGrpSpPr>
          <p:cNvPr id="42" name="Group 42"/>
          <p:cNvGrpSpPr/>
          <p:nvPr/>
        </p:nvGrpSpPr>
        <p:grpSpPr>
          <a:xfrm>
            <a:off x="571500" y="1047750"/>
            <a:ext cx="4381500" cy="5334000"/>
            <a:chOff x="571500" y="1047750"/>
            <a:chExt cx="4381500" cy="5334000"/>
          </a:xfrm>
        </p:grpSpPr>
        <p:sp>
          <p:nvSpPr>
            <p:cNvPr id="10" name="Rectangle 10"/>
            <p:cNvSpPr/>
            <p:nvPr/>
          </p:nvSpPr>
          <p:spPr>
            <a:xfrm>
              <a:off x="571500" y="1047750"/>
              <a:ext cx="4381500" cy="5334000"/>
            </a:xfrm>
            <a:prstGeom prst="roundRect">
              <a:avLst>
                <a:gd name="adj" fmla="val 2174"/>
              </a:avLst>
            </a:prstGeom>
            <a:solidFill>
              <a:srgbClr val="FFFFFF"/>
            </a:solidFill>
            <a:ln w="9525">
              <a:solidFill>
                <a:srgbClr val="DADCE0"/>
              </a:solidFill>
            </a:ln>
          </p:spPr>
          <p:txBody>
            <a:bodyPr/>
            <a:lstStyle/>
            <a:p>
              <a:endParaRPr lang="zh-CN" altLang="en-US"/>
            </a:p>
          </p:txBody>
        </p:sp>
        <p:sp>
          <p:nvSpPr>
            <p:cNvPr id="11" name="Rectangle 11"/>
            <p:cNvSpPr/>
            <p:nvPr/>
          </p:nvSpPr>
          <p:spPr>
            <a:xfrm>
              <a:off x="762000" y="1238250"/>
              <a:ext cx="495300" cy="495300"/>
            </a:xfrm>
            <a:prstGeom prst="roundRect">
              <a:avLst>
                <a:gd name="adj" fmla="val 19231"/>
              </a:avLst>
            </a:prstGeom>
            <a:solidFill>
              <a:srgbClr val="4285F4">
                <a:alpha val="12000"/>
              </a:srgbClr>
            </a:solidFill>
            <a:ln>
              <a:noFill/>
            </a:ln>
          </p:spPr>
          <p:txBody>
            <a:bodyPr/>
            <a:lstStyle/>
            <a:p>
              <a:endParaRPr lang="zh-CN" altLang="en-US"/>
            </a:p>
          </p:txBody>
        </p:sp>
        <p:sp>
          <p:nvSpPr>
            <p:cNvPr id="12" name="Freeform 12"/>
            <p:cNvSpPr/>
            <p:nvPr/>
          </p:nvSpPr>
          <p:spPr>
            <a:xfrm>
              <a:off x="881062" y="1357312"/>
              <a:ext cx="257180" cy="272185"/>
            </a:xfrm>
            <a:custGeom>
              <a:avLst/>
              <a:gdLst/>
              <a:ahLst/>
              <a:cxnLst/>
              <a:rect l="l" t="t" r="r" b="b"/>
              <a:pathLst>
                <a:path w="257180" h="272185">
                  <a:moveTo>
                    <a:pt x="242888" y="0"/>
                  </a:moveTo>
                  <a:lnTo>
                    <a:pt x="14288" y="0"/>
                  </a:lnTo>
                  <a:cubicBezTo>
                    <a:pt x="6397" y="0"/>
                    <a:pt x="0" y="6397"/>
                    <a:pt x="0" y="14288"/>
                  </a:cubicBezTo>
                  <a:lnTo>
                    <a:pt x="0" y="46106"/>
                  </a:lnTo>
                  <a:lnTo>
                    <a:pt x="114" y="49292"/>
                  </a:lnTo>
                  <a:cubicBezTo>
                    <a:pt x="826" y="58832"/>
                    <a:pt x="4709" y="67860"/>
                    <a:pt x="11144" y="74938"/>
                  </a:cubicBezTo>
                  <a:lnTo>
                    <a:pt x="71438" y="141246"/>
                  </a:lnTo>
                  <a:lnTo>
                    <a:pt x="71438" y="257175"/>
                  </a:lnTo>
                  <a:cubicBezTo>
                    <a:pt x="71436" y="261768"/>
                    <a:pt x="73643" y="266081"/>
                    <a:pt x="77368" y="268767"/>
                  </a:cubicBezTo>
                  <a:cubicBezTo>
                    <a:pt x="81093" y="271453"/>
                    <a:pt x="85883" y="272185"/>
                    <a:pt x="90240" y="270734"/>
                  </a:cubicBezTo>
                  <a:lnTo>
                    <a:pt x="175965" y="242159"/>
                  </a:lnTo>
                  <a:lnTo>
                    <a:pt x="177508" y="241544"/>
                  </a:lnTo>
                  <a:cubicBezTo>
                    <a:pt x="182531" y="239193"/>
                    <a:pt x="185739" y="234146"/>
                    <a:pt x="185738" y="228600"/>
                  </a:cubicBezTo>
                  <a:lnTo>
                    <a:pt x="185738" y="134503"/>
                  </a:lnTo>
                  <a:lnTo>
                    <a:pt x="244616" y="75638"/>
                  </a:lnTo>
                  <a:cubicBezTo>
                    <a:pt x="252662" y="67595"/>
                    <a:pt x="257180" y="56682"/>
                    <a:pt x="257175" y="45306"/>
                  </a:cubicBezTo>
                  <a:lnTo>
                    <a:pt x="257175" y="14288"/>
                  </a:lnTo>
                  <a:cubicBezTo>
                    <a:pt x="257175" y="6397"/>
                    <a:pt x="250778" y="0"/>
                    <a:pt x="242888" y="0"/>
                  </a:cubicBezTo>
                  <a:close/>
                </a:path>
              </a:pathLst>
            </a:custGeom>
            <a:solidFill>
              <a:srgbClr val="4285F4"/>
            </a:solidFill>
            <a:ln>
              <a:noFill/>
            </a:ln>
          </p:spPr>
          <p:txBody>
            <a:bodyPr/>
            <a:lstStyle/>
            <a:p>
              <a:endParaRPr lang="zh-CN" altLang="en-US"/>
            </a:p>
          </p:txBody>
        </p:sp>
        <p:sp>
          <p:nvSpPr>
            <p:cNvPr id="13" name="TextBox 13"/>
            <p:cNvSpPr txBox="1"/>
            <p:nvPr/>
          </p:nvSpPr>
          <p:spPr>
            <a:xfrm>
              <a:off x="1392555" y="1302068"/>
              <a:ext cx="1297148"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Lexer Design</a:t>
              </a:r>
            </a:p>
          </p:txBody>
        </p:sp>
        <p:sp>
          <p:nvSpPr>
            <p:cNvPr id="14" name="TextBox 14"/>
            <p:cNvSpPr txBox="1"/>
            <p:nvPr/>
          </p:nvSpPr>
          <p:spPr>
            <a:xfrm>
              <a:off x="1397318" y="1533049"/>
              <a:ext cx="1712190"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run_lexer_phase(codes)</a:t>
              </a:r>
            </a:p>
          </p:txBody>
        </p:sp>
        <p:sp>
          <p:nvSpPr>
            <p:cNvPr id="15" name="Rectangle 15"/>
            <p:cNvSpPr/>
            <p:nvPr/>
          </p:nvSpPr>
          <p:spPr>
            <a:xfrm>
              <a:off x="762000" y="1847850"/>
              <a:ext cx="4000500" cy="9525"/>
            </a:xfrm>
            <a:prstGeom prst="rect">
              <a:avLst/>
            </a:prstGeom>
            <a:solidFill>
              <a:srgbClr val="DADCE0"/>
            </a:solidFill>
            <a:ln>
              <a:noFill/>
            </a:ln>
          </p:spPr>
          <p:txBody>
            <a:bodyPr/>
            <a:lstStyle/>
            <a:p>
              <a:endParaRPr lang="zh-CN" altLang="en-US"/>
            </a:p>
          </p:txBody>
        </p:sp>
        <p:grpSp>
          <p:nvGrpSpPr>
            <p:cNvPr id="22" name="Group 22"/>
            <p:cNvGrpSpPr/>
            <p:nvPr/>
          </p:nvGrpSpPr>
          <p:grpSpPr>
            <a:xfrm>
              <a:off x="762000" y="1981200"/>
              <a:ext cx="4000500" cy="952500"/>
              <a:chOff x="762000" y="1981200"/>
              <a:chExt cx="4000500" cy="952500"/>
            </a:xfrm>
          </p:grpSpPr>
          <p:sp>
            <p:nvSpPr>
              <p:cNvPr id="16" name="Rectangle 16"/>
              <p:cNvSpPr/>
              <p:nvPr/>
            </p:nvSpPr>
            <p:spPr>
              <a:xfrm>
                <a:off x="762000" y="1981200"/>
                <a:ext cx="4000500" cy="952500"/>
              </a:xfrm>
              <a:prstGeom prst="roundRect">
                <a:avLst>
                  <a:gd name="adj" fmla="val 8000"/>
                </a:avLst>
              </a:prstGeom>
              <a:solidFill>
                <a:srgbClr val="F8F9FA"/>
              </a:solidFill>
              <a:ln>
                <a:noFill/>
              </a:ln>
            </p:spPr>
            <p:txBody>
              <a:bodyPr/>
              <a:lstStyle/>
              <a:p>
                <a:endParaRPr lang="zh-CN" altLang="en-US"/>
              </a:p>
            </p:txBody>
          </p:sp>
          <p:sp>
            <p:nvSpPr>
              <p:cNvPr id="17" name="Rectangle 17"/>
              <p:cNvSpPr/>
              <p:nvPr/>
            </p:nvSpPr>
            <p:spPr>
              <a:xfrm>
                <a:off x="762000" y="1981200"/>
                <a:ext cx="38100" cy="952500"/>
              </a:xfrm>
              <a:prstGeom prst="roundRect">
                <a:avLst>
                  <a:gd name="adj" fmla="val 50000"/>
                </a:avLst>
              </a:prstGeom>
              <a:solidFill>
                <a:srgbClr val="4285F4"/>
              </a:solidFill>
              <a:ln>
                <a:noFill/>
              </a:ln>
            </p:spPr>
            <p:txBody>
              <a:bodyPr/>
              <a:lstStyle/>
              <a:p>
                <a:endParaRPr lang="zh-CN" altLang="en-US"/>
              </a:p>
            </p:txBody>
          </p:sp>
          <p:sp>
            <p:nvSpPr>
              <p:cNvPr id="18" name="TextBox 18"/>
              <p:cNvSpPr txBox="1"/>
              <p:nvPr/>
            </p:nvSpPr>
            <p:spPr>
              <a:xfrm>
                <a:off x="919162" y="2050256"/>
                <a:ext cx="1934938" cy="228600"/>
              </a:xfrm>
              <a:prstGeom prst="rect">
                <a:avLst/>
              </a:prstGeom>
              <a:noFill/>
              <a:ln>
                <a:noFill/>
              </a:ln>
            </p:spPr>
            <p:txBody>
              <a:bodyPr wrap="none" lIns="0" tIns="0" rIns="0" bIns="0" anchor="t" anchorCtr="0">
                <a:spAutoFit/>
              </a:bodyPr>
              <a:lstStyle/>
              <a:p>
                <a:pPr algn="l"/>
                <a:r>
                  <a:rPr lang="zh-CN" sz="1125" b="1" dirty="0">
                    <a:solidFill>
                      <a:srgbClr val="4285F4"/>
                    </a:solidFill>
                    <a:latin typeface="Segoe UI"/>
                    <a:ea typeface="Microsoft YaHei"/>
                    <a:cs typeface="Segoe UI"/>
                  </a:rPr>
                  <a:t>Buffer-Based Scanning</a:t>
                </a:r>
              </a:p>
            </p:txBody>
          </p:sp>
          <p:sp>
            <p:nvSpPr>
              <p:cNvPr id="19" name="TextBox 19"/>
              <p:cNvSpPr txBox="1"/>
              <p:nvPr/>
            </p:nvSpPr>
            <p:spPr>
              <a:xfrm>
                <a:off x="921068" y="2275999"/>
                <a:ext cx="3057858"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Characters accumulate in a buffer; flushed</a:t>
                </a:r>
              </a:p>
            </p:txBody>
          </p:sp>
          <p:sp>
            <p:nvSpPr>
              <p:cNvPr id="20" name="TextBox 20"/>
              <p:cNvSpPr txBox="1"/>
              <p:nvPr/>
            </p:nvSpPr>
            <p:spPr>
              <a:xfrm>
                <a:off x="921068" y="2447449"/>
                <a:ext cx="3093458"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when a parenthesis or word boundary is hit.</a:t>
                </a:r>
              </a:p>
            </p:txBody>
          </p:sp>
          <p:sp>
            <p:nvSpPr>
              <p:cNvPr id="21" name="TextBox 21"/>
              <p:cNvSpPr txBox="1"/>
              <p:nvPr/>
            </p:nvSpPr>
            <p:spPr>
              <a:xfrm>
                <a:off x="922020" y="2665095"/>
                <a:ext cx="278320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(NOT p) → paren detached, no space needed</a:t>
                </a:r>
              </a:p>
            </p:txBody>
          </p:sp>
        </p:grpSp>
        <p:grpSp>
          <p:nvGrpSpPr>
            <p:cNvPr id="29" name="Group 29"/>
            <p:cNvGrpSpPr/>
            <p:nvPr/>
          </p:nvGrpSpPr>
          <p:grpSpPr>
            <a:xfrm>
              <a:off x="762000" y="3067050"/>
              <a:ext cx="4000500" cy="952500"/>
              <a:chOff x="762000" y="3067050"/>
              <a:chExt cx="4000500" cy="952500"/>
            </a:xfrm>
          </p:grpSpPr>
          <p:sp>
            <p:nvSpPr>
              <p:cNvPr id="23" name="Rectangle 23"/>
              <p:cNvSpPr/>
              <p:nvPr/>
            </p:nvSpPr>
            <p:spPr>
              <a:xfrm>
                <a:off x="762000" y="3067050"/>
                <a:ext cx="4000500" cy="952500"/>
              </a:xfrm>
              <a:prstGeom prst="roundRect">
                <a:avLst>
                  <a:gd name="adj" fmla="val 8000"/>
                </a:avLst>
              </a:prstGeom>
              <a:solidFill>
                <a:srgbClr val="F8F9FA"/>
              </a:solidFill>
              <a:ln>
                <a:noFill/>
              </a:ln>
            </p:spPr>
            <p:txBody>
              <a:bodyPr/>
              <a:lstStyle/>
              <a:p>
                <a:endParaRPr lang="zh-CN" altLang="en-US"/>
              </a:p>
            </p:txBody>
          </p:sp>
          <p:sp>
            <p:nvSpPr>
              <p:cNvPr id="24" name="Rectangle 24"/>
              <p:cNvSpPr/>
              <p:nvPr/>
            </p:nvSpPr>
            <p:spPr>
              <a:xfrm>
                <a:off x="762000" y="3067050"/>
                <a:ext cx="38100" cy="952500"/>
              </a:xfrm>
              <a:prstGeom prst="roundRect">
                <a:avLst>
                  <a:gd name="adj" fmla="val 50000"/>
                </a:avLst>
              </a:prstGeom>
              <a:solidFill>
                <a:srgbClr val="34A853"/>
              </a:solidFill>
              <a:ln>
                <a:noFill/>
              </a:ln>
            </p:spPr>
            <p:txBody>
              <a:bodyPr/>
              <a:lstStyle/>
              <a:p>
                <a:endParaRPr lang="zh-CN" altLang="en-US"/>
              </a:p>
            </p:txBody>
          </p:sp>
          <p:sp>
            <p:nvSpPr>
              <p:cNvPr id="25" name="TextBox 25"/>
              <p:cNvSpPr txBox="1"/>
              <p:nvPr/>
            </p:nvSpPr>
            <p:spPr>
              <a:xfrm>
                <a:off x="919162" y="3136106"/>
                <a:ext cx="1865930" cy="228600"/>
              </a:xfrm>
              <a:prstGeom prst="rect">
                <a:avLst/>
              </a:prstGeom>
              <a:noFill/>
              <a:ln>
                <a:noFill/>
              </a:ln>
            </p:spPr>
            <p:txBody>
              <a:bodyPr wrap="none" lIns="0" tIns="0" rIns="0" bIns="0" anchor="t" anchorCtr="0">
                <a:spAutoFit/>
              </a:bodyPr>
              <a:lstStyle/>
              <a:p>
                <a:pPr algn="l"/>
                <a:r>
                  <a:rPr lang="zh-CN" sz="1125" b="1" dirty="0">
                    <a:solidFill>
                      <a:srgbClr val="34A853"/>
                    </a:solidFill>
                    <a:latin typeface="Segoe UI"/>
                    <a:ea typeface="Microsoft YaHei"/>
                    <a:cs typeface="Segoe UI"/>
                  </a:rPr>
                  <a:t>TOKEN_MAP Dictionary</a:t>
                </a:r>
              </a:p>
            </p:txBody>
          </p:sp>
          <p:sp>
            <p:nvSpPr>
              <p:cNvPr id="26" name="TextBox 26"/>
              <p:cNvSpPr txBox="1"/>
              <p:nvPr/>
            </p:nvSpPr>
            <p:spPr>
              <a:xfrm>
                <a:off x="921068" y="3361849"/>
                <a:ext cx="2723221"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13 reserved words &amp; symbols mapped to</a:t>
                </a:r>
              </a:p>
            </p:txBody>
          </p:sp>
          <p:sp>
            <p:nvSpPr>
              <p:cNvPr id="27" name="TextBox 27"/>
              <p:cNvSpPr txBox="1"/>
              <p:nvPr/>
            </p:nvSpPr>
            <p:spPr>
              <a:xfrm>
                <a:off x="921068" y="3533299"/>
                <a:ext cx="2765941"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named token types at O(1) lookup time.</a:t>
                </a:r>
              </a:p>
            </p:txBody>
          </p:sp>
          <p:sp>
            <p:nvSpPr>
              <p:cNvPr id="28" name="TextBox 28"/>
              <p:cNvSpPr txBox="1"/>
              <p:nvPr/>
            </p:nvSpPr>
            <p:spPr>
              <a:xfrm>
                <a:off x="922020" y="3750945"/>
                <a:ext cx="2940939"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"AND" → "AND", "T" → "TRUE", "(" → "L_PAREN"</a:t>
                </a:r>
              </a:p>
            </p:txBody>
          </p:sp>
        </p:grpSp>
        <p:grpSp>
          <p:nvGrpSpPr>
            <p:cNvPr id="36" name="Group 36"/>
            <p:cNvGrpSpPr/>
            <p:nvPr/>
          </p:nvGrpSpPr>
          <p:grpSpPr>
            <a:xfrm>
              <a:off x="762000" y="4152900"/>
              <a:ext cx="4000500" cy="952500"/>
              <a:chOff x="762000" y="4152900"/>
              <a:chExt cx="4000500" cy="952500"/>
            </a:xfrm>
          </p:grpSpPr>
          <p:sp>
            <p:nvSpPr>
              <p:cNvPr id="30" name="Rectangle 30"/>
              <p:cNvSpPr/>
              <p:nvPr/>
            </p:nvSpPr>
            <p:spPr>
              <a:xfrm>
                <a:off x="762000" y="4152900"/>
                <a:ext cx="4000500" cy="952500"/>
              </a:xfrm>
              <a:prstGeom prst="roundRect">
                <a:avLst>
                  <a:gd name="adj" fmla="val 8000"/>
                </a:avLst>
              </a:prstGeom>
              <a:solidFill>
                <a:srgbClr val="F8F9FA"/>
              </a:solidFill>
              <a:ln>
                <a:noFill/>
              </a:ln>
            </p:spPr>
            <p:txBody>
              <a:bodyPr/>
              <a:lstStyle/>
              <a:p>
                <a:endParaRPr lang="zh-CN" altLang="en-US"/>
              </a:p>
            </p:txBody>
          </p:sp>
          <p:sp>
            <p:nvSpPr>
              <p:cNvPr id="31" name="Rectangle 31"/>
              <p:cNvSpPr/>
              <p:nvPr/>
            </p:nvSpPr>
            <p:spPr>
              <a:xfrm>
                <a:off x="762000" y="4152900"/>
                <a:ext cx="38100" cy="952500"/>
              </a:xfrm>
              <a:prstGeom prst="roundRect">
                <a:avLst>
                  <a:gd name="adj" fmla="val 50000"/>
                </a:avLst>
              </a:prstGeom>
              <a:solidFill>
                <a:srgbClr val="9334E6"/>
              </a:solidFill>
              <a:ln>
                <a:noFill/>
              </a:ln>
            </p:spPr>
            <p:txBody>
              <a:bodyPr/>
              <a:lstStyle/>
              <a:p>
                <a:endParaRPr lang="zh-CN" altLang="en-US"/>
              </a:p>
            </p:txBody>
          </p:sp>
          <p:sp>
            <p:nvSpPr>
              <p:cNvPr id="32" name="TextBox 32"/>
              <p:cNvSpPr txBox="1"/>
              <p:nvPr/>
            </p:nvSpPr>
            <p:spPr>
              <a:xfrm>
                <a:off x="919162" y="4221956"/>
                <a:ext cx="1089583" cy="228600"/>
              </a:xfrm>
              <a:prstGeom prst="rect">
                <a:avLst/>
              </a:prstGeom>
              <a:noFill/>
              <a:ln>
                <a:noFill/>
              </a:ln>
            </p:spPr>
            <p:txBody>
              <a:bodyPr wrap="none" lIns="0" tIns="0" rIns="0" bIns="0" anchor="t" anchorCtr="0">
                <a:spAutoFit/>
              </a:bodyPr>
              <a:lstStyle/>
              <a:p>
                <a:pPr algn="l"/>
                <a:r>
                  <a:rPr lang="zh-CN" sz="1125" b="1" dirty="0">
                    <a:solidFill>
                      <a:srgbClr val="9334E6"/>
                    </a:solidFill>
                    <a:latin typeface="Segoe UI"/>
                    <a:ea typeface="Microsoft YaHei"/>
                    <a:cs typeface="Segoe UI"/>
                  </a:rPr>
                  <a:t>Variable Rule</a:t>
                </a:r>
              </a:p>
            </p:txBody>
          </p:sp>
          <p:sp>
            <p:nvSpPr>
              <p:cNvPr id="33" name="TextBox 33"/>
              <p:cNvSpPr txBox="1"/>
              <p:nvPr/>
            </p:nvSpPr>
            <p:spPr>
              <a:xfrm>
                <a:off x="921068" y="4447699"/>
                <a:ext cx="2039707"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Single lowercase letter only.</a:t>
                </a:r>
              </a:p>
            </p:txBody>
          </p:sp>
          <p:sp>
            <p:nvSpPr>
              <p:cNvPr id="34" name="TextBox 34"/>
              <p:cNvSpPr txBox="1"/>
              <p:nvPr/>
            </p:nvSpPr>
            <p:spPr>
              <a:xfrm>
                <a:off x="921068" y="4619149"/>
                <a:ext cx="3114818"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Mapped to token format VAR_X (uppercase).</a:t>
                </a:r>
              </a:p>
            </p:txBody>
          </p:sp>
          <p:sp>
            <p:nvSpPr>
              <p:cNvPr id="35" name="TextBox 35"/>
              <p:cNvSpPr txBox="1"/>
              <p:nvPr/>
            </p:nvSpPr>
            <p:spPr>
              <a:xfrm>
                <a:off x="922020" y="4836795"/>
                <a:ext cx="190909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"p" → "VAR_P", "q" → "VAR_Q"</a:t>
                </a:r>
              </a:p>
            </p:txBody>
          </p:sp>
        </p:grpSp>
        <p:grpSp>
          <p:nvGrpSpPr>
            <p:cNvPr id="41" name="Group 41"/>
            <p:cNvGrpSpPr/>
            <p:nvPr/>
          </p:nvGrpSpPr>
          <p:grpSpPr>
            <a:xfrm>
              <a:off x="762000" y="5257800"/>
              <a:ext cx="4000500" cy="457200"/>
              <a:chOff x="762000" y="5257800"/>
              <a:chExt cx="4000500" cy="457200"/>
            </a:xfrm>
          </p:grpSpPr>
          <p:sp>
            <p:nvSpPr>
              <p:cNvPr id="37" name="Rectangle 37"/>
              <p:cNvSpPr/>
              <p:nvPr/>
            </p:nvSpPr>
            <p:spPr>
              <a:xfrm>
                <a:off x="762000" y="5257800"/>
                <a:ext cx="4000500" cy="457200"/>
              </a:xfrm>
              <a:prstGeom prst="roundRect">
                <a:avLst>
                  <a:gd name="adj" fmla="val 16667"/>
                </a:avLst>
              </a:prstGeom>
              <a:solidFill>
                <a:srgbClr val="EA4335">
                  <a:alpha val="10000"/>
                </a:srgbClr>
              </a:solidFill>
              <a:ln w="9525">
                <a:solidFill>
                  <a:srgbClr val="EA4335">
                    <a:alpha val="30000"/>
                  </a:srgbClr>
                </a:solidFill>
              </a:ln>
            </p:spPr>
            <p:txBody>
              <a:bodyPr/>
              <a:lstStyle/>
              <a:p>
                <a:endParaRPr lang="zh-CN" altLang="en-US"/>
              </a:p>
            </p:txBody>
          </p:sp>
          <p:sp>
            <p:nvSpPr>
              <p:cNvPr id="38" name="TextBox 38"/>
              <p:cNvSpPr txBox="1"/>
              <p:nvPr/>
            </p:nvSpPr>
            <p:spPr>
              <a:xfrm>
                <a:off x="940118" y="5343049"/>
                <a:ext cx="936829" cy="198120"/>
              </a:xfrm>
              <a:prstGeom prst="rect">
                <a:avLst/>
              </a:prstGeom>
              <a:noFill/>
              <a:ln>
                <a:noFill/>
              </a:ln>
            </p:spPr>
            <p:txBody>
              <a:bodyPr wrap="none" lIns="0" tIns="0" rIns="0" bIns="0" anchor="t" anchorCtr="0">
                <a:spAutoFit/>
              </a:bodyPr>
              <a:lstStyle/>
              <a:p>
                <a:pPr algn="l"/>
                <a:r>
                  <a:rPr lang="zh-CN" sz="975" b="1" dirty="0">
                    <a:solidFill>
                      <a:srgbClr val="EA4335"/>
                    </a:solidFill>
                    <a:latin typeface="Segoe UI"/>
                    <a:ea typeface="Microsoft YaHei"/>
                    <a:cs typeface="Segoe UI"/>
                  </a:rPr>
                  <a:t>LexicalError</a:t>
                </a:r>
              </a:p>
            </p:txBody>
          </p:sp>
          <p:sp>
            <p:nvSpPr>
              <p:cNvPr id="39" name="TextBox 39"/>
              <p:cNvSpPr txBox="1"/>
              <p:nvPr/>
            </p:nvSpPr>
            <p:spPr>
              <a:xfrm>
                <a:off x="1635442" y="5343049"/>
                <a:ext cx="2609302"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 raised immediately with line number</a:t>
                </a:r>
              </a:p>
            </p:txBody>
          </p:sp>
          <p:sp>
            <p:nvSpPr>
              <p:cNvPr id="40" name="TextBox 40"/>
              <p:cNvSpPr txBox="1"/>
              <p:nvPr/>
            </p:nvSpPr>
            <p:spPr>
              <a:xfrm>
                <a:off x="941070" y="5522595"/>
                <a:ext cx="370989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Invalid token → pipeline halts, JSON error payload emitted</a:t>
                </a:r>
              </a:p>
            </p:txBody>
          </p:sp>
        </p:grpSp>
      </p:grpSp>
      <p:grpSp>
        <p:nvGrpSpPr>
          <p:cNvPr id="99" name="Group 99"/>
          <p:cNvGrpSpPr/>
          <p:nvPr/>
        </p:nvGrpSpPr>
        <p:grpSpPr>
          <a:xfrm>
            <a:off x="5334000" y="1047750"/>
            <a:ext cx="6715246" cy="5334000"/>
            <a:chOff x="5334000" y="1047750"/>
            <a:chExt cx="6715246" cy="5334000"/>
          </a:xfrm>
        </p:grpSpPr>
        <p:sp>
          <p:nvSpPr>
            <p:cNvPr id="43" name="Rectangle 43"/>
            <p:cNvSpPr/>
            <p:nvPr/>
          </p:nvSpPr>
          <p:spPr>
            <a:xfrm>
              <a:off x="5334000" y="1047750"/>
              <a:ext cx="6715246" cy="5334000"/>
            </a:xfrm>
            <a:prstGeom prst="roundRect">
              <a:avLst>
                <a:gd name="adj" fmla="val 1786"/>
              </a:avLst>
            </a:prstGeom>
            <a:solidFill>
              <a:srgbClr val="FFFFFF"/>
            </a:solidFill>
            <a:ln w="9525">
              <a:solidFill>
                <a:srgbClr val="DADCE0"/>
              </a:solidFill>
            </a:ln>
          </p:spPr>
          <p:txBody>
            <a:bodyPr/>
            <a:lstStyle/>
            <a:p>
              <a:endParaRPr lang="zh-CN" altLang="en-US"/>
            </a:p>
          </p:txBody>
        </p:sp>
        <p:sp>
          <p:nvSpPr>
            <p:cNvPr id="44" name="TextBox 44"/>
            <p:cNvSpPr txBox="1"/>
            <p:nvPr/>
          </p:nvSpPr>
          <p:spPr>
            <a:xfrm>
              <a:off x="5509260" y="1280160"/>
              <a:ext cx="1907515" cy="243840"/>
            </a:xfrm>
            <a:prstGeom prst="rect">
              <a:avLst/>
            </a:prstGeom>
            <a:noFill/>
            <a:ln>
              <a:noFill/>
            </a:ln>
          </p:spPr>
          <p:txBody>
            <a:bodyPr wrap="none" lIns="0" tIns="0" rIns="0" bIns="0" anchor="t" anchorCtr="0">
              <a:spAutoFit/>
            </a:bodyPr>
            <a:lstStyle/>
            <a:p>
              <a:pPr algn="l"/>
              <a:r>
                <a:rPr lang="zh-CN" sz="1200" b="1" dirty="0">
                  <a:solidFill>
                    <a:srgbClr val="202124"/>
                  </a:solidFill>
                  <a:latin typeface="Segoe UI"/>
                  <a:ea typeface="Microsoft YaHei"/>
                  <a:cs typeface="Segoe UI"/>
                </a:rPr>
                <a:t>Tokenization Example</a:t>
              </a:r>
            </a:p>
          </p:txBody>
        </p:sp>
        <p:sp>
          <p:nvSpPr>
            <p:cNvPr id="45" name="Rectangle 45"/>
            <p:cNvSpPr/>
            <p:nvPr/>
          </p:nvSpPr>
          <p:spPr>
            <a:xfrm>
              <a:off x="5524500" y="1504950"/>
              <a:ext cx="5905500" cy="9525"/>
            </a:xfrm>
            <a:prstGeom prst="rect">
              <a:avLst/>
            </a:prstGeom>
            <a:solidFill>
              <a:srgbClr val="DADCE0"/>
            </a:solidFill>
            <a:ln>
              <a:noFill/>
            </a:ln>
          </p:spPr>
          <p:txBody>
            <a:bodyPr/>
            <a:lstStyle/>
            <a:p>
              <a:endParaRPr lang="zh-CN" altLang="en-US"/>
            </a:p>
          </p:txBody>
        </p:sp>
        <p:sp>
          <p:nvSpPr>
            <p:cNvPr id="46" name="TextBox 46"/>
            <p:cNvSpPr txBox="1"/>
            <p:nvPr/>
          </p:nvSpPr>
          <p:spPr>
            <a:xfrm>
              <a:off x="5512118" y="1685449"/>
              <a:ext cx="86491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INPUT line 3:</a:t>
              </a:r>
            </a:p>
          </p:txBody>
        </p:sp>
        <p:sp>
          <p:nvSpPr>
            <p:cNvPr id="47" name="Rectangle 47"/>
            <p:cNvSpPr/>
            <p:nvPr/>
          </p:nvSpPr>
          <p:spPr>
            <a:xfrm>
              <a:off x="5524500" y="1885950"/>
              <a:ext cx="5905500" cy="419100"/>
            </a:xfrm>
            <a:prstGeom prst="roundRect">
              <a:avLst>
                <a:gd name="adj" fmla="val 13636"/>
              </a:avLst>
            </a:prstGeom>
            <a:solidFill>
              <a:srgbClr val="F8F9FA"/>
            </a:solidFill>
            <a:ln>
              <a:noFill/>
            </a:ln>
          </p:spPr>
          <p:txBody>
            <a:bodyPr/>
            <a:lstStyle/>
            <a:p>
              <a:endParaRPr lang="zh-CN" altLang="en-US"/>
            </a:p>
          </p:txBody>
        </p:sp>
        <p:sp>
          <p:nvSpPr>
            <p:cNvPr id="48" name="TextBox 48"/>
            <p:cNvSpPr txBox="1"/>
            <p:nvPr/>
          </p:nvSpPr>
          <p:spPr>
            <a:xfrm>
              <a:off x="5681662" y="2021681"/>
              <a:ext cx="2386370" cy="228600"/>
            </a:xfrm>
            <a:prstGeom prst="rect">
              <a:avLst/>
            </a:prstGeom>
            <a:noFill/>
            <a:ln>
              <a:noFill/>
            </a:ln>
          </p:spPr>
          <p:txBody>
            <a:bodyPr wrap="none" lIns="0" tIns="0" rIns="0" bIns="0" anchor="t" anchorCtr="0">
              <a:spAutoFit/>
            </a:bodyPr>
            <a:lstStyle/>
            <a:p>
              <a:pPr algn="l"/>
              <a:r>
                <a:rPr lang="zh-CN" sz="1125" dirty="0">
                  <a:solidFill>
                    <a:srgbClr val="202124"/>
                  </a:solidFill>
                  <a:latin typeface="Consolas"/>
                  <a:ea typeface="Microsoft YaHei"/>
                  <a:cs typeface="Consolas"/>
                </a:rPr>
                <a:t>let r = (NOT ((NOT p) AND q))</a:t>
              </a:r>
            </a:p>
          </p:txBody>
        </p:sp>
        <p:sp>
          <p:nvSpPr>
            <p:cNvPr id="49" name="TextBox 49"/>
            <p:cNvSpPr txBox="1"/>
            <p:nvPr/>
          </p:nvSpPr>
          <p:spPr>
            <a:xfrm>
              <a:off x="5512118" y="2447449"/>
              <a:ext cx="2929700"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TOKENIZED OUTPUT {line: 3, token: [...]}</a:t>
              </a:r>
            </a:p>
          </p:txBody>
        </p:sp>
        <p:sp>
          <p:nvSpPr>
            <p:cNvPr id="50" name="Rectangle 50"/>
            <p:cNvSpPr/>
            <p:nvPr/>
          </p:nvSpPr>
          <p:spPr>
            <a:xfrm>
              <a:off x="5524500" y="2686050"/>
              <a:ext cx="647700" cy="285750"/>
            </a:xfrm>
            <a:prstGeom prst="roundRect">
              <a:avLst>
                <a:gd name="adj" fmla="val 50000"/>
              </a:avLst>
            </a:prstGeom>
            <a:solidFill>
              <a:srgbClr val="4285F4">
                <a:alpha val="20000"/>
              </a:srgbClr>
            </a:solidFill>
            <a:ln w="9525">
              <a:solidFill>
                <a:srgbClr val="4285F4">
                  <a:alpha val="50000"/>
                </a:srgbClr>
              </a:solidFill>
            </a:ln>
          </p:spPr>
          <p:txBody>
            <a:bodyPr/>
            <a:lstStyle/>
            <a:p>
              <a:endParaRPr lang="zh-CN" altLang="en-US"/>
            </a:p>
          </p:txBody>
        </p:sp>
        <p:sp>
          <p:nvSpPr>
            <p:cNvPr id="51" name="TextBox 51"/>
            <p:cNvSpPr txBox="1"/>
            <p:nvPr/>
          </p:nvSpPr>
          <p:spPr>
            <a:xfrm>
              <a:off x="5728478" y="2779395"/>
              <a:ext cx="239744" cy="182880"/>
            </a:xfrm>
            <a:prstGeom prst="rect">
              <a:avLst/>
            </a:prstGeom>
            <a:noFill/>
            <a:ln>
              <a:noFill/>
            </a:ln>
          </p:spPr>
          <p:txBody>
            <a:bodyPr wrap="none" lIns="0" tIns="0" rIns="0" bIns="0" anchor="t" anchorCtr="0">
              <a:spAutoFit/>
            </a:bodyPr>
            <a:lstStyle/>
            <a:p>
              <a:pPr algn="ctr"/>
              <a:r>
                <a:rPr lang="zh-CN" sz="900" dirty="0">
                  <a:solidFill>
                    <a:srgbClr val="4285F4"/>
                  </a:solidFill>
                  <a:latin typeface="Consolas"/>
                  <a:ea typeface="Microsoft YaHei"/>
                  <a:cs typeface="Consolas"/>
                </a:rPr>
                <a:t>LET</a:t>
              </a:r>
            </a:p>
          </p:txBody>
        </p:sp>
        <p:sp>
          <p:nvSpPr>
            <p:cNvPr id="52" name="Rectangle 52"/>
            <p:cNvSpPr/>
            <p:nvPr/>
          </p:nvSpPr>
          <p:spPr>
            <a:xfrm>
              <a:off x="6267450" y="2686050"/>
              <a:ext cx="781050" cy="285750"/>
            </a:xfrm>
            <a:prstGeom prst="roundRect">
              <a:avLst>
                <a:gd name="adj" fmla="val 50000"/>
              </a:avLst>
            </a:prstGeom>
            <a:solidFill>
              <a:srgbClr val="202124">
                <a:alpha val="10000"/>
              </a:srgbClr>
            </a:solidFill>
            <a:ln w="9525">
              <a:solidFill>
                <a:srgbClr val="DADCE0">
                  <a:alpha val="20000"/>
                </a:srgbClr>
              </a:solidFill>
            </a:ln>
          </p:spPr>
          <p:txBody>
            <a:bodyPr/>
            <a:lstStyle/>
            <a:p>
              <a:endParaRPr lang="zh-CN" altLang="en-US"/>
            </a:p>
          </p:txBody>
        </p:sp>
        <p:sp>
          <p:nvSpPr>
            <p:cNvPr id="53" name="TextBox 53"/>
            <p:cNvSpPr txBox="1"/>
            <p:nvPr/>
          </p:nvSpPr>
          <p:spPr>
            <a:xfrm>
              <a:off x="6465808" y="2779395"/>
              <a:ext cx="384334"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VAR_R</a:t>
              </a:r>
            </a:p>
          </p:txBody>
        </p:sp>
        <p:sp>
          <p:nvSpPr>
            <p:cNvPr id="54" name="Rectangle 54"/>
            <p:cNvSpPr/>
            <p:nvPr/>
          </p:nvSpPr>
          <p:spPr>
            <a:xfrm>
              <a:off x="7143750" y="2686050"/>
              <a:ext cx="476250" cy="285750"/>
            </a:xfrm>
            <a:prstGeom prst="roundRect">
              <a:avLst>
                <a:gd name="adj" fmla="val 50000"/>
              </a:avLst>
            </a:prstGeom>
            <a:solidFill>
              <a:srgbClr val="202124">
                <a:alpha val="10000"/>
              </a:srgbClr>
            </a:solidFill>
            <a:ln w="9525">
              <a:solidFill>
                <a:srgbClr val="DADCE0">
                  <a:alpha val="20000"/>
                </a:srgbClr>
              </a:solidFill>
            </a:ln>
          </p:spPr>
          <p:txBody>
            <a:bodyPr/>
            <a:lstStyle/>
            <a:p>
              <a:endParaRPr lang="zh-CN" altLang="en-US"/>
            </a:p>
          </p:txBody>
        </p:sp>
        <p:sp>
          <p:nvSpPr>
            <p:cNvPr id="55" name="TextBox 55"/>
            <p:cNvSpPr txBox="1"/>
            <p:nvPr/>
          </p:nvSpPr>
          <p:spPr>
            <a:xfrm>
              <a:off x="7285006" y="2779395"/>
              <a:ext cx="193739"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EQ</a:t>
              </a:r>
            </a:p>
          </p:txBody>
        </p:sp>
        <p:sp>
          <p:nvSpPr>
            <p:cNvPr id="56" name="Rectangle 56"/>
            <p:cNvSpPr/>
            <p:nvPr/>
          </p:nvSpPr>
          <p:spPr>
            <a:xfrm>
              <a:off x="7715250" y="2686050"/>
              <a:ext cx="8382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57" name="TextBox 57"/>
            <p:cNvSpPr txBox="1"/>
            <p:nvPr/>
          </p:nvSpPr>
          <p:spPr>
            <a:xfrm>
              <a:off x="7869888" y="27793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L_PAREN</a:t>
              </a:r>
            </a:p>
          </p:txBody>
        </p:sp>
        <p:sp>
          <p:nvSpPr>
            <p:cNvPr id="58" name="Rectangle 58"/>
            <p:cNvSpPr/>
            <p:nvPr/>
          </p:nvSpPr>
          <p:spPr>
            <a:xfrm>
              <a:off x="8648700" y="2686050"/>
              <a:ext cx="781050" cy="285750"/>
            </a:xfrm>
            <a:prstGeom prst="roundRect">
              <a:avLst>
                <a:gd name="adj" fmla="val 50000"/>
              </a:avLst>
            </a:prstGeom>
            <a:solidFill>
              <a:srgbClr val="9334E6">
                <a:alpha val="20000"/>
              </a:srgbClr>
            </a:solidFill>
            <a:ln w="9525">
              <a:solidFill>
                <a:srgbClr val="9334E6">
                  <a:alpha val="50000"/>
                </a:srgbClr>
              </a:solidFill>
            </a:ln>
          </p:spPr>
          <p:txBody>
            <a:bodyPr/>
            <a:lstStyle/>
            <a:p>
              <a:endParaRPr lang="zh-CN" altLang="en-US"/>
            </a:p>
          </p:txBody>
        </p:sp>
        <p:sp>
          <p:nvSpPr>
            <p:cNvPr id="59" name="TextBox 59"/>
            <p:cNvSpPr txBox="1"/>
            <p:nvPr/>
          </p:nvSpPr>
          <p:spPr>
            <a:xfrm>
              <a:off x="8906208" y="2779395"/>
              <a:ext cx="266033" cy="182880"/>
            </a:xfrm>
            <a:prstGeom prst="rect">
              <a:avLst/>
            </a:prstGeom>
            <a:noFill/>
            <a:ln>
              <a:noFill/>
            </a:ln>
          </p:spPr>
          <p:txBody>
            <a:bodyPr wrap="none" lIns="0" tIns="0" rIns="0" bIns="0" anchor="t" anchorCtr="0">
              <a:spAutoFit/>
            </a:bodyPr>
            <a:lstStyle/>
            <a:p>
              <a:pPr algn="ctr"/>
              <a:r>
                <a:rPr lang="zh-CN" sz="900" dirty="0">
                  <a:solidFill>
                    <a:srgbClr val="9334E6"/>
                  </a:solidFill>
                  <a:latin typeface="Consolas"/>
                  <a:ea typeface="Microsoft YaHei"/>
                  <a:cs typeface="Consolas"/>
                </a:rPr>
                <a:t>NOT</a:t>
              </a:r>
            </a:p>
          </p:txBody>
        </p:sp>
        <p:sp>
          <p:nvSpPr>
            <p:cNvPr id="60" name="Rectangle 60"/>
            <p:cNvSpPr/>
            <p:nvPr/>
          </p:nvSpPr>
          <p:spPr>
            <a:xfrm>
              <a:off x="9525000" y="2686050"/>
              <a:ext cx="8382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61" name="TextBox 61"/>
            <p:cNvSpPr txBox="1"/>
            <p:nvPr/>
          </p:nvSpPr>
          <p:spPr>
            <a:xfrm>
              <a:off x="9679638" y="27793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L_PAREN</a:t>
              </a:r>
            </a:p>
          </p:txBody>
        </p:sp>
        <p:sp>
          <p:nvSpPr>
            <p:cNvPr id="62" name="Rectangle 62"/>
            <p:cNvSpPr/>
            <p:nvPr/>
          </p:nvSpPr>
          <p:spPr>
            <a:xfrm>
              <a:off x="10458450" y="2686050"/>
              <a:ext cx="8382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63" name="TextBox 63"/>
            <p:cNvSpPr txBox="1"/>
            <p:nvPr/>
          </p:nvSpPr>
          <p:spPr>
            <a:xfrm>
              <a:off x="10613088" y="27793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L_PAREN</a:t>
              </a:r>
            </a:p>
          </p:txBody>
        </p:sp>
        <p:sp>
          <p:nvSpPr>
            <p:cNvPr id="64" name="Rectangle 64"/>
            <p:cNvSpPr/>
            <p:nvPr/>
          </p:nvSpPr>
          <p:spPr>
            <a:xfrm>
              <a:off x="5524500" y="3105150"/>
              <a:ext cx="781050" cy="285750"/>
            </a:xfrm>
            <a:prstGeom prst="roundRect">
              <a:avLst>
                <a:gd name="adj" fmla="val 50000"/>
              </a:avLst>
            </a:prstGeom>
            <a:solidFill>
              <a:srgbClr val="9334E6">
                <a:alpha val="20000"/>
              </a:srgbClr>
            </a:solidFill>
            <a:ln w="9525">
              <a:solidFill>
                <a:srgbClr val="9334E6">
                  <a:alpha val="50000"/>
                </a:srgbClr>
              </a:solidFill>
            </a:ln>
          </p:spPr>
          <p:txBody>
            <a:bodyPr/>
            <a:lstStyle/>
            <a:p>
              <a:endParaRPr lang="zh-CN" altLang="en-US"/>
            </a:p>
          </p:txBody>
        </p:sp>
        <p:sp>
          <p:nvSpPr>
            <p:cNvPr id="65" name="TextBox 65"/>
            <p:cNvSpPr txBox="1"/>
            <p:nvPr/>
          </p:nvSpPr>
          <p:spPr>
            <a:xfrm>
              <a:off x="5782008" y="3198495"/>
              <a:ext cx="266033" cy="182880"/>
            </a:xfrm>
            <a:prstGeom prst="rect">
              <a:avLst/>
            </a:prstGeom>
            <a:noFill/>
            <a:ln>
              <a:noFill/>
            </a:ln>
          </p:spPr>
          <p:txBody>
            <a:bodyPr wrap="none" lIns="0" tIns="0" rIns="0" bIns="0" anchor="t" anchorCtr="0">
              <a:spAutoFit/>
            </a:bodyPr>
            <a:lstStyle/>
            <a:p>
              <a:pPr algn="ctr"/>
              <a:r>
                <a:rPr lang="zh-CN" sz="900" dirty="0">
                  <a:solidFill>
                    <a:srgbClr val="9334E6"/>
                  </a:solidFill>
                  <a:latin typeface="Consolas"/>
                  <a:ea typeface="Microsoft YaHei"/>
                  <a:cs typeface="Consolas"/>
                </a:rPr>
                <a:t>NOT</a:t>
              </a:r>
            </a:p>
          </p:txBody>
        </p:sp>
        <p:sp>
          <p:nvSpPr>
            <p:cNvPr id="66" name="Rectangle 66"/>
            <p:cNvSpPr/>
            <p:nvPr/>
          </p:nvSpPr>
          <p:spPr>
            <a:xfrm>
              <a:off x="6400800" y="3105150"/>
              <a:ext cx="781050" cy="285750"/>
            </a:xfrm>
            <a:prstGeom prst="roundRect">
              <a:avLst>
                <a:gd name="adj" fmla="val 50000"/>
              </a:avLst>
            </a:prstGeom>
            <a:solidFill>
              <a:srgbClr val="202124">
                <a:alpha val="10000"/>
              </a:srgbClr>
            </a:solidFill>
            <a:ln w="9525">
              <a:solidFill>
                <a:srgbClr val="DADCE0">
                  <a:alpha val="20000"/>
                </a:srgbClr>
              </a:solidFill>
            </a:ln>
          </p:spPr>
          <p:txBody>
            <a:bodyPr/>
            <a:lstStyle/>
            <a:p>
              <a:endParaRPr lang="zh-CN" altLang="en-US"/>
            </a:p>
          </p:txBody>
        </p:sp>
        <p:sp>
          <p:nvSpPr>
            <p:cNvPr id="67" name="TextBox 67"/>
            <p:cNvSpPr txBox="1"/>
            <p:nvPr/>
          </p:nvSpPr>
          <p:spPr>
            <a:xfrm>
              <a:off x="6599158" y="3198495"/>
              <a:ext cx="384334"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VAR_P</a:t>
              </a:r>
            </a:p>
          </p:txBody>
        </p:sp>
        <p:sp>
          <p:nvSpPr>
            <p:cNvPr id="68" name="Rectangle 68"/>
            <p:cNvSpPr/>
            <p:nvPr/>
          </p:nvSpPr>
          <p:spPr>
            <a:xfrm>
              <a:off x="7277100" y="3105150"/>
              <a:ext cx="9144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69" name="TextBox 69"/>
            <p:cNvSpPr txBox="1"/>
            <p:nvPr/>
          </p:nvSpPr>
          <p:spPr>
            <a:xfrm>
              <a:off x="7469838" y="31984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R_PAREN</a:t>
              </a:r>
            </a:p>
          </p:txBody>
        </p:sp>
        <p:sp>
          <p:nvSpPr>
            <p:cNvPr id="70" name="Rectangle 70"/>
            <p:cNvSpPr/>
            <p:nvPr/>
          </p:nvSpPr>
          <p:spPr>
            <a:xfrm>
              <a:off x="8286750" y="3105150"/>
              <a:ext cx="723900" cy="285750"/>
            </a:xfrm>
            <a:prstGeom prst="roundRect">
              <a:avLst>
                <a:gd name="adj" fmla="val 50000"/>
              </a:avLst>
            </a:prstGeom>
            <a:solidFill>
              <a:srgbClr val="34A853">
                <a:alpha val="20000"/>
              </a:srgbClr>
            </a:solidFill>
            <a:ln w="9525">
              <a:solidFill>
                <a:srgbClr val="34A853">
                  <a:alpha val="50000"/>
                </a:srgbClr>
              </a:solidFill>
            </a:ln>
          </p:spPr>
          <p:txBody>
            <a:bodyPr/>
            <a:lstStyle/>
            <a:p>
              <a:endParaRPr lang="zh-CN" altLang="en-US"/>
            </a:p>
          </p:txBody>
        </p:sp>
        <p:sp>
          <p:nvSpPr>
            <p:cNvPr id="71" name="TextBox 71"/>
            <p:cNvSpPr txBox="1"/>
            <p:nvPr/>
          </p:nvSpPr>
          <p:spPr>
            <a:xfrm>
              <a:off x="8528828" y="3198495"/>
              <a:ext cx="239744" cy="182880"/>
            </a:xfrm>
            <a:prstGeom prst="rect">
              <a:avLst/>
            </a:prstGeom>
            <a:noFill/>
            <a:ln>
              <a:noFill/>
            </a:ln>
          </p:spPr>
          <p:txBody>
            <a:bodyPr wrap="none" lIns="0" tIns="0" rIns="0" bIns="0" anchor="t" anchorCtr="0">
              <a:spAutoFit/>
            </a:bodyPr>
            <a:lstStyle/>
            <a:p>
              <a:pPr algn="ctr"/>
              <a:r>
                <a:rPr lang="zh-CN" sz="900" dirty="0">
                  <a:solidFill>
                    <a:srgbClr val="34A853"/>
                  </a:solidFill>
                  <a:latin typeface="Consolas"/>
                  <a:ea typeface="Microsoft YaHei"/>
                  <a:cs typeface="Consolas"/>
                </a:rPr>
                <a:t>AND</a:t>
              </a:r>
            </a:p>
          </p:txBody>
        </p:sp>
        <p:sp>
          <p:nvSpPr>
            <p:cNvPr id="72" name="Rectangle 72"/>
            <p:cNvSpPr/>
            <p:nvPr/>
          </p:nvSpPr>
          <p:spPr>
            <a:xfrm>
              <a:off x="9105900" y="3105150"/>
              <a:ext cx="781050" cy="285750"/>
            </a:xfrm>
            <a:prstGeom prst="roundRect">
              <a:avLst>
                <a:gd name="adj" fmla="val 50000"/>
              </a:avLst>
            </a:prstGeom>
            <a:solidFill>
              <a:srgbClr val="202124">
                <a:alpha val="10000"/>
              </a:srgbClr>
            </a:solidFill>
            <a:ln w="9525">
              <a:solidFill>
                <a:srgbClr val="DADCE0">
                  <a:alpha val="20000"/>
                </a:srgbClr>
              </a:solidFill>
            </a:ln>
          </p:spPr>
          <p:txBody>
            <a:bodyPr/>
            <a:lstStyle/>
            <a:p>
              <a:endParaRPr lang="zh-CN" altLang="en-US"/>
            </a:p>
          </p:txBody>
        </p:sp>
        <p:sp>
          <p:nvSpPr>
            <p:cNvPr id="73" name="TextBox 73"/>
            <p:cNvSpPr txBox="1"/>
            <p:nvPr/>
          </p:nvSpPr>
          <p:spPr>
            <a:xfrm>
              <a:off x="9291114" y="3198495"/>
              <a:ext cx="410623"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VAR_Q</a:t>
              </a:r>
            </a:p>
          </p:txBody>
        </p:sp>
        <p:sp>
          <p:nvSpPr>
            <p:cNvPr id="74" name="Rectangle 74"/>
            <p:cNvSpPr/>
            <p:nvPr/>
          </p:nvSpPr>
          <p:spPr>
            <a:xfrm>
              <a:off x="9982200" y="3105150"/>
              <a:ext cx="9144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75" name="TextBox 75"/>
            <p:cNvSpPr txBox="1"/>
            <p:nvPr/>
          </p:nvSpPr>
          <p:spPr>
            <a:xfrm>
              <a:off x="10174938" y="31984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R_PAREN</a:t>
              </a:r>
            </a:p>
          </p:txBody>
        </p:sp>
        <p:sp>
          <p:nvSpPr>
            <p:cNvPr id="76" name="Rectangle 76"/>
            <p:cNvSpPr/>
            <p:nvPr/>
          </p:nvSpPr>
          <p:spPr>
            <a:xfrm>
              <a:off x="10991850" y="3105150"/>
              <a:ext cx="914400" cy="285750"/>
            </a:xfrm>
            <a:prstGeom prst="roundRect">
              <a:avLst>
                <a:gd name="adj" fmla="val 50000"/>
              </a:avLst>
            </a:prstGeom>
            <a:solidFill>
              <a:srgbClr val="5F6368">
                <a:alpha val="15000"/>
              </a:srgbClr>
            </a:solidFill>
            <a:ln w="9525">
              <a:solidFill>
                <a:srgbClr val="9E9E9E">
                  <a:alpha val="30000"/>
                </a:srgbClr>
              </a:solidFill>
            </a:ln>
          </p:spPr>
          <p:txBody>
            <a:bodyPr/>
            <a:lstStyle/>
            <a:p>
              <a:endParaRPr lang="zh-CN" altLang="en-US"/>
            </a:p>
          </p:txBody>
        </p:sp>
        <p:sp>
          <p:nvSpPr>
            <p:cNvPr id="77" name="TextBox 77"/>
            <p:cNvSpPr txBox="1"/>
            <p:nvPr/>
          </p:nvSpPr>
          <p:spPr>
            <a:xfrm>
              <a:off x="11184588" y="3198495"/>
              <a:ext cx="528923" cy="182880"/>
            </a:xfrm>
            <a:prstGeom prst="rect">
              <a:avLst/>
            </a:prstGeom>
            <a:noFill/>
            <a:ln>
              <a:noFill/>
            </a:ln>
          </p:spPr>
          <p:txBody>
            <a:bodyPr wrap="none" lIns="0" tIns="0" rIns="0" bIns="0" anchor="t" anchorCtr="0">
              <a:spAutoFit/>
            </a:bodyPr>
            <a:lstStyle/>
            <a:p>
              <a:pPr algn="ctr"/>
              <a:r>
                <a:rPr lang="zh-CN" sz="900" dirty="0">
                  <a:solidFill>
                    <a:srgbClr val="5F6368"/>
                  </a:solidFill>
                  <a:latin typeface="Consolas"/>
                  <a:ea typeface="Microsoft YaHei"/>
                  <a:cs typeface="Consolas"/>
                </a:rPr>
                <a:t>R_PAREN</a:t>
              </a:r>
            </a:p>
          </p:txBody>
        </p:sp>
        <p:sp>
          <p:nvSpPr>
            <p:cNvPr id="78" name="Rectangle 78"/>
            <p:cNvSpPr/>
            <p:nvPr/>
          </p:nvSpPr>
          <p:spPr>
            <a:xfrm>
              <a:off x="5524500" y="3619500"/>
              <a:ext cx="5905500" cy="9525"/>
            </a:xfrm>
            <a:prstGeom prst="rect">
              <a:avLst/>
            </a:prstGeom>
            <a:solidFill>
              <a:srgbClr val="DADCE0"/>
            </a:solidFill>
            <a:ln>
              <a:noFill/>
            </a:ln>
          </p:spPr>
          <p:txBody>
            <a:bodyPr/>
            <a:lstStyle/>
            <a:p>
              <a:endParaRPr lang="zh-CN" altLang="en-US"/>
            </a:p>
          </p:txBody>
        </p:sp>
        <p:sp>
          <p:nvSpPr>
            <p:cNvPr id="79" name="TextBox 79"/>
            <p:cNvSpPr txBox="1"/>
            <p:nvPr/>
          </p:nvSpPr>
          <p:spPr>
            <a:xfrm>
              <a:off x="5512118" y="3742849"/>
              <a:ext cx="92899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Token Types:</a:t>
              </a:r>
            </a:p>
          </p:txBody>
        </p:sp>
        <p:sp>
          <p:nvSpPr>
            <p:cNvPr id="80" name="Rectangle 80"/>
            <p:cNvSpPr/>
            <p:nvPr/>
          </p:nvSpPr>
          <p:spPr>
            <a:xfrm>
              <a:off x="6286500" y="3733800"/>
              <a:ext cx="114300" cy="114300"/>
            </a:xfrm>
            <a:prstGeom prst="roundRect">
              <a:avLst>
                <a:gd name="adj" fmla="val 50000"/>
              </a:avLst>
            </a:prstGeom>
            <a:solidFill>
              <a:srgbClr val="4285F4"/>
            </a:solidFill>
            <a:ln>
              <a:noFill/>
            </a:ln>
          </p:spPr>
          <p:txBody>
            <a:bodyPr/>
            <a:lstStyle/>
            <a:p>
              <a:endParaRPr lang="zh-CN" altLang="en-US"/>
            </a:p>
          </p:txBody>
        </p:sp>
        <p:sp>
          <p:nvSpPr>
            <p:cNvPr id="81" name="TextBox 81"/>
            <p:cNvSpPr txBox="1"/>
            <p:nvPr/>
          </p:nvSpPr>
          <p:spPr>
            <a:xfrm>
              <a:off x="6446520" y="3750945"/>
              <a:ext cx="62750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Keywords</a:t>
              </a:r>
            </a:p>
          </p:txBody>
        </p:sp>
        <p:sp>
          <p:nvSpPr>
            <p:cNvPr id="82" name="Rectangle 82"/>
            <p:cNvSpPr/>
            <p:nvPr/>
          </p:nvSpPr>
          <p:spPr>
            <a:xfrm>
              <a:off x="7239000" y="3733800"/>
              <a:ext cx="114300" cy="114300"/>
            </a:xfrm>
            <a:prstGeom prst="roundRect">
              <a:avLst>
                <a:gd name="adj" fmla="val 50000"/>
              </a:avLst>
            </a:prstGeom>
            <a:solidFill>
              <a:srgbClr val="202124">
                <a:alpha val="50000"/>
              </a:srgbClr>
            </a:solidFill>
            <a:ln>
              <a:noFill/>
            </a:ln>
          </p:spPr>
          <p:txBody>
            <a:bodyPr/>
            <a:lstStyle/>
            <a:p>
              <a:endParaRPr lang="zh-CN" altLang="en-US"/>
            </a:p>
          </p:txBody>
        </p:sp>
        <p:sp>
          <p:nvSpPr>
            <p:cNvPr id="83" name="TextBox 83"/>
            <p:cNvSpPr txBox="1"/>
            <p:nvPr/>
          </p:nvSpPr>
          <p:spPr>
            <a:xfrm>
              <a:off x="7399020" y="3750945"/>
              <a:ext cx="60779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Variables</a:t>
              </a:r>
            </a:p>
          </p:txBody>
        </p:sp>
        <p:sp>
          <p:nvSpPr>
            <p:cNvPr id="84" name="Rectangle 84"/>
            <p:cNvSpPr/>
            <p:nvPr/>
          </p:nvSpPr>
          <p:spPr>
            <a:xfrm>
              <a:off x="8172450" y="3733800"/>
              <a:ext cx="114300" cy="114300"/>
            </a:xfrm>
            <a:prstGeom prst="roundRect">
              <a:avLst>
                <a:gd name="adj" fmla="val 50000"/>
              </a:avLst>
            </a:prstGeom>
            <a:solidFill>
              <a:srgbClr val="9334E6"/>
            </a:solidFill>
            <a:ln>
              <a:noFill/>
            </a:ln>
          </p:spPr>
          <p:txBody>
            <a:bodyPr/>
            <a:lstStyle/>
            <a:p>
              <a:endParaRPr lang="zh-CN" altLang="en-US"/>
            </a:p>
          </p:txBody>
        </p:sp>
        <p:sp>
          <p:nvSpPr>
            <p:cNvPr id="85" name="TextBox 85"/>
            <p:cNvSpPr txBox="1"/>
            <p:nvPr/>
          </p:nvSpPr>
          <p:spPr>
            <a:xfrm>
              <a:off x="8332470" y="3750945"/>
              <a:ext cx="69980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Operators</a:t>
              </a:r>
            </a:p>
          </p:txBody>
        </p:sp>
        <p:sp>
          <p:nvSpPr>
            <p:cNvPr id="86" name="Rectangle 86"/>
            <p:cNvSpPr/>
            <p:nvPr/>
          </p:nvSpPr>
          <p:spPr>
            <a:xfrm>
              <a:off x="9182100" y="3733800"/>
              <a:ext cx="114300" cy="114300"/>
            </a:xfrm>
            <a:prstGeom prst="roundRect">
              <a:avLst>
                <a:gd name="adj" fmla="val 50000"/>
              </a:avLst>
            </a:prstGeom>
            <a:solidFill>
              <a:srgbClr val="34A853"/>
            </a:solidFill>
            <a:ln>
              <a:noFill/>
            </a:ln>
          </p:spPr>
          <p:txBody>
            <a:bodyPr/>
            <a:lstStyle/>
            <a:p>
              <a:endParaRPr lang="zh-CN" altLang="en-US"/>
            </a:p>
          </p:txBody>
        </p:sp>
        <p:sp>
          <p:nvSpPr>
            <p:cNvPr id="87" name="TextBox 87"/>
            <p:cNvSpPr txBox="1"/>
            <p:nvPr/>
          </p:nvSpPr>
          <p:spPr>
            <a:xfrm>
              <a:off x="9342120" y="3750945"/>
              <a:ext cx="60779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Logic ops</a:t>
              </a:r>
            </a:p>
          </p:txBody>
        </p:sp>
        <p:sp>
          <p:nvSpPr>
            <p:cNvPr id="88" name="Rectangle 88"/>
            <p:cNvSpPr/>
            <p:nvPr/>
          </p:nvSpPr>
          <p:spPr>
            <a:xfrm>
              <a:off x="10134600" y="3733800"/>
              <a:ext cx="114300" cy="114300"/>
            </a:xfrm>
            <a:prstGeom prst="roundRect">
              <a:avLst>
                <a:gd name="adj" fmla="val 50000"/>
              </a:avLst>
            </a:prstGeom>
            <a:solidFill>
              <a:srgbClr val="5F6368">
                <a:alpha val="50000"/>
              </a:srgbClr>
            </a:solidFill>
            <a:ln>
              <a:noFill/>
            </a:ln>
          </p:spPr>
          <p:txBody>
            <a:bodyPr/>
            <a:lstStyle/>
            <a:p>
              <a:endParaRPr lang="zh-CN" altLang="en-US"/>
            </a:p>
          </p:txBody>
        </p:sp>
        <p:sp>
          <p:nvSpPr>
            <p:cNvPr id="89" name="TextBox 89"/>
            <p:cNvSpPr txBox="1"/>
            <p:nvPr/>
          </p:nvSpPr>
          <p:spPr>
            <a:xfrm>
              <a:off x="10294620" y="3750945"/>
              <a:ext cx="45662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Parens</a:t>
              </a:r>
            </a:p>
          </p:txBody>
        </p:sp>
        <p:sp>
          <p:nvSpPr>
            <p:cNvPr id="90" name="TextBox 90"/>
            <p:cNvSpPr txBox="1"/>
            <p:nvPr/>
          </p:nvSpPr>
          <p:spPr>
            <a:xfrm>
              <a:off x="5511165" y="4077652"/>
              <a:ext cx="2820369" cy="213360"/>
            </a:xfrm>
            <a:prstGeom prst="rect">
              <a:avLst/>
            </a:prstGeom>
            <a:noFill/>
            <a:ln>
              <a:noFill/>
            </a:ln>
          </p:spPr>
          <p:txBody>
            <a:bodyPr wrap="none" lIns="0" tIns="0" rIns="0" bIns="0" anchor="t" anchorCtr="0">
              <a:spAutoFit/>
            </a:bodyPr>
            <a:lstStyle/>
            <a:p>
              <a:pPr algn="l"/>
              <a:r>
                <a:rPr lang="zh-CN" sz="1050" b="1" dirty="0">
                  <a:solidFill>
                    <a:srgbClr val="202124"/>
                  </a:solidFill>
                  <a:latin typeface="Segoe UI"/>
                  <a:ea typeface="Microsoft YaHei"/>
                  <a:cs typeface="Segoe UI"/>
                </a:rPr>
                <a:t>Buffer scan logic for word "(NOT":</a:t>
              </a:r>
            </a:p>
          </p:txBody>
        </p:sp>
        <p:sp>
          <p:nvSpPr>
            <p:cNvPr id="91" name="Rectangle 91"/>
            <p:cNvSpPr/>
            <p:nvPr/>
          </p:nvSpPr>
          <p:spPr>
            <a:xfrm>
              <a:off x="5524500" y="4305300"/>
              <a:ext cx="5905500" cy="1619250"/>
            </a:xfrm>
            <a:prstGeom prst="roundRect">
              <a:avLst>
                <a:gd name="adj" fmla="val 4706"/>
              </a:avLst>
            </a:prstGeom>
            <a:solidFill>
              <a:srgbClr val="F8F9FA"/>
            </a:solidFill>
            <a:ln>
              <a:noFill/>
            </a:ln>
          </p:spPr>
          <p:txBody>
            <a:bodyPr/>
            <a:lstStyle/>
            <a:p>
              <a:endParaRPr lang="zh-CN" altLang="en-US"/>
            </a:p>
          </p:txBody>
        </p:sp>
        <p:sp>
          <p:nvSpPr>
            <p:cNvPr id="92" name="TextBox 92"/>
            <p:cNvSpPr txBox="1"/>
            <p:nvPr/>
          </p:nvSpPr>
          <p:spPr>
            <a:xfrm>
              <a:off x="5702618" y="4447699"/>
              <a:ext cx="253810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read '(' → buf empty → emit L_PAREN</a:t>
              </a:r>
            </a:p>
          </p:txBody>
        </p:sp>
        <p:sp>
          <p:nvSpPr>
            <p:cNvPr id="93" name="TextBox 93"/>
            <p:cNvSpPr txBox="1"/>
            <p:nvPr/>
          </p:nvSpPr>
          <p:spPr>
            <a:xfrm>
              <a:off x="5702618" y="4657249"/>
              <a:ext cx="141315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read 'N' → buf = "N"</a:t>
              </a:r>
            </a:p>
          </p:txBody>
        </p:sp>
        <p:sp>
          <p:nvSpPr>
            <p:cNvPr id="94" name="TextBox 94"/>
            <p:cNvSpPr txBox="1"/>
            <p:nvPr/>
          </p:nvSpPr>
          <p:spPr>
            <a:xfrm>
              <a:off x="5702618" y="4847749"/>
              <a:ext cx="154843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read 'O' → buf = "NO"</a:t>
              </a:r>
            </a:p>
          </p:txBody>
        </p:sp>
        <p:sp>
          <p:nvSpPr>
            <p:cNvPr id="95" name="TextBox 95"/>
            <p:cNvSpPr txBox="1"/>
            <p:nvPr/>
          </p:nvSpPr>
          <p:spPr>
            <a:xfrm>
              <a:off x="5702618" y="5038249"/>
              <a:ext cx="1598271"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read 'T' → buf = "NOT"</a:t>
              </a:r>
            </a:p>
          </p:txBody>
        </p:sp>
        <p:sp>
          <p:nvSpPr>
            <p:cNvPr id="96" name="TextBox 96"/>
            <p:cNvSpPr txBox="1"/>
            <p:nvPr/>
          </p:nvSpPr>
          <p:spPr>
            <a:xfrm>
              <a:off x="5702618" y="5228749"/>
              <a:ext cx="255234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word ends → buf "NOT" in TOKEN_MAP</a:t>
              </a:r>
            </a:p>
          </p:txBody>
        </p:sp>
        <p:sp>
          <p:nvSpPr>
            <p:cNvPr id="97" name="TextBox 97"/>
            <p:cNvSpPr txBox="1"/>
            <p:nvPr/>
          </p:nvSpPr>
          <p:spPr>
            <a:xfrm>
              <a:off x="5702618" y="5419249"/>
              <a:ext cx="758119"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 emit NOT</a:t>
              </a:r>
            </a:p>
          </p:txBody>
        </p:sp>
        <p:sp>
          <p:nvSpPr>
            <p:cNvPr id="98" name="TextBox 98"/>
            <p:cNvSpPr txBox="1"/>
            <p:nvPr/>
          </p:nvSpPr>
          <p:spPr>
            <a:xfrm>
              <a:off x="5702618" y="5609749"/>
              <a:ext cx="202546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result: [L_PAREN, NOT, ...]</a:t>
              </a:r>
            </a:p>
          </p:txBody>
        </p:sp>
      </p:grpSp>
      <p:grpSp>
        <p:nvGrpSpPr>
          <p:cNvPr id="103" name="Group 103"/>
          <p:cNvGrpSpPr/>
          <p:nvPr/>
        </p:nvGrpSpPr>
        <p:grpSpPr>
          <a:xfrm>
            <a:off x="561022" y="6572250"/>
            <a:ext cx="11069955" cy="269081"/>
            <a:chOff x="561022" y="6572250"/>
            <a:chExt cx="11069955" cy="269081"/>
          </a:xfrm>
        </p:grpSpPr>
        <p:sp>
          <p:nvSpPr>
            <p:cNvPr id="100" name="Rectangle 100"/>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101" name="TextBox 101"/>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102" name="TextBox 102"/>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06</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500"/>
                                        <p:tgtEl>
                                          <p:spTgt spid="42"/>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9"/>
                                        </p:tgtEl>
                                        <p:attrNameLst>
                                          <p:attrName>style.visibility</p:attrName>
                                        </p:attrNameLst>
                                      </p:cBhvr>
                                      <p:to>
                                        <p:strVal val="visible"/>
                                      </p:to>
                                    </p:set>
                                    <p:animEffect transition="in" filter="fade">
                                      <p:cBhvr>
                                        <p:cTn id="11"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9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nvGrpSpPr>
          <p:cNvPr id="9" name="Group 9"/>
          <p:cNvGrpSpPr/>
          <p:nvPr/>
        </p:nvGrpSpPr>
        <p:grpSpPr>
          <a:xfrm>
            <a:off x="557212" y="316230"/>
            <a:ext cx="5133718" cy="648176"/>
            <a:chOff x="557212" y="316230"/>
            <a:chExt cx="5133718" cy="648176"/>
          </a:xfrm>
        </p:grpSpPr>
        <p:sp>
          <p:nvSpPr>
            <p:cNvPr id="5" name="Rectangle 5"/>
            <p:cNvSpPr/>
            <p:nvPr/>
          </p:nvSpPr>
          <p:spPr>
            <a:xfrm>
              <a:off x="571500" y="333375"/>
              <a:ext cx="666750" cy="304800"/>
            </a:xfrm>
            <a:prstGeom prst="roundRect">
              <a:avLst>
                <a:gd name="adj" fmla="val 50000"/>
              </a:avLst>
            </a:prstGeom>
            <a:solidFill>
              <a:srgbClr val="34A853">
                <a:alpha val="15000"/>
              </a:srgbClr>
            </a:solidFill>
            <a:ln w="9525">
              <a:solidFill>
                <a:srgbClr val="34A853">
                  <a:alpha val="50000"/>
                </a:srgbClr>
              </a:solidFill>
            </a:ln>
          </p:spPr>
          <p:txBody>
            <a:bodyPr/>
            <a:lstStyle/>
            <a:p>
              <a:endParaRPr lang="zh-CN" altLang="en-US"/>
            </a:p>
          </p:txBody>
        </p:sp>
        <p:sp>
          <p:nvSpPr>
            <p:cNvPr id="6" name="TextBox 6"/>
            <p:cNvSpPr txBox="1"/>
            <p:nvPr/>
          </p:nvSpPr>
          <p:spPr>
            <a:xfrm>
              <a:off x="623359" y="428149"/>
              <a:ext cx="563032" cy="198120"/>
            </a:xfrm>
            <a:prstGeom prst="rect">
              <a:avLst/>
            </a:prstGeom>
            <a:noFill/>
            <a:ln>
              <a:noFill/>
            </a:ln>
          </p:spPr>
          <p:txBody>
            <a:bodyPr wrap="none" lIns="0" tIns="0" rIns="0" bIns="0" anchor="t" anchorCtr="0">
              <a:spAutoFit/>
            </a:bodyPr>
            <a:lstStyle/>
            <a:p>
              <a:pPr algn="ctr"/>
              <a:r>
                <a:rPr lang="zh-CN" sz="975" b="1" dirty="0">
                  <a:solidFill>
                    <a:srgbClr val="34A853"/>
                  </a:solidFill>
                  <a:latin typeface="Segoe UI"/>
                  <a:ea typeface="Microsoft YaHei"/>
                  <a:cs typeface="Segoe UI"/>
                </a:rPr>
                <a:t>Phase 2</a:t>
              </a:r>
            </a:p>
          </p:txBody>
        </p:sp>
        <p:sp>
          <p:nvSpPr>
            <p:cNvPr id="7" name="TextBox 7"/>
            <p:cNvSpPr txBox="1"/>
            <p:nvPr/>
          </p:nvSpPr>
          <p:spPr>
            <a:xfrm>
              <a:off x="1354455" y="316230"/>
              <a:ext cx="4336475"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Recursive Descent Parser</a:t>
              </a:r>
            </a:p>
          </p:txBody>
        </p:sp>
        <p:sp>
          <p:nvSpPr>
            <p:cNvPr id="8" name="TextBox 8"/>
            <p:cNvSpPr txBox="1"/>
            <p:nvPr/>
          </p:nvSpPr>
          <p:spPr>
            <a:xfrm>
              <a:off x="557212" y="735806"/>
              <a:ext cx="5031700"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Building ASTs by mirroring the grammar — one function per rule</a:t>
              </a:r>
            </a:p>
          </p:txBody>
        </p:sp>
      </p:grpSp>
      <p:grpSp>
        <p:nvGrpSpPr>
          <p:cNvPr id="55" name="Group 55"/>
          <p:cNvGrpSpPr/>
          <p:nvPr/>
        </p:nvGrpSpPr>
        <p:grpSpPr>
          <a:xfrm>
            <a:off x="571500" y="1047750"/>
            <a:ext cx="4191000" cy="5334000"/>
            <a:chOff x="571500" y="1047750"/>
            <a:chExt cx="4191000" cy="5334000"/>
          </a:xfrm>
        </p:grpSpPr>
        <p:sp>
          <p:nvSpPr>
            <p:cNvPr id="10" name="Rectangle 10"/>
            <p:cNvSpPr/>
            <p:nvPr/>
          </p:nvSpPr>
          <p:spPr>
            <a:xfrm>
              <a:off x="571500" y="1047750"/>
              <a:ext cx="4191000" cy="5334000"/>
            </a:xfrm>
            <a:prstGeom prst="roundRect">
              <a:avLst>
                <a:gd name="adj" fmla="val 2273"/>
              </a:avLst>
            </a:prstGeom>
            <a:solidFill>
              <a:srgbClr val="FFFFFF"/>
            </a:solidFill>
            <a:ln w="9525">
              <a:solidFill>
                <a:srgbClr val="DADCE0"/>
              </a:solidFill>
            </a:ln>
          </p:spPr>
          <p:txBody>
            <a:bodyPr/>
            <a:lstStyle/>
            <a:p>
              <a:endParaRPr lang="zh-CN" altLang="en-US"/>
            </a:p>
          </p:txBody>
        </p:sp>
        <p:sp>
          <p:nvSpPr>
            <p:cNvPr id="11" name="Rectangle 11"/>
            <p:cNvSpPr/>
            <p:nvPr/>
          </p:nvSpPr>
          <p:spPr>
            <a:xfrm>
              <a:off x="762000" y="1238250"/>
              <a:ext cx="495300" cy="495300"/>
            </a:xfrm>
            <a:prstGeom prst="roundRect">
              <a:avLst>
                <a:gd name="adj" fmla="val 19231"/>
              </a:avLst>
            </a:prstGeom>
            <a:solidFill>
              <a:srgbClr val="34A853">
                <a:alpha val="12000"/>
              </a:srgbClr>
            </a:solidFill>
            <a:ln>
              <a:noFill/>
            </a:ln>
          </p:spPr>
          <p:txBody>
            <a:bodyPr/>
            <a:lstStyle/>
            <a:p>
              <a:endParaRPr lang="zh-CN" altLang="en-US"/>
            </a:p>
          </p:txBody>
        </p:sp>
        <p:grpSp>
          <p:nvGrpSpPr>
            <p:cNvPr id="16" name="Group 16"/>
            <p:cNvGrpSpPr/>
            <p:nvPr/>
          </p:nvGrpSpPr>
          <p:grpSpPr>
            <a:xfrm>
              <a:off x="866775" y="1341634"/>
              <a:ext cx="286262" cy="288534"/>
              <a:chOff x="866775" y="1341634"/>
              <a:chExt cx="286262" cy="288534"/>
            </a:xfrm>
          </p:grpSpPr>
          <p:sp>
            <p:nvSpPr>
              <p:cNvPr id="12" name="Freeform 12"/>
              <p:cNvSpPr/>
              <p:nvPr/>
            </p:nvSpPr>
            <p:spPr>
              <a:xfrm>
                <a:off x="1038225" y="151447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34A853"/>
              </a:solidFill>
              <a:ln>
                <a:noFill/>
              </a:ln>
            </p:spPr>
            <p:txBody>
              <a:bodyPr/>
              <a:lstStyle/>
              <a:p>
                <a:endParaRPr lang="zh-CN" altLang="en-US"/>
              </a:p>
            </p:txBody>
          </p:sp>
          <p:sp>
            <p:nvSpPr>
              <p:cNvPr id="13" name="Freeform 13"/>
              <p:cNvSpPr/>
              <p:nvPr/>
            </p:nvSpPr>
            <p:spPr>
              <a:xfrm>
                <a:off x="1009027" y="1341634"/>
                <a:ext cx="143498" cy="144669"/>
              </a:xfrm>
              <a:custGeom>
                <a:avLst/>
                <a:gdLst/>
                <a:ahLst/>
                <a:cxnLst/>
                <a:rect l="l" t="t" r="r" b="b"/>
                <a:pathLst>
                  <a:path w="143498" h="144669">
                    <a:moveTo>
                      <a:pt x="67874" y="5578"/>
                    </a:moveTo>
                    <a:cubicBezTo>
                      <a:pt x="72964" y="10668"/>
                      <a:pt x="73472" y="18749"/>
                      <a:pt x="69060" y="24437"/>
                    </a:cubicBezTo>
                    <a:lnTo>
                      <a:pt x="67874" y="25780"/>
                    </a:lnTo>
                    <a:lnTo>
                      <a:pt x="49400" y="44254"/>
                    </a:lnTo>
                    <a:lnTo>
                      <a:pt x="100635" y="44254"/>
                    </a:lnTo>
                    <a:cubicBezTo>
                      <a:pt x="123332" y="44253"/>
                      <a:pt x="142095" y="61944"/>
                      <a:pt x="143426" y="84602"/>
                    </a:cubicBezTo>
                    <a:lnTo>
                      <a:pt x="143498" y="87116"/>
                    </a:lnTo>
                    <a:lnTo>
                      <a:pt x="143498" y="129979"/>
                    </a:lnTo>
                    <a:cubicBezTo>
                      <a:pt x="143489" y="137538"/>
                      <a:pt x="137594" y="143783"/>
                      <a:pt x="130047" y="144226"/>
                    </a:cubicBezTo>
                    <a:cubicBezTo>
                      <a:pt x="122501" y="144669"/>
                      <a:pt x="115916" y="139157"/>
                      <a:pt x="115023" y="131650"/>
                    </a:cubicBezTo>
                    <a:lnTo>
                      <a:pt x="114923" y="129979"/>
                    </a:lnTo>
                    <a:lnTo>
                      <a:pt x="114923" y="87116"/>
                    </a:lnTo>
                    <a:cubicBezTo>
                      <a:pt x="114922" y="79873"/>
                      <a:pt x="109500" y="73776"/>
                      <a:pt x="102307" y="72929"/>
                    </a:cubicBezTo>
                    <a:lnTo>
                      <a:pt x="100635" y="72829"/>
                    </a:lnTo>
                    <a:lnTo>
                      <a:pt x="49414" y="72829"/>
                    </a:lnTo>
                    <a:lnTo>
                      <a:pt x="67874" y="91303"/>
                    </a:lnTo>
                    <a:cubicBezTo>
                      <a:pt x="73192" y="96639"/>
                      <a:pt x="73453" y="105187"/>
                      <a:pt x="68470" y="110838"/>
                    </a:cubicBezTo>
                    <a:cubicBezTo>
                      <a:pt x="63488" y="116488"/>
                      <a:pt x="54974" y="117299"/>
                      <a:pt x="49014" y="112691"/>
                    </a:cubicBezTo>
                    <a:lnTo>
                      <a:pt x="47671" y="111505"/>
                    </a:lnTo>
                    <a:lnTo>
                      <a:pt x="4809" y="68643"/>
                    </a:lnTo>
                    <a:cubicBezTo>
                      <a:pt x="1498" y="65407"/>
                      <a:pt x="0" y="60743"/>
                      <a:pt x="808" y="56184"/>
                    </a:cubicBezTo>
                    <a:lnTo>
                      <a:pt x="1323" y="54098"/>
                    </a:lnTo>
                    <a:lnTo>
                      <a:pt x="1894" y="52612"/>
                    </a:lnTo>
                    <a:cubicBezTo>
                      <a:pt x="2723" y="50812"/>
                      <a:pt x="3895" y="49183"/>
                      <a:pt x="5395" y="47840"/>
                    </a:cubicBezTo>
                    <a:lnTo>
                      <a:pt x="47671" y="5578"/>
                    </a:lnTo>
                    <a:cubicBezTo>
                      <a:pt x="53251" y="0"/>
                      <a:pt x="62295" y="0"/>
                      <a:pt x="67874" y="5578"/>
                    </a:cubicBezTo>
                    <a:close/>
                  </a:path>
                </a:pathLst>
              </a:custGeom>
              <a:solidFill>
                <a:srgbClr val="34A853"/>
              </a:solidFill>
              <a:ln>
                <a:noFill/>
              </a:ln>
            </p:spPr>
            <p:txBody>
              <a:bodyPr/>
              <a:lstStyle/>
              <a:p>
                <a:endParaRPr lang="zh-CN" altLang="en-US"/>
              </a:p>
            </p:txBody>
          </p:sp>
          <p:sp>
            <p:nvSpPr>
              <p:cNvPr id="14" name="Freeform 14"/>
              <p:cNvSpPr/>
              <p:nvPr/>
            </p:nvSpPr>
            <p:spPr>
              <a:xfrm>
                <a:off x="866775" y="1485900"/>
                <a:ext cx="143498" cy="144268"/>
              </a:xfrm>
              <a:custGeom>
                <a:avLst/>
                <a:gdLst/>
                <a:ahLst/>
                <a:cxnLst/>
                <a:rect l="l" t="t" r="r" b="b"/>
                <a:pathLst>
                  <a:path w="143498" h="144268">
                    <a:moveTo>
                      <a:pt x="14288" y="0"/>
                    </a:moveTo>
                    <a:cubicBezTo>
                      <a:pt x="21531" y="1"/>
                      <a:pt x="27628" y="5422"/>
                      <a:pt x="28475" y="12616"/>
                    </a:cubicBezTo>
                    <a:lnTo>
                      <a:pt x="28575" y="14288"/>
                    </a:lnTo>
                    <a:lnTo>
                      <a:pt x="28575" y="57150"/>
                    </a:lnTo>
                    <a:cubicBezTo>
                      <a:pt x="28576" y="64393"/>
                      <a:pt x="33997" y="70490"/>
                      <a:pt x="41191" y="71337"/>
                    </a:cubicBezTo>
                    <a:lnTo>
                      <a:pt x="42862" y="71438"/>
                    </a:lnTo>
                    <a:lnTo>
                      <a:pt x="94083" y="71438"/>
                    </a:lnTo>
                    <a:lnTo>
                      <a:pt x="75624" y="52964"/>
                    </a:lnTo>
                    <a:cubicBezTo>
                      <a:pt x="70534" y="47874"/>
                      <a:pt x="70026" y="39792"/>
                      <a:pt x="74438" y="34104"/>
                    </a:cubicBezTo>
                    <a:lnTo>
                      <a:pt x="75624" y="32761"/>
                    </a:lnTo>
                    <a:cubicBezTo>
                      <a:pt x="80714" y="27672"/>
                      <a:pt x="88796" y="27163"/>
                      <a:pt x="94483" y="31575"/>
                    </a:cubicBezTo>
                    <a:lnTo>
                      <a:pt x="95826" y="32761"/>
                    </a:lnTo>
                    <a:lnTo>
                      <a:pt x="138689" y="75624"/>
                    </a:lnTo>
                    <a:cubicBezTo>
                      <a:pt x="142000" y="78860"/>
                      <a:pt x="143498" y="83524"/>
                      <a:pt x="142689" y="88082"/>
                    </a:cubicBezTo>
                    <a:lnTo>
                      <a:pt x="142175" y="90168"/>
                    </a:lnTo>
                    <a:lnTo>
                      <a:pt x="141603" y="91654"/>
                    </a:lnTo>
                    <a:cubicBezTo>
                      <a:pt x="140775" y="93468"/>
                      <a:pt x="139584" y="95092"/>
                      <a:pt x="138103" y="96426"/>
                    </a:cubicBezTo>
                    <a:lnTo>
                      <a:pt x="95826" y="138689"/>
                    </a:lnTo>
                    <a:cubicBezTo>
                      <a:pt x="90490" y="144007"/>
                      <a:pt x="81942" y="144268"/>
                      <a:pt x="76291" y="139285"/>
                    </a:cubicBezTo>
                    <a:cubicBezTo>
                      <a:pt x="70641" y="134303"/>
                      <a:pt x="69830" y="125789"/>
                      <a:pt x="74438" y="119829"/>
                    </a:cubicBezTo>
                    <a:lnTo>
                      <a:pt x="75624" y="118486"/>
                    </a:lnTo>
                    <a:lnTo>
                      <a:pt x="94069" y="100012"/>
                    </a:lnTo>
                    <a:lnTo>
                      <a:pt x="42862" y="100012"/>
                    </a:lnTo>
                    <a:cubicBezTo>
                      <a:pt x="20166" y="100014"/>
                      <a:pt x="1403" y="82322"/>
                      <a:pt x="71" y="59665"/>
                    </a:cubicBezTo>
                    <a:lnTo>
                      <a:pt x="0" y="57150"/>
                    </a:lnTo>
                    <a:lnTo>
                      <a:pt x="0" y="14288"/>
                    </a:lnTo>
                    <a:cubicBezTo>
                      <a:pt x="0" y="6397"/>
                      <a:pt x="6397" y="0"/>
                      <a:pt x="14288" y="0"/>
                    </a:cubicBezTo>
                    <a:close/>
                  </a:path>
                </a:pathLst>
              </a:custGeom>
              <a:solidFill>
                <a:srgbClr val="34A853"/>
              </a:solidFill>
              <a:ln>
                <a:noFill/>
              </a:ln>
            </p:spPr>
            <p:txBody>
              <a:bodyPr/>
              <a:lstStyle/>
              <a:p>
                <a:endParaRPr lang="zh-CN" altLang="en-US"/>
              </a:p>
            </p:txBody>
          </p:sp>
          <p:sp>
            <p:nvSpPr>
              <p:cNvPr id="15" name="Freeform 15"/>
              <p:cNvSpPr/>
              <p:nvPr/>
            </p:nvSpPr>
            <p:spPr>
              <a:xfrm>
                <a:off x="866775" y="134302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34A853"/>
              </a:solidFill>
              <a:ln>
                <a:noFill/>
              </a:ln>
            </p:spPr>
            <p:txBody>
              <a:bodyPr/>
              <a:lstStyle/>
              <a:p>
                <a:endParaRPr lang="zh-CN" altLang="en-US"/>
              </a:p>
            </p:txBody>
          </p:sp>
        </p:grpSp>
        <p:sp>
          <p:nvSpPr>
            <p:cNvPr id="17" name="TextBox 17"/>
            <p:cNvSpPr txBox="1"/>
            <p:nvPr/>
          </p:nvSpPr>
          <p:spPr>
            <a:xfrm>
              <a:off x="1392555" y="1302068"/>
              <a:ext cx="1411012"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Parser Design</a:t>
              </a:r>
            </a:p>
          </p:txBody>
        </p:sp>
        <p:sp>
          <p:nvSpPr>
            <p:cNvPr id="18" name="TextBox 18"/>
            <p:cNvSpPr txBox="1"/>
            <p:nvPr/>
          </p:nvSpPr>
          <p:spPr>
            <a:xfrm>
              <a:off x="1397318" y="1533049"/>
              <a:ext cx="2338745"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run_parser_phase(lexer_output)</a:t>
              </a:r>
            </a:p>
          </p:txBody>
        </p:sp>
        <p:sp>
          <p:nvSpPr>
            <p:cNvPr id="19" name="Rectangle 19"/>
            <p:cNvSpPr/>
            <p:nvPr/>
          </p:nvSpPr>
          <p:spPr>
            <a:xfrm>
              <a:off x="762000" y="1847850"/>
              <a:ext cx="3810000" cy="9525"/>
            </a:xfrm>
            <a:prstGeom prst="rect">
              <a:avLst/>
            </a:prstGeom>
            <a:solidFill>
              <a:srgbClr val="DADCE0"/>
            </a:solidFill>
            <a:ln>
              <a:noFill/>
            </a:ln>
          </p:spPr>
          <p:txBody>
            <a:bodyPr/>
            <a:lstStyle/>
            <a:p>
              <a:endParaRPr lang="zh-CN" altLang="en-US"/>
            </a:p>
          </p:txBody>
        </p:sp>
        <p:sp>
          <p:nvSpPr>
            <p:cNvPr id="20" name="TextBox 20"/>
            <p:cNvSpPr txBox="1"/>
            <p:nvPr/>
          </p:nvSpPr>
          <p:spPr>
            <a:xfrm>
              <a:off x="748665" y="1963102"/>
              <a:ext cx="1886452" cy="213360"/>
            </a:xfrm>
            <a:prstGeom prst="rect">
              <a:avLst/>
            </a:prstGeom>
            <a:noFill/>
            <a:ln>
              <a:noFill/>
            </a:ln>
          </p:spPr>
          <p:txBody>
            <a:bodyPr wrap="none" lIns="0" tIns="0" rIns="0" bIns="0" anchor="t" anchorCtr="0">
              <a:spAutoFit/>
            </a:bodyPr>
            <a:lstStyle/>
            <a:p>
              <a:pPr algn="l"/>
              <a:r>
                <a:rPr lang="zh-CN" sz="1050" b="1" dirty="0">
                  <a:solidFill>
                    <a:srgbClr val="202124"/>
                  </a:solidFill>
                  <a:latin typeface="Segoe UI"/>
                  <a:ea typeface="Microsoft YaHei"/>
                  <a:cs typeface="Segoe UI"/>
                </a:rPr>
                <a:t>Why Recursive Descent?</a:t>
              </a:r>
            </a:p>
          </p:txBody>
        </p:sp>
        <p:sp>
          <p:nvSpPr>
            <p:cNvPr id="21" name="Rectangle 21"/>
            <p:cNvSpPr/>
            <p:nvPr/>
          </p:nvSpPr>
          <p:spPr>
            <a:xfrm>
              <a:off x="762000" y="2171700"/>
              <a:ext cx="3810000" cy="552450"/>
            </a:xfrm>
            <a:prstGeom prst="roundRect">
              <a:avLst>
                <a:gd name="adj" fmla="val 10345"/>
              </a:avLst>
            </a:prstGeom>
            <a:solidFill>
              <a:srgbClr val="F8F9FA"/>
            </a:solidFill>
            <a:ln>
              <a:noFill/>
            </a:ln>
          </p:spPr>
          <p:txBody>
            <a:bodyPr/>
            <a:lstStyle/>
            <a:p>
              <a:endParaRPr lang="zh-CN" altLang="en-US"/>
            </a:p>
          </p:txBody>
        </p:sp>
        <p:sp>
          <p:nvSpPr>
            <p:cNvPr id="22" name="Rectangle 22"/>
            <p:cNvSpPr/>
            <p:nvPr/>
          </p:nvSpPr>
          <p:spPr>
            <a:xfrm>
              <a:off x="762000" y="2171700"/>
              <a:ext cx="38100" cy="552450"/>
            </a:xfrm>
            <a:prstGeom prst="roundRect">
              <a:avLst>
                <a:gd name="adj" fmla="val 50000"/>
              </a:avLst>
            </a:prstGeom>
            <a:solidFill>
              <a:srgbClr val="34A853"/>
            </a:solidFill>
            <a:ln>
              <a:noFill/>
            </a:ln>
          </p:spPr>
          <p:txBody>
            <a:bodyPr/>
            <a:lstStyle/>
            <a:p>
              <a:endParaRPr lang="zh-CN" altLang="en-US"/>
            </a:p>
          </p:txBody>
        </p:sp>
        <p:sp>
          <p:nvSpPr>
            <p:cNvPr id="23" name="TextBox 23"/>
            <p:cNvSpPr txBox="1"/>
            <p:nvPr/>
          </p:nvSpPr>
          <p:spPr>
            <a:xfrm>
              <a:off x="902018" y="2256949"/>
              <a:ext cx="2289973" cy="198120"/>
            </a:xfrm>
            <a:prstGeom prst="rect">
              <a:avLst/>
            </a:prstGeom>
            <a:noFill/>
            <a:ln>
              <a:noFill/>
            </a:ln>
          </p:spPr>
          <p:txBody>
            <a:bodyPr wrap="none" lIns="0" tIns="0" rIns="0" bIns="0" anchor="t" anchorCtr="0">
              <a:spAutoFit/>
            </a:bodyPr>
            <a:lstStyle/>
            <a:p>
              <a:pPr algn="l"/>
              <a:r>
                <a:rPr lang="zh-CN" sz="975" b="1" dirty="0">
                  <a:solidFill>
                    <a:srgbClr val="34A853"/>
                  </a:solidFill>
                  <a:latin typeface="Segoe UI"/>
                  <a:ea typeface="Microsoft YaHei"/>
                  <a:cs typeface="Segoe UI"/>
                </a:rPr>
                <a:t>Grammar is naturally recursive</a:t>
              </a:r>
            </a:p>
          </p:txBody>
        </p:sp>
        <p:sp>
          <p:nvSpPr>
            <p:cNvPr id="24" name="TextBox 24"/>
            <p:cNvSpPr txBox="1"/>
            <p:nvPr/>
          </p:nvSpPr>
          <p:spPr>
            <a:xfrm>
              <a:off x="902970" y="2436495"/>
              <a:ext cx="359159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Expressions contain expressions — descent mirrors this</a:t>
              </a:r>
            </a:p>
          </p:txBody>
        </p:sp>
        <p:sp>
          <p:nvSpPr>
            <p:cNvPr id="25" name="TextBox 25"/>
            <p:cNvSpPr txBox="1"/>
            <p:nvPr/>
          </p:nvSpPr>
          <p:spPr>
            <a:xfrm>
              <a:off x="902970" y="2569845"/>
              <a:ext cx="280949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directly without an external grammar table</a:t>
              </a:r>
            </a:p>
          </p:txBody>
        </p:sp>
        <p:sp>
          <p:nvSpPr>
            <p:cNvPr id="26" name="Rectangle 26"/>
            <p:cNvSpPr/>
            <p:nvPr/>
          </p:nvSpPr>
          <p:spPr>
            <a:xfrm>
              <a:off x="762000" y="2838450"/>
              <a:ext cx="3810000" cy="457200"/>
            </a:xfrm>
            <a:prstGeom prst="roundRect">
              <a:avLst>
                <a:gd name="adj" fmla="val 12500"/>
              </a:avLst>
            </a:prstGeom>
            <a:solidFill>
              <a:srgbClr val="F8F9FA"/>
            </a:solidFill>
            <a:ln>
              <a:noFill/>
            </a:ln>
          </p:spPr>
          <p:txBody>
            <a:bodyPr/>
            <a:lstStyle/>
            <a:p>
              <a:endParaRPr lang="zh-CN" altLang="en-US"/>
            </a:p>
          </p:txBody>
        </p:sp>
        <p:sp>
          <p:nvSpPr>
            <p:cNvPr id="27" name="Rectangle 27"/>
            <p:cNvSpPr/>
            <p:nvPr/>
          </p:nvSpPr>
          <p:spPr>
            <a:xfrm>
              <a:off x="762000" y="2838450"/>
              <a:ext cx="38100" cy="457200"/>
            </a:xfrm>
            <a:prstGeom prst="roundRect">
              <a:avLst>
                <a:gd name="adj" fmla="val 50000"/>
              </a:avLst>
            </a:prstGeom>
            <a:solidFill>
              <a:srgbClr val="4285F4"/>
            </a:solidFill>
            <a:ln>
              <a:noFill/>
            </a:ln>
          </p:spPr>
          <p:txBody>
            <a:bodyPr/>
            <a:lstStyle/>
            <a:p>
              <a:endParaRPr lang="zh-CN" altLang="en-US"/>
            </a:p>
          </p:txBody>
        </p:sp>
        <p:sp>
          <p:nvSpPr>
            <p:cNvPr id="28" name="TextBox 28"/>
            <p:cNvSpPr txBox="1"/>
            <p:nvPr/>
          </p:nvSpPr>
          <p:spPr>
            <a:xfrm>
              <a:off x="902018" y="2923699"/>
              <a:ext cx="1721802" cy="198120"/>
            </a:xfrm>
            <a:prstGeom prst="rect">
              <a:avLst/>
            </a:prstGeom>
            <a:noFill/>
            <a:ln>
              <a:noFill/>
            </a:ln>
          </p:spPr>
          <p:txBody>
            <a:bodyPr wrap="none" lIns="0" tIns="0" rIns="0" bIns="0" anchor="t" anchorCtr="0">
              <a:spAutoFit/>
            </a:bodyPr>
            <a:lstStyle/>
            <a:p>
              <a:pPr algn="l"/>
              <a:r>
                <a:rPr lang="zh-CN" sz="975" b="1" dirty="0">
                  <a:solidFill>
                    <a:srgbClr val="4285F4"/>
                  </a:solidFill>
                  <a:latin typeface="Segoe UI"/>
                  <a:ea typeface="Microsoft YaHei"/>
                  <a:cs typeface="Segoe UI"/>
                </a:rPr>
                <a:t>One function = one rule</a:t>
              </a:r>
            </a:p>
          </p:txBody>
        </p:sp>
        <p:sp>
          <p:nvSpPr>
            <p:cNvPr id="29" name="TextBox 29"/>
            <p:cNvSpPr txBox="1"/>
            <p:nvPr/>
          </p:nvSpPr>
          <p:spPr>
            <a:xfrm>
              <a:off x="902970" y="3122295"/>
              <a:ext cx="359816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Each parser fn handles exactly one syntactic construct</a:t>
              </a:r>
            </a:p>
          </p:txBody>
        </p:sp>
        <p:sp>
          <p:nvSpPr>
            <p:cNvPr id="30" name="Rectangle 30"/>
            <p:cNvSpPr/>
            <p:nvPr/>
          </p:nvSpPr>
          <p:spPr>
            <a:xfrm>
              <a:off x="762000" y="3409950"/>
              <a:ext cx="3810000" cy="457200"/>
            </a:xfrm>
            <a:prstGeom prst="roundRect">
              <a:avLst>
                <a:gd name="adj" fmla="val 12500"/>
              </a:avLst>
            </a:prstGeom>
            <a:solidFill>
              <a:srgbClr val="F8F9FA"/>
            </a:solidFill>
            <a:ln>
              <a:noFill/>
            </a:ln>
          </p:spPr>
          <p:txBody>
            <a:bodyPr/>
            <a:lstStyle/>
            <a:p>
              <a:endParaRPr lang="zh-CN" altLang="en-US"/>
            </a:p>
          </p:txBody>
        </p:sp>
        <p:sp>
          <p:nvSpPr>
            <p:cNvPr id="31" name="Rectangle 31"/>
            <p:cNvSpPr/>
            <p:nvPr/>
          </p:nvSpPr>
          <p:spPr>
            <a:xfrm>
              <a:off x="762000" y="3409950"/>
              <a:ext cx="38100" cy="457200"/>
            </a:xfrm>
            <a:prstGeom prst="roundRect">
              <a:avLst>
                <a:gd name="adj" fmla="val 50000"/>
              </a:avLst>
            </a:prstGeom>
            <a:solidFill>
              <a:srgbClr val="9334E6"/>
            </a:solidFill>
            <a:ln>
              <a:noFill/>
            </a:ln>
          </p:spPr>
          <p:txBody>
            <a:bodyPr/>
            <a:lstStyle/>
            <a:p>
              <a:endParaRPr lang="zh-CN" altLang="en-US"/>
            </a:p>
          </p:txBody>
        </p:sp>
        <p:sp>
          <p:nvSpPr>
            <p:cNvPr id="32" name="TextBox 32"/>
            <p:cNvSpPr txBox="1"/>
            <p:nvPr/>
          </p:nvSpPr>
          <p:spPr>
            <a:xfrm>
              <a:off x="902018" y="3495199"/>
              <a:ext cx="1691898" cy="198120"/>
            </a:xfrm>
            <a:prstGeom prst="rect">
              <a:avLst/>
            </a:prstGeom>
            <a:noFill/>
            <a:ln>
              <a:noFill/>
            </a:ln>
          </p:spPr>
          <p:txBody>
            <a:bodyPr wrap="none" lIns="0" tIns="0" rIns="0" bIns="0" anchor="t" anchorCtr="0">
              <a:spAutoFit/>
            </a:bodyPr>
            <a:lstStyle/>
            <a:p>
              <a:pPr algn="l"/>
              <a:r>
                <a:rPr lang="zh-CN" sz="975" b="1" dirty="0">
                  <a:solidFill>
                    <a:srgbClr val="9334E6"/>
                  </a:solidFill>
                  <a:latin typeface="Segoe UI"/>
                  <a:ea typeface="Microsoft YaHei"/>
                  <a:cs typeface="Segoe UI"/>
                </a:rPr>
                <a:t>Easy error localization</a:t>
              </a:r>
            </a:p>
          </p:txBody>
        </p:sp>
        <p:sp>
          <p:nvSpPr>
            <p:cNvPr id="33" name="TextBox 33"/>
            <p:cNvSpPr txBox="1"/>
            <p:nvPr/>
          </p:nvSpPr>
          <p:spPr>
            <a:xfrm>
              <a:off x="902970" y="3693795"/>
              <a:ext cx="267147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ParseError raised with exact line number</a:t>
              </a:r>
            </a:p>
          </p:txBody>
        </p:sp>
        <p:sp>
          <p:nvSpPr>
            <p:cNvPr id="34" name="Rectangle 34"/>
            <p:cNvSpPr/>
            <p:nvPr/>
          </p:nvSpPr>
          <p:spPr>
            <a:xfrm>
              <a:off x="762000" y="3981450"/>
              <a:ext cx="3810000" cy="9525"/>
            </a:xfrm>
            <a:prstGeom prst="rect">
              <a:avLst/>
            </a:prstGeom>
            <a:solidFill>
              <a:srgbClr val="DADCE0"/>
            </a:solidFill>
            <a:ln>
              <a:noFill/>
            </a:ln>
          </p:spPr>
          <p:txBody>
            <a:bodyPr/>
            <a:lstStyle/>
            <a:p>
              <a:endParaRPr lang="zh-CN" altLang="en-US"/>
            </a:p>
          </p:txBody>
        </p:sp>
        <p:sp>
          <p:nvSpPr>
            <p:cNvPr id="35" name="TextBox 35"/>
            <p:cNvSpPr txBox="1"/>
            <p:nvPr/>
          </p:nvSpPr>
          <p:spPr>
            <a:xfrm>
              <a:off x="748665" y="4096702"/>
              <a:ext cx="1443647" cy="213360"/>
            </a:xfrm>
            <a:prstGeom prst="rect">
              <a:avLst/>
            </a:prstGeom>
            <a:noFill/>
            <a:ln>
              <a:noFill/>
            </a:ln>
          </p:spPr>
          <p:txBody>
            <a:bodyPr wrap="none" lIns="0" tIns="0" rIns="0" bIns="0" anchor="t" anchorCtr="0">
              <a:spAutoFit/>
            </a:bodyPr>
            <a:lstStyle/>
            <a:p>
              <a:pPr algn="l"/>
              <a:r>
                <a:rPr lang="zh-CN" sz="1050" b="1" dirty="0">
                  <a:solidFill>
                    <a:srgbClr val="202124"/>
                  </a:solidFill>
                  <a:latin typeface="Segoe UI"/>
                  <a:ea typeface="Microsoft YaHei"/>
                  <a:cs typeface="Segoe UI"/>
                </a:rPr>
                <a:t>Grammar Summary</a:t>
              </a:r>
            </a:p>
          </p:txBody>
        </p:sp>
        <p:sp>
          <p:nvSpPr>
            <p:cNvPr id="36" name="Rectangle 36"/>
            <p:cNvSpPr/>
            <p:nvPr/>
          </p:nvSpPr>
          <p:spPr>
            <a:xfrm>
              <a:off x="762000" y="4324350"/>
              <a:ext cx="3810000" cy="1771650"/>
            </a:xfrm>
            <a:prstGeom prst="roundRect">
              <a:avLst>
                <a:gd name="adj" fmla="val 4301"/>
              </a:avLst>
            </a:prstGeom>
            <a:solidFill>
              <a:srgbClr val="F8F9FA"/>
            </a:solidFill>
            <a:ln>
              <a:noFill/>
            </a:ln>
          </p:spPr>
          <p:txBody>
            <a:bodyPr/>
            <a:lstStyle/>
            <a:p>
              <a:endParaRPr lang="zh-CN" altLang="en-US"/>
            </a:p>
          </p:txBody>
        </p:sp>
        <p:sp>
          <p:nvSpPr>
            <p:cNvPr id="37" name="TextBox 37"/>
            <p:cNvSpPr txBox="1"/>
            <p:nvPr/>
          </p:nvSpPr>
          <p:spPr>
            <a:xfrm>
              <a:off x="921068" y="4428649"/>
              <a:ext cx="83643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Statement:</a:t>
              </a:r>
            </a:p>
          </p:txBody>
        </p:sp>
        <p:sp>
          <p:nvSpPr>
            <p:cNvPr id="38" name="TextBox 38"/>
            <p:cNvSpPr txBox="1"/>
            <p:nvPr/>
          </p:nvSpPr>
          <p:spPr>
            <a:xfrm>
              <a:off x="921068" y="4638199"/>
              <a:ext cx="259723" cy="198120"/>
            </a:xfrm>
            <a:prstGeom prst="rect">
              <a:avLst/>
            </a:prstGeom>
            <a:noFill/>
            <a:ln>
              <a:noFill/>
            </a:ln>
          </p:spPr>
          <p:txBody>
            <a:bodyPr wrap="none" lIns="0" tIns="0" rIns="0" bIns="0" anchor="t" anchorCtr="0">
              <a:spAutoFit/>
            </a:bodyPr>
            <a:lstStyle/>
            <a:p>
              <a:pPr algn="l"/>
              <a:r>
                <a:rPr lang="zh-CN" sz="975" dirty="0">
                  <a:solidFill>
                    <a:srgbClr val="4285F4"/>
                  </a:solidFill>
                  <a:latin typeface="Consolas"/>
                  <a:ea typeface="Microsoft YaHei"/>
                  <a:cs typeface="Consolas"/>
                </a:rPr>
                <a:t>LET</a:t>
              </a:r>
            </a:p>
          </p:txBody>
        </p:sp>
        <p:sp>
          <p:nvSpPr>
            <p:cNvPr id="39" name="TextBox 39"/>
            <p:cNvSpPr txBox="1"/>
            <p:nvPr/>
          </p:nvSpPr>
          <p:spPr>
            <a:xfrm>
              <a:off x="1321118" y="4638199"/>
              <a:ext cx="843558"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VAR EQ Expr</a:t>
              </a:r>
            </a:p>
          </p:txBody>
        </p:sp>
        <p:sp>
          <p:nvSpPr>
            <p:cNvPr id="40" name="TextBox 40"/>
            <p:cNvSpPr txBox="1"/>
            <p:nvPr/>
          </p:nvSpPr>
          <p:spPr>
            <a:xfrm>
              <a:off x="921068" y="4828699"/>
              <a:ext cx="145804" cy="198120"/>
            </a:xfrm>
            <a:prstGeom prst="rect">
              <a:avLst/>
            </a:prstGeom>
            <a:noFill/>
            <a:ln>
              <a:noFill/>
            </a:ln>
          </p:spPr>
          <p:txBody>
            <a:bodyPr wrap="none" lIns="0" tIns="0" rIns="0" bIns="0" anchor="t" anchorCtr="0">
              <a:spAutoFit/>
            </a:bodyPr>
            <a:lstStyle/>
            <a:p>
              <a:pPr algn="l"/>
              <a:r>
                <a:rPr lang="zh-CN" sz="975" dirty="0">
                  <a:solidFill>
                    <a:srgbClr val="4285F4"/>
                  </a:solidFill>
                  <a:latin typeface="Consolas"/>
                  <a:ea typeface="Microsoft YaHei"/>
                  <a:cs typeface="Consolas"/>
                </a:rPr>
                <a:t>IF</a:t>
              </a:r>
            </a:p>
          </p:txBody>
        </p:sp>
        <p:sp>
          <p:nvSpPr>
            <p:cNvPr id="41" name="TextBox 41"/>
            <p:cNvSpPr txBox="1"/>
            <p:nvPr/>
          </p:nvSpPr>
          <p:spPr>
            <a:xfrm>
              <a:off x="1178242" y="4828699"/>
              <a:ext cx="1078516"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Expr THEN Stmt</a:t>
              </a:r>
            </a:p>
          </p:txBody>
        </p:sp>
        <p:sp>
          <p:nvSpPr>
            <p:cNvPr id="42" name="TextBox 42"/>
            <p:cNvSpPr txBox="1"/>
            <p:nvPr/>
          </p:nvSpPr>
          <p:spPr>
            <a:xfrm>
              <a:off x="921068" y="5019199"/>
              <a:ext cx="380762" cy="198120"/>
            </a:xfrm>
            <a:prstGeom prst="rect">
              <a:avLst/>
            </a:prstGeom>
            <a:noFill/>
            <a:ln>
              <a:noFill/>
            </a:ln>
          </p:spPr>
          <p:txBody>
            <a:bodyPr wrap="none" lIns="0" tIns="0" rIns="0" bIns="0" anchor="t" anchorCtr="0">
              <a:spAutoFit/>
            </a:bodyPr>
            <a:lstStyle/>
            <a:p>
              <a:pPr algn="l"/>
              <a:r>
                <a:rPr lang="zh-CN" sz="975" dirty="0">
                  <a:solidFill>
                    <a:srgbClr val="4285F4"/>
                  </a:solidFill>
                  <a:latin typeface="Consolas"/>
                  <a:ea typeface="Microsoft YaHei"/>
                  <a:cs typeface="Consolas"/>
                </a:rPr>
                <a:t>PRINT</a:t>
              </a:r>
            </a:p>
          </p:txBody>
        </p:sp>
        <p:sp>
          <p:nvSpPr>
            <p:cNvPr id="43" name="TextBox 43"/>
            <p:cNvSpPr txBox="1"/>
            <p:nvPr/>
          </p:nvSpPr>
          <p:spPr>
            <a:xfrm>
              <a:off x="1492568" y="5019199"/>
              <a:ext cx="25972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VAR</a:t>
              </a:r>
            </a:p>
          </p:txBody>
        </p:sp>
        <p:sp>
          <p:nvSpPr>
            <p:cNvPr id="44" name="TextBox 44"/>
            <p:cNvSpPr txBox="1"/>
            <p:nvPr/>
          </p:nvSpPr>
          <p:spPr>
            <a:xfrm>
              <a:off x="921068" y="5228749"/>
              <a:ext cx="85067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Expression:</a:t>
              </a:r>
            </a:p>
          </p:txBody>
        </p:sp>
        <p:sp>
          <p:nvSpPr>
            <p:cNvPr id="45" name="TextBox 45"/>
            <p:cNvSpPr txBox="1"/>
            <p:nvPr/>
          </p:nvSpPr>
          <p:spPr>
            <a:xfrm>
              <a:off x="921068" y="5419249"/>
              <a:ext cx="338042" cy="198120"/>
            </a:xfrm>
            <a:prstGeom prst="rect">
              <a:avLst/>
            </a:prstGeom>
            <a:noFill/>
            <a:ln>
              <a:noFill/>
            </a:ln>
          </p:spPr>
          <p:txBody>
            <a:bodyPr wrap="none" lIns="0" tIns="0" rIns="0" bIns="0" anchor="t" anchorCtr="0">
              <a:spAutoFit/>
            </a:bodyPr>
            <a:lstStyle/>
            <a:p>
              <a:pPr algn="l"/>
              <a:r>
                <a:rPr lang="zh-CN" sz="975" dirty="0">
                  <a:solidFill>
                    <a:srgbClr val="1E8E3E"/>
                  </a:solidFill>
                  <a:latin typeface="Consolas"/>
                  <a:ea typeface="Microsoft YaHei"/>
                  <a:cs typeface="Consolas"/>
                </a:rPr>
                <a:t>TRUE</a:t>
              </a:r>
            </a:p>
          </p:txBody>
        </p:sp>
        <p:sp>
          <p:nvSpPr>
            <p:cNvPr id="46" name="TextBox 46"/>
            <p:cNvSpPr txBox="1"/>
            <p:nvPr/>
          </p:nvSpPr>
          <p:spPr>
            <a:xfrm>
              <a:off x="1397318" y="5419249"/>
              <a:ext cx="67485"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47" name="TextBox 47"/>
            <p:cNvSpPr txBox="1"/>
            <p:nvPr/>
          </p:nvSpPr>
          <p:spPr>
            <a:xfrm>
              <a:off x="1578292" y="5419249"/>
              <a:ext cx="416362" cy="198120"/>
            </a:xfrm>
            <a:prstGeom prst="rect">
              <a:avLst/>
            </a:prstGeom>
            <a:noFill/>
            <a:ln>
              <a:noFill/>
            </a:ln>
          </p:spPr>
          <p:txBody>
            <a:bodyPr wrap="none" lIns="0" tIns="0" rIns="0" bIns="0" anchor="t" anchorCtr="0">
              <a:spAutoFit/>
            </a:bodyPr>
            <a:lstStyle/>
            <a:p>
              <a:pPr algn="l"/>
              <a:r>
                <a:rPr lang="zh-CN" sz="975" dirty="0">
                  <a:solidFill>
                    <a:srgbClr val="EA4335"/>
                  </a:solidFill>
                  <a:latin typeface="Consolas"/>
                  <a:ea typeface="Microsoft YaHei"/>
                  <a:cs typeface="Consolas"/>
                </a:rPr>
                <a:t>FALSE</a:t>
              </a:r>
            </a:p>
          </p:txBody>
        </p:sp>
        <p:sp>
          <p:nvSpPr>
            <p:cNvPr id="48" name="TextBox 48"/>
            <p:cNvSpPr txBox="1"/>
            <p:nvPr/>
          </p:nvSpPr>
          <p:spPr>
            <a:xfrm>
              <a:off x="2054542" y="5419249"/>
              <a:ext cx="345162"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VAR</a:t>
              </a:r>
            </a:p>
          </p:txBody>
        </p:sp>
        <p:sp>
          <p:nvSpPr>
            <p:cNvPr id="49" name="TextBox 49"/>
            <p:cNvSpPr txBox="1"/>
            <p:nvPr/>
          </p:nvSpPr>
          <p:spPr>
            <a:xfrm>
              <a:off x="921068" y="5609749"/>
              <a:ext cx="366522"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(NOT</a:t>
              </a:r>
            </a:p>
          </p:txBody>
        </p:sp>
        <p:sp>
          <p:nvSpPr>
            <p:cNvPr id="50" name="TextBox 50"/>
            <p:cNvSpPr txBox="1"/>
            <p:nvPr/>
          </p:nvSpPr>
          <p:spPr>
            <a:xfrm>
              <a:off x="1435418" y="5609749"/>
              <a:ext cx="18140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E)</a:t>
              </a:r>
            </a:p>
          </p:txBody>
        </p:sp>
        <p:sp>
          <p:nvSpPr>
            <p:cNvPr id="51" name="TextBox 51"/>
            <p:cNvSpPr txBox="1"/>
            <p:nvPr/>
          </p:nvSpPr>
          <p:spPr>
            <a:xfrm>
              <a:off x="1749742" y="5609749"/>
              <a:ext cx="26684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(E</a:t>
              </a:r>
            </a:p>
          </p:txBody>
        </p:sp>
        <p:sp>
          <p:nvSpPr>
            <p:cNvPr id="52" name="TextBox 52"/>
            <p:cNvSpPr txBox="1"/>
            <p:nvPr/>
          </p:nvSpPr>
          <p:spPr>
            <a:xfrm>
              <a:off x="2130742" y="5609749"/>
              <a:ext cx="209883"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OP</a:t>
              </a:r>
            </a:p>
          </p:txBody>
        </p:sp>
        <p:sp>
          <p:nvSpPr>
            <p:cNvPr id="53" name="TextBox 53"/>
            <p:cNvSpPr txBox="1"/>
            <p:nvPr/>
          </p:nvSpPr>
          <p:spPr>
            <a:xfrm>
              <a:off x="2445068" y="5609749"/>
              <a:ext cx="18140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E)</a:t>
              </a:r>
            </a:p>
          </p:txBody>
        </p:sp>
        <p:sp>
          <p:nvSpPr>
            <p:cNvPr id="54" name="TextBox 54"/>
            <p:cNvSpPr txBox="1"/>
            <p:nvPr/>
          </p:nvSpPr>
          <p:spPr>
            <a:xfrm>
              <a:off x="921068" y="5800249"/>
              <a:ext cx="151283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OP: AND | OR | IMPLIES</a:t>
              </a:r>
            </a:p>
          </p:txBody>
        </p:sp>
      </p:grpSp>
      <p:sp>
        <p:nvSpPr>
          <p:cNvPr id="56" name="Rectangle 56"/>
          <p:cNvSpPr/>
          <p:nvPr/>
        </p:nvSpPr>
        <p:spPr>
          <a:xfrm>
            <a:off x="5143500" y="1047750"/>
            <a:ext cx="6667500" cy="5334000"/>
          </a:xfrm>
          <a:prstGeom prst="roundRect">
            <a:avLst>
              <a:gd name="adj" fmla="val 1786"/>
            </a:avLst>
          </a:prstGeom>
          <a:solidFill>
            <a:srgbClr val="FFFFFF"/>
          </a:solidFill>
          <a:ln w="9525">
            <a:solidFill>
              <a:srgbClr val="DADCE0"/>
            </a:solidFill>
          </a:ln>
        </p:spPr>
        <p:txBody>
          <a:bodyPr/>
          <a:lstStyle/>
          <a:p>
            <a:endParaRPr lang="zh-CN" altLang="en-US" dirty="0"/>
          </a:p>
        </p:txBody>
      </p:sp>
      <p:sp>
        <p:nvSpPr>
          <p:cNvPr id="57" name="TextBox 57"/>
          <p:cNvSpPr txBox="1"/>
          <p:nvPr/>
        </p:nvSpPr>
        <p:spPr>
          <a:xfrm>
            <a:off x="5318760" y="1280160"/>
            <a:ext cx="1714290" cy="243840"/>
          </a:xfrm>
          <a:prstGeom prst="rect">
            <a:avLst/>
          </a:prstGeom>
          <a:noFill/>
          <a:ln>
            <a:noFill/>
          </a:ln>
        </p:spPr>
        <p:txBody>
          <a:bodyPr wrap="none" lIns="0" tIns="0" rIns="0" bIns="0" anchor="t" anchorCtr="0">
            <a:spAutoFit/>
          </a:bodyPr>
          <a:lstStyle/>
          <a:p>
            <a:pPr algn="l"/>
            <a:r>
              <a:rPr lang="zh-CN" sz="1200" b="1" dirty="0">
                <a:solidFill>
                  <a:srgbClr val="202124"/>
                </a:solidFill>
                <a:latin typeface="Segoe UI"/>
                <a:ea typeface="Microsoft YaHei"/>
                <a:cs typeface="Segoe UI"/>
              </a:rPr>
              <a:t>7 Parser Functions</a:t>
            </a:r>
          </a:p>
        </p:txBody>
      </p:sp>
      <p:sp>
        <p:nvSpPr>
          <p:cNvPr id="58" name="Rectangle 58"/>
          <p:cNvSpPr/>
          <p:nvPr/>
        </p:nvSpPr>
        <p:spPr>
          <a:xfrm>
            <a:off x="5334000" y="1504950"/>
            <a:ext cx="6286500" cy="9525"/>
          </a:xfrm>
          <a:prstGeom prst="rect">
            <a:avLst/>
          </a:prstGeom>
          <a:solidFill>
            <a:srgbClr val="DADCE0"/>
          </a:solidFill>
          <a:ln>
            <a:noFill/>
          </a:ln>
        </p:spPr>
        <p:txBody>
          <a:bodyPr/>
          <a:lstStyle/>
          <a:p>
            <a:endParaRPr lang="zh-CN" altLang="en-US"/>
          </a:p>
        </p:txBody>
      </p:sp>
      <p:sp>
        <p:nvSpPr>
          <p:cNvPr id="79" name="Rectangle 79"/>
          <p:cNvSpPr/>
          <p:nvPr/>
        </p:nvSpPr>
        <p:spPr>
          <a:xfrm>
            <a:off x="5334000" y="4800600"/>
            <a:ext cx="6286500" cy="9525"/>
          </a:xfrm>
          <a:prstGeom prst="rect">
            <a:avLst/>
          </a:prstGeom>
          <a:solidFill>
            <a:srgbClr val="DADCE0"/>
          </a:solidFill>
          <a:ln>
            <a:noFill/>
          </a:ln>
        </p:spPr>
        <p:txBody>
          <a:bodyPr/>
          <a:lstStyle/>
          <a:p>
            <a:endParaRPr lang="zh-CN" altLang="en-US"/>
          </a:p>
        </p:txBody>
      </p:sp>
      <p:sp>
        <p:nvSpPr>
          <p:cNvPr id="80" name="TextBox 80"/>
          <p:cNvSpPr txBox="1"/>
          <p:nvPr/>
        </p:nvSpPr>
        <p:spPr>
          <a:xfrm>
            <a:off x="5320665" y="4915852"/>
            <a:ext cx="2965287" cy="213360"/>
          </a:xfrm>
          <a:prstGeom prst="rect">
            <a:avLst/>
          </a:prstGeom>
          <a:noFill/>
          <a:ln>
            <a:noFill/>
          </a:ln>
        </p:spPr>
        <p:txBody>
          <a:bodyPr wrap="none" lIns="0" tIns="0" rIns="0" bIns="0" anchor="t" anchorCtr="0">
            <a:spAutoFit/>
          </a:bodyPr>
          <a:lstStyle/>
          <a:p>
            <a:pPr algn="l"/>
            <a:r>
              <a:rPr lang="zh-CN" sz="1050" b="1" dirty="0">
                <a:solidFill>
                  <a:srgbClr val="202124"/>
                </a:solidFill>
                <a:latin typeface="Segoe UI"/>
                <a:ea typeface="Microsoft YaHei"/>
                <a:cs typeface="Segoe UI"/>
              </a:rPr>
              <a:t>AST for let r = (NOT ((NOT p) AND q))</a:t>
            </a:r>
          </a:p>
        </p:txBody>
      </p:sp>
      <p:sp>
        <p:nvSpPr>
          <p:cNvPr id="81" name="Rectangle 81"/>
          <p:cNvSpPr/>
          <p:nvPr/>
        </p:nvSpPr>
        <p:spPr>
          <a:xfrm>
            <a:off x="5334000" y="5143500"/>
            <a:ext cx="6286500" cy="1047750"/>
          </a:xfrm>
          <a:prstGeom prst="roundRect">
            <a:avLst>
              <a:gd name="adj" fmla="val 7273"/>
            </a:avLst>
          </a:prstGeom>
          <a:solidFill>
            <a:srgbClr val="F8F9FA"/>
          </a:solidFill>
          <a:ln>
            <a:noFill/>
          </a:ln>
        </p:spPr>
        <p:txBody>
          <a:bodyPr/>
          <a:lstStyle/>
          <a:p>
            <a:endParaRPr lang="zh-CN" altLang="en-US"/>
          </a:p>
        </p:txBody>
      </p:sp>
      <p:sp>
        <p:nvSpPr>
          <p:cNvPr id="82" name="TextBox 82"/>
          <p:cNvSpPr txBox="1"/>
          <p:nvPr/>
        </p:nvSpPr>
        <p:spPr>
          <a:xfrm>
            <a:off x="5512118" y="5247799"/>
            <a:ext cx="573000" cy="198120"/>
          </a:xfrm>
          <a:prstGeom prst="rect">
            <a:avLst/>
          </a:prstGeom>
          <a:noFill/>
          <a:ln>
            <a:noFill/>
          </a:ln>
        </p:spPr>
        <p:txBody>
          <a:bodyPr wrap="none" lIns="0" tIns="0" rIns="0" bIns="0" anchor="t" anchorCtr="0">
            <a:spAutoFit/>
          </a:bodyPr>
          <a:lstStyle/>
          <a:p>
            <a:pPr algn="l"/>
            <a:r>
              <a:rPr lang="zh-CN" sz="975" dirty="0">
                <a:solidFill>
                  <a:srgbClr val="4285F4"/>
                </a:solidFill>
                <a:latin typeface="Consolas"/>
                <a:ea typeface="Microsoft YaHei"/>
                <a:cs typeface="Consolas"/>
              </a:rPr>
              <a:t>["LET",</a:t>
            </a:r>
          </a:p>
        </p:txBody>
      </p:sp>
      <p:sp>
        <p:nvSpPr>
          <p:cNvPr id="83" name="TextBox 83"/>
          <p:cNvSpPr txBox="1"/>
          <p:nvPr/>
        </p:nvSpPr>
        <p:spPr>
          <a:xfrm>
            <a:off x="6016942" y="5247799"/>
            <a:ext cx="651319"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"VAR_R",</a:t>
            </a:r>
          </a:p>
        </p:txBody>
      </p:sp>
      <p:sp>
        <p:nvSpPr>
          <p:cNvPr id="84" name="TextBox 84"/>
          <p:cNvSpPr txBox="1"/>
          <p:nvPr/>
        </p:nvSpPr>
        <p:spPr>
          <a:xfrm>
            <a:off x="5512118" y="5457349"/>
            <a:ext cx="601480"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["NOT",</a:t>
            </a:r>
          </a:p>
        </p:txBody>
      </p:sp>
      <p:sp>
        <p:nvSpPr>
          <p:cNvPr id="85" name="TextBox 85"/>
          <p:cNvSpPr txBox="1"/>
          <p:nvPr/>
        </p:nvSpPr>
        <p:spPr>
          <a:xfrm>
            <a:off x="5512118" y="5647849"/>
            <a:ext cx="573000"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["AND",</a:t>
            </a:r>
          </a:p>
        </p:txBody>
      </p:sp>
      <p:sp>
        <p:nvSpPr>
          <p:cNvPr id="86" name="TextBox 86"/>
          <p:cNvSpPr txBox="1"/>
          <p:nvPr/>
        </p:nvSpPr>
        <p:spPr>
          <a:xfrm>
            <a:off x="6064568" y="5647849"/>
            <a:ext cx="1171796" cy="150041"/>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["NOT", </a:t>
            </a:r>
            <a:r>
              <a:rPr lang="zh-CN" sz="975" dirty="0">
                <a:latin typeface="Consolas"/>
                <a:ea typeface="Microsoft YaHei"/>
                <a:cs typeface="Consolas"/>
              </a:rPr>
              <a:t>"VAR_P"]</a:t>
            </a:r>
            <a:r>
              <a:rPr lang="zh-CN" sz="975" dirty="0">
                <a:solidFill>
                  <a:srgbClr val="9334E6"/>
                </a:solidFill>
                <a:latin typeface="Consolas"/>
                <a:ea typeface="Microsoft YaHei"/>
                <a:cs typeface="Consolas"/>
              </a:rPr>
              <a:t>,</a:t>
            </a:r>
          </a:p>
        </p:txBody>
      </p:sp>
      <p:sp>
        <p:nvSpPr>
          <p:cNvPr id="87" name="TextBox 87"/>
          <p:cNvSpPr txBox="1"/>
          <p:nvPr/>
        </p:nvSpPr>
        <p:spPr>
          <a:xfrm>
            <a:off x="6064568" y="5838349"/>
            <a:ext cx="836438"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"VAR_Q"]]]</a:t>
            </a:r>
          </a:p>
        </p:txBody>
      </p:sp>
      <p:grpSp>
        <p:nvGrpSpPr>
          <p:cNvPr id="92" name="Group 92"/>
          <p:cNvGrpSpPr/>
          <p:nvPr/>
        </p:nvGrpSpPr>
        <p:grpSpPr>
          <a:xfrm>
            <a:off x="561022" y="6572250"/>
            <a:ext cx="11069955" cy="269081"/>
            <a:chOff x="561022" y="6572250"/>
            <a:chExt cx="11069955" cy="269081"/>
          </a:xfrm>
        </p:grpSpPr>
        <p:sp>
          <p:nvSpPr>
            <p:cNvPr id="89" name="Rectangle 89"/>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90" name="TextBox 90"/>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91" name="TextBox 91"/>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07</a:t>
              </a:r>
            </a:p>
          </p:txBody>
        </p:sp>
      </p:grpSp>
      <p:grpSp>
        <p:nvGrpSpPr>
          <p:cNvPr id="93" name="组合 92">
            <a:extLst>
              <a:ext uri="{FF2B5EF4-FFF2-40B4-BE49-F238E27FC236}">
                <a16:creationId xmlns:a16="http://schemas.microsoft.com/office/drawing/2014/main" id="{B460B06B-A4BB-AB1C-6016-0DBDC7B51B8A}"/>
              </a:ext>
            </a:extLst>
          </p:cNvPr>
          <p:cNvGrpSpPr/>
          <p:nvPr/>
        </p:nvGrpSpPr>
        <p:grpSpPr>
          <a:xfrm>
            <a:off x="5334000" y="1638300"/>
            <a:ext cx="6054385" cy="2990850"/>
            <a:chOff x="5334000" y="1638300"/>
            <a:chExt cx="6054385" cy="2990850"/>
          </a:xfrm>
        </p:grpSpPr>
        <p:sp>
          <p:nvSpPr>
            <p:cNvPr id="94" name="Rectangle 59">
              <a:extLst>
                <a:ext uri="{FF2B5EF4-FFF2-40B4-BE49-F238E27FC236}">
                  <a16:creationId xmlns:a16="http://schemas.microsoft.com/office/drawing/2014/main" id="{EB725D9A-967F-9B9F-E461-A8AFEAA7712C}"/>
                </a:ext>
              </a:extLst>
            </p:cNvPr>
            <p:cNvSpPr/>
            <p:nvPr/>
          </p:nvSpPr>
          <p:spPr>
            <a:xfrm>
              <a:off x="7667962" y="1638300"/>
              <a:ext cx="1524000" cy="323850"/>
            </a:xfrm>
            <a:prstGeom prst="roundRect">
              <a:avLst>
                <a:gd name="adj" fmla="val 17647"/>
              </a:avLst>
            </a:prstGeom>
            <a:solidFill>
              <a:srgbClr val="00D4AA">
                <a:alpha val="15000"/>
              </a:srgbClr>
            </a:solidFill>
            <a:ln w="14288">
              <a:solidFill>
                <a:srgbClr val="00D4AA"/>
              </a:solidFill>
            </a:ln>
          </p:spPr>
          <p:txBody>
            <a:bodyPr/>
            <a:lstStyle/>
            <a:p>
              <a:endParaRPr lang="zh-CN" altLang="en-US"/>
            </a:p>
          </p:txBody>
        </p:sp>
        <p:sp>
          <p:nvSpPr>
            <p:cNvPr id="95" name="TextBox 60">
              <a:extLst>
                <a:ext uri="{FF2B5EF4-FFF2-40B4-BE49-F238E27FC236}">
                  <a16:creationId xmlns:a16="http://schemas.microsoft.com/office/drawing/2014/main" id="{3AB35224-2B8F-5A61-E25F-8244AFC5C2D9}"/>
                </a:ext>
              </a:extLst>
            </p:cNvPr>
            <p:cNvSpPr txBox="1"/>
            <p:nvPr/>
          </p:nvSpPr>
          <p:spPr>
            <a:xfrm>
              <a:off x="8033246" y="1734502"/>
              <a:ext cx="793433" cy="213360"/>
            </a:xfrm>
            <a:prstGeom prst="rect">
              <a:avLst/>
            </a:prstGeom>
            <a:noFill/>
            <a:ln>
              <a:noFill/>
            </a:ln>
          </p:spPr>
          <p:txBody>
            <a:bodyPr wrap="none" lIns="0" tIns="0" rIns="0" bIns="0" anchor="t" anchorCtr="0">
              <a:spAutoFit/>
            </a:bodyPr>
            <a:lstStyle/>
            <a:p>
              <a:pPr algn="ctr"/>
              <a:r>
                <a:rPr lang="zh-CN" sz="1050" dirty="0">
                  <a:solidFill>
                    <a:srgbClr val="00D4AA"/>
                  </a:solidFill>
                  <a:latin typeface="Consolas"/>
                  <a:ea typeface="Microsoft YaHei"/>
                  <a:cs typeface="Consolas"/>
                </a:rPr>
                <a:t>parse_line</a:t>
              </a:r>
            </a:p>
          </p:txBody>
        </p:sp>
        <p:sp>
          <p:nvSpPr>
            <p:cNvPr id="96" name="Line 61">
              <a:extLst>
                <a:ext uri="{FF2B5EF4-FFF2-40B4-BE49-F238E27FC236}">
                  <a16:creationId xmlns:a16="http://schemas.microsoft.com/office/drawing/2014/main" id="{422B5F0E-6969-7783-F9FD-085BEA4C801D}"/>
                </a:ext>
              </a:extLst>
            </p:cNvPr>
            <p:cNvSpPr/>
            <p:nvPr/>
          </p:nvSpPr>
          <p:spPr>
            <a:xfrm>
              <a:off x="8429964" y="1962150"/>
              <a:ext cx="1" cy="247650"/>
            </a:xfrm>
            <a:prstGeom prst="line">
              <a:avLst/>
            </a:prstGeom>
            <a:noFill/>
            <a:ln w="14288">
              <a:solidFill>
                <a:srgbClr val="30363D"/>
              </a:solidFill>
              <a:tailEnd type="triangle" w="lg" len="lg"/>
            </a:ln>
          </p:spPr>
          <p:txBody>
            <a:bodyPr/>
            <a:lstStyle/>
            <a:p>
              <a:endParaRPr lang="zh-CN" altLang="en-US" dirty="0"/>
            </a:p>
          </p:txBody>
        </p:sp>
        <p:sp>
          <p:nvSpPr>
            <p:cNvPr id="97" name="Rectangle 62">
              <a:extLst>
                <a:ext uri="{FF2B5EF4-FFF2-40B4-BE49-F238E27FC236}">
                  <a16:creationId xmlns:a16="http://schemas.microsoft.com/office/drawing/2014/main" id="{BED7516B-36FB-5341-2490-C787BF9A58C7}"/>
                </a:ext>
              </a:extLst>
            </p:cNvPr>
            <p:cNvSpPr/>
            <p:nvPr/>
          </p:nvSpPr>
          <p:spPr>
            <a:xfrm>
              <a:off x="7286962" y="2266950"/>
              <a:ext cx="2286000" cy="323850"/>
            </a:xfrm>
            <a:prstGeom prst="roundRect">
              <a:avLst>
                <a:gd name="adj" fmla="val 17647"/>
              </a:avLst>
            </a:prstGeom>
            <a:solidFill>
              <a:srgbClr val="58A6FF">
                <a:alpha val="12000"/>
              </a:srgbClr>
            </a:solidFill>
            <a:ln w="9525">
              <a:solidFill>
                <a:srgbClr val="58A6FF"/>
              </a:solidFill>
            </a:ln>
          </p:spPr>
          <p:txBody>
            <a:bodyPr/>
            <a:lstStyle/>
            <a:p>
              <a:endParaRPr lang="zh-CN" altLang="en-US"/>
            </a:p>
          </p:txBody>
        </p:sp>
        <p:sp>
          <p:nvSpPr>
            <p:cNvPr id="98" name="TextBox 63">
              <a:extLst>
                <a:ext uri="{FF2B5EF4-FFF2-40B4-BE49-F238E27FC236}">
                  <a16:creationId xmlns:a16="http://schemas.microsoft.com/office/drawing/2014/main" id="{FFC2A6B6-AD49-25DE-80A7-A9997805C496}"/>
                </a:ext>
              </a:extLst>
            </p:cNvPr>
            <p:cNvSpPr txBox="1"/>
            <p:nvPr/>
          </p:nvSpPr>
          <p:spPr>
            <a:xfrm>
              <a:off x="7815945" y="2371249"/>
              <a:ext cx="1228034" cy="198120"/>
            </a:xfrm>
            <a:prstGeom prst="rect">
              <a:avLst/>
            </a:prstGeom>
            <a:noFill/>
            <a:ln>
              <a:noFill/>
            </a:ln>
          </p:spPr>
          <p:txBody>
            <a:bodyPr wrap="none" lIns="0" tIns="0" rIns="0" bIns="0" anchor="t" anchorCtr="0">
              <a:spAutoFit/>
            </a:bodyPr>
            <a:lstStyle/>
            <a:p>
              <a:pPr algn="ctr"/>
              <a:r>
                <a:rPr lang="zh-CN" sz="975" dirty="0">
                  <a:solidFill>
                    <a:srgbClr val="58A6FF"/>
                  </a:solidFill>
                  <a:latin typeface="Consolas"/>
                  <a:ea typeface="Microsoft YaHei"/>
                  <a:cs typeface="Consolas"/>
                </a:rPr>
                <a:t>parse_statement</a:t>
              </a:r>
            </a:p>
          </p:txBody>
        </p:sp>
        <p:sp>
          <p:nvSpPr>
            <p:cNvPr id="99" name="Line 64">
              <a:extLst>
                <a:ext uri="{FF2B5EF4-FFF2-40B4-BE49-F238E27FC236}">
                  <a16:creationId xmlns:a16="http://schemas.microsoft.com/office/drawing/2014/main" id="{2963C3EE-C8A3-5DF7-4E9C-1BFB3C20CEBF}"/>
                </a:ext>
              </a:extLst>
            </p:cNvPr>
            <p:cNvSpPr/>
            <p:nvPr/>
          </p:nvSpPr>
          <p:spPr>
            <a:xfrm>
              <a:off x="6858000" y="2590800"/>
              <a:ext cx="571500" cy="361950"/>
            </a:xfrm>
            <a:custGeom>
              <a:avLst/>
              <a:gdLst/>
              <a:ahLst/>
              <a:cxnLst/>
              <a:rect l="l" t="t" r="r" b="b"/>
              <a:pathLst>
                <a:path w="571500" h="361950">
                  <a:moveTo>
                    <a:pt x="571500" y="0"/>
                  </a:moveTo>
                  <a:lnTo>
                    <a:pt x="0" y="361950"/>
                  </a:lnTo>
                </a:path>
              </a:pathLst>
            </a:custGeom>
            <a:noFill/>
            <a:ln w="14288">
              <a:solidFill>
                <a:srgbClr val="30363D"/>
              </a:solidFill>
            </a:ln>
          </p:spPr>
          <p:txBody>
            <a:bodyPr/>
            <a:lstStyle/>
            <a:p>
              <a:endParaRPr lang="zh-CN" altLang="en-US"/>
            </a:p>
          </p:txBody>
        </p:sp>
        <p:sp>
          <p:nvSpPr>
            <p:cNvPr id="100" name="Line 65">
              <a:extLst>
                <a:ext uri="{FF2B5EF4-FFF2-40B4-BE49-F238E27FC236}">
                  <a16:creationId xmlns:a16="http://schemas.microsoft.com/office/drawing/2014/main" id="{CB3B5F37-4BB6-5BF0-64DA-78D030CEF40D}"/>
                </a:ext>
              </a:extLst>
            </p:cNvPr>
            <p:cNvSpPr/>
            <p:nvPr/>
          </p:nvSpPr>
          <p:spPr>
            <a:xfrm>
              <a:off x="8451480" y="2590800"/>
              <a:ext cx="9525" cy="361950"/>
            </a:xfrm>
            <a:custGeom>
              <a:avLst/>
              <a:gdLst/>
              <a:ahLst/>
              <a:cxnLst/>
              <a:rect l="l" t="t" r="r" b="b"/>
              <a:pathLst>
                <a:path w="9525" h="361950">
                  <a:moveTo>
                    <a:pt x="0" y="0"/>
                  </a:moveTo>
                  <a:lnTo>
                    <a:pt x="0" y="361950"/>
                  </a:lnTo>
                </a:path>
              </a:pathLst>
            </a:custGeom>
            <a:noFill/>
            <a:ln w="14288">
              <a:solidFill>
                <a:srgbClr val="30363D"/>
              </a:solidFill>
            </a:ln>
          </p:spPr>
          <p:txBody>
            <a:bodyPr/>
            <a:lstStyle/>
            <a:p>
              <a:endParaRPr lang="zh-CN" altLang="en-US"/>
            </a:p>
          </p:txBody>
        </p:sp>
        <p:sp>
          <p:nvSpPr>
            <p:cNvPr id="101" name="Line 66">
              <a:extLst>
                <a:ext uri="{FF2B5EF4-FFF2-40B4-BE49-F238E27FC236}">
                  <a16:creationId xmlns:a16="http://schemas.microsoft.com/office/drawing/2014/main" id="{26D4219B-1503-A60A-8FB1-F648BDC42138}"/>
                </a:ext>
              </a:extLst>
            </p:cNvPr>
            <p:cNvSpPr/>
            <p:nvPr/>
          </p:nvSpPr>
          <p:spPr>
            <a:xfrm>
              <a:off x="9328677" y="2590800"/>
              <a:ext cx="571500" cy="361950"/>
            </a:xfrm>
            <a:custGeom>
              <a:avLst/>
              <a:gdLst/>
              <a:ahLst/>
              <a:cxnLst/>
              <a:rect l="l" t="t" r="r" b="b"/>
              <a:pathLst>
                <a:path w="571500" h="361950">
                  <a:moveTo>
                    <a:pt x="0" y="0"/>
                  </a:moveTo>
                  <a:lnTo>
                    <a:pt x="571500" y="361950"/>
                  </a:lnTo>
                </a:path>
              </a:pathLst>
            </a:custGeom>
            <a:noFill/>
            <a:ln w="14288">
              <a:solidFill>
                <a:srgbClr val="30363D"/>
              </a:solidFill>
            </a:ln>
          </p:spPr>
          <p:txBody>
            <a:bodyPr/>
            <a:lstStyle/>
            <a:p>
              <a:endParaRPr lang="zh-CN" altLang="en-US"/>
            </a:p>
          </p:txBody>
        </p:sp>
        <p:sp>
          <p:nvSpPr>
            <p:cNvPr id="102" name="Rectangle 67">
              <a:extLst>
                <a:ext uri="{FF2B5EF4-FFF2-40B4-BE49-F238E27FC236}">
                  <a16:creationId xmlns:a16="http://schemas.microsoft.com/office/drawing/2014/main" id="{2D12EBD1-59BF-2298-E3E5-2B57B244C1CB}"/>
                </a:ext>
              </a:extLst>
            </p:cNvPr>
            <p:cNvSpPr/>
            <p:nvPr/>
          </p:nvSpPr>
          <p:spPr>
            <a:xfrm>
              <a:off x="5334000" y="2977626"/>
              <a:ext cx="1905000" cy="323850"/>
            </a:xfrm>
            <a:prstGeom prst="roundRect">
              <a:avLst>
                <a:gd name="adj" fmla="val 17647"/>
              </a:avLst>
            </a:prstGeom>
            <a:solidFill>
              <a:srgbClr val="A371F7">
                <a:alpha val="12000"/>
              </a:srgbClr>
            </a:solidFill>
            <a:ln w="9525">
              <a:solidFill>
                <a:srgbClr val="A371F7"/>
              </a:solidFill>
            </a:ln>
          </p:spPr>
          <p:txBody>
            <a:bodyPr/>
            <a:lstStyle/>
            <a:p>
              <a:endParaRPr lang="zh-CN" altLang="en-US"/>
            </a:p>
          </p:txBody>
        </p:sp>
        <p:sp>
          <p:nvSpPr>
            <p:cNvPr id="103" name="TextBox 68">
              <a:extLst>
                <a:ext uri="{FF2B5EF4-FFF2-40B4-BE49-F238E27FC236}">
                  <a16:creationId xmlns:a16="http://schemas.microsoft.com/office/drawing/2014/main" id="{72F99C02-BD16-5849-C330-34FE475D88FA}"/>
                </a:ext>
              </a:extLst>
            </p:cNvPr>
            <p:cNvSpPr txBox="1"/>
            <p:nvPr/>
          </p:nvSpPr>
          <p:spPr>
            <a:xfrm>
              <a:off x="5591556" y="3079263"/>
              <a:ext cx="1389888" cy="182880"/>
            </a:xfrm>
            <a:prstGeom prst="rect">
              <a:avLst/>
            </a:prstGeom>
            <a:noFill/>
            <a:ln>
              <a:noFill/>
            </a:ln>
          </p:spPr>
          <p:txBody>
            <a:bodyPr wrap="none" lIns="0" tIns="0" rIns="0" bIns="0" anchor="t" anchorCtr="0">
              <a:spAutoFit/>
            </a:bodyPr>
            <a:lstStyle/>
            <a:p>
              <a:pPr algn="ctr"/>
              <a:r>
                <a:rPr lang="zh-CN" sz="900" dirty="0">
                  <a:solidFill>
                    <a:srgbClr val="A371F7"/>
                  </a:solidFill>
                  <a:latin typeface="Consolas"/>
                  <a:ea typeface="Microsoft YaHei"/>
                  <a:cs typeface="Consolas"/>
                </a:rPr>
                <a:t>parse_let_statement</a:t>
              </a:r>
            </a:p>
          </p:txBody>
        </p:sp>
        <p:sp>
          <p:nvSpPr>
            <p:cNvPr id="104" name="Rectangle 69">
              <a:extLst>
                <a:ext uri="{FF2B5EF4-FFF2-40B4-BE49-F238E27FC236}">
                  <a16:creationId xmlns:a16="http://schemas.microsoft.com/office/drawing/2014/main" id="{60E50EF8-62A5-E057-F360-8A51C0DBC60F}"/>
                </a:ext>
              </a:extLst>
            </p:cNvPr>
            <p:cNvSpPr/>
            <p:nvPr/>
          </p:nvSpPr>
          <p:spPr>
            <a:xfrm>
              <a:off x="7414636" y="2978410"/>
              <a:ext cx="1905000" cy="323850"/>
            </a:xfrm>
            <a:prstGeom prst="roundRect">
              <a:avLst>
                <a:gd name="adj" fmla="val 17647"/>
              </a:avLst>
            </a:prstGeom>
            <a:solidFill>
              <a:srgbClr val="A371F7">
                <a:alpha val="12000"/>
              </a:srgbClr>
            </a:solidFill>
            <a:ln w="9525">
              <a:solidFill>
                <a:srgbClr val="A371F7"/>
              </a:solidFill>
            </a:ln>
          </p:spPr>
          <p:txBody>
            <a:bodyPr/>
            <a:lstStyle/>
            <a:p>
              <a:endParaRPr lang="zh-CN" altLang="en-US" dirty="0"/>
            </a:p>
          </p:txBody>
        </p:sp>
        <p:sp>
          <p:nvSpPr>
            <p:cNvPr id="105" name="TextBox 70">
              <a:extLst>
                <a:ext uri="{FF2B5EF4-FFF2-40B4-BE49-F238E27FC236}">
                  <a16:creationId xmlns:a16="http://schemas.microsoft.com/office/drawing/2014/main" id="{4E889D43-CF9A-66FD-76C9-A527484549EF}"/>
                </a:ext>
              </a:extLst>
            </p:cNvPr>
            <p:cNvSpPr txBox="1"/>
            <p:nvPr/>
          </p:nvSpPr>
          <p:spPr>
            <a:xfrm>
              <a:off x="7706621" y="3079263"/>
              <a:ext cx="1317593" cy="182880"/>
            </a:xfrm>
            <a:prstGeom prst="rect">
              <a:avLst/>
            </a:prstGeom>
            <a:noFill/>
            <a:ln>
              <a:noFill/>
            </a:ln>
          </p:spPr>
          <p:txBody>
            <a:bodyPr wrap="none" lIns="0" tIns="0" rIns="0" bIns="0" anchor="t" anchorCtr="0">
              <a:spAutoFit/>
            </a:bodyPr>
            <a:lstStyle/>
            <a:p>
              <a:pPr algn="ctr"/>
              <a:r>
                <a:rPr lang="zh-CN" sz="900" dirty="0">
                  <a:solidFill>
                    <a:srgbClr val="A371F7"/>
                  </a:solidFill>
                  <a:latin typeface="Consolas"/>
                  <a:ea typeface="Microsoft YaHei"/>
                  <a:cs typeface="Consolas"/>
                </a:rPr>
                <a:t>parse_if_statement</a:t>
              </a:r>
            </a:p>
          </p:txBody>
        </p:sp>
        <p:sp>
          <p:nvSpPr>
            <p:cNvPr id="106" name="Rectangle 71">
              <a:extLst>
                <a:ext uri="{FF2B5EF4-FFF2-40B4-BE49-F238E27FC236}">
                  <a16:creationId xmlns:a16="http://schemas.microsoft.com/office/drawing/2014/main" id="{9DFCD761-5D1F-2691-6EBA-8E56BFA01F93}"/>
                </a:ext>
              </a:extLst>
            </p:cNvPr>
            <p:cNvSpPr/>
            <p:nvPr/>
          </p:nvSpPr>
          <p:spPr>
            <a:xfrm>
              <a:off x="9483385" y="2978410"/>
              <a:ext cx="1905000" cy="323850"/>
            </a:xfrm>
            <a:prstGeom prst="roundRect">
              <a:avLst>
                <a:gd name="adj" fmla="val 17647"/>
              </a:avLst>
            </a:prstGeom>
            <a:solidFill>
              <a:srgbClr val="A371F7">
                <a:alpha val="12000"/>
              </a:srgbClr>
            </a:solidFill>
            <a:ln w="9525">
              <a:solidFill>
                <a:srgbClr val="A371F7"/>
              </a:solidFill>
            </a:ln>
          </p:spPr>
          <p:txBody>
            <a:bodyPr/>
            <a:lstStyle/>
            <a:p>
              <a:endParaRPr lang="zh-CN" altLang="en-US"/>
            </a:p>
          </p:txBody>
        </p:sp>
        <p:sp>
          <p:nvSpPr>
            <p:cNvPr id="107" name="TextBox 72">
              <a:extLst>
                <a:ext uri="{FF2B5EF4-FFF2-40B4-BE49-F238E27FC236}">
                  <a16:creationId xmlns:a16="http://schemas.microsoft.com/office/drawing/2014/main" id="{40E2DA47-D601-52AC-6C6E-B2EABE20B94A}"/>
                </a:ext>
              </a:extLst>
            </p:cNvPr>
            <p:cNvSpPr txBox="1"/>
            <p:nvPr/>
          </p:nvSpPr>
          <p:spPr>
            <a:xfrm>
              <a:off x="9679407" y="3066266"/>
              <a:ext cx="1534477" cy="182880"/>
            </a:xfrm>
            <a:prstGeom prst="rect">
              <a:avLst/>
            </a:prstGeom>
            <a:noFill/>
            <a:ln>
              <a:noFill/>
            </a:ln>
          </p:spPr>
          <p:txBody>
            <a:bodyPr wrap="none" lIns="0" tIns="0" rIns="0" bIns="0" anchor="t" anchorCtr="0">
              <a:spAutoFit/>
            </a:bodyPr>
            <a:lstStyle/>
            <a:p>
              <a:pPr algn="ctr"/>
              <a:r>
                <a:rPr lang="zh-CN" sz="900" dirty="0">
                  <a:solidFill>
                    <a:srgbClr val="A371F7"/>
                  </a:solidFill>
                  <a:latin typeface="Consolas"/>
                  <a:ea typeface="Microsoft YaHei"/>
                  <a:cs typeface="Consolas"/>
                </a:rPr>
                <a:t>parse_print_statement</a:t>
              </a:r>
            </a:p>
          </p:txBody>
        </p:sp>
        <p:sp>
          <p:nvSpPr>
            <p:cNvPr id="108" name="Line 73">
              <a:extLst>
                <a:ext uri="{FF2B5EF4-FFF2-40B4-BE49-F238E27FC236}">
                  <a16:creationId xmlns:a16="http://schemas.microsoft.com/office/drawing/2014/main" id="{AAE437C1-1701-34D8-9438-1F1ECF134929}"/>
                </a:ext>
              </a:extLst>
            </p:cNvPr>
            <p:cNvSpPr/>
            <p:nvPr/>
          </p:nvSpPr>
          <p:spPr>
            <a:xfrm>
              <a:off x="8451483" y="3333750"/>
              <a:ext cx="9525" cy="266700"/>
            </a:xfrm>
            <a:custGeom>
              <a:avLst/>
              <a:gdLst/>
              <a:ahLst/>
              <a:cxnLst/>
              <a:rect l="l" t="t" r="r" b="b"/>
              <a:pathLst>
                <a:path w="9525" h="266700">
                  <a:moveTo>
                    <a:pt x="0" y="0"/>
                  </a:moveTo>
                  <a:lnTo>
                    <a:pt x="0" y="266700"/>
                  </a:lnTo>
                </a:path>
              </a:pathLst>
            </a:custGeom>
            <a:noFill/>
            <a:ln w="14288">
              <a:solidFill>
                <a:srgbClr val="30363D"/>
              </a:solidFill>
            </a:ln>
          </p:spPr>
          <p:txBody>
            <a:bodyPr/>
            <a:lstStyle/>
            <a:p>
              <a:endParaRPr lang="zh-CN" altLang="en-US"/>
            </a:p>
          </p:txBody>
        </p:sp>
        <p:sp>
          <p:nvSpPr>
            <p:cNvPr id="109" name="Rectangle 74">
              <a:extLst>
                <a:ext uri="{FF2B5EF4-FFF2-40B4-BE49-F238E27FC236}">
                  <a16:creationId xmlns:a16="http://schemas.microsoft.com/office/drawing/2014/main" id="{220A8680-5420-D065-CD17-B65369D1CDBA}"/>
                </a:ext>
              </a:extLst>
            </p:cNvPr>
            <p:cNvSpPr/>
            <p:nvPr/>
          </p:nvSpPr>
          <p:spPr>
            <a:xfrm>
              <a:off x="7297722" y="3657600"/>
              <a:ext cx="2286000" cy="323850"/>
            </a:xfrm>
            <a:prstGeom prst="roundRect">
              <a:avLst>
                <a:gd name="adj" fmla="val 17647"/>
              </a:avLst>
            </a:prstGeom>
            <a:solidFill>
              <a:srgbClr val="3FB950">
                <a:alpha val="12000"/>
              </a:srgbClr>
            </a:solidFill>
            <a:ln w="9525">
              <a:solidFill>
                <a:srgbClr val="3FB950"/>
              </a:solidFill>
            </a:ln>
          </p:spPr>
          <p:txBody>
            <a:bodyPr/>
            <a:lstStyle/>
            <a:p>
              <a:endParaRPr lang="zh-CN" altLang="en-US"/>
            </a:p>
          </p:txBody>
        </p:sp>
        <p:sp>
          <p:nvSpPr>
            <p:cNvPr id="110" name="TextBox 75">
              <a:extLst>
                <a:ext uri="{FF2B5EF4-FFF2-40B4-BE49-F238E27FC236}">
                  <a16:creationId xmlns:a16="http://schemas.microsoft.com/office/drawing/2014/main" id="{E2629ADA-86B7-9811-3F9C-D4AF781EEB8B}"/>
                </a:ext>
              </a:extLst>
            </p:cNvPr>
            <p:cNvSpPr txBox="1"/>
            <p:nvPr/>
          </p:nvSpPr>
          <p:spPr>
            <a:xfrm>
              <a:off x="7867365" y="3769995"/>
              <a:ext cx="1146715" cy="182880"/>
            </a:xfrm>
            <a:prstGeom prst="rect">
              <a:avLst/>
            </a:prstGeom>
            <a:noFill/>
            <a:ln>
              <a:noFill/>
            </a:ln>
          </p:spPr>
          <p:txBody>
            <a:bodyPr wrap="none" lIns="0" tIns="0" rIns="0" bIns="0" anchor="t" anchorCtr="0">
              <a:spAutoFit/>
            </a:bodyPr>
            <a:lstStyle/>
            <a:p>
              <a:pPr algn="ctr"/>
              <a:r>
                <a:rPr lang="zh-CN" sz="900" dirty="0">
                  <a:solidFill>
                    <a:srgbClr val="3FB950"/>
                  </a:solidFill>
                  <a:latin typeface="Consolas"/>
                  <a:ea typeface="Microsoft YaHei"/>
                  <a:cs typeface="Consolas"/>
                </a:rPr>
                <a:t>parse_expression</a:t>
              </a:r>
            </a:p>
          </p:txBody>
        </p:sp>
        <p:sp>
          <p:nvSpPr>
            <p:cNvPr id="111" name="Line 76">
              <a:extLst>
                <a:ext uri="{FF2B5EF4-FFF2-40B4-BE49-F238E27FC236}">
                  <a16:creationId xmlns:a16="http://schemas.microsoft.com/office/drawing/2014/main" id="{DDBA48B4-BC91-7025-F95F-C29B63E0CA37}"/>
                </a:ext>
              </a:extLst>
            </p:cNvPr>
            <p:cNvSpPr/>
            <p:nvPr/>
          </p:nvSpPr>
          <p:spPr>
            <a:xfrm>
              <a:off x="8462238" y="3981450"/>
              <a:ext cx="9525" cy="266700"/>
            </a:xfrm>
            <a:custGeom>
              <a:avLst/>
              <a:gdLst/>
              <a:ahLst/>
              <a:cxnLst/>
              <a:rect l="l" t="t" r="r" b="b"/>
              <a:pathLst>
                <a:path w="9525" h="266700">
                  <a:moveTo>
                    <a:pt x="0" y="0"/>
                  </a:moveTo>
                  <a:lnTo>
                    <a:pt x="0" y="266700"/>
                  </a:lnTo>
                </a:path>
              </a:pathLst>
            </a:custGeom>
            <a:noFill/>
            <a:ln w="14288">
              <a:solidFill>
                <a:srgbClr val="30363D"/>
              </a:solidFill>
            </a:ln>
          </p:spPr>
          <p:txBody>
            <a:bodyPr/>
            <a:lstStyle/>
            <a:p>
              <a:endParaRPr lang="zh-CN" altLang="en-US"/>
            </a:p>
          </p:txBody>
        </p:sp>
        <p:sp>
          <p:nvSpPr>
            <p:cNvPr id="112" name="Rectangle 77">
              <a:extLst>
                <a:ext uri="{FF2B5EF4-FFF2-40B4-BE49-F238E27FC236}">
                  <a16:creationId xmlns:a16="http://schemas.microsoft.com/office/drawing/2014/main" id="{C5E9E5E4-CB39-1D45-AD12-4A653717B7D8}"/>
                </a:ext>
              </a:extLst>
            </p:cNvPr>
            <p:cNvSpPr/>
            <p:nvPr/>
          </p:nvSpPr>
          <p:spPr>
            <a:xfrm>
              <a:off x="7107222" y="4305300"/>
              <a:ext cx="2667000" cy="323850"/>
            </a:xfrm>
            <a:prstGeom prst="roundRect">
              <a:avLst>
                <a:gd name="adj" fmla="val 17647"/>
              </a:avLst>
            </a:prstGeom>
            <a:solidFill>
              <a:srgbClr val="3FB950">
                <a:alpha val="12000"/>
              </a:srgbClr>
            </a:solidFill>
            <a:ln w="9525">
              <a:solidFill>
                <a:srgbClr val="3FB950"/>
              </a:solidFill>
            </a:ln>
          </p:spPr>
          <p:txBody>
            <a:bodyPr/>
            <a:lstStyle/>
            <a:p>
              <a:endParaRPr lang="zh-CN" altLang="en-US"/>
            </a:p>
          </p:txBody>
        </p:sp>
        <p:sp>
          <p:nvSpPr>
            <p:cNvPr id="113" name="TextBox 78">
              <a:extLst>
                <a:ext uri="{FF2B5EF4-FFF2-40B4-BE49-F238E27FC236}">
                  <a16:creationId xmlns:a16="http://schemas.microsoft.com/office/drawing/2014/main" id="{0BBF14A3-7BB0-89DD-37DC-27F2C92BA67B}"/>
                </a:ext>
              </a:extLst>
            </p:cNvPr>
            <p:cNvSpPr txBox="1"/>
            <p:nvPr/>
          </p:nvSpPr>
          <p:spPr>
            <a:xfrm>
              <a:off x="7466314" y="4404275"/>
              <a:ext cx="1948815" cy="167640"/>
            </a:xfrm>
            <a:prstGeom prst="rect">
              <a:avLst/>
            </a:prstGeom>
            <a:noFill/>
            <a:ln>
              <a:noFill/>
            </a:ln>
          </p:spPr>
          <p:txBody>
            <a:bodyPr wrap="none" lIns="0" tIns="0" rIns="0" bIns="0" anchor="t" anchorCtr="0">
              <a:spAutoFit/>
            </a:bodyPr>
            <a:lstStyle/>
            <a:p>
              <a:pPr algn="ctr"/>
              <a:r>
                <a:rPr lang="zh-CN" sz="825" dirty="0">
                  <a:solidFill>
                    <a:srgbClr val="3FB950"/>
                  </a:solidFill>
                  <a:latin typeface="Consolas"/>
                  <a:ea typeface="Microsoft YaHei"/>
                  <a:cs typeface="Consolas"/>
                </a:rPr>
                <a:t>parse_parenthesized_expression</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57212" y="316230"/>
            <a:ext cx="4843882" cy="648176"/>
            <a:chOff x="557212" y="316230"/>
            <a:chExt cx="4843882" cy="648176"/>
          </a:xfrm>
        </p:grpSpPr>
        <p:sp>
          <p:nvSpPr>
            <p:cNvPr id="5" name="Rectangle 5"/>
            <p:cNvSpPr/>
            <p:nvPr/>
          </p:nvSpPr>
          <p:spPr>
            <a:xfrm>
              <a:off x="571500" y="333375"/>
              <a:ext cx="666750" cy="304800"/>
            </a:xfrm>
            <a:prstGeom prst="roundRect">
              <a:avLst>
                <a:gd name="adj" fmla="val 50000"/>
              </a:avLst>
            </a:prstGeom>
            <a:solidFill>
              <a:srgbClr val="9334E6">
                <a:alpha val="15000"/>
              </a:srgbClr>
            </a:solidFill>
            <a:ln w="9525">
              <a:solidFill>
                <a:srgbClr val="9334E6">
                  <a:alpha val="50000"/>
                </a:srgbClr>
              </a:solidFill>
            </a:ln>
          </p:spPr>
          <p:txBody>
            <a:bodyPr/>
            <a:lstStyle/>
            <a:p>
              <a:endParaRPr lang="zh-CN" altLang="en-US"/>
            </a:p>
          </p:txBody>
        </p:sp>
        <p:sp>
          <p:nvSpPr>
            <p:cNvPr id="6" name="TextBox 6"/>
            <p:cNvSpPr txBox="1"/>
            <p:nvPr/>
          </p:nvSpPr>
          <p:spPr>
            <a:xfrm>
              <a:off x="623359" y="428149"/>
              <a:ext cx="563032" cy="198120"/>
            </a:xfrm>
            <a:prstGeom prst="rect">
              <a:avLst/>
            </a:prstGeom>
            <a:noFill/>
            <a:ln>
              <a:noFill/>
            </a:ln>
          </p:spPr>
          <p:txBody>
            <a:bodyPr wrap="none" lIns="0" tIns="0" rIns="0" bIns="0" anchor="t" anchorCtr="0">
              <a:spAutoFit/>
            </a:bodyPr>
            <a:lstStyle/>
            <a:p>
              <a:pPr algn="ctr"/>
              <a:r>
                <a:rPr lang="zh-CN" sz="975" b="1" dirty="0">
                  <a:solidFill>
                    <a:srgbClr val="9334E6"/>
                  </a:solidFill>
                  <a:latin typeface="Segoe UI"/>
                  <a:ea typeface="Microsoft YaHei"/>
                  <a:cs typeface="Segoe UI"/>
                </a:rPr>
                <a:t>Phase 3</a:t>
              </a:r>
            </a:p>
          </p:txBody>
        </p:sp>
        <p:sp>
          <p:nvSpPr>
            <p:cNvPr id="7" name="TextBox 7"/>
            <p:cNvSpPr txBox="1"/>
            <p:nvPr/>
          </p:nvSpPr>
          <p:spPr>
            <a:xfrm>
              <a:off x="1354455" y="316230"/>
              <a:ext cx="4046639"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Boolean Logic Optimizer</a:t>
              </a:r>
            </a:p>
          </p:txBody>
        </p:sp>
        <p:sp>
          <p:nvSpPr>
            <p:cNvPr id="8" name="TextBox 8"/>
            <p:cNvSpPr txBox="1"/>
            <p:nvPr/>
          </p:nvSpPr>
          <p:spPr>
            <a:xfrm>
              <a:off x="557212" y="735806"/>
              <a:ext cx="4415552"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11 rewrite rules applied in a bottom-up fixed-point loop</a:t>
              </a:r>
            </a:p>
          </p:txBody>
        </p:sp>
      </p:grpSp>
      <p:grpSp>
        <p:nvGrpSpPr>
          <p:cNvPr id="44" name="Group 44"/>
          <p:cNvGrpSpPr/>
          <p:nvPr/>
        </p:nvGrpSpPr>
        <p:grpSpPr>
          <a:xfrm>
            <a:off x="571500" y="1047750"/>
            <a:ext cx="3429000" cy="5334000"/>
            <a:chOff x="571500" y="1047750"/>
            <a:chExt cx="3429000" cy="5334000"/>
          </a:xfrm>
        </p:grpSpPr>
        <p:sp>
          <p:nvSpPr>
            <p:cNvPr id="10" name="Rectangle 10"/>
            <p:cNvSpPr/>
            <p:nvPr/>
          </p:nvSpPr>
          <p:spPr>
            <a:xfrm>
              <a:off x="571500" y="1047750"/>
              <a:ext cx="3429000" cy="5334000"/>
            </a:xfrm>
            <a:prstGeom prst="roundRect">
              <a:avLst>
                <a:gd name="adj" fmla="val 2778"/>
              </a:avLst>
            </a:prstGeom>
            <a:solidFill>
              <a:srgbClr val="FFFFFF"/>
            </a:solidFill>
            <a:ln w="9525">
              <a:solidFill>
                <a:srgbClr val="DADCE0"/>
              </a:solidFill>
            </a:ln>
          </p:spPr>
          <p:txBody>
            <a:bodyPr/>
            <a:lstStyle/>
            <a:p>
              <a:endParaRPr lang="zh-CN" altLang="en-US"/>
            </a:p>
          </p:txBody>
        </p:sp>
        <p:sp>
          <p:nvSpPr>
            <p:cNvPr id="11" name="Rectangle 11"/>
            <p:cNvSpPr/>
            <p:nvPr/>
          </p:nvSpPr>
          <p:spPr>
            <a:xfrm>
              <a:off x="762000" y="1238250"/>
              <a:ext cx="495300" cy="495300"/>
            </a:xfrm>
            <a:prstGeom prst="roundRect">
              <a:avLst>
                <a:gd name="adj" fmla="val 19231"/>
              </a:avLst>
            </a:prstGeom>
            <a:solidFill>
              <a:srgbClr val="9334E6">
                <a:alpha val="12000"/>
              </a:srgbClr>
            </a:solidFill>
            <a:ln>
              <a:noFill/>
            </a:ln>
          </p:spPr>
          <p:txBody>
            <a:bodyPr/>
            <a:lstStyle/>
            <a:p>
              <a:endParaRPr lang="zh-CN" altLang="en-US"/>
            </a:p>
          </p:txBody>
        </p:sp>
        <p:sp>
          <p:nvSpPr>
            <p:cNvPr id="12" name="Freeform 12"/>
            <p:cNvSpPr/>
            <p:nvPr/>
          </p:nvSpPr>
          <p:spPr>
            <a:xfrm>
              <a:off x="894703" y="1343025"/>
              <a:ext cx="229894" cy="291051"/>
            </a:xfrm>
            <a:custGeom>
              <a:avLst/>
              <a:gdLst/>
              <a:ahLst/>
              <a:cxnLst/>
              <a:rect l="l" t="t" r="r" b="b"/>
              <a:pathLst>
                <a:path w="229894" h="291051">
                  <a:moveTo>
                    <a:pt x="129234" y="0"/>
                  </a:moveTo>
                  <a:lnTo>
                    <a:pt x="129492" y="14"/>
                  </a:lnTo>
                  <a:lnTo>
                    <a:pt x="129720" y="29"/>
                  </a:lnTo>
                  <a:lnTo>
                    <a:pt x="130906" y="100"/>
                  </a:lnTo>
                  <a:lnTo>
                    <a:pt x="131063" y="129"/>
                  </a:lnTo>
                  <a:lnTo>
                    <a:pt x="131220" y="129"/>
                  </a:lnTo>
                  <a:lnTo>
                    <a:pt x="131763" y="257"/>
                  </a:lnTo>
                  <a:lnTo>
                    <a:pt x="132506" y="371"/>
                  </a:lnTo>
                  <a:lnTo>
                    <a:pt x="132735" y="457"/>
                  </a:lnTo>
                  <a:lnTo>
                    <a:pt x="132892" y="471"/>
                  </a:lnTo>
                  <a:lnTo>
                    <a:pt x="133306" y="629"/>
                  </a:lnTo>
                  <a:lnTo>
                    <a:pt x="134049" y="829"/>
                  </a:lnTo>
                  <a:lnTo>
                    <a:pt x="134321" y="957"/>
                  </a:lnTo>
                  <a:lnTo>
                    <a:pt x="134535" y="1014"/>
                  </a:lnTo>
                  <a:lnTo>
                    <a:pt x="134935" y="1214"/>
                  </a:lnTo>
                  <a:lnTo>
                    <a:pt x="135507" y="1457"/>
                  </a:lnTo>
                  <a:lnTo>
                    <a:pt x="135807" y="1629"/>
                  </a:lnTo>
                  <a:lnTo>
                    <a:pt x="136121" y="1772"/>
                  </a:lnTo>
                  <a:lnTo>
                    <a:pt x="136450" y="1986"/>
                  </a:lnTo>
                  <a:lnTo>
                    <a:pt x="136892" y="2229"/>
                  </a:lnTo>
                  <a:lnTo>
                    <a:pt x="137378" y="2572"/>
                  </a:lnTo>
                  <a:lnTo>
                    <a:pt x="137635" y="2729"/>
                  </a:lnTo>
                  <a:lnTo>
                    <a:pt x="137821" y="2900"/>
                  </a:lnTo>
                  <a:lnTo>
                    <a:pt x="138164" y="3143"/>
                  </a:lnTo>
                  <a:lnTo>
                    <a:pt x="138707" y="3629"/>
                  </a:lnTo>
                  <a:lnTo>
                    <a:pt x="139021" y="3872"/>
                  </a:lnTo>
                  <a:lnTo>
                    <a:pt x="139136" y="4015"/>
                  </a:lnTo>
                  <a:lnTo>
                    <a:pt x="139336" y="4186"/>
                  </a:lnTo>
                  <a:lnTo>
                    <a:pt x="139850" y="4772"/>
                  </a:lnTo>
                  <a:lnTo>
                    <a:pt x="140221" y="5158"/>
                  </a:lnTo>
                  <a:lnTo>
                    <a:pt x="140307" y="5286"/>
                  </a:lnTo>
                  <a:cubicBezTo>
                    <a:pt x="142022" y="7387"/>
                    <a:pt x="143108" y="9887"/>
                    <a:pt x="143422" y="12616"/>
                  </a:cubicBezTo>
                  <a:lnTo>
                    <a:pt x="143436" y="12787"/>
                  </a:lnTo>
                  <a:lnTo>
                    <a:pt x="143465" y="13373"/>
                  </a:lnTo>
                  <a:lnTo>
                    <a:pt x="143522" y="14288"/>
                  </a:lnTo>
                  <a:lnTo>
                    <a:pt x="143522" y="100012"/>
                  </a:lnTo>
                  <a:lnTo>
                    <a:pt x="214959" y="100012"/>
                  </a:lnTo>
                  <a:cubicBezTo>
                    <a:pt x="220056" y="100011"/>
                    <a:pt x="224767" y="102725"/>
                    <a:pt x="227323" y="107133"/>
                  </a:cubicBezTo>
                  <a:cubicBezTo>
                    <a:pt x="229879" y="111542"/>
                    <a:pt x="229894" y="116979"/>
                    <a:pt x="227361" y="121401"/>
                  </a:cubicBezTo>
                  <a:lnTo>
                    <a:pt x="226504" y="122701"/>
                  </a:lnTo>
                  <a:lnTo>
                    <a:pt x="112204" y="279864"/>
                  </a:lnTo>
                  <a:cubicBezTo>
                    <a:pt x="104088" y="291051"/>
                    <a:pt x="86372" y="285293"/>
                    <a:pt x="86372" y="271462"/>
                  </a:cubicBezTo>
                  <a:lnTo>
                    <a:pt x="86372" y="185738"/>
                  </a:lnTo>
                  <a:lnTo>
                    <a:pt x="14934" y="185738"/>
                  </a:lnTo>
                  <a:cubicBezTo>
                    <a:pt x="9838" y="185739"/>
                    <a:pt x="5127" y="183025"/>
                    <a:pt x="2571" y="178617"/>
                  </a:cubicBezTo>
                  <a:cubicBezTo>
                    <a:pt x="14" y="174208"/>
                    <a:pt x="0" y="168771"/>
                    <a:pt x="2533" y="164349"/>
                  </a:cubicBezTo>
                  <a:lnTo>
                    <a:pt x="3390" y="163049"/>
                  </a:lnTo>
                  <a:lnTo>
                    <a:pt x="117690" y="5886"/>
                  </a:lnTo>
                  <a:lnTo>
                    <a:pt x="117833" y="5701"/>
                  </a:lnTo>
                  <a:lnTo>
                    <a:pt x="118090" y="5358"/>
                  </a:lnTo>
                  <a:lnTo>
                    <a:pt x="118562" y="4815"/>
                  </a:lnTo>
                  <a:lnTo>
                    <a:pt x="118819" y="4501"/>
                  </a:lnTo>
                  <a:lnTo>
                    <a:pt x="118947" y="4386"/>
                  </a:lnTo>
                  <a:lnTo>
                    <a:pt x="119133" y="4186"/>
                  </a:lnTo>
                  <a:lnTo>
                    <a:pt x="119705" y="3672"/>
                  </a:lnTo>
                  <a:lnTo>
                    <a:pt x="120105" y="3300"/>
                  </a:lnTo>
                  <a:lnTo>
                    <a:pt x="120219" y="3215"/>
                  </a:lnTo>
                  <a:cubicBezTo>
                    <a:pt x="121893" y="1844"/>
                    <a:pt x="123857" y="872"/>
                    <a:pt x="125963" y="371"/>
                  </a:cubicBezTo>
                  <a:lnTo>
                    <a:pt x="126120" y="357"/>
                  </a:lnTo>
                  <a:lnTo>
                    <a:pt x="126505" y="286"/>
                  </a:lnTo>
                  <a:lnTo>
                    <a:pt x="127563" y="100"/>
                  </a:lnTo>
                  <a:lnTo>
                    <a:pt x="127720" y="86"/>
                  </a:lnTo>
                  <a:lnTo>
                    <a:pt x="128306" y="57"/>
                  </a:lnTo>
                  <a:close/>
                </a:path>
              </a:pathLst>
            </a:custGeom>
            <a:solidFill>
              <a:srgbClr val="9334E6"/>
            </a:solidFill>
            <a:ln>
              <a:noFill/>
            </a:ln>
          </p:spPr>
          <p:txBody>
            <a:bodyPr/>
            <a:lstStyle/>
            <a:p>
              <a:endParaRPr lang="zh-CN" altLang="en-US"/>
            </a:p>
          </p:txBody>
        </p:sp>
        <p:sp>
          <p:nvSpPr>
            <p:cNvPr id="13" name="TextBox 13"/>
            <p:cNvSpPr txBox="1"/>
            <p:nvPr/>
          </p:nvSpPr>
          <p:spPr>
            <a:xfrm>
              <a:off x="1393508" y="1310164"/>
              <a:ext cx="1068665"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Rule Engine</a:t>
              </a:r>
            </a:p>
          </p:txBody>
        </p:sp>
        <p:sp>
          <p:nvSpPr>
            <p:cNvPr id="14" name="TextBox 14"/>
            <p:cNvSpPr txBox="1"/>
            <p:nvPr/>
          </p:nvSpPr>
          <p:spPr>
            <a:xfrm>
              <a:off x="1397318" y="1533049"/>
              <a:ext cx="1669471"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_optimize_expression()</a:t>
              </a:r>
            </a:p>
          </p:txBody>
        </p:sp>
        <p:sp>
          <p:nvSpPr>
            <p:cNvPr id="15" name="Rectangle 15"/>
            <p:cNvSpPr/>
            <p:nvPr/>
          </p:nvSpPr>
          <p:spPr>
            <a:xfrm>
              <a:off x="762000" y="1847850"/>
              <a:ext cx="3048000" cy="9525"/>
            </a:xfrm>
            <a:prstGeom prst="rect">
              <a:avLst/>
            </a:prstGeom>
            <a:solidFill>
              <a:srgbClr val="DADCE0"/>
            </a:solidFill>
            <a:ln>
              <a:noFill/>
            </a:ln>
          </p:spPr>
          <p:txBody>
            <a:bodyPr/>
            <a:lstStyle/>
            <a:p>
              <a:endParaRPr lang="zh-CN" altLang="en-US"/>
            </a:p>
          </p:txBody>
        </p:sp>
        <p:sp>
          <p:nvSpPr>
            <p:cNvPr id="16" name="Rectangle 16"/>
            <p:cNvSpPr/>
            <p:nvPr/>
          </p:nvSpPr>
          <p:spPr>
            <a:xfrm>
              <a:off x="762000" y="1981200"/>
              <a:ext cx="3048000" cy="609600"/>
            </a:xfrm>
            <a:prstGeom prst="roundRect">
              <a:avLst>
                <a:gd name="adj" fmla="val 9375"/>
              </a:avLst>
            </a:prstGeom>
            <a:solidFill>
              <a:srgbClr val="F8F9FA"/>
            </a:solidFill>
            <a:ln>
              <a:noFill/>
            </a:ln>
          </p:spPr>
          <p:txBody>
            <a:bodyPr/>
            <a:lstStyle/>
            <a:p>
              <a:endParaRPr lang="zh-CN" altLang="en-US"/>
            </a:p>
          </p:txBody>
        </p:sp>
        <p:sp>
          <p:nvSpPr>
            <p:cNvPr id="17" name="Ellipse 17"/>
            <p:cNvSpPr/>
            <p:nvPr/>
          </p:nvSpPr>
          <p:spPr>
            <a:xfrm>
              <a:off x="838200" y="2047875"/>
              <a:ext cx="190500" cy="190500"/>
            </a:xfrm>
            <a:prstGeom prst="ellipse">
              <a:avLst/>
            </a:prstGeom>
            <a:solidFill>
              <a:srgbClr val="4285F4">
                <a:alpha val="20000"/>
              </a:srgbClr>
            </a:solidFill>
            <a:ln w="9525">
              <a:solidFill>
                <a:srgbClr val="4285F4"/>
              </a:solidFill>
            </a:ln>
          </p:spPr>
          <p:txBody>
            <a:bodyPr/>
            <a:lstStyle/>
            <a:p>
              <a:endParaRPr lang="zh-CN" altLang="en-US"/>
            </a:p>
          </p:txBody>
        </p:sp>
        <p:sp>
          <p:nvSpPr>
            <p:cNvPr id="18" name="TextBox 18"/>
            <p:cNvSpPr txBox="1"/>
            <p:nvPr/>
          </p:nvSpPr>
          <p:spPr>
            <a:xfrm>
              <a:off x="903995" y="2101691"/>
              <a:ext cx="58910" cy="167640"/>
            </a:xfrm>
            <a:prstGeom prst="rect">
              <a:avLst/>
            </a:prstGeom>
            <a:noFill/>
            <a:ln>
              <a:noFill/>
            </a:ln>
          </p:spPr>
          <p:txBody>
            <a:bodyPr wrap="none" lIns="0" tIns="0" rIns="0" bIns="0" anchor="t" anchorCtr="0">
              <a:spAutoFit/>
            </a:bodyPr>
            <a:lstStyle/>
            <a:p>
              <a:pPr algn="ctr"/>
              <a:r>
                <a:rPr lang="zh-CN" sz="825" b="1" dirty="0">
                  <a:solidFill>
                    <a:srgbClr val="4285F4"/>
                  </a:solidFill>
                  <a:latin typeface="Segoe UI"/>
                  <a:ea typeface="Microsoft YaHei"/>
                  <a:cs typeface="Segoe UI"/>
                </a:rPr>
                <a:t>1</a:t>
              </a:r>
            </a:p>
          </p:txBody>
        </p:sp>
        <p:sp>
          <p:nvSpPr>
            <p:cNvPr id="19" name="TextBox 19"/>
            <p:cNvSpPr txBox="1"/>
            <p:nvPr/>
          </p:nvSpPr>
          <p:spPr>
            <a:xfrm>
              <a:off x="1111568" y="2028349"/>
              <a:ext cx="1647043" cy="198120"/>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Recurse children first</a:t>
              </a:r>
            </a:p>
          </p:txBody>
        </p:sp>
        <p:sp>
          <p:nvSpPr>
            <p:cNvPr id="20" name="TextBox 20"/>
            <p:cNvSpPr txBox="1"/>
            <p:nvPr/>
          </p:nvSpPr>
          <p:spPr>
            <a:xfrm>
              <a:off x="1112520" y="2207895"/>
              <a:ext cx="267147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Bottom-up: leaves simplified before root</a:t>
              </a:r>
            </a:p>
          </p:txBody>
        </p:sp>
        <p:sp>
          <p:nvSpPr>
            <p:cNvPr id="21" name="TextBox 21"/>
            <p:cNvSpPr txBox="1"/>
            <p:nvPr/>
          </p:nvSpPr>
          <p:spPr>
            <a:xfrm>
              <a:off x="1112520" y="2398395"/>
              <a:ext cx="234286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_optimize_expression_recursively()</a:t>
              </a:r>
            </a:p>
          </p:txBody>
        </p:sp>
        <p:sp>
          <p:nvSpPr>
            <p:cNvPr id="22" name="Rectangle 22"/>
            <p:cNvSpPr/>
            <p:nvPr/>
          </p:nvSpPr>
          <p:spPr>
            <a:xfrm>
              <a:off x="762000" y="2705100"/>
              <a:ext cx="3048000" cy="533400"/>
            </a:xfrm>
            <a:prstGeom prst="roundRect">
              <a:avLst>
                <a:gd name="adj" fmla="val 10714"/>
              </a:avLst>
            </a:prstGeom>
            <a:solidFill>
              <a:srgbClr val="F8F9FA"/>
            </a:solidFill>
            <a:ln>
              <a:noFill/>
            </a:ln>
          </p:spPr>
          <p:txBody>
            <a:bodyPr/>
            <a:lstStyle/>
            <a:p>
              <a:endParaRPr lang="zh-CN" altLang="en-US"/>
            </a:p>
          </p:txBody>
        </p:sp>
        <p:sp>
          <p:nvSpPr>
            <p:cNvPr id="23" name="Ellipse 23"/>
            <p:cNvSpPr/>
            <p:nvPr/>
          </p:nvSpPr>
          <p:spPr>
            <a:xfrm>
              <a:off x="838200" y="2771775"/>
              <a:ext cx="190500" cy="190500"/>
            </a:xfrm>
            <a:prstGeom prst="ellipse">
              <a:avLst/>
            </a:prstGeom>
            <a:solidFill>
              <a:srgbClr val="9334E6">
                <a:alpha val="20000"/>
              </a:srgbClr>
            </a:solidFill>
            <a:ln w="9525">
              <a:solidFill>
                <a:srgbClr val="9334E6"/>
              </a:solidFill>
            </a:ln>
          </p:spPr>
          <p:txBody>
            <a:bodyPr/>
            <a:lstStyle/>
            <a:p>
              <a:endParaRPr lang="zh-CN" altLang="en-US"/>
            </a:p>
          </p:txBody>
        </p:sp>
        <p:sp>
          <p:nvSpPr>
            <p:cNvPr id="24" name="TextBox 24"/>
            <p:cNvSpPr txBox="1"/>
            <p:nvPr/>
          </p:nvSpPr>
          <p:spPr>
            <a:xfrm>
              <a:off x="888181" y="2825591"/>
              <a:ext cx="90539" cy="167640"/>
            </a:xfrm>
            <a:prstGeom prst="rect">
              <a:avLst/>
            </a:prstGeom>
            <a:noFill/>
            <a:ln>
              <a:noFill/>
            </a:ln>
          </p:spPr>
          <p:txBody>
            <a:bodyPr wrap="none" lIns="0" tIns="0" rIns="0" bIns="0" anchor="t" anchorCtr="0">
              <a:spAutoFit/>
            </a:bodyPr>
            <a:lstStyle/>
            <a:p>
              <a:pPr algn="ctr"/>
              <a:r>
                <a:rPr lang="zh-CN" sz="825" b="1" dirty="0">
                  <a:solidFill>
                    <a:srgbClr val="9334E6"/>
                  </a:solidFill>
                  <a:latin typeface="Segoe UI"/>
                  <a:ea typeface="Microsoft YaHei"/>
                  <a:cs typeface="Segoe UI"/>
                </a:rPr>
                <a:t>2</a:t>
              </a:r>
            </a:p>
          </p:txBody>
        </p:sp>
        <p:sp>
          <p:nvSpPr>
            <p:cNvPr id="25" name="TextBox 25"/>
            <p:cNvSpPr txBox="1"/>
            <p:nvPr/>
          </p:nvSpPr>
          <p:spPr>
            <a:xfrm>
              <a:off x="1111568" y="2752249"/>
              <a:ext cx="1691898" cy="198120"/>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Apply rules in sequence</a:t>
              </a:r>
            </a:p>
          </p:txBody>
        </p:sp>
        <p:sp>
          <p:nvSpPr>
            <p:cNvPr id="26" name="TextBox 26"/>
            <p:cNvSpPr txBox="1"/>
            <p:nvPr/>
          </p:nvSpPr>
          <p:spPr>
            <a:xfrm>
              <a:off x="1112520" y="2931795"/>
              <a:ext cx="198139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Each returns new node or None</a:t>
              </a:r>
            </a:p>
          </p:txBody>
        </p:sp>
        <p:sp>
          <p:nvSpPr>
            <p:cNvPr id="27" name="TextBox 27"/>
            <p:cNvSpPr txBox="1"/>
            <p:nvPr/>
          </p:nvSpPr>
          <p:spPr>
            <a:xfrm>
              <a:off x="1112520" y="3084195"/>
              <a:ext cx="192224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Expanding rules recurse again</a:t>
              </a:r>
            </a:p>
          </p:txBody>
        </p:sp>
        <p:sp>
          <p:nvSpPr>
            <p:cNvPr id="28" name="Rectangle 28"/>
            <p:cNvSpPr/>
            <p:nvPr/>
          </p:nvSpPr>
          <p:spPr>
            <a:xfrm>
              <a:off x="762000" y="3352800"/>
              <a:ext cx="3048000" cy="533400"/>
            </a:xfrm>
            <a:prstGeom prst="roundRect">
              <a:avLst>
                <a:gd name="adj" fmla="val 10714"/>
              </a:avLst>
            </a:prstGeom>
            <a:solidFill>
              <a:srgbClr val="F8F9FA"/>
            </a:solidFill>
            <a:ln>
              <a:noFill/>
            </a:ln>
          </p:spPr>
          <p:txBody>
            <a:bodyPr/>
            <a:lstStyle/>
            <a:p>
              <a:endParaRPr lang="zh-CN" altLang="en-US"/>
            </a:p>
          </p:txBody>
        </p:sp>
        <p:sp>
          <p:nvSpPr>
            <p:cNvPr id="29" name="Ellipse 29"/>
            <p:cNvSpPr/>
            <p:nvPr/>
          </p:nvSpPr>
          <p:spPr>
            <a:xfrm>
              <a:off x="838200" y="3419475"/>
              <a:ext cx="190500" cy="190500"/>
            </a:xfrm>
            <a:prstGeom prst="ellipse">
              <a:avLst/>
            </a:prstGeom>
            <a:solidFill>
              <a:srgbClr val="34A853">
                <a:alpha val="20000"/>
              </a:srgbClr>
            </a:solidFill>
            <a:ln w="9525">
              <a:solidFill>
                <a:srgbClr val="34A853"/>
              </a:solidFill>
            </a:ln>
          </p:spPr>
          <p:txBody>
            <a:bodyPr/>
            <a:lstStyle/>
            <a:p>
              <a:endParaRPr lang="zh-CN" altLang="en-US"/>
            </a:p>
          </p:txBody>
        </p:sp>
        <p:sp>
          <p:nvSpPr>
            <p:cNvPr id="30" name="TextBox 30"/>
            <p:cNvSpPr txBox="1"/>
            <p:nvPr/>
          </p:nvSpPr>
          <p:spPr>
            <a:xfrm>
              <a:off x="888181" y="3473291"/>
              <a:ext cx="90539" cy="167640"/>
            </a:xfrm>
            <a:prstGeom prst="rect">
              <a:avLst/>
            </a:prstGeom>
            <a:noFill/>
            <a:ln>
              <a:noFill/>
            </a:ln>
          </p:spPr>
          <p:txBody>
            <a:bodyPr wrap="none" lIns="0" tIns="0" rIns="0" bIns="0" anchor="t" anchorCtr="0">
              <a:spAutoFit/>
            </a:bodyPr>
            <a:lstStyle/>
            <a:p>
              <a:pPr algn="ctr"/>
              <a:r>
                <a:rPr lang="zh-CN" sz="825" b="1" dirty="0">
                  <a:solidFill>
                    <a:srgbClr val="34A853"/>
                  </a:solidFill>
                  <a:latin typeface="Segoe UI"/>
                  <a:ea typeface="Microsoft YaHei"/>
                  <a:cs typeface="Segoe UI"/>
                </a:rPr>
                <a:t>3</a:t>
              </a:r>
            </a:p>
          </p:txBody>
        </p:sp>
        <p:sp>
          <p:nvSpPr>
            <p:cNvPr id="31" name="TextBox 31"/>
            <p:cNvSpPr txBox="1"/>
            <p:nvPr/>
          </p:nvSpPr>
          <p:spPr>
            <a:xfrm>
              <a:off x="1111568" y="3399949"/>
              <a:ext cx="1804037" cy="198120"/>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Fixed-point convergence</a:t>
              </a:r>
            </a:p>
          </p:txBody>
        </p:sp>
        <p:sp>
          <p:nvSpPr>
            <p:cNvPr id="32" name="TextBox 32"/>
            <p:cNvSpPr txBox="1"/>
            <p:nvPr/>
          </p:nvSpPr>
          <p:spPr>
            <a:xfrm>
              <a:off x="1112520" y="3579495"/>
              <a:ext cx="230343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Loop until no change in one full pass</a:t>
              </a:r>
            </a:p>
          </p:txBody>
        </p:sp>
        <p:sp>
          <p:nvSpPr>
            <p:cNvPr id="33" name="TextBox 33"/>
            <p:cNvSpPr txBox="1"/>
            <p:nvPr/>
          </p:nvSpPr>
          <p:spPr>
            <a:xfrm>
              <a:off x="1112520" y="3731895"/>
              <a:ext cx="2165413"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Max 64 iterations (safety guard)</a:t>
              </a:r>
            </a:p>
          </p:txBody>
        </p:sp>
        <p:sp>
          <p:nvSpPr>
            <p:cNvPr id="34" name="Rectangle 34"/>
            <p:cNvSpPr/>
            <p:nvPr/>
          </p:nvSpPr>
          <p:spPr>
            <a:xfrm>
              <a:off x="762000" y="4000500"/>
              <a:ext cx="3048000" cy="533400"/>
            </a:xfrm>
            <a:prstGeom prst="roundRect">
              <a:avLst>
                <a:gd name="adj" fmla="val 10714"/>
              </a:avLst>
            </a:prstGeom>
            <a:solidFill>
              <a:srgbClr val="F8F9FA"/>
            </a:solidFill>
            <a:ln>
              <a:noFill/>
            </a:ln>
          </p:spPr>
          <p:txBody>
            <a:bodyPr/>
            <a:lstStyle/>
            <a:p>
              <a:endParaRPr lang="zh-CN" altLang="en-US"/>
            </a:p>
          </p:txBody>
        </p:sp>
        <p:sp>
          <p:nvSpPr>
            <p:cNvPr id="35" name="Ellipse 35"/>
            <p:cNvSpPr/>
            <p:nvPr/>
          </p:nvSpPr>
          <p:spPr>
            <a:xfrm>
              <a:off x="838200" y="4067175"/>
              <a:ext cx="190500" cy="190500"/>
            </a:xfrm>
            <a:prstGeom prst="ellipse">
              <a:avLst/>
            </a:prstGeom>
            <a:solidFill>
              <a:srgbClr val="1E8E3E">
                <a:alpha val="20000"/>
              </a:srgbClr>
            </a:solidFill>
            <a:ln w="9525">
              <a:solidFill>
                <a:srgbClr val="1E8E3E"/>
              </a:solidFill>
            </a:ln>
          </p:spPr>
          <p:txBody>
            <a:bodyPr/>
            <a:lstStyle/>
            <a:p>
              <a:endParaRPr lang="zh-CN" altLang="en-US"/>
            </a:p>
          </p:txBody>
        </p:sp>
        <p:sp>
          <p:nvSpPr>
            <p:cNvPr id="36" name="TextBox 36"/>
            <p:cNvSpPr txBox="1"/>
            <p:nvPr/>
          </p:nvSpPr>
          <p:spPr>
            <a:xfrm>
              <a:off x="888181" y="4120991"/>
              <a:ext cx="90539" cy="167640"/>
            </a:xfrm>
            <a:prstGeom prst="rect">
              <a:avLst/>
            </a:prstGeom>
            <a:noFill/>
            <a:ln>
              <a:noFill/>
            </a:ln>
          </p:spPr>
          <p:txBody>
            <a:bodyPr wrap="none" lIns="0" tIns="0" rIns="0" bIns="0" anchor="t" anchorCtr="0">
              <a:spAutoFit/>
            </a:bodyPr>
            <a:lstStyle/>
            <a:p>
              <a:pPr algn="ctr"/>
              <a:r>
                <a:rPr lang="zh-CN" sz="825" b="1" dirty="0">
                  <a:solidFill>
                    <a:srgbClr val="1E8E3E"/>
                  </a:solidFill>
                  <a:latin typeface="Segoe UI"/>
                  <a:ea typeface="Microsoft YaHei"/>
                  <a:cs typeface="Segoe UI"/>
                </a:rPr>
                <a:t>4</a:t>
              </a:r>
            </a:p>
          </p:txBody>
        </p:sp>
        <p:sp>
          <p:nvSpPr>
            <p:cNvPr id="37" name="TextBox 37"/>
            <p:cNvSpPr txBox="1"/>
            <p:nvPr/>
          </p:nvSpPr>
          <p:spPr>
            <a:xfrm>
              <a:off x="1111568" y="4047649"/>
              <a:ext cx="1564807" cy="198120"/>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Verify if AST changed</a:t>
              </a:r>
            </a:p>
          </p:txBody>
        </p:sp>
        <p:sp>
          <p:nvSpPr>
            <p:cNvPr id="38" name="TextBox 38"/>
            <p:cNvSpPr txBox="1"/>
            <p:nvPr/>
          </p:nvSpPr>
          <p:spPr>
            <a:xfrm>
              <a:off x="1112520" y="4227195"/>
              <a:ext cx="221799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If original ≠ optimized: seed added</a:t>
              </a:r>
            </a:p>
          </p:txBody>
        </p:sp>
        <p:sp>
          <p:nvSpPr>
            <p:cNvPr id="39" name="TextBox 39"/>
            <p:cNvSpPr txBox="1"/>
            <p:nvPr/>
          </p:nvSpPr>
          <p:spPr>
            <a:xfrm>
              <a:off x="1112520" y="4379595"/>
              <a:ext cx="192224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for Phase 4 equivalence check</a:t>
              </a:r>
            </a:p>
          </p:txBody>
        </p:sp>
        <p:sp>
          <p:nvSpPr>
            <p:cNvPr id="40" name="Rectangle 40"/>
            <p:cNvSpPr/>
            <p:nvPr/>
          </p:nvSpPr>
          <p:spPr>
            <a:xfrm>
              <a:off x="762000" y="4686300"/>
              <a:ext cx="3048000" cy="571500"/>
            </a:xfrm>
            <a:prstGeom prst="roundRect">
              <a:avLst>
                <a:gd name="adj" fmla="val 10000"/>
              </a:avLst>
            </a:prstGeom>
            <a:solidFill>
              <a:srgbClr val="9334E6">
                <a:alpha val="8000"/>
              </a:srgbClr>
            </a:solidFill>
            <a:ln w="9525">
              <a:solidFill>
                <a:srgbClr val="9334E6">
                  <a:alpha val="30000"/>
                </a:srgbClr>
              </a:solidFill>
            </a:ln>
          </p:spPr>
          <p:txBody>
            <a:bodyPr/>
            <a:lstStyle/>
            <a:p>
              <a:endParaRPr lang="zh-CN" altLang="en-US"/>
            </a:p>
          </p:txBody>
        </p:sp>
        <p:sp>
          <p:nvSpPr>
            <p:cNvPr id="41" name="TextBox 41"/>
            <p:cNvSpPr txBox="1"/>
            <p:nvPr/>
          </p:nvSpPr>
          <p:spPr>
            <a:xfrm>
              <a:off x="940118" y="4771549"/>
              <a:ext cx="1602187" cy="198120"/>
            </a:xfrm>
            <a:prstGeom prst="rect">
              <a:avLst/>
            </a:prstGeom>
            <a:noFill/>
            <a:ln>
              <a:noFill/>
            </a:ln>
          </p:spPr>
          <p:txBody>
            <a:bodyPr wrap="none" lIns="0" tIns="0" rIns="0" bIns="0" anchor="t" anchorCtr="0">
              <a:spAutoFit/>
            </a:bodyPr>
            <a:lstStyle/>
            <a:p>
              <a:pPr algn="l"/>
              <a:r>
                <a:rPr lang="zh-CN" sz="975" b="1" dirty="0">
                  <a:solidFill>
                    <a:srgbClr val="9334E6"/>
                  </a:solidFill>
                  <a:latin typeface="Segoe UI"/>
                  <a:ea typeface="Microsoft YaHei"/>
                  <a:cs typeface="Segoe UI"/>
                </a:rPr>
                <a:t>Implication runs first</a:t>
              </a:r>
            </a:p>
          </p:txBody>
        </p:sp>
        <p:sp>
          <p:nvSpPr>
            <p:cNvPr id="42" name="TextBox 42"/>
            <p:cNvSpPr txBox="1"/>
            <p:nvPr/>
          </p:nvSpPr>
          <p:spPr>
            <a:xfrm>
              <a:off x="941070" y="4951095"/>
              <a:ext cx="278320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IMPLIES elimination is marked "expanding" —</a:t>
              </a:r>
            </a:p>
          </p:txBody>
        </p:sp>
        <p:sp>
          <p:nvSpPr>
            <p:cNvPr id="43" name="TextBox 43"/>
            <p:cNvSpPr txBox="1"/>
            <p:nvPr/>
          </p:nvSpPr>
          <p:spPr>
            <a:xfrm>
              <a:off x="941070" y="5122545"/>
              <a:ext cx="301980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triggers a recursive re-pass after application</a:t>
              </a:r>
            </a:p>
          </p:txBody>
        </p:sp>
      </p:grpSp>
      <p:grpSp>
        <p:nvGrpSpPr>
          <p:cNvPr id="127" name="Group 127"/>
          <p:cNvGrpSpPr/>
          <p:nvPr/>
        </p:nvGrpSpPr>
        <p:grpSpPr>
          <a:xfrm>
            <a:off x="4533900" y="1143000"/>
            <a:ext cx="7467600" cy="5257800"/>
            <a:chOff x="4533900" y="1143000"/>
            <a:chExt cx="7467600" cy="5257800"/>
          </a:xfrm>
        </p:grpSpPr>
        <p:sp>
          <p:nvSpPr>
            <p:cNvPr id="45" name="Line 45"/>
            <p:cNvSpPr/>
            <p:nvPr/>
          </p:nvSpPr>
          <p:spPr>
            <a:xfrm>
              <a:off x="4667250" y="1143000"/>
              <a:ext cx="9525" cy="5257800"/>
            </a:xfrm>
            <a:custGeom>
              <a:avLst/>
              <a:gdLst/>
              <a:ahLst/>
              <a:cxnLst/>
              <a:rect l="l" t="t" r="r" b="b"/>
              <a:pathLst>
                <a:path w="9525" h="5257800">
                  <a:moveTo>
                    <a:pt x="0" y="0"/>
                  </a:moveTo>
                  <a:lnTo>
                    <a:pt x="0" y="5257800"/>
                  </a:lnTo>
                </a:path>
              </a:pathLst>
            </a:custGeom>
            <a:noFill/>
            <a:ln w="28575" cap="rnd">
              <a:gradFill>
                <a:gsLst>
                  <a:gs pos="0">
                    <a:srgbClr val="4285F4"/>
                  </a:gs>
                  <a:gs pos="40000">
                    <a:srgbClr val="9334E6"/>
                  </a:gs>
                  <a:gs pos="70000">
                    <a:srgbClr val="34A853"/>
                  </a:gs>
                  <a:gs pos="100000">
                    <a:srgbClr val="1E8E3E"/>
                  </a:gs>
                </a:gsLst>
                <a:lin ang="5400000" scaled="1"/>
              </a:gradFill>
            </a:ln>
          </p:spPr>
          <p:txBody>
            <a:bodyPr/>
            <a:lstStyle/>
            <a:p>
              <a:endParaRPr lang="zh-CN" altLang="en-US"/>
            </a:p>
          </p:txBody>
        </p:sp>
        <p:grpSp>
          <p:nvGrpSpPr>
            <p:cNvPr id="53" name="Group 53"/>
            <p:cNvGrpSpPr/>
            <p:nvPr/>
          </p:nvGrpSpPr>
          <p:grpSpPr>
            <a:xfrm>
              <a:off x="4533900" y="1143000"/>
              <a:ext cx="7467600" cy="285750"/>
              <a:chOff x="4533900" y="1143000"/>
              <a:chExt cx="7467600" cy="285750"/>
            </a:xfrm>
          </p:grpSpPr>
          <p:sp>
            <p:nvSpPr>
              <p:cNvPr id="46" name="Ellipse 46"/>
              <p:cNvSpPr/>
              <p:nvPr/>
            </p:nvSpPr>
            <p:spPr>
              <a:xfrm>
                <a:off x="4533900" y="1152525"/>
                <a:ext cx="266700" cy="266700"/>
              </a:xfrm>
              <a:prstGeom prst="ellipse">
                <a:avLst/>
              </a:prstGeom>
              <a:solidFill>
                <a:srgbClr val="4285F4">
                  <a:alpha val="20000"/>
                </a:srgbClr>
              </a:solidFill>
              <a:ln>
                <a:noFill/>
              </a:ln>
            </p:spPr>
            <p:txBody>
              <a:bodyPr/>
              <a:lstStyle/>
              <a:p>
                <a:endParaRPr lang="zh-CN" altLang="en-US"/>
              </a:p>
            </p:txBody>
          </p:sp>
          <p:sp>
            <p:nvSpPr>
              <p:cNvPr id="47" name="Ellipse 47"/>
              <p:cNvSpPr/>
              <p:nvPr/>
            </p:nvSpPr>
            <p:spPr>
              <a:xfrm>
                <a:off x="4581525" y="1200150"/>
                <a:ext cx="171450" cy="171450"/>
              </a:xfrm>
              <a:prstGeom prst="ellipse">
                <a:avLst/>
              </a:prstGeom>
              <a:solidFill>
                <a:srgbClr val="4285F4"/>
              </a:solidFill>
              <a:ln>
                <a:noFill/>
              </a:ln>
            </p:spPr>
            <p:txBody>
              <a:bodyPr/>
              <a:lstStyle/>
              <a:p>
                <a:endParaRPr lang="zh-CN" altLang="en-US"/>
              </a:p>
            </p:txBody>
          </p:sp>
          <p:sp>
            <p:nvSpPr>
              <p:cNvPr id="48" name="TextBox 48"/>
              <p:cNvSpPr txBox="1"/>
              <p:nvPr/>
            </p:nvSpPr>
            <p:spPr>
              <a:xfrm>
                <a:off x="4640473" y="1243012"/>
                <a:ext cx="53554"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1</a:t>
                </a:r>
              </a:p>
            </p:txBody>
          </p:sp>
          <p:sp>
            <p:nvSpPr>
              <p:cNvPr id="49" name="Line 49"/>
              <p:cNvSpPr/>
              <p:nvPr/>
            </p:nvSpPr>
            <p:spPr>
              <a:xfrm>
                <a:off x="4752975" y="1285875"/>
                <a:ext cx="161925" cy="9525"/>
              </a:xfrm>
              <a:custGeom>
                <a:avLst/>
                <a:gdLst/>
                <a:ahLst/>
                <a:cxnLst/>
                <a:rect l="l" t="t" r="r" b="b"/>
                <a:pathLst>
                  <a:path w="161925" h="9525">
                    <a:moveTo>
                      <a:pt x="0" y="0"/>
                    </a:moveTo>
                    <a:lnTo>
                      <a:pt x="161925" y="0"/>
                    </a:lnTo>
                  </a:path>
                </a:pathLst>
              </a:custGeom>
              <a:noFill/>
              <a:ln w="14288">
                <a:solidFill>
                  <a:srgbClr val="4285F4"/>
                </a:solidFill>
                <a:custDash>
                  <a:ds d="200000" sp="133333"/>
                </a:custDash>
              </a:ln>
            </p:spPr>
            <p:txBody>
              <a:bodyPr/>
              <a:lstStyle/>
              <a:p>
                <a:endParaRPr lang="zh-CN" altLang="en-US"/>
              </a:p>
            </p:txBody>
          </p:sp>
          <p:sp>
            <p:nvSpPr>
              <p:cNvPr id="50" name="Rectangle 50"/>
              <p:cNvSpPr/>
              <p:nvPr/>
            </p:nvSpPr>
            <p:spPr>
              <a:xfrm>
                <a:off x="4933950" y="1143000"/>
                <a:ext cx="7067550" cy="285750"/>
              </a:xfrm>
              <a:prstGeom prst="roundRect">
                <a:avLst>
                  <a:gd name="adj" fmla="val 16667"/>
                </a:avLst>
              </a:prstGeom>
              <a:solidFill>
                <a:srgbClr val="FFFFFF"/>
              </a:solidFill>
              <a:ln w="9525">
                <a:solidFill>
                  <a:srgbClr val="DADCE0"/>
                </a:solidFill>
              </a:ln>
            </p:spPr>
            <p:txBody>
              <a:bodyPr/>
              <a:lstStyle/>
              <a:p>
                <a:endParaRPr lang="zh-CN" altLang="en-US"/>
              </a:p>
            </p:txBody>
          </p:sp>
          <p:sp>
            <p:nvSpPr>
              <p:cNvPr id="51" name="TextBox 51"/>
              <p:cNvSpPr txBox="1"/>
              <p:nvPr/>
            </p:nvSpPr>
            <p:spPr>
              <a:xfrm>
                <a:off x="5093018" y="1228249"/>
                <a:ext cx="1364156" cy="150041"/>
              </a:xfrm>
              <a:prstGeom prst="rect">
                <a:avLst/>
              </a:prstGeom>
              <a:noFill/>
              <a:ln>
                <a:noFill/>
              </a:ln>
            </p:spPr>
            <p:txBody>
              <a:bodyPr wrap="none" lIns="0" tIns="0" rIns="0" bIns="0" anchor="t" anchorCtr="0">
                <a:spAutoFit/>
              </a:bodyPr>
              <a:lstStyle/>
              <a:p>
                <a:pPr algn="l"/>
                <a:r>
                  <a:rPr lang="zh-CN" sz="975" b="1" dirty="0">
                    <a:latin typeface="Segoe UI"/>
                    <a:ea typeface="Microsoft YaHei"/>
                    <a:cs typeface="Segoe UI"/>
                  </a:rPr>
                  <a:t>Implication Elimination</a:t>
                </a:r>
              </a:p>
            </p:txBody>
          </p:sp>
          <p:sp>
            <p:nvSpPr>
              <p:cNvPr id="52" name="TextBox 52"/>
              <p:cNvSpPr txBox="1"/>
              <p:nvPr/>
            </p:nvSpPr>
            <p:spPr>
              <a:xfrm>
                <a:off x="6655118" y="1228249"/>
                <a:ext cx="139891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 B ≡ (NOT A) OR B</a:t>
                </a:r>
              </a:p>
            </p:txBody>
          </p:sp>
        </p:grpSp>
        <p:grpSp>
          <p:nvGrpSpPr>
            <p:cNvPr id="61" name="Group 61"/>
            <p:cNvGrpSpPr/>
            <p:nvPr/>
          </p:nvGrpSpPr>
          <p:grpSpPr>
            <a:xfrm>
              <a:off x="4533900" y="1571625"/>
              <a:ext cx="7467600" cy="285750"/>
              <a:chOff x="4533900" y="1571625"/>
              <a:chExt cx="7467600" cy="285750"/>
            </a:xfrm>
          </p:grpSpPr>
          <p:sp>
            <p:nvSpPr>
              <p:cNvPr id="54" name="Ellipse 54"/>
              <p:cNvSpPr/>
              <p:nvPr/>
            </p:nvSpPr>
            <p:spPr>
              <a:xfrm>
                <a:off x="4533900" y="1581150"/>
                <a:ext cx="266700" cy="266700"/>
              </a:xfrm>
              <a:prstGeom prst="ellipse">
                <a:avLst/>
              </a:prstGeom>
              <a:solidFill>
                <a:srgbClr val="9334E6">
                  <a:alpha val="20000"/>
                </a:srgbClr>
              </a:solidFill>
              <a:ln>
                <a:noFill/>
              </a:ln>
            </p:spPr>
            <p:txBody>
              <a:bodyPr/>
              <a:lstStyle/>
              <a:p>
                <a:endParaRPr lang="zh-CN" altLang="en-US"/>
              </a:p>
            </p:txBody>
          </p:sp>
          <p:sp>
            <p:nvSpPr>
              <p:cNvPr id="55" name="Ellipse 55"/>
              <p:cNvSpPr/>
              <p:nvPr/>
            </p:nvSpPr>
            <p:spPr>
              <a:xfrm>
                <a:off x="4581525" y="1628775"/>
                <a:ext cx="171450" cy="171450"/>
              </a:xfrm>
              <a:prstGeom prst="ellipse">
                <a:avLst/>
              </a:prstGeom>
              <a:solidFill>
                <a:srgbClr val="9334E6"/>
              </a:solidFill>
              <a:ln>
                <a:noFill/>
              </a:ln>
            </p:spPr>
            <p:txBody>
              <a:bodyPr/>
              <a:lstStyle/>
              <a:p>
                <a:endParaRPr lang="zh-CN" altLang="en-US"/>
              </a:p>
            </p:txBody>
          </p:sp>
          <p:sp>
            <p:nvSpPr>
              <p:cNvPr id="56" name="TextBox 56"/>
              <p:cNvSpPr txBox="1"/>
              <p:nvPr/>
            </p:nvSpPr>
            <p:spPr>
              <a:xfrm>
                <a:off x="4626096" y="167163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2</a:t>
                </a:r>
              </a:p>
            </p:txBody>
          </p:sp>
          <p:sp>
            <p:nvSpPr>
              <p:cNvPr id="57" name="Line 57"/>
              <p:cNvSpPr/>
              <p:nvPr/>
            </p:nvSpPr>
            <p:spPr>
              <a:xfrm>
                <a:off x="4752975" y="1714500"/>
                <a:ext cx="161925" cy="9525"/>
              </a:xfrm>
              <a:custGeom>
                <a:avLst/>
                <a:gdLst/>
                <a:ahLst/>
                <a:cxnLst/>
                <a:rect l="l" t="t" r="r" b="b"/>
                <a:pathLst>
                  <a:path w="161925" h="9525">
                    <a:moveTo>
                      <a:pt x="0" y="0"/>
                    </a:moveTo>
                    <a:lnTo>
                      <a:pt x="161925" y="0"/>
                    </a:lnTo>
                  </a:path>
                </a:pathLst>
              </a:custGeom>
              <a:noFill/>
              <a:ln w="14288">
                <a:solidFill>
                  <a:srgbClr val="9334E6"/>
                </a:solidFill>
                <a:custDash>
                  <a:ds d="200000" sp="133333"/>
                </a:custDash>
              </a:ln>
            </p:spPr>
            <p:txBody>
              <a:bodyPr/>
              <a:lstStyle/>
              <a:p>
                <a:endParaRPr lang="zh-CN" altLang="en-US"/>
              </a:p>
            </p:txBody>
          </p:sp>
          <p:sp>
            <p:nvSpPr>
              <p:cNvPr id="58" name="Rectangle 58"/>
              <p:cNvSpPr/>
              <p:nvPr/>
            </p:nvSpPr>
            <p:spPr>
              <a:xfrm>
                <a:off x="4933950" y="1571625"/>
                <a:ext cx="7067550" cy="285750"/>
              </a:xfrm>
              <a:prstGeom prst="roundRect">
                <a:avLst>
                  <a:gd name="adj" fmla="val 16667"/>
                </a:avLst>
              </a:prstGeom>
              <a:solidFill>
                <a:srgbClr val="FFFFFF"/>
              </a:solidFill>
              <a:ln w="9525">
                <a:solidFill>
                  <a:srgbClr val="DADCE0"/>
                </a:solidFill>
              </a:ln>
            </p:spPr>
            <p:txBody>
              <a:bodyPr/>
              <a:lstStyle/>
              <a:p>
                <a:endParaRPr lang="zh-CN" altLang="en-US"/>
              </a:p>
            </p:txBody>
          </p:sp>
          <p:sp>
            <p:nvSpPr>
              <p:cNvPr id="59" name="TextBox 59"/>
              <p:cNvSpPr txBox="1"/>
              <p:nvPr/>
            </p:nvSpPr>
            <p:spPr>
              <a:xfrm>
                <a:off x="5093018" y="1656874"/>
                <a:ext cx="1074012" cy="150041"/>
              </a:xfrm>
              <a:prstGeom prst="rect">
                <a:avLst/>
              </a:prstGeom>
              <a:noFill/>
              <a:ln>
                <a:noFill/>
              </a:ln>
            </p:spPr>
            <p:txBody>
              <a:bodyPr wrap="none" lIns="0" tIns="0" rIns="0" bIns="0" anchor="t" anchorCtr="0">
                <a:spAutoFit/>
              </a:bodyPr>
              <a:lstStyle/>
              <a:p>
                <a:pPr algn="l"/>
                <a:r>
                  <a:rPr lang="zh-CN" sz="975" b="1" dirty="0">
                    <a:latin typeface="Segoe UI"/>
                    <a:ea typeface="Microsoft YaHei"/>
                    <a:cs typeface="Segoe UI"/>
                  </a:rPr>
                  <a:t>De Morgan's Laws</a:t>
                </a:r>
              </a:p>
            </p:txBody>
          </p:sp>
          <p:sp>
            <p:nvSpPr>
              <p:cNvPr id="60" name="TextBox 60"/>
              <p:cNvSpPr txBox="1"/>
              <p:nvPr/>
            </p:nvSpPr>
            <p:spPr>
              <a:xfrm>
                <a:off x="6655118" y="1656874"/>
                <a:ext cx="2343590" cy="150041"/>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NOT</a:t>
                </a:r>
                <a:r>
                  <a:rPr lang="zh-CN" altLang="en-US" sz="975" dirty="0">
                    <a:solidFill>
                      <a:srgbClr val="5F6368"/>
                    </a:solidFill>
                    <a:latin typeface="Consolas"/>
                    <a:ea typeface="Microsoft YaHei"/>
                    <a:cs typeface="Consolas"/>
                  </a:rPr>
                  <a:t> </a:t>
                </a:r>
                <a:r>
                  <a:rPr lang="zh-CN" sz="975" dirty="0">
                    <a:solidFill>
                      <a:srgbClr val="5F6368"/>
                    </a:solidFill>
                    <a:latin typeface="Consolas"/>
                    <a:ea typeface="Microsoft YaHei"/>
                    <a:cs typeface="Consolas"/>
                  </a:rPr>
                  <a:t>(A AND B) ≡ (NOT A) OR (NOT B)</a:t>
                </a:r>
              </a:p>
            </p:txBody>
          </p:sp>
        </p:grpSp>
        <p:grpSp>
          <p:nvGrpSpPr>
            <p:cNvPr id="69" name="Group 69"/>
            <p:cNvGrpSpPr/>
            <p:nvPr/>
          </p:nvGrpSpPr>
          <p:grpSpPr>
            <a:xfrm>
              <a:off x="4533900" y="2000250"/>
              <a:ext cx="7467600" cy="285750"/>
              <a:chOff x="4533900" y="2000250"/>
              <a:chExt cx="7467600" cy="285750"/>
            </a:xfrm>
          </p:grpSpPr>
          <p:sp>
            <p:nvSpPr>
              <p:cNvPr id="62" name="Ellipse 62"/>
              <p:cNvSpPr/>
              <p:nvPr/>
            </p:nvSpPr>
            <p:spPr>
              <a:xfrm>
                <a:off x="4533900" y="2009775"/>
                <a:ext cx="266700" cy="266700"/>
              </a:xfrm>
              <a:prstGeom prst="ellipse">
                <a:avLst/>
              </a:prstGeom>
              <a:solidFill>
                <a:srgbClr val="34A853">
                  <a:alpha val="20000"/>
                </a:srgbClr>
              </a:solidFill>
              <a:ln>
                <a:noFill/>
              </a:ln>
            </p:spPr>
            <p:txBody>
              <a:bodyPr/>
              <a:lstStyle/>
              <a:p>
                <a:endParaRPr lang="zh-CN" altLang="en-US"/>
              </a:p>
            </p:txBody>
          </p:sp>
          <p:sp>
            <p:nvSpPr>
              <p:cNvPr id="63" name="Ellipse 63"/>
              <p:cNvSpPr/>
              <p:nvPr/>
            </p:nvSpPr>
            <p:spPr>
              <a:xfrm>
                <a:off x="4581525" y="2057400"/>
                <a:ext cx="171450" cy="171450"/>
              </a:xfrm>
              <a:prstGeom prst="ellipse">
                <a:avLst/>
              </a:prstGeom>
              <a:solidFill>
                <a:srgbClr val="34A853"/>
              </a:solidFill>
              <a:ln>
                <a:noFill/>
              </a:ln>
            </p:spPr>
            <p:txBody>
              <a:bodyPr/>
              <a:lstStyle/>
              <a:p>
                <a:endParaRPr lang="zh-CN" altLang="en-US"/>
              </a:p>
            </p:txBody>
          </p:sp>
          <p:sp>
            <p:nvSpPr>
              <p:cNvPr id="64" name="TextBox 64"/>
              <p:cNvSpPr txBox="1"/>
              <p:nvPr/>
            </p:nvSpPr>
            <p:spPr>
              <a:xfrm>
                <a:off x="4626096" y="2100262"/>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3</a:t>
                </a:r>
              </a:p>
            </p:txBody>
          </p:sp>
          <p:sp>
            <p:nvSpPr>
              <p:cNvPr id="65" name="Line 65"/>
              <p:cNvSpPr/>
              <p:nvPr/>
            </p:nvSpPr>
            <p:spPr>
              <a:xfrm>
                <a:off x="4752975" y="2143125"/>
                <a:ext cx="161925" cy="9525"/>
              </a:xfrm>
              <a:custGeom>
                <a:avLst/>
                <a:gdLst/>
                <a:ahLst/>
                <a:cxnLst/>
                <a:rect l="l" t="t" r="r" b="b"/>
                <a:pathLst>
                  <a:path w="161925" h="9525">
                    <a:moveTo>
                      <a:pt x="0" y="0"/>
                    </a:moveTo>
                    <a:lnTo>
                      <a:pt x="161925" y="0"/>
                    </a:lnTo>
                  </a:path>
                </a:pathLst>
              </a:custGeom>
              <a:noFill/>
              <a:ln w="14288">
                <a:solidFill>
                  <a:srgbClr val="34A853"/>
                </a:solidFill>
                <a:custDash>
                  <a:ds d="200000" sp="133333"/>
                </a:custDash>
              </a:ln>
            </p:spPr>
            <p:txBody>
              <a:bodyPr/>
              <a:lstStyle/>
              <a:p>
                <a:endParaRPr lang="zh-CN" altLang="en-US"/>
              </a:p>
            </p:txBody>
          </p:sp>
          <p:sp>
            <p:nvSpPr>
              <p:cNvPr id="66" name="Rectangle 66"/>
              <p:cNvSpPr/>
              <p:nvPr/>
            </p:nvSpPr>
            <p:spPr>
              <a:xfrm>
                <a:off x="4933950" y="2000250"/>
                <a:ext cx="7067550" cy="285750"/>
              </a:xfrm>
              <a:prstGeom prst="roundRect">
                <a:avLst>
                  <a:gd name="adj" fmla="val 16667"/>
                </a:avLst>
              </a:prstGeom>
              <a:solidFill>
                <a:srgbClr val="FFFFFF"/>
              </a:solidFill>
              <a:ln w="9525">
                <a:solidFill>
                  <a:srgbClr val="DADCE0"/>
                </a:solidFill>
              </a:ln>
            </p:spPr>
            <p:txBody>
              <a:bodyPr/>
              <a:lstStyle/>
              <a:p>
                <a:endParaRPr lang="zh-CN" altLang="en-US"/>
              </a:p>
            </p:txBody>
          </p:sp>
          <p:sp>
            <p:nvSpPr>
              <p:cNvPr id="67" name="TextBox 67"/>
              <p:cNvSpPr txBox="1"/>
              <p:nvPr/>
            </p:nvSpPr>
            <p:spPr>
              <a:xfrm>
                <a:off x="5093018" y="2085499"/>
                <a:ext cx="1006686" cy="150041"/>
              </a:xfrm>
              <a:prstGeom prst="rect">
                <a:avLst/>
              </a:prstGeom>
              <a:noFill/>
              <a:ln>
                <a:noFill/>
              </a:ln>
            </p:spPr>
            <p:txBody>
              <a:bodyPr wrap="none" lIns="0" tIns="0" rIns="0" bIns="0" anchor="t" anchorCtr="0">
                <a:spAutoFit/>
              </a:bodyPr>
              <a:lstStyle/>
              <a:p>
                <a:pPr algn="l"/>
                <a:r>
                  <a:rPr lang="zh-CN" sz="975" b="1" dirty="0">
                    <a:latin typeface="Segoe UI"/>
                    <a:ea typeface="Microsoft YaHei"/>
                    <a:cs typeface="Segoe UI"/>
                  </a:rPr>
                  <a:t>Double Negation</a:t>
                </a:r>
              </a:p>
            </p:txBody>
          </p:sp>
          <p:sp>
            <p:nvSpPr>
              <p:cNvPr id="68" name="TextBox 68"/>
              <p:cNvSpPr txBox="1"/>
              <p:nvPr/>
            </p:nvSpPr>
            <p:spPr>
              <a:xfrm>
                <a:off x="6655118" y="2085499"/>
                <a:ext cx="1114115"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NOT (NOT A) ≡ A</a:t>
                </a:r>
              </a:p>
            </p:txBody>
          </p:sp>
        </p:grpSp>
        <p:grpSp>
          <p:nvGrpSpPr>
            <p:cNvPr id="76" name="Group 76"/>
            <p:cNvGrpSpPr/>
            <p:nvPr/>
          </p:nvGrpSpPr>
          <p:grpSpPr>
            <a:xfrm>
              <a:off x="4581525" y="2438400"/>
              <a:ext cx="7419975" cy="273844"/>
              <a:chOff x="4581525" y="2438400"/>
              <a:chExt cx="7419975" cy="273844"/>
            </a:xfrm>
          </p:grpSpPr>
          <p:sp>
            <p:nvSpPr>
              <p:cNvPr id="70" name="Ellipse 70"/>
              <p:cNvSpPr/>
              <p:nvPr/>
            </p:nvSpPr>
            <p:spPr>
              <a:xfrm>
                <a:off x="4581525" y="2486025"/>
                <a:ext cx="171450" cy="171450"/>
              </a:xfrm>
              <a:prstGeom prst="ellipse">
                <a:avLst/>
              </a:prstGeom>
              <a:solidFill>
                <a:srgbClr val="4285F4">
                  <a:alpha val="50000"/>
                </a:srgbClr>
              </a:solidFill>
              <a:ln>
                <a:noFill/>
              </a:ln>
            </p:spPr>
            <p:txBody>
              <a:bodyPr/>
              <a:lstStyle/>
              <a:p>
                <a:endParaRPr lang="zh-CN" altLang="en-US"/>
              </a:p>
            </p:txBody>
          </p:sp>
          <p:sp>
            <p:nvSpPr>
              <p:cNvPr id="71" name="TextBox 71"/>
              <p:cNvSpPr txBox="1"/>
              <p:nvPr/>
            </p:nvSpPr>
            <p:spPr>
              <a:xfrm>
                <a:off x="4626096" y="252888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4</a:t>
                </a:r>
              </a:p>
            </p:txBody>
          </p:sp>
          <p:sp>
            <p:nvSpPr>
              <p:cNvPr id="72" name="Line 72"/>
              <p:cNvSpPr/>
              <p:nvPr/>
            </p:nvSpPr>
            <p:spPr>
              <a:xfrm>
                <a:off x="4752975" y="2571750"/>
                <a:ext cx="161925" cy="9525"/>
              </a:xfrm>
              <a:custGeom>
                <a:avLst/>
                <a:gdLst/>
                <a:ahLst/>
                <a:cxnLst/>
                <a:rect l="l" t="t" r="r" b="b"/>
                <a:pathLst>
                  <a:path w="161925" h="9525">
                    <a:moveTo>
                      <a:pt x="0" y="0"/>
                    </a:moveTo>
                    <a:lnTo>
                      <a:pt x="161925" y="0"/>
                    </a:lnTo>
                  </a:path>
                </a:pathLst>
              </a:custGeom>
              <a:noFill/>
              <a:ln w="14288">
                <a:solidFill>
                  <a:srgbClr val="4285F4">
                    <a:alpha val="50000"/>
                  </a:srgbClr>
                </a:solidFill>
                <a:custDash>
                  <a:ds d="200000" sp="133333"/>
                </a:custDash>
              </a:ln>
            </p:spPr>
            <p:txBody>
              <a:bodyPr/>
              <a:lstStyle/>
              <a:p>
                <a:endParaRPr lang="zh-CN" altLang="en-US"/>
              </a:p>
            </p:txBody>
          </p:sp>
          <p:sp>
            <p:nvSpPr>
              <p:cNvPr id="73" name="Rectangle 73"/>
              <p:cNvSpPr/>
              <p:nvPr/>
            </p:nvSpPr>
            <p:spPr>
              <a:xfrm>
                <a:off x="4933950" y="243840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74" name="TextBox 74"/>
              <p:cNvSpPr txBox="1"/>
              <p:nvPr/>
            </p:nvSpPr>
            <p:spPr>
              <a:xfrm>
                <a:off x="5093018" y="2514124"/>
                <a:ext cx="690895"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Idempotent</a:t>
                </a:r>
              </a:p>
            </p:txBody>
          </p:sp>
          <p:sp>
            <p:nvSpPr>
              <p:cNvPr id="75" name="TextBox 75"/>
              <p:cNvSpPr txBox="1"/>
              <p:nvPr/>
            </p:nvSpPr>
            <p:spPr>
              <a:xfrm>
                <a:off x="6655118" y="2514124"/>
                <a:ext cx="154131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AND A ≡ A | A OR A ≡ A</a:t>
                </a:r>
              </a:p>
            </p:txBody>
          </p:sp>
        </p:grpSp>
        <p:grpSp>
          <p:nvGrpSpPr>
            <p:cNvPr id="83" name="Group 83"/>
            <p:cNvGrpSpPr/>
            <p:nvPr/>
          </p:nvGrpSpPr>
          <p:grpSpPr>
            <a:xfrm>
              <a:off x="4581525" y="2838450"/>
              <a:ext cx="7419975" cy="273844"/>
              <a:chOff x="4581525" y="2838450"/>
              <a:chExt cx="7419975" cy="273844"/>
            </a:xfrm>
          </p:grpSpPr>
          <p:sp>
            <p:nvSpPr>
              <p:cNvPr id="77" name="Ellipse 77"/>
              <p:cNvSpPr/>
              <p:nvPr/>
            </p:nvSpPr>
            <p:spPr>
              <a:xfrm>
                <a:off x="4581525" y="2886075"/>
                <a:ext cx="171450" cy="171450"/>
              </a:xfrm>
              <a:prstGeom prst="ellipse">
                <a:avLst/>
              </a:prstGeom>
              <a:solidFill>
                <a:srgbClr val="4285F4">
                  <a:alpha val="50000"/>
                </a:srgbClr>
              </a:solidFill>
              <a:ln>
                <a:noFill/>
              </a:ln>
            </p:spPr>
            <p:txBody>
              <a:bodyPr/>
              <a:lstStyle/>
              <a:p>
                <a:endParaRPr lang="zh-CN" altLang="en-US"/>
              </a:p>
            </p:txBody>
          </p:sp>
          <p:sp>
            <p:nvSpPr>
              <p:cNvPr id="78" name="TextBox 78"/>
              <p:cNvSpPr txBox="1"/>
              <p:nvPr/>
            </p:nvSpPr>
            <p:spPr>
              <a:xfrm>
                <a:off x="4626096" y="292893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5</a:t>
                </a:r>
              </a:p>
            </p:txBody>
          </p:sp>
          <p:sp>
            <p:nvSpPr>
              <p:cNvPr id="79" name="Line 79"/>
              <p:cNvSpPr/>
              <p:nvPr/>
            </p:nvSpPr>
            <p:spPr>
              <a:xfrm>
                <a:off x="4752975" y="2971800"/>
                <a:ext cx="161925" cy="9525"/>
              </a:xfrm>
              <a:custGeom>
                <a:avLst/>
                <a:gdLst/>
                <a:ahLst/>
                <a:cxnLst/>
                <a:rect l="l" t="t" r="r" b="b"/>
                <a:pathLst>
                  <a:path w="161925" h="9525">
                    <a:moveTo>
                      <a:pt x="0" y="0"/>
                    </a:moveTo>
                    <a:lnTo>
                      <a:pt x="161925" y="0"/>
                    </a:lnTo>
                  </a:path>
                </a:pathLst>
              </a:custGeom>
              <a:noFill/>
              <a:ln w="14288">
                <a:solidFill>
                  <a:srgbClr val="4285F4">
                    <a:alpha val="50000"/>
                  </a:srgbClr>
                </a:solidFill>
                <a:custDash>
                  <a:ds d="200000" sp="133333"/>
                </a:custDash>
              </a:ln>
            </p:spPr>
            <p:txBody>
              <a:bodyPr/>
              <a:lstStyle/>
              <a:p>
                <a:endParaRPr lang="zh-CN" altLang="en-US"/>
              </a:p>
            </p:txBody>
          </p:sp>
          <p:sp>
            <p:nvSpPr>
              <p:cNvPr id="80" name="Rectangle 80"/>
              <p:cNvSpPr/>
              <p:nvPr/>
            </p:nvSpPr>
            <p:spPr>
              <a:xfrm>
                <a:off x="4933950" y="283845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81" name="TextBox 81"/>
              <p:cNvSpPr txBox="1"/>
              <p:nvPr/>
            </p:nvSpPr>
            <p:spPr>
              <a:xfrm>
                <a:off x="5093018" y="2914174"/>
                <a:ext cx="458459"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Identity</a:t>
                </a:r>
              </a:p>
            </p:txBody>
          </p:sp>
          <p:sp>
            <p:nvSpPr>
              <p:cNvPr id="82" name="TextBox 82"/>
              <p:cNvSpPr txBox="1"/>
              <p:nvPr/>
            </p:nvSpPr>
            <p:spPr>
              <a:xfrm>
                <a:off x="6655118" y="2914174"/>
                <a:ext cx="208954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AND TRUE ≡ A | A OR FALSE ≡ A</a:t>
                </a:r>
              </a:p>
            </p:txBody>
          </p:sp>
        </p:grpSp>
        <p:grpSp>
          <p:nvGrpSpPr>
            <p:cNvPr id="90" name="Group 90"/>
            <p:cNvGrpSpPr/>
            <p:nvPr/>
          </p:nvGrpSpPr>
          <p:grpSpPr>
            <a:xfrm>
              <a:off x="4581525" y="3238500"/>
              <a:ext cx="7419975" cy="273844"/>
              <a:chOff x="4581525" y="3238500"/>
              <a:chExt cx="7419975" cy="273844"/>
            </a:xfrm>
          </p:grpSpPr>
          <p:sp>
            <p:nvSpPr>
              <p:cNvPr id="84" name="Ellipse 84"/>
              <p:cNvSpPr/>
              <p:nvPr/>
            </p:nvSpPr>
            <p:spPr>
              <a:xfrm>
                <a:off x="4581525" y="3286125"/>
                <a:ext cx="171450" cy="171450"/>
              </a:xfrm>
              <a:prstGeom prst="ellipse">
                <a:avLst/>
              </a:prstGeom>
              <a:solidFill>
                <a:srgbClr val="9334E6">
                  <a:alpha val="50000"/>
                </a:srgbClr>
              </a:solidFill>
              <a:ln>
                <a:noFill/>
              </a:ln>
            </p:spPr>
            <p:txBody>
              <a:bodyPr/>
              <a:lstStyle/>
              <a:p>
                <a:endParaRPr lang="zh-CN" altLang="en-US"/>
              </a:p>
            </p:txBody>
          </p:sp>
          <p:sp>
            <p:nvSpPr>
              <p:cNvPr id="85" name="TextBox 85"/>
              <p:cNvSpPr txBox="1"/>
              <p:nvPr/>
            </p:nvSpPr>
            <p:spPr>
              <a:xfrm>
                <a:off x="4626096" y="332898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6</a:t>
                </a:r>
              </a:p>
            </p:txBody>
          </p:sp>
          <p:sp>
            <p:nvSpPr>
              <p:cNvPr id="86" name="Line 86"/>
              <p:cNvSpPr/>
              <p:nvPr/>
            </p:nvSpPr>
            <p:spPr>
              <a:xfrm>
                <a:off x="4752975" y="3371850"/>
                <a:ext cx="161925" cy="9525"/>
              </a:xfrm>
              <a:custGeom>
                <a:avLst/>
                <a:gdLst/>
                <a:ahLst/>
                <a:cxnLst/>
                <a:rect l="l" t="t" r="r" b="b"/>
                <a:pathLst>
                  <a:path w="161925" h="9525">
                    <a:moveTo>
                      <a:pt x="0" y="0"/>
                    </a:moveTo>
                    <a:lnTo>
                      <a:pt x="161925" y="0"/>
                    </a:lnTo>
                  </a:path>
                </a:pathLst>
              </a:custGeom>
              <a:noFill/>
              <a:ln w="14288">
                <a:solidFill>
                  <a:srgbClr val="9334E6">
                    <a:alpha val="50000"/>
                  </a:srgbClr>
                </a:solidFill>
                <a:custDash>
                  <a:ds d="200000" sp="133333"/>
                </a:custDash>
              </a:ln>
            </p:spPr>
            <p:txBody>
              <a:bodyPr/>
              <a:lstStyle/>
              <a:p>
                <a:endParaRPr lang="zh-CN" altLang="en-US"/>
              </a:p>
            </p:txBody>
          </p:sp>
          <p:sp>
            <p:nvSpPr>
              <p:cNvPr id="87" name="Rectangle 87"/>
              <p:cNvSpPr/>
              <p:nvPr/>
            </p:nvSpPr>
            <p:spPr>
              <a:xfrm>
                <a:off x="4933950" y="323850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88" name="TextBox 88"/>
              <p:cNvSpPr txBox="1"/>
              <p:nvPr/>
            </p:nvSpPr>
            <p:spPr>
              <a:xfrm>
                <a:off x="5093018" y="3314224"/>
                <a:ext cx="546625"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Negation</a:t>
                </a:r>
              </a:p>
            </p:txBody>
          </p:sp>
          <p:sp>
            <p:nvSpPr>
              <p:cNvPr id="89" name="TextBox 89"/>
              <p:cNvSpPr txBox="1"/>
              <p:nvPr/>
            </p:nvSpPr>
            <p:spPr>
              <a:xfrm>
                <a:off x="6655118" y="3314224"/>
                <a:ext cx="301513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AND (NOT A) ≡ FALSE | A OR (NOT A) ≡ TRUE</a:t>
                </a:r>
              </a:p>
            </p:txBody>
          </p:sp>
        </p:grpSp>
        <p:grpSp>
          <p:nvGrpSpPr>
            <p:cNvPr id="97" name="Group 97"/>
            <p:cNvGrpSpPr/>
            <p:nvPr/>
          </p:nvGrpSpPr>
          <p:grpSpPr>
            <a:xfrm>
              <a:off x="4581525" y="3638550"/>
              <a:ext cx="7419975" cy="273844"/>
              <a:chOff x="4581525" y="3638550"/>
              <a:chExt cx="7419975" cy="273844"/>
            </a:xfrm>
          </p:grpSpPr>
          <p:sp>
            <p:nvSpPr>
              <p:cNvPr id="91" name="Ellipse 91"/>
              <p:cNvSpPr/>
              <p:nvPr/>
            </p:nvSpPr>
            <p:spPr>
              <a:xfrm>
                <a:off x="4581525" y="3686175"/>
                <a:ext cx="171450" cy="171450"/>
              </a:xfrm>
              <a:prstGeom prst="ellipse">
                <a:avLst/>
              </a:prstGeom>
              <a:solidFill>
                <a:srgbClr val="9334E6">
                  <a:alpha val="50000"/>
                </a:srgbClr>
              </a:solidFill>
              <a:ln>
                <a:noFill/>
              </a:ln>
            </p:spPr>
            <p:txBody>
              <a:bodyPr/>
              <a:lstStyle/>
              <a:p>
                <a:endParaRPr lang="zh-CN" altLang="en-US"/>
              </a:p>
            </p:txBody>
          </p:sp>
          <p:sp>
            <p:nvSpPr>
              <p:cNvPr id="92" name="TextBox 92"/>
              <p:cNvSpPr txBox="1"/>
              <p:nvPr/>
            </p:nvSpPr>
            <p:spPr>
              <a:xfrm>
                <a:off x="4626096" y="372903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7</a:t>
                </a:r>
              </a:p>
            </p:txBody>
          </p:sp>
          <p:sp>
            <p:nvSpPr>
              <p:cNvPr id="93" name="Line 93"/>
              <p:cNvSpPr/>
              <p:nvPr/>
            </p:nvSpPr>
            <p:spPr>
              <a:xfrm>
                <a:off x="4752975" y="3771900"/>
                <a:ext cx="161925" cy="9525"/>
              </a:xfrm>
              <a:custGeom>
                <a:avLst/>
                <a:gdLst/>
                <a:ahLst/>
                <a:cxnLst/>
                <a:rect l="l" t="t" r="r" b="b"/>
                <a:pathLst>
                  <a:path w="161925" h="9525">
                    <a:moveTo>
                      <a:pt x="0" y="0"/>
                    </a:moveTo>
                    <a:lnTo>
                      <a:pt x="161925" y="0"/>
                    </a:lnTo>
                  </a:path>
                </a:pathLst>
              </a:custGeom>
              <a:noFill/>
              <a:ln w="14288">
                <a:solidFill>
                  <a:srgbClr val="9334E6">
                    <a:alpha val="50000"/>
                  </a:srgbClr>
                </a:solidFill>
                <a:custDash>
                  <a:ds d="200000" sp="133333"/>
                </a:custDash>
              </a:ln>
            </p:spPr>
            <p:txBody>
              <a:bodyPr/>
              <a:lstStyle/>
              <a:p>
                <a:endParaRPr lang="zh-CN" altLang="en-US"/>
              </a:p>
            </p:txBody>
          </p:sp>
          <p:sp>
            <p:nvSpPr>
              <p:cNvPr id="94" name="Rectangle 94"/>
              <p:cNvSpPr/>
              <p:nvPr/>
            </p:nvSpPr>
            <p:spPr>
              <a:xfrm>
                <a:off x="4933950" y="363855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95" name="TextBox 95"/>
              <p:cNvSpPr txBox="1"/>
              <p:nvPr/>
            </p:nvSpPr>
            <p:spPr>
              <a:xfrm>
                <a:off x="5093018" y="3714274"/>
                <a:ext cx="961802"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Universal Bound</a:t>
                </a:r>
              </a:p>
            </p:txBody>
          </p:sp>
          <p:sp>
            <p:nvSpPr>
              <p:cNvPr id="96" name="TextBox 96"/>
              <p:cNvSpPr txBox="1"/>
              <p:nvPr/>
            </p:nvSpPr>
            <p:spPr>
              <a:xfrm>
                <a:off x="6655118" y="3714274"/>
                <a:ext cx="263778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AND FALSE ≡ FALSE | A OR TRUE ≡ TRUE</a:t>
                </a:r>
              </a:p>
            </p:txBody>
          </p:sp>
        </p:grpSp>
        <p:grpSp>
          <p:nvGrpSpPr>
            <p:cNvPr id="104" name="Group 104"/>
            <p:cNvGrpSpPr/>
            <p:nvPr/>
          </p:nvGrpSpPr>
          <p:grpSpPr>
            <a:xfrm>
              <a:off x="4581525" y="4038600"/>
              <a:ext cx="7419975" cy="273844"/>
              <a:chOff x="4581525" y="4038600"/>
              <a:chExt cx="7419975" cy="273844"/>
            </a:xfrm>
          </p:grpSpPr>
          <p:sp>
            <p:nvSpPr>
              <p:cNvPr id="98" name="Ellipse 98"/>
              <p:cNvSpPr/>
              <p:nvPr/>
            </p:nvSpPr>
            <p:spPr>
              <a:xfrm>
                <a:off x="4581525" y="4086225"/>
                <a:ext cx="171450" cy="171450"/>
              </a:xfrm>
              <a:prstGeom prst="ellipse">
                <a:avLst/>
              </a:prstGeom>
              <a:solidFill>
                <a:srgbClr val="34A853">
                  <a:alpha val="50000"/>
                </a:srgbClr>
              </a:solidFill>
              <a:ln>
                <a:noFill/>
              </a:ln>
            </p:spPr>
            <p:txBody>
              <a:bodyPr/>
              <a:lstStyle/>
              <a:p>
                <a:endParaRPr lang="zh-CN" altLang="en-US"/>
              </a:p>
            </p:txBody>
          </p:sp>
          <p:sp>
            <p:nvSpPr>
              <p:cNvPr id="99" name="TextBox 99"/>
              <p:cNvSpPr txBox="1"/>
              <p:nvPr/>
            </p:nvSpPr>
            <p:spPr>
              <a:xfrm>
                <a:off x="4626096" y="412908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8</a:t>
                </a:r>
              </a:p>
            </p:txBody>
          </p:sp>
          <p:sp>
            <p:nvSpPr>
              <p:cNvPr id="100" name="Line 100"/>
              <p:cNvSpPr/>
              <p:nvPr/>
            </p:nvSpPr>
            <p:spPr>
              <a:xfrm>
                <a:off x="4752975" y="4171950"/>
                <a:ext cx="161925" cy="9525"/>
              </a:xfrm>
              <a:custGeom>
                <a:avLst/>
                <a:gdLst/>
                <a:ahLst/>
                <a:cxnLst/>
                <a:rect l="l" t="t" r="r" b="b"/>
                <a:pathLst>
                  <a:path w="161925" h="9525">
                    <a:moveTo>
                      <a:pt x="0" y="0"/>
                    </a:moveTo>
                    <a:lnTo>
                      <a:pt x="161925" y="0"/>
                    </a:lnTo>
                  </a:path>
                </a:pathLst>
              </a:custGeom>
              <a:noFill/>
              <a:ln w="14288">
                <a:solidFill>
                  <a:srgbClr val="34A853">
                    <a:alpha val="50000"/>
                  </a:srgbClr>
                </a:solidFill>
                <a:custDash>
                  <a:ds d="200000" sp="133333"/>
                </a:custDash>
              </a:ln>
            </p:spPr>
            <p:txBody>
              <a:bodyPr/>
              <a:lstStyle/>
              <a:p>
                <a:endParaRPr lang="zh-CN" altLang="en-US"/>
              </a:p>
            </p:txBody>
          </p:sp>
          <p:sp>
            <p:nvSpPr>
              <p:cNvPr id="101" name="Rectangle 101"/>
              <p:cNvSpPr/>
              <p:nvPr/>
            </p:nvSpPr>
            <p:spPr>
              <a:xfrm>
                <a:off x="4933950" y="403860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102" name="TextBox 102"/>
              <p:cNvSpPr txBox="1"/>
              <p:nvPr/>
            </p:nvSpPr>
            <p:spPr>
              <a:xfrm>
                <a:off x="5093018" y="4114324"/>
                <a:ext cx="658835"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Absorption</a:t>
                </a:r>
              </a:p>
            </p:txBody>
          </p:sp>
          <p:sp>
            <p:nvSpPr>
              <p:cNvPr id="103" name="TextBox 103"/>
              <p:cNvSpPr txBox="1"/>
              <p:nvPr/>
            </p:nvSpPr>
            <p:spPr>
              <a:xfrm>
                <a:off x="6655118" y="4114324"/>
                <a:ext cx="1249394"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A OR (A AND B) ≡ A</a:t>
                </a:r>
              </a:p>
            </p:txBody>
          </p:sp>
        </p:grpSp>
        <p:grpSp>
          <p:nvGrpSpPr>
            <p:cNvPr id="111" name="Group 111"/>
            <p:cNvGrpSpPr/>
            <p:nvPr/>
          </p:nvGrpSpPr>
          <p:grpSpPr>
            <a:xfrm>
              <a:off x="4581525" y="4438650"/>
              <a:ext cx="7419975" cy="273844"/>
              <a:chOff x="4581525" y="4438650"/>
              <a:chExt cx="7419975" cy="273844"/>
            </a:xfrm>
          </p:grpSpPr>
          <p:sp>
            <p:nvSpPr>
              <p:cNvPr id="105" name="Ellipse 105"/>
              <p:cNvSpPr/>
              <p:nvPr/>
            </p:nvSpPr>
            <p:spPr>
              <a:xfrm>
                <a:off x="4581525" y="4486275"/>
                <a:ext cx="171450" cy="171450"/>
              </a:xfrm>
              <a:prstGeom prst="ellipse">
                <a:avLst/>
              </a:prstGeom>
              <a:solidFill>
                <a:srgbClr val="34A853">
                  <a:alpha val="50000"/>
                </a:srgbClr>
              </a:solidFill>
              <a:ln>
                <a:noFill/>
              </a:ln>
            </p:spPr>
            <p:txBody>
              <a:bodyPr/>
              <a:lstStyle/>
              <a:p>
                <a:endParaRPr lang="zh-CN" altLang="en-US"/>
              </a:p>
            </p:txBody>
          </p:sp>
          <p:sp>
            <p:nvSpPr>
              <p:cNvPr id="106" name="TextBox 106"/>
              <p:cNvSpPr txBox="1"/>
              <p:nvPr/>
            </p:nvSpPr>
            <p:spPr>
              <a:xfrm>
                <a:off x="4626096" y="4529138"/>
                <a:ext cx="82308"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9</a:t>
                </a:r>
              </a:p>
            </p:txBody>
          </p:sp>
          <p:sp>
            <p:nvSpPr>
              <p:cNvPr id="107" name="Line 107"/>
              <p:cNvSpPr/>
              <p:nvPr/>
            </p:nvSpPr>
            <p:spPr>
              <a:xfrm>
                <a:off x="4752975" y="4572000"/>
                <a:ext cx="161925" cy="9525"/>
              </a:xfrm>
              <a:custGeom>
                <a:avLst/>
                <a:gdLst/>
                <a:ahLst/>
                <a:cxnLst/>
                <a:rect l="l" t="t" r="r" b="b"/>
                <a:pathLst>
                  <a:path w="161925" h="9525">
                    <a:moveTo>
                      <a:pt x="0" y="0"/>
                    </a:moveTo>
                    <a:lnTo>
                      <a:pt x="161925" y="0"/>
                    </a:lnTo>
                  </a:path>
                </a:pathLst>
              </a:custGeom>
              <a:noFill/>
              <a:ln w="14288">
                <a:solidFill>
                  <a:srgbClr val="34A853">
                    <a:alpha val="50000"/>
                  </a:srgbClr>
                </a:solidFill>
                <a:custDash>
                  <a:ds d="200000" sp="133333"/>
                </a:custDash>
              </a:ln>
            </p:spPr>
            <p:txBody>
              <a:bodyPr/>
              <a:lstStyle/>
              <a:p>
                <a:endParaRPr lang="zh-CN" altLang="en-US"/>
              </a:p>
            </p:txBody>
          </p:sp>
          <p:sp>
            <p:nvSpPr>
              <p:cNvPr id="108" name="Rectangle 108"/>
              <p:cNvSpPr/>
              <p:nvPr/>
            </p:nvSpPr>
            <p:spPr>
              <a:xfrm>
                <a:off x="4933950" y="443865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109" name="TextBox 109"/>
              <p:cNvSpPr txBox="1"/>
              <p:nvPr/>
            </p:nvSpPr>
            <p:spPr>
              <a:xfrm>
                <a:off x="5093018" y="4514374"/>
                <a:ext cx="839974"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Normalization</a:t>
                </a:r>
              </a:p>
            </p:txBody>
          </p:sp>
          <p:sp>
            <p:nvSpPr>
              <p:cNvPr id="110" name="TextBox 110"/>
              <p:cNvSpPr txBox="1"/>
              <p:nvPr/>
            </p:nvSpPr>
            <p:spPr>
              <a:xfrm>
                <a:off x="6655118" y="4514374"/>
                <a:ext cx="308633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Flatten nested same-op + deduplicate terms</a:t>
                </a:r>
              </a:p>
            </p:txBody>
          </p:sp>
        </p:grpSp>
        <p:grpSp>
          <p:nvGrpSpPr>
            <p:cNvPr id="118" name="Group 118"/>
            <p:cNvGrpSpPr/>
            <p:nvPr/>
          </p:nvGrpSpPr>
          <p:grpSpPr>
            <a:xfrm>
              <a:off x="4581525" y="4838700"/>
              <a:ext cx="7419975" cy="266700"/>
              <a:chOff x="4581525" y="4838700"/>
              <a:chExt cx="7419975" cy="266700"/>
            </a:xfrm>
          </p:grpSpPr>
          <p:sp>
            <p:nvSpPr>
              <p:cNvPr id="112" name="Ellipse 112"/>
              <p:cNvSpPr/>
              <p:nvPr/>
            </p:nvSpPr>
            <p:spPr>
              <a:xfrm>
                <a:off x="4581525" y="4886325"/>
                <a:ext cx="171450" cy="171450"/>
              </a:xfrm>
              <a:prstGeom prst="ellipse">
                <a:avLst/>
              </a:prstGeom>
              <a:solidFill>
                <a:srgbClr val="1E8E3E">
                  <a:alpha val="50000"/>
                </a:srgbClr>
              </a:solidFill>
              <a:ln>
                <a:noFill/>
              </a:ln>
            </p:spPr>
            <p:txBody>
              <a:bodyPr/>
              <a:lstStyle/>
              <a:p>
                <a:endParaRPr lang="zh-CN" altLang="en-US"/>
              </a:p>
            </p:txBody>
          </p:sp>
          <p:sp>
            <p:nvSpPr>
              <p:cNvPr id="113" name="TextBox 113"/>
              <p:cNvSpPr txBox="1"/>
              <p:nvPr/>
            </p:nvSpPr>
            <p:spPr>
              <a:xfrm>
                <a:off x="4608844" y="4929188"/>
                <a:ext cx="116812"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10</a:t>
                </a:r>
              </a:p>
            </p:txBody>
          </p:sp>
          <p:sp>
            <p:nvSpPr>
              <p:cNvPr id="114" name="Line 114"/>
              <p:cNvSpPr/>
              <p:nvPr/>
            </p:nvSpPr>
            <p:spPr>
              <a:xfrm>
                <a:off x="4752975" y="4972050"/>
                <a:ext cx="161925" cy="9525"/>
              </a:xfrm>
              <a:custGeom>
                <a:avLst/>
                <a:gdLst/>
                <a:ahLst/>
                <a:cxnLst/>
                <a:rect l="l" t="t" r="r" b="b"/>
                <a:pathLst>
                  <a:path w="161925" h="9525">
                    <a:moveTo>
                      <a:pt x="0" y="0"/>
                    </a:moveTo>
                    <a:lnTo>
                      <a:pt x="161925" y="0"/>
                    </a:lnTo>
                  </a:path>
                </a:pathLst>
              </a:custGeom>
              <a:noFill/>
              <a:ln w="14288">
                <a:solidFill>
                  <a:srgbClr val="1E8E3E">
                    <a:alpha val="50000"/>
                  </a:srgbClr>
                </a:solidFill>
                <a:custDash>
                  <a:ds d="200000" sp="133333"/>
                </a:custDash>
              </a:ln>
            </p:spPr>
            <p:txBody>
              <a:bodyPr/>
              <a:lstStyle/>
              <a:p>
                <a:endParaRPr lang="zh-CN" altLang="en-US"/>
              </a:p>
            </p:txBody>
          </p:sp>
          <p:sp>
            <p:nvSpPr>
              <p:cNvPr id="115" name="Rectangle 115"/>
              <p:cNvSpPr/>
              <p:nvPr/>
            </p:nvSpPr>
            <p:spPr>
              <a:xfrm>
                <a:off x="4933950" y="483870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116" name="TextBox 116"/>
              <p:cNvSpPr txBox="1"/>
              <p:nvPr/>
            </p:nvSpPr>
            <p:spPr>
              <a:xfrm>
                <a:off x="5093018" y="4914424"/>
                <a:ext cx="1171796"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Consensus Theorem</a:t>
                </a:r>
              </a:p>
            </p:txBody>
          </p:sp>
          <p:sp>
            <p:nvSpPr>
              <p:cNvPr id="117" name="TextBox 117"/>
              <p:cNvSpPr txBox="1"/>
              <p:nvPr/>
            </p:nvSpPr>
            <p:spPr>
              <a:xfrm>
                <a:off x="6656070" y="4922520"/>
                <a:ext cx="4360168" cy="138499"/>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(x</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AND</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y)</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OR</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(NOT</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x</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AND</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z)</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OR</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(y</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AND</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z) ≡ (x</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AND</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y)</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OR</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(NOT</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x</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AND</a:t>
                </a:r>
                <a:r>
                  <a:rPr lang="zh-CN" altLang="en-US" sz="900" dirty="0">
                    <a:solidFill>
                      <a:srgbClr val="5F6368"/>
                    </a:solidFill>
                    <a:latin typeface="Consolas"/>
                    <a:ea typeface="Microsoft YaHei"/>
                    <a:cs typeface="Consolas"/>
                  </a:rPr>
                  <a:t> </a:t>
                </a:r>
                <a:r>
                  <a:rPr lang="zh-CN" sz="900" dirty="0">
                    <a:solidFill>
                      <a:srgbClr val="5F6368"/>
                    </a:solidFill>
                    <a:latin typeface="Consolas"/>
                    <a:ea typeface="Microsoft YaHei"/>
                    <a:cs typeface="Consolas"/>
                  </a:rPr>
                  <a:t>z)</a:t>
                </a:r>
              </a:p>
            </p:txBody>
          </p:sp>
        </p:grpSp>
        <p:grpSp>
          <p:nvGrpSpPr>
            <p:cNvPr id="125" name="Group 125"/>
            <p:cNvGrpSpPr/>
            <p:nvPr/>
          </p:nvGrpSpPr>
          <p:grpSpPr>
            <a:xfrm>
              <a:off x="4581525" y="5238750"/>
              <a:ext cx="7419975" cy="273844"/>
              <a:chOff x="4581525" y="5238750"/>
              <a:chExt cx="7419975" cy="273844"/>
            </a:xfrm>
          </p:grpSpPr>
          <p:sp>
            <p:nvSpPr>
              <p:cNvPr id="119" name="Ellipse 119"/>
              <p:cNvSpPr/>
              <p:nvPr/>
            </p:nvSpPr>
            <p:spPr>
              <a:xfrm>
                <a:off x="4581525" y="5286375"/>
                <a:ext cx="171450" cy="171450"/>
              </a:xfrm>
              <a:prstGeom prst="ellipse">
                <a:avLst/>
              </a:prstGeom>
              <a:solidFill>
                <a:srgbClr val="1E8E3E">
                  <a:alpha val="50000"/>
                </a:srgbClr>
              </a:solidFill>
              <a:ln>
                <a:noFill/>
              </a:ln>
            </p:spPr>
            <p:txBody>
              <a:bodyPr/>
              <a:lstStyle/>
              <a:p>
                <a:endParaRPr lang="zh-CN" altLang="en-US"/>
              </a:p>
            </p:txBody>
          </p:sp>
          <p:sp>
            <p:nvSpPr>
              <p:cNvPr id="120" name="TextBox 120"/>
              <p:cNvSpPr txBox="1"/>
              <p:nvPr/>
            </p:nvSpPr>
            <p:spPr>
              <a:xfrm>
                <a:off x="4623221" y="5329238"/>
                <a:ext cx="88059" cy="152400"/>
              </a:xfrm>
              <a:prstGeom prst="rect">
                <a:avLst/>
              </a:prstGeom>
              <a:noFill/>
              <a:ln>
                <a:noFill/>
              </a:ln>
            </p:spPr>
            <p:txBody>
              <a:bodyPr wrap="none" lIns="0" tIns="0" rIns="0" bIns="0" anchor="t" anchorCtr="0">
                <a:spAutoFit/>
              </a:bodyPr>
              <a:lstStyle/>
              <a:p>
                <a:pPr algn="ctr"/>
                <a:r>
                  <a:rPr lang="zh-CN" sz="750" b="1" dirty="0">
                    <a:solidFill>
                      <a:srgbClr val="202124"/>
                    </a:solidFill>
                    <a:latin typeface="Segoe UI"/>
                    <a:ea typeface="Microsoft YaHei"/>
                    <a:cs typeface="Segoe UI"/>
                  </a:rPr>
                  <a:t>11</a:t>
                </a:r>
              </a:p>
            </p:txBody>
          </p:sp>
          <p:sp>
            <p:nvSpPr>
              <p:cNvPr id="121" name="Line 121"/>
              <p:cNvSpPr/>
              <p:nvPr/>
            </p:nvSpPr>
            <p:spPr>
              <a:xfrm>
                <a:off x="4752975" y="5372100"/>
                <a:ext cx="161925" cy="9525"/>
              </a:xfrm>
              <a:custGeom>
                <a:avLst/>
                <a:gdLst/>
                <a:ahLst/>
                <a:cxnLst/>
                <a:rect l="l" t="t" r="r" b="b"/>
                <a:pathLst>
                  <a:path w="161925" h="9525">
                    <a:moveTo>
                      <a:pt x="0" y="0"/>
                    </a:moveTo>
                    <a:lnTo>
                      <a:pt x="161925" y="0"/>
                    </a:lnTo>
                  </a:path>
                </a:pathLst>
              </a:custGeom>
              <a:noFill/>
              <a:ln w="14288">
                <a:solidFill>
                  <a:srgbClr val="1E8E3E">
                    <a:alpha val="50000"/>
                  </a:srgbClr>
                </a:solidFill>
                <a:custDash>
                  <a:ds d="200000" sp="133333"/>
                </a:custDash>
              </a:ln>
            </p:spPr>
            <p:txBody>
              <a:bodyPr/>
              <a:lstStyle/>
              <a:p>
                <a:endParaRPr lang="zh-CN" altLang="en-US"/>
              </a:p>
            </p:txBody>
          </p:sp>
          <p:sp>
            <p:nvSpPr>
              <p:cNvPr id="122" name="Rectangle 122"/>
              <p:cNvSpPr/>
              <p:nvPr/>
            </p:nvSpPr>
            <p:spPr>
              <a:xfrm>
                <a:off x="4933950" y="5238750"/>
                <a:ext cx="7067550" cy="266700"/>
              </a:xfrm>
              <a:prstGeom prst="roundRect">
                <a:avLst>
                  <a:gd name="adj" fmla="val 17857"/>
                </a:avLst>
              </a:prstGeom>
              <a:solidFill>
                <a:srgbClr val="FFFFFF"/>
              </a:solidFill>
              <a:ln w="9525">
                <a:solidFill>
                  <a:srgbClr val="DADCE0"/>
                </a:solidFill>
              </a:ln>
            </p:spPr>
            <p:txBody>
              <a:bodyPr/>
              <a:lstStyle/>
              <a:p>
                <a:endParaRPr lang="zh-CN" altLang="en-US"/>
              </a:p>
            </p:txBody>
          </p:sp>
          <p:sp>
            <p:nvSpPr>
              <p:cNvPr id="123" name="TextBox 123"/>
              <p:cNvSpPr txBox="1"/>
              <p:nvPr/>
            </p:nvSpPr>
            <p:spPr>
              <a:xfrm>
                <a:off x="5093018" y="5314474"/>
                <a:ext cx="1106072" cy="150041"/>
              </a:xfrm>
              <a:prstGeom prst="rect">
                <a:avLst/>
              </a:prstGeom>
              <a:noFill/>
              <a:ln>
                <a:noFill/>
              </a:ln>
            </p:spPr>
            <p:txBody>
              <a:bodyPr wrap="none" lIns="0" tIns="0" rIns="0" bIns="0" anchor="t" anchorCtr="0">
                <a:spAutoFit/>
              </a:bodyPr>
              <a:lstStyle/>
              <a:p>
                <a:pPr algn="l"/>
                <a:r>
                  <a:rPr lang="zh-CN" sz="975" b="1" dirty="0">
                    <a:solidFill>
                      <a:srgbClr val="202124"/>
                    </a:solidFill>
                    <a:latin typeface="Segoe UI"/>
                    <a:ea typeface="Microsoft YaHei"/>
                    <a:cs typeface="Segoe UI"/>
                  </a:rPr>
                  <a:t>Constant Negation</a:t>
                </a:r>
              </a:p>
            </p:txBody>
          </p:sp>
          <p:sp>
            <p:nvSpPr>
              <p:cNvPr id="124" name="TextBox 124"/>
              <p:cNvSpPr txBox="1"/>
              <p:nvPr/>
            </p:nvSpPr>
            <p:spPr>
              <a:xfrm>
                <a:off x="6655118" y="5314474"/>
                <a:ext cx="250250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NOT TRUE ≡ FALSE | NOT FALSE ≡ TRUE</a:t>
                </a:r>
              </a:p>
            </p:txBody>
          </p:sp>
        </p:grpSp>
        <p:sp>
          <p:nvSpPr>
            <p:cNvPr id="126" name="Polygon 126"/>
            <p:cNvSpPr/>
            <p:nvPr/>
          </p:nvSpPr>
          <p:spPr>
            <a:xfrm>
              <a:off x="4610100" y="5429250"/>
              <a:ext cx="114300" cy="114300"/>
            </a:xfrm>
            <a:custGeom>
              <a:avLst/>
              <a:gdLst/>
              <a:ahLst/>
              <a:cxnLst/>
              <a:rect l="l" t="t" r="r" b="b"/>
              <a:pathLst>
                <a:path w="114300" h="114300">
                  <a:moveTo>
                    <a:pt x="57150" y="114300"/>
                  </a:moveTo>
                  <a:lnTo>
                    <a:pt x="114300" y="0"/>
                  </a:lnTo>
                  <a:lnTo>
                    <a:pt x="0" y="0"/>
                  </a:lnTo>
                  <a:close/>
                </a:path>
              </a:pathLst>
            </a:custGeom>
            <a:solidFill>
              <a:srgbClr val="1E8E3E"/>
            </a:solidFill>
            <a:ln>
              <a:noFill/>
            </a:ln>
          </p:spPr>
          <p:txBody>
            <a:bodyPr/>
            <a:lstStyle/>
            <a:p>
              <a:endParaRPr lang="zh-CN" altLang="en-US"/>
            </a:p>
          </p:txBody>
        </p:sp>
      </p:grpSp>
      <p:grpSp>
        <p:nvGrpSpPr>
          <p:cNvPr id="131" name="Group 131"/>
          <p:cNvGrpSpPr/>
          <p:nvPr/>
        </p:nvGrpSpPr>
        <p:grpSpPr>
          <a:xfrm>
            <a:off x="561022" y="6572250"/>
            <a:ext cx="11069955" cy="269081"/>
            <a:chOff x="561022" y="6572250"/>
            <a:chExt cx="11069955" cy="269081"/>
          </a:xfrm>
        </p:grpSpPr>
        <p:sp>
          <p:nvSpPr>
            <p:cNvPr id="128" name="Rectangle 128"/>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129" name="TextBox 129"/>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130" name="TextBox 130"/>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08</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400"/>
                                        <p:tgtEl>
                                          <p:spTgt spid="44"/>
                                        </p:tgtEl>
                                      </p:cBhvr>
                                    </p:animEffect>
                                  </p:childTnLst>
                                </p:cTn>
                              </p:par>
                            </p:childTnLst>
                          </p:cTn>
                        </p:par>
                        <p:par>
                          <p:cTn id="8" fill="hold">
                            <p:stCondLst>
                              <p:cond delay="400"/>
                            </p:stCondLst>
                            <p:childTnLst>
                              <p:par>
                                <p:cTn id="9" presetID="10" presetClass="entr" presetSubtype="0" fill="hold" nodeType="afterEffect">
                                  <p:stCondLst>
                                    <p:cond delay="0"/>
                                  </p:stCondLst>
                                  <p:childTnLst>
                                    <p:set>
                                      <p:cBhvr>
                                        <p:cTn id="10" dur="1" fill="hold">
                                          <p:stCondLst>
                                            <p:cond delay="0"/>
                                          </p:stCondLst>
                                        </p:cTn>
                                        <p:tgtEl>
                                          <p:spTgt spid="127"/>
                                        </p:tgtEl>
                                        <p:attrNameLst>
                                          <p:attrName>style.visibility</p:attrName>
                                        </p:attrNameLst>
                                      </p:cBhvr>
                                      <p:to>
                                        <p:strVal val="visible"/>
                                      </p:to>
                                    </p:set>
                                    <p:animEffect transition="in" filter="fade">
                                      <p:cBhvr>
                                        <p:cTn id="11" dur="500"/>
                                        <p:tgtEl>
                                          <p:spTgt spid="1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12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57212" y="316230"/>
            <a:ext cx="5253514" cy="648176"/>
            <a:chOff x="557212" y="316230"/>
            <a:chExt cx="5253514" cy="648176"/>
          </a:xfrm>
        </p:grpSpPr>
        <p:sp>
          <p:nvSpPr>
            <p:cNvPr id="5" name="Rectangle 5"/>
            <p:cNvSpPr/>
            <p:nvPr/>
          </p:nvSpPr>
          <p:spPr>
            <a:xfrm>
              <a:off x="571500" y="333375"/>
              <a:ext cx="666750" cy="304800"/>
            </a:xfrm>
            <a:prstGeom prst="roundRect">
              <a:avLst>
                <a:gd name="adj" fmla="val 50000"/>
              </a:avLst>
            </a:prstGeom>
            <a:solidFill>
              <a:srgbClr val="9334E6">
                <a:alpha val="15000"/>
              </a:srgbClr>
            </a:solidFill>
            <a:ln w="9525">
              <a:solidFill>
                <a:srgbClr val="9334E6">
                  <a:alpha val="50000"/>
                </a:srgbClr>
              </a:solidFill>
            </a:ln>
          </p:spPr>
          <p:txBody>
            <a:bodyPr/>
            <a:lstStyle/>
            <a:p>
              <a:endParaRPr lang="zh-CN" altLang="en-US"/>
            </a:p>
          </p:txBody>
        </p:sp>
        <p:sp>
          <p:nvSpPr>
            <p:cNvPr id="6" name="TextBox 6"/>
            <p:cNvSpPr txBox="1"/>
            <p:nvPr/>
          </p:nvSpPr>
          <p:spPr>
            <a:xfrm>
              <a:off x="623359" y="428149"/>
              <a:ext cx="563032" cy="198120"/>
            </a:xfrm>
            <a:prstGeom prst="rect">
              <a:avLst/>
            </a:prstGeom>
            <a:noFill/>
            <a:ln>
              <a:noFill/>
            </a:ln>
          </p:spPr>
          <p:txBody>
            <a:bodyPr wrap="none" lIns="0" tIns="0" rIns="0" bIns="0" anchor="t" anchorCtr="0">
              <a:spAutoFit/>
            </a:bodyPr>
            <a:lstStyle/>
            <a:p>
              <a:pPr algn="ctr"/>
              <a:r>
                <a:rPr lang="zh-CN" sz="975" b="1" dirty="0">
                  <a:solidFill>
                    <a:srgbClr val="9334E6"/>
                  </a:solidFill>
                  <a:latin typeface="Segoe UI"/>
                  <a:ea typeface="Microsoft YaHei"/>
                  <a:cs typeface="Segoe UI"/>
                </a:rPr>
                <a:t>Phase 3</a:t>
              </a:r>
            </a:p>
          </p:txBody>
        </p:sp>
        <p:sp>
          <p:nvSpPr>
            <p:cNvPr id="7" name="TextBox 7"/>
            <p:cNvSpPr txBox="1"/>
            <p:nvPr/>
          </p:nvSpPr>
          <p:spPr>
            <a:xfrm>
              <a:off x="1354455" y="316230"/>
              <a:ext cx="3338151"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Optimizer in Action</a:t>
              </a:r>
            </a:p>
          </p:txBody>
        </p:sp>
        <p:sp>
          <p:nvSpPr>
            <p:cNvPr id="8" name="TextBox 8"/>
            <p:cNvSpPr txBox="1"/>
            <p:nvPr/>
          </p:nvSpPr>
          <p:spPr>
            <a:xfrm>
              <a:off x="557212" y="735806"/>
              <a:ext cx="5253514"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Step-by-step simplification and the consensus theorem deep dive</a:t>
              </a:r>
            </a:p>
          </p:txBody>
        </p:sp>
      </p:grpSp>
      <p:grpSp>
        <p:nvGrpSpPr>
          <p:cNvPr id="40" name="Group 40"/>
          <p:cNvGrpSpPr/>
          <p:nvPr/>
        </p:nvGrpSpPr>
        <p:grpSpPr>
          <a:xfrm>
            <a:off x="571500" y="1047750"/>
            <a:ext cx="11049000" cy="2286000"/>
            <a:chOff x="571500" y="1047750"/>
            <a:chExt cx="11049000" cy="2286000"/>
          </a:xfrm>
        </p:grpSpPr>
        <p:sp>
          <p:nvSpPr>
            <p:cNvPr id="10" name="Rectangle 10"/>
            <p:cNvSpPr/>
            <p:nvPr/>
          </p:nvSpPr>
          <p:spPr>
            <a:xfrm>
              <a:off x="571500" y="1047750"/>
              <a:ext cx="11049000" cy="2286000"/>
            </a:xfrm>
            <a:prstGeom prst="roundRect">
              <a:avLst>
                <a:gd name="adj" fmla="val 4167"/>
              </a:avLst>
            </a:prstGeom>
            <a:solidFill>
              <a:srgbClr val="FFFFFF"/>
            </a:solidFill>
            <a:ln w="9525">
              <a:solidFill>
                <a:srgbClr val="DADCE0"/>
              </a:solidFill>
            </a:ln>
          </p:spPr>
          <p:txBody>
            <a:bodyPr/>
            <a:lstStyle/>
            <a:p>
              <a:endParaRPr lang="zh-CN" altLang="en-US"/>
            </a:p>
          </p:txBody>
        </p:sp>
        <p:sp>
          <p:nvSpPr>
            <p:cNvPr id="11" name="TextBox 11"/>
            <p:cNvSpPr txBox="1"/>
            <p:nvPr/>
          </p:nvSpPr>
          <p:spPr>
            <a:xfrm>
              <a:off x="747712" y="1212056"/>
              <a:ext cx="3953441"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Step-by-step: Optimizing NOT ((NOT p) AND q)</a:t>
              </a:r>
            </a:p>
          </p:txBody>
        </p:sp>
        <p:sp>
          <p:nvSpPr>
            <p:cNvPr id="12" name="Rectangle 12"/>
            <p:cNvSpPr/>
            <p:nvPr/>
          </p:nvSpPr>
          <p:spPr>
            <a:xfrm>
              <a:off x="762000" y="1447800"/>
              <a:ext cx="2095500" cy="762000"/>
            </a:xfrm>
            <a:prstGeom prst="roundRect">
              <a:avLst>
                <a:gd name="adj" fmla="val 10000"/>
              </a:avLst>
            </a:prstGeom>
            <a:solidFill>
              <a:srgbClr val="F8F9FA"/>
            </a:solidFill>
            <a:ln>
              <a:noFill/>
            </a:ln>
          </p:spPr>
          <p:txBody>
            <a:bodyPr/>
            <a:lstStyle/>
            <a:p>
              <a:endParaRPr lang="zh-CN" altLang="en-US"/>
            </a:p>
          </p:txBody>
        </p:sp>
        <p:sp>
          <p:nvSpPr>
            <p:cNvPr id="13" name="TextBox 13"/>
            <p:cNvSpPr txBox="1"/>
            <p:nvPr/>
          </p:nvSpPr>
          <p:spPr>
            <a:xfrm>
              <a:off x="1531179" y="1549241"/>
              <a:ext cx="557141" cy="167640"/>
            </a:xfrm>
            <a:prstGeom prst="rect">
              <a:avLst/>
            </a:prstGeom>
            <a:noFill/>
            <a:ln>
              <a:noFill/>
            </a:ln>
          </p:spPr>
          <p:txBody>
            <a:bodyPr wrap="none" lIns="0" tIns="0" rIns="0" bIns="0" anchor="t" anchorCtr="0">
              <a:spAutoFit/>
            </a:bodyPr>
            <a:lstStyle/>
            <a:p>
              <a:pPr algn="ctr"/>
              <a:r>
                <a:rPr lang="zh-CN" sz="825" dirty="0">
                  <a:solidFill>
                    <a:srgbClr val="5F6368"/>
                  </a:solidFill>
                  <a:latin typeface="Segoe UI"/>
                  <a:ea typeface="Microsoft YaHei"/>
                  <a:cs typeface="Segoe UI"/>
                </a:rPr>
                <a:t>INPUT AST</a:t>
              </a:r>
            </a:p>
          </p:txBody>
        </p:sp>
        <p:sp>
          <p:nvSpPr>
            <p:cNvPr id="14" name="TextBox 14"/>
            <p:cNvSpPr txBox="1"/>
            <p:nvPr/>
          </p:nvSpPr>
          <p:spPr>
            <a:xfrm>
              <a:off x="1532143" y="1674019"/>
              <a:ext cx="555212"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["NOT",</a:t>
              </a:r>
            </a:p>
          </p:txBody>
        </p:sp>
        <p:sp>
          <p:nvSpPr>
            <p:cNvPr id="15" name="TextBox 15"/>
            <p:cNvSpPr txBox="1"/>
            <p:nvPr/>
          </p:nvSpPr>
          <p:spPr>
            <a:xfrm>
              <a:off x="1521238" y="1836897"/>
              <a:ext cx="528923" cy="182880"/>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["AND",</a:t>
              </a:r>
            </a:p>
          </p:txBody>
        </p:sp>
        <p:sp>
          <p:nvSpPr>
            <p:cNvPr id="16" name="TextBox 16"/>
            <p:cNvSpPr txBox="1"/>
            <p:nvPr/>
          </p:nvSpPr>
          <p:spPr>
            <a:xfrm>
              <a:off x="1309357" y="1955959"/>
              <a:ext cx="1025922" cy="276999"/>
            </a:xfrm>
            <a:prstGeom prst="rect">
              <a:avLst/>
            </a:prstGeom>
            <a:noFill/>
            <a:ln>
              <a:noFill/>
            </a:ln>
          </p:spPr>
          <p:txBody>
            <a:bodyPr wrap="none" lIns="0" tIns="0" rIns="0" bIns="0" anchor="t" anchorCtr="0">
              <a:spAutoFit/>
            </a:bodyPr>
            <a:lstStyle/>
            <a:p>
              <a:pPr algn="ctr"/>
              <a:r>
                <a:rPr lang="zh-CN" sz="900" dirty="0">
                  <a:solidFill>
                    <a:srgbClr val="202124"/>
                  </a:solidFill>
                  <a:latin typeface="Consolas"/>
                  <a:ea typeface="Microsoft YaHei"/>
                  <a:cs typeface="Consolas"/>
                </a:rPr>
                <a:t>["NOT","VAR_P"],</a:t>
              </a:r>
              <a:endParaRPr lang="en-US" altLang="zh-CN" sz="900" dirty="0">
                <a:solidFill>
                  <a:srgbClr val="202124"/>
                </a:solidFill>
                <a:latin typeface="Consolas"/>
                <a:ea typeface="Microsoft YaHei"/>
                <a:cs typeface="Consolas"/>
              </a:endParaRPr>
            </a:p>
            <a:p>
              <a:pPr algn="ctr"/>
              <a:r>
                <a:rPr lang="en-US" altLang="zh-CN" sz="900" dirty="0">
                  <a:solidFill>
                    <a:srgbClr val="202124"/>
                  </a:solidFill>
                  <a:latin typeface="Consolas"/>
                  <a:ea typeface="Microsoft YaHei"/>
                  <a:cs typeface="Consolas"/>
                </a:rPr>
                <a:t>“VAR_Q”]]</a:t>
              </a:r>
              <a:endParaRPr lang="zh-CN" sz="900" dirty="0">
                <a:solidFill>
                  <a:srgbClr val="202124"/>
                </a:solidFill>
                <a:latin typeface="Consolas"/>
                <a:ea typeface="Microsoft YaHei"/>
                <a:cs typeface="Consolas"/>
              </a:endParaRPr>
            </a:p>
          </p:txBody>
        </p:sp>
        <p:sp>
          <p:nvSpPr>
            <p:cNvPr id="17" name="Line 17"/>
            <p:cNvSpPr/>
            <p:nvPr/>
          </p:nvSpPr>
          <p:spPr>
            <a:xfrm>
              <a:off x="2857500" y="1828800"/>
              <a:ext cx="266700" cy="1"/>
            </a:xfrm>
            <a:prstGeom prst="line">
              <a:avLst/>
            </a:prstGeom>
            <a:noFill/>
            <a:ln w="19050">
              <a:solidFill>
                <a:srgbClr val="9334E6"/>
              </a:solidFill>
              <a:tailEnd type="triangle" w="lg" len="lg"/>
            </a:ln>
          </p:spPr>
          <p:txBody>
            <a:bodyPr/>
            <a:lstStyle/>
            <a:p>
              <a:endParaRPr lang="zh-CN" altLang="en-US"/>
            </a:p>
          </p:txBody>
        </p:sp>
        <p:sp>
          <p:nvSpPr>
            <p:cNvPr id="19" name="Rectangle 19"/>
            <p:cNvSpPr/>
            <p:nvPr/>
          </p:nvSpPr>
          <p:spPr>
            <a:xfrm>
              <a:off x="3143250" y="1447800"/>
              <a:ext cx="2476500" cy="762000"/>
            </a:xfrm>
            <a:prstGeom prst="roundRect">
              <a:avLst>
                <a:gd name="adj" fmla="val 10000"/>
              </a:avLst>
            </a:prstGeom>
            <a:solidFill>
              <a:srgbClr val="F8F9FA"/>
            </a:solidFill>
            <a:ln w="9525">
              <a:solidFill>
                <a:srgbClr val="9334E6">
                  <a:alpha val="50000"/>
                </a:srgbClr>
              </a:solidFill>
            </a:ln>
          </p:spPr>
          <p:txBody>
            <a:bodyPr/>
            <a:lstStyle/>
            <a:p>
              <a:endParaRPr lang="zh-CN" altLang="en-US"/>
            </a:p>
          </p:txBody>
        </p:sp>
        <p:sp>
          <p:nvSpPr>
            <p:cNvPr id="20" name="TextBox 20"/>
            <p:cNvSpPr txBox="1"/>
            <p:nvPr/>
          </p:nvSpPr>
          <p:spPr>
            <a:xfrm>
              <a:off x="3880021" y="1549241"/>
              <a:ext cx="1002959" cy="167640"/>
            </a:xfrm>
            <a:prstGeom prst="rect">
              <a:avLst/>
            </a:prstGeom>
            <a:noFill/>
            <a:ln>
              <a:noFill/>
            </a:ln>
          </p:spPr>
          <p:txBody>
            <a:bodyPr wrap="none" lIns="0" tIns="0" rIns="0" bIns="0" anchor="t" anchorCtr="0">
              <a:spAutoFit/>
            </a:bodyPr>
            <a:lstStyle/>
            <a:p>
              <a:pPr algn="ctr"/>
              <a:r>
                <a:rPr lang="zh-CN" sz="825" dirty="0">
                  <a:solidFill>
                    <a:srgbClr val="9334E6"/>
                  </a:solidFill>
                  <a:latin typeface="Segoe UI"/>
                  <a:ea typeface="Microsoft YaHei"/>
                  <a:cs typeface="Segoe UI"/>
                </a:rPr>
                <a:t>AFTER DE MORGAN</a:t>
              </a:r>
            </a:p>
          </p:txBody>
        </p:sp>
        <p:sp>
          <p:nvSpPr>
            <p:cNvPr id="21" name="TextBox 21"/>
            <p:cNvSpPr txBox="1"/>
            <p:nvPr/>
          </p:nvSpPr>
          <p:spPr>
            <a:xfrm>
              <a:off x="3250201" y="1664494"/>
              <a:ext cx="448841" cy="276999"/>
            </a:xfrm>
            <a:prstGeom prst="rect">
              <a:avLst/>
            </a:prstGeom>
            <a:noFill/>
            <a:ln>
              <a:noFill/>
            </a:ln>
          </p:spPr>
          <p:txBody>
            <a:bodyPr wrap="none" lIns="0" tIns="0" rIns="0" bIns="0" anchor="t" anchorCtr="0">
              <a:spAutoFit/>
            </a:bodyPr>
            <a:lstStyle/>
            <a:p>
              <a:pPr algn="l"/>
              <a:r>
                <a:rPr lang="zh-CN" sz="900" dirty="0">
                  <a:solidFill>
                    <a:srgbClr val="9334E6"/>
                  </a:solidFill>
                  <a:latin typeface="Consolas"/>
                  <a:ea typeface="Microsoft YaHei"/>
                  <a:cs typeface="Consolas"/>
                </a:rPr>
                <a:t>["OR",</a:t>
              </a:r>
              <a:endParaRPr lang="en-US" altLang="zh-CN" sz="900" dirty="0">
                <a:solidFill>
                  <a:srgbClr val="9334E6"/>
                </a:solidFill>
                <a:latin typeface="Consolas"/>
                <a:ea typeface="Microsoft YaHei"/>
                <a:cs typeface="Consolas"/>
              </a:endParaRPr>
            </a:p>
            <a:p>
              <a:pPr algn="l"/>
              <a:r>
                <a:rPr lang="en-US" altLang="zh-CN" sz="900" dirty="0">
                  <a:solidFill>
                    <a:srgbClr val="9334E6"/>
                  </a:solidFill>
                  <a:latin typeface="Consolas"/>
                  <a:ea typeface="Microsoft YaHei"/>
                  <a:cs typeface="Consolas"/>
                </a:rPr>
                <a:t>[“NOT”,</a:t>
              </a:r>
              <a:endParaRPr lang="zh-CN" sz="900" dirty="0">
                <a:solidFill>
                  <a:srgbClr val="9334E6"/>
                </a:solidFill>
                <a:latin typeface="Consolas"/>
                <a:ea typeface="Microsoft YaHei"/>
                <a:cs typeface="Consolas"/>
              </a:endParaRPr>
            </a:p>
          </p:txBody>
        </p:sp>
        <p:sp>
          <p:nvSpPr>
            <p:cNvPr id="22" name="TextBox 22"/>
            <p:cNvSpPr txBox="1"/>
            <p:nvPr/>
          </p:nvSpPr>
          <p:spPr>
            <a:xfrm>
              <a:off x="3240730" y="1936701"/>
              <a:ext cx="1090042" cy="276999"/>
            </a:xfrm>
            <a:prstGeom prst="rect">
              <a:avLst/>
            </a:prstGeom>
            <a:noFill/>
            <a:ln>
              <a:noFill/>
            </a:ln>
          </p:spPr>
          <p:txBody>
            <a:bodyPr wrap="none" lIns="0" tIns="0" rIns="0" bIns="0" anchor="t" anchorCtr="0">
              <a:spAutoFit/>
            </a:bodyPr>
            <a:lstStyle/>
            <a:p>
              <a:pPr algn="l"/>
              <a:r>
                <a:rPr lang="zh-CN" sz="900" dirty="0">
                  <a:solidFill>
                    <a:srgbClr val="9334E6"/>
                  </a:solidFill>
                  <a:latin typeface="Consolas"/>
                  <a:ea typeface="Microsoft YaHei"/>
                  <a:cs typeface="Consolas"/>
                </a:rPr>
                <a:t>["NOT","VAR_P"]</a:t>
              </a:r>
              <a:r>
                <a:rPr lang="en-US" altLang="zh-CN" sz="900" dirty="0">
                  <a:solidFill>
                    <a:srgbClr val="9334E6"/>
                  </a:solidFill>
                  <a:latin typeface="Consolas"/>
                  <a:ea typeface="Microsoft YaHei"/>
                  <a:cs typeface="Consolas"/>
                </a:rPr>
                <a:t>]</a:t>
              </a:r>
              <a:r>
                <a:rPr lang="zh-CN" sz="900" dirty="0">
                  <a:solidFill>
                    <a:srgbClr val="9334E6"/>
                  </a:solidFill>
                  <a:latin typeface="Consolas"/>
                  <a:ea typeface="Microsoft YaHei"/>
                  <a:cs typeface="Consolas"/>
                </a:rPr>
                <a:t>,</a:t>
              </a:r>
              <a:endParaRPr lang="en-US" altLang="zh-CN" sz="900" dirty="0">
                <a:solidFill>
                  <a:srgbClr val="9334E6"/>
                </a:solidFill>
                <a:latin typeface="Consolas"/>
                <a:ea typeface="Microsoft YaHei"/>
                <a:cs typeface="Consolas"/>
              </a:endParaRPr>
            </a:p>
            <a:p>
              <a:pPr algn="l"/>
              <a:r>
                <a:rPr lang="en-US" altLang="zh-CN" sz="900" dirty="0">
                  <a:solidFill>
                    <a:srgbClr val="9334E6"/>
                  </a:solidFill>
                  <a:latin typeface="Consolas"/>
                  <a:ea typeface="Microsoft YaHei"/>
                  <a:cs typeface="Consolas"/>
                </a:rPr>
                <a:t>“VAR_Q”]</a:t>
              </a:r>
              <a:endParaRPr lang="zh-CN" sz="900" dirty="0">
                <a:solidFill>
                  <a:srgbClr val="9334E6"/>
                </a:solidFill>
                <a:latin typeface="Consolas"/>
                <a:ea typeface="Microsoft YaHei"/>
                <a:cs typeface="Consolas"/>
              </a:endParaRPr>
            </a:p>
          </p:txBody>
        </p:sp>
        <p:sp>
          <p:nvSpPr>
            <p:cNvPr id="24" name="Line 24"/>
            <p:cNvSpPr/>
            <p:nvPr/>
          </p:nvSpPr>
          <p:spPr>
            <a:xfrm>
              <a:off x="5619750" y="1828800"/>
              <a:ext cx="266700" cy="1"/>
            </a:xfrm>
            <a:prstGeom prst="line">
              <a:avLst/>
            </a:prstGeom>
            <a:noFill/>
            <a:ln w="19050">
              <a:solidFill>
                <a:srgbClr val="34A853"/>
              </a:solidFill>
              <a:tailEnd type="triangle" w="lg" len="lg"/>
            </a:ln>
          </p:spPr>
          <p:txBody>
            <a:bodyPr/>
            <a:lstStyle/>
            <a:p>
              <a:endParaRPr lang="zh-CN" altLang="en-US"/>
            </a:p>
          </p:txBody>
        </p:sp>
        <p:sp>
          <p:nvSpPr>
            <p:cNvPr id="26" name="Rectangle 26"/>
            <p:cNvSpPr/>
            <p:nvPr/>
          </p:nvSpPr>
          <p:spPr>
            <a:xfrm>
              <a:off x="5905500" y="1447800"/>
              <a:ext cx="2667000" cy="762000"/>
            </a:xfrm>
            <a:prstGeom prst="roundRect">
              <a:avLst>
                <a:gd name="adj" fmla="val 10000"/>
              </a:avLst>
            </a:prstGeom>
            <a:solidFill>
              <a:srgbClr val="F8F9FA"/>
            </a:solidFill>
            <a:ln w="9525">
              <a:solidFill>
                <a:srgbClr val="34A853">
                  <a:alpha val="50000"/>
                </a:srgbClr>
              </a:solidFill>
            </a:ln>
          </p:spPr>
          <p:txBody>
            <a:bodyPr/>
            <a:lstStyle/>
            <a:p>
              <a:endParaRPr lang="zh-CN" altLang="en-US"/>
            </a:p>
          </p:txBody>
        </p:sp>
        <p:sp>
          <p:nvSpPr>
            <p:cNvPr id="27" name="TextBox 27"/>
            <p:cNvSpPr txBox="1"/>
            <p:nvPr/>
          </p:nvSpPr>
          <p:spPr>
            <a:xfrm>
              <a:off x="6553772" y="1549241"/>
              <a:ext cx="1370457" cy="167640"/>
            </a:xfrm>
            <a:prstGeom prst="rect">
              <a:avLst/>
            </a:prstGeom>
            <a:noFill/>
            <a:ln>
              <a:noFill/>
            </a:ln>
          </p:spPr>
          <p:txBody>
            <a:bodyPr wrap="none" lIns="0" tIns="0" rIns="0" bIns="0" anchor="t" anchorCtr="0">
              <a:spAutoFit/>
            </a:bodyPr>
            <a:lstStyle/>
            <a:p>
              <a:pPr algn="ctr"/>
              <a:r>
                <a:rPr lang="zh-CN" sz="825" dirty="0">
                  <a:solidFill>
                    <a:srgbClr val="34A853"/>
                  </a:solidFill>
                  <a:latin typeface="Segoe UI"/>
                  <a:ea typeface="Microsoft YaHei"/>
                  <a:cs typeface="Segoe UI"/>
                </a:rPr>
                <a:t>AFTER DOUBLE NEGATION</a:t>
              </a:r>
            </a:p>
          </p:txBody>
        </p:sp>
        <p:sp>
          <p:nvSpPr>
            <p:cNvPr id="28" name="TextBox 28"/>
            <p:cNvSpPr txBox="1"/>
            <p:nvPr/>
          </p:nvSpPr>
          <p:spPr>
            <a:xfrm>
              <a:off x="5989320" y="1741170"/>
              <a:ext cx="482918" cy="182880"/>
            </a:xfrm>
            <a:prstGeom prst="rect">
              <a:avLst/>
            </a:prstGeom>
            <a:noFill/>
            <a:ln>
              <a:noFill/>
            </a:ln>
          </p:spPr>
          <p:txBody>
            <a:bodyPr wrap="none" lIns="0" tIns="0" rIns="0" bIns="0" anchor="t" anchorCtr="0">
              <a:spAutoFit/>
            </a:bodyPr>
            <a:lstStyle/>
            <a:p>
              <a:pPr algn="l"/>
              <a:r>
                <a:rPr lang="zh-CN" sz="900" dirty="0">
                  <a:solidFill>
                    <a:srgbClr val="34A853"/>
                  </a:solidFill>
                  <a:latin typeface="Consolas"/>
                  <a:ea typeface="Microsoft YaHei"/>
                  <a:cs typeface="Consolas"/>
                </a:rPr>
                <a:t>["OR",</a:t>
              </a:r>
            </a:p>
          </p:txBody>
        </p:sp>
        <p:sp>
          <p:nvSpPr>
            <p:cNvPr id="29" name="TextBox 29"/>
            <p:cNvSpPr txBox="1"/>
            <p:nvPr/>
          </p:nvSpPr>
          <p:spPr>
            <a:xfrm>
              <a:off x="5989320" y="1903095"/>
              <a:ext cx="601218" cy="182880"/>
            </a:xfrm>
            <a:prstGeom prst="rect">
              <a:avLst/>
            </a:prstGeom>
            <a:noFill/>
            <a:ln>
              <a:noFill/>
            </a:ln>
          </p:spPr>
          <p:txBody>
            <a:bodyPr wrap="none" lIns="0" tIns="0" rIns="0" bIns="0" anchor="t" anchorCtr="0">
              <a:spAutoFit/>
            </a:bodyPr>
            <a:lstStyle/>
            <a:p>
              <a:pPr algn="l"/>
              <a:r>
                <a:rPr lang="zh-CN" sz="900" dirty="0">
                  <a:solidFill>
                    <a:srgbClr val="34A853"/>
                  </a:solidFill>
                  <a:latin typeface="Consolas"/>
                  <a:ea typeface="Microsoft YaHei"/>
                  <a:cs typeface="Consolas"/>
                </a:rPr>
                <a:t>"VAR_P",</a:t>
              </a:r>
            </a:p>
          </p:txBody>
        </p:sp>
        <p:sp>
          <p:nvSpPr>
            <p:cNvPr id="30" name="TextBox 30"/>
            <p:cNvSpPr txBox="1"/>
            <p:nvPr/>
          </p:nvSpPr>
          <p:spPr>
            <a:xfrm>
              <a:off x="5989320" y="2055495"/>
              <a:ext cx="123215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["NOT","VAR_Q"]]</a:t>
              </a:r>
            </a:p>
          </p:txBody>
        </p:sp>
        <p:sp>
          <p:nvSpPr>
            <p:cNvPr id="31" name="Line 31"/>
            <p:cNvSpPr/>
            <p:nvPr/>
          </p:nvSpPr>
          <p:spPr>
            <a:xfrm>
              <a:off x="8572500" y="1828800"/>
              <a:ext cx="266700" cy="1"/>
            </a:xfrm>
            <a:prstGeom prst="line">
              <a:avLst/>
            </a:prstGeom>
            <a:noFill/>
            <a:ln w="19050">
              <a:solidFill>
                <a:srgbClr val="1E8E3E"/>
              </a:solidFill>
              <a:tailEnd type="triangle" w="lg" len="lg"/>
            </a:ln>
          </p:spPr>
          <p:txBody>
            <a:bodyPr/>
            <a:lstStyle/>
            <a:p>
              <a:endParaRPr lang="zh-CN" altLang="en-US"/>
            </a:p>
          </p:txBody>
        </p:sp>
        <p:sp>
          <p:nvSpPr>
            <p:cNvPr id="33" name="Rectangle 33"/>
            <p:cNvSpPr/>
            <p:nvPr/>
          </p:nvSpPr>
          <p:spPr>
            <a:xfrm>
              <a:off x="8858250" y="1447800"/>
              <a:ext cx="2571750" cy="762000"/>
            </a:xfrm>
            <a:prstGeom prst="roundRect">
              <a:avLst>
                <a:gd name="adj" fmla="val 10000"/>
              </a:avLst>
            </a:prstGeom>
            <a:solidFill>
              <a:srgbClr val="1E8E3E">
                <a:alpha val="10000"/>
              </a:srgbClr>
            </a:solidFill>
            <a:ln w="14288">
              <a:solidFill>
                <a:srgbClr val="1E8E3E"/>
              </a:solidFill>
            </a:ln>
          </p:spPr>
          <p:txBody>
            <a:bodyPr/>
            <a:lstStyle/>
            <a:p>
              <a:endParaRPr lang="zh-CN" altLang="en-US"/>
            </a:p>
          </p:txBody>
        </p:sp>
        <p:sp>
          <p:nvSpPr>
            <p:cNvPr id="34" name="TextBox 34"/>
            <p:cNvSpPr txBox="1"/>
            <p:nvPr/>
          </p:nvSpPr>
          <p:spPr>
            <a:xfrm>
              <a:off x="9526372" y="1549241"/>
              <a:ext cx="1235507" cy="167640"/>
            </a:xfrm>
            <a:prstGeom prst="rect">
              <a:avLst/>
            </a:prstGeom>
            <a:noFill/>
            <a:ln>
              <a:noFill/>
            </a:ln>
          </p:spPr>
          <p:txBody>
            <a:bodyPr wrap="none" lIns="0" tIns="0" rIns="0" bIns="0" anchor="t" anchorCtr="0">
              <a:spAutoFit/>
            </a:bodyPr>
            <a:lstStyle/>
            <a:p>
              <a:pPr algn="ctr"/>
              <a:r>
                <a:rPr lang="zh-CN" sz="825" b="1" dirty="0">
                  <a:solidFill>
                    <a:srgbClr val="1E8E3E"/>
                  </a:solidFill>
                  <a:latin typeface="Segoe UI"/>
                  <a:ea typeface="Microsoft YaHei"/>
                  <a:cs typeface="Segoe UI"/>
                </a:rPr>
                <a:t>FINAL OPTIMIZED AST</a:t>
              </a:r>
            </a:p>
          </p:txBody>
        </p:sp>
        <p:sp>
          <p:nvSpPr>
            <p:cNvPr id="35" name="TextBox 35"/>
            <p:cNvSpPr txBox="1"/>
            <p:nvPr/>
          </p:nvSpPr>
          <p:spPr>
            <a:xfrm>
              <a:off x="8941118" y="1733074"/>
              <a:ext cx="914757" cy="198120"/>
            </a:xfrm>
            <a:prstGeom prst="rect">
              <a:avLst/>
            </a:prstGeom>
            <a:noFill/>
            <a:ln>
              <a:noFill/>
            </a:ln>
          </p:spPr>
          <p:txBody>
            <a:bodyPr wrap="none" lIns="0" tIns="0" rIns="0" bIns="0" anchor="t" anchorCtr="0">
              <a:spAutoFit/>
            </a:bodyPr>
            <a:lstStyle/>
            <a:p>
              <a:pPr algn="l"/>
              <a:r>
                <a:rPr lang="zh-CN" sz="975" dirty="0">
                  <a:solidFill>
                    <a:srgbClr val="1E8E3E"/>
                  </a:solidFill>
                  <a:latin typeface="Consolas"/>
                  <a:ea typeface="Microsoft YaHei"/>
                  <a:cs typeface="Consolas"/>
                </a:rPr>
                <a:t>p OR (NOT q)</a:t>
              </a:r>
            </a:p>
          </p:txBody>
        </p:sp>
        <p:sp>
          <p:nvSpPr>
            <p:cNvPr id="36" name="TextBox 36"/>
            <p:cNvSpPr txBox="1"/>
            <p:nvPr/>
          </p:nvSpPr>
          <p:spPr>
            <a:xfrm>
              <a:off x="8942070" y="1960245"/>
              <a:ext cx="131102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3 nodes vs 6 original</a:t>
              </a:r>
            </a:p>
          </p:txBody>
        </p:sp>
        <p:sp>
          <p:nvSpPr>
            <p:cNvPr id="38" name="Rectangle 38"/>
            <p:cNvSpPr/>
            <p:nvPr/>
          </p:nvSpPr>
          <p:spPr>
            <a:xfrm>
              <a:off x="762000" y="2362200"/>
              <a:ext cx="2667000" cy="266700"/>
            </a:xfrm>
            <a:prstGeom prst="roundRect">
              <a:avLst>
                <a:gd name="adj" fmla="val 50000"/>
              </a:avLst>
            </a:prstGeom>
            <a:solidFill>
              <a:srgbClr val="1E8E3E">
                <a:alpha val="12000"/>
              </a:srgbClr>
            </a:solidFill>
            <a:ln w="9525">
              <a:solidFill>
                <a:srgbClr val="1E8E3E">
                  <a:alpha val="50000"/>
                </a:srgbClr>
              </a:solidFill>
            </a:ln>
          </p:spPr>
          <p:txBody>
            <a:bodyPr/>
            <a:lstStyle/>
            <a:p>
              <a:endParaRPr lang="zh-CN" altLang="en-US"/>
            </a:p>
          </p:txBody>
        </p:sp>
        <p:sp>
          <p:nvSpPr>
            <p:cNvPr id="39" name="TextBox 39"/>
            <p:cNvSpPr txBox="1"/>
            <p:nvPr/>
          </p:nvSpPr>
          <p:spPr>
            <a:xfrm>
              <a:off x="694730" y="2437924"/>
              <a:ext cx="2801541" cy="198120"/>
            </a:xfrm>
            <a:prstGeom prst="rect">
              <a:avLst/>
            </a:prstGeom>
            <a:noFill/>
            <a:ln>
              <a:noFill/>
            </a:ln>
          </p:spPr>
          <p:txBody>
            <a:bodyPr wrap="none" lIns="0" tIns="0" rIns="0" bIns="0" anchor="t" anchorCtr="0">
              <a:spAutoFit/>
            </a:bodyPr>
            <a:lstStyle/>
            <a:p>
              <a:pPr algn="ctr"/>
              <a:r>
                <a:rPr lang="zh-CN" sz="975" dirty="0">
                  <a:solidFill>
                    <a:srgbClr val="1E8E3E"/>
                  </a:solidFill>
                  <a:latin typeface="Segoe UI"/>
                  <a:ea typeface="Microsoft YaHei"/>
                  <a:cs typeface="Segoe UI"/>
                </a:rPr>
                <a:t>✓ is_equivalent: TRUE (Phase 4 verified)</a:t>
              </a:r>
            </a:p>
          </p:txBody>
        </p:sp>
      </p:grpSp>
      <p:grpSp>
        <p:nvGrpSpPr>
          <p:cNvPr id="60" name="Group 60"/>
          <p:cNvGrpSpPr/>
          <p:nvPr/>
        </p:nvGrpSpPr>
        <p:grpSpPr>
          <a:xfrm>
            <a:off x="571500" y="3505200"/>
            <a:ext cx="5524500" cy="2857500"/>
            <a:chOff x="571500" y="3505200"/>
            <a:chExt cx="5524500" cy="2857500"/>
          </a:xfrm>
        </p:grpSpPr>
        <p:sp>
          <p:nvSpPr>
            <p:cNvPr id="41" name="Rectangle 41"/>
            <p:cNvSpPr/>
            <p:nvPr/>
          </p:nvSpPr>
          <p:spPr>
            <a:xfrm>
              <a:off x="571500" y="3505200"/>
              <a:ext cx="5524500" cy="2857500"/>
            </a:xfrm>
            <a:prstGeom prst="roundRect">
              <a:avLst>
                <a:gd name="adj" fmla="val 3333"/>
              </a:avLst>
            </a:prstGeom>
            <a:solidFill>
              <a:srgbClr val="FFFFFF"/>
            </a:solidFill>
            <a:ln w="9525">
              <a:solidFill>
                <a:srgbClr val="DADCE0"/>
              </a:solidFill>
            </a:ln>
          </p:spPr>
          <p:txBody>
            <a:bodyPr/>
            <a:lstStyle/>
            <a:p>
              <a:endParaRPr lang="zh-CN" altLang="en-US"/>
            </a:p>
          </p:txBody>
        </p:sp>
        <p:sp>
          <p:nvSpPr>
            <p:cNvPr id="42" name="TextBox 42"/>
            <p:cNvSpPr txBox="1"/>
            <p:nvPr/>
          </p:nvSpPr>
          <p:spPr>
            <a:xfrm>
              <a:off x="747712" y="3688556"/>
              <a:ext cx="1633026"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Consensus Theorem</a:t>
              </a:r>
            </a:p>
          </p:txBody>
        </p:sp>
        <p:sp>
          <p:nvSpPr>
            <p:cNvPr id="43" name="Rectangle 43"/>
            <p:cNvSpPr/>
            <p:nvPr/>
          </p:nvSpPr>
          <p:spPr>
            <a:xfrm>
              <a:off x="762000" y="3886200"/>
              <a:ext cx="952500" cy="19050"/>
            </a:xfrm>
            <a:prstGeom prst="rect">
              <a:avLst/>
            </a:prstGeom>
            <a:solidFill>
              <a:srgbClr val="9334E6"/>
            </a:solidFill>
            <a:ln>
              <a:noFill/>
            </a:ln>
          </p:spPr>
          <p:txBody>
            <a:bodyPr/>
            <a:lstStyle/>
            <a:p>
              <a:endParaRPr lang="zh-CN" altLang="en-US"/>
            </a:p>
          </p:txBody>
        </p:sp>
        <p:sp>
          <p:nvSpPr>
            <p:cNvPr id="44" name="TextBox 44"/>
            <p:cNvSpPr txBox="1"/>
            <p:nvPr/>
          </p:nvSpPr>
          <p:spPr>
            <a:xfrm>
              <a:off x="749618" y="4009549"/>
              <a:ext cx="3442335"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Beyond basic laws — eliminates a redundant term:</a:t>
              </a:r>
            </a:p>
          </p:txBody>
        </p:sp>
        <p:sp>
          <p:nvSpPr>
            <p:cNvPr id="45" name="Rectangle 45"/>
            <p:cNvSpPr/>
            <p:nvPr/>
          </p:nvSpPr>
          <p:spPr>
            <a:xfrm>
              <a:off x="762000" y="4248150"/>
              <a:ext cx="5143500" cy="476250"/>
            </a:xfrm>
            <a:prstGeom prst="roundRect">
              <a:avLst>
                <a:gd name="adj" fmla="val 12000"/>
              </a:avLst>
            </a:prstGeom>
            <a:solidFill>
              <a:srgbClr val="F8F9FA"/>
            </a:solidFill>
            <a:ln>
              <a:noFill/>
            </a:ln>
          </p:spPr>
          <p:txBody>
            <a:bodyPr/>
            <a:lstStyle/>
            <a:p>
              <a:endParaRPr lang="zh-CN" altLang="en-US"/>
            </a:p>
          </p:txBody>
        </p:sp>
        <p:sp>
          <p:nvSpPr>
            <p:cNvPr id="46" name="TextBox 46"/>
            <p:cNvSpPr txBox="1"/>
            <p:nvPr/>
          </p:nvSpPr>
          <p:spPr>
            <a:xfrm>
              <a:off x="940118" y="4333399"/>
              <a:ext cx="658439"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(x AND y)</a:t>
              </a:r>
            </a:p>
          </p:txBody>
        </p:sp>
        <p:sp>
          <p:nvSpPr>
            <p:cNvPr id="47" name="TextBox 47"/>
            <p:cNvSpPr txBox="1"/>
            <p:nvPr/>
          </p:nvSpPr>
          <p:spPr>
            <a:xfrm>
              <a:off x="2083118" y="4333399"/>
              <a:ext cx="209883"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OR</a:t>
              </a:r>
            </a:p>
          </p:txBody>
        </p:sp>
        <p:sp>
          <p:nvSpPr>
            <p:cNvPr id="48" name="TextBox 48"/>
            <p:cNvSpPr txBox="1"/>
            <p:nvPr/>
          </p:nvSpPr>
          <p:spPr>
            <a:xfrm>
              <a:off x="2483168" y="4333399"/>
              <a:ext cx="964597"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(NOT x AND z)</a:t>
              </a:r>
            </a:p>
          </p:txBody>
        </p:sp>
        <p:sp>
          <p:nvSpPr>
            <p:cNvPr id="49" name="TextBox 49"/>
            <p:cNvSpPr txBox="1"/>
            <p:nvPr/>
          </p:nvSpPr>
          <p:spPr>
            <a:xfrm>
              <a:off x="3988118" y="4333399"/>
              <a:ext cx="209883"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OR</a:t>
              </a:r>
            </a:p>
          </p:txBody>
        </p:sp>
        <p:sp>
          <p:nvSpPr>
            <p:cNvPr id="50" name="TextBox 50"/>
            <p:cNvSpPr txBox="1"/>
            <p:nvPr/>
          </p:nvSpPr>
          <p:spPr>
            <a:xfrm>
              <a:off x="4388168" y="4333399"/>
              <a:ext cx="65843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(y AND z)</a:t>
              </a:r>
            </a:p>
          </p:txBody>
        </p:sp>
        <p:sp>
          <p:nvSpPr>
            <p:cNvPr id="51" name="TextBox 51"/>
            <p:cNvSpPr txBox="1"/>
            <p:nvPr/>
          </p:nvSpPr>
          <p:spPr>
            <a:xfrm>
              <a:off x="5311057" y="4444841"/>
              <a:ext cx="617387" cy="167640"/>
            </a:xfrm>
            <a:prstGeom prst="rect">
              <a:avLst/>
            </a:prstGeom>
            <a:noFill/>
            <a:ln>
              <a:noFill/>
            </a:ln>
          </p:spPr>
          <p:txBody>
            <a:bodyPr wrap="none" lIns="0" tIns="0" rIns="0" bIns="0" anchor="t" anchorCtr="0">
              <a:spAutoFit/>
            </a:bodyPr>
            <a:lstStyle/>
            <a:p>
              <a:pPr algn="ctr"/>
              <a:r>
                <a:rPr lang="zh-CN" sz="825" dirty="0">
                  <a:solidFill>
                    <a:srgbClr val="9334E6"/>
                  </a:solidFill>
                  <a:latin typeface="Segoe UI"/>
                  <a:ea typeface="Microsoft YaHei"/>
                  <a:cs typeface="Segoe UI"/>
                </a:rPr>
                <a:t>redundant</a:t>
              </a:r>
            </a:p>
          </p:txBody>
        </p:sp>
        <p:sp>
          <p:nvSpPr>
            <p:cNvPr id="52" name="TextBox 52"/>
            <p:cNvSpPr txBox="1"/>
            <p:nvPr/>
          </p:nvSpPr>
          <p:spPr>
            <a:xfrm>
              <a:off x="3262384" y="4692968"/>
              <a:ext cx="142732" cy="274320"/>
            </a:xfrm>
            <a:prstGeom prst="rect">
              <a:avLst/>
            </a:prstGeom>
            <a:noFill/>
            <a:ln>
              <a:noFill/>
            </a:ln>
          </p:spPr>
          <p:txBody>
            <a:bodyPr wrap="none" lIns="0" tIns="0" rIns="0" bIns="0" anchor="t" anchorCtr="0">
              <a:spAutoFit/>
            </a:bodyPr>
            <a:lstStyle/>
            <a:p>
              <a:pPr algn="ctr"/>
              <a:r>
                <a:rPr lang="zh-CN" sz="1350" dirty="0">
                  <a:solidFill>
                    <a:srgbClr val="9334E6"/>
                  </a:solidFill>
                  <a:latin typeface="Segoe UI"/>
                  <a:ea typeface="Microsoft YaHei"/>
                  <a:cs typeface="Segoe UI"/>
                </a:rPr>
                <a:t>↓</a:t>
              </a:r>
            </a:p>
          </p:txBody>
        </p:sp>
        <p:sp>
          <p:nvSpPr>
            <p:cNvPr id="53" name="Rectangle 53"/>
            <p:cNvSpPr/>
            <p:nvPr/>
          </p:nvSpPr>
          <p:spPr>
            <a:xfrm>
              <a:off x="762000" y="4914900"/>
              <a:ext cx="5143500" cy="342900"/>
            </a:xfrm>
            <a:prstGeom prst="roundRect">
              <a:avLst>
                <a:gd name="adj" fmla="val 16667"/>
              </a:avLst>
            </a:prstGeom>
            <a:solidFill>
              <a:srgbClr val="9334E6">
                <a:alpha val="10000"/>
              </a:srgbClr>
            </a:solidFill>
            <a:ln w="9525">
              <a:solidFill>
                <a:srgbClr val="9334E6"/>
              </a:solidFill>
            </a:ln>
          </p:spPr>
          <p:txBody>
            <a:bodyPr/>
            <a:lstStyle/>
            <a:p>
              <a:endParaRPr lang="zh-CN" altLang="en-US"/>
            </a:p>
          </p:txBody>
        </p:sp>
        <p:sp>
          <p:nvSpPr>
            <p:cNvPr id="54" name="TextBox 54"/>
            <p:cNvSpPr txBox="1"/>
            <p:nvPr/>
          </p:nvSpPr>
          <p:spPr>
            <a:xfrm>
              <a:off x="940118" y="5000149"/>
              <a:ext cx="658439"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(x AND y)</a:t>
              </a:r>
            </a:p>
          </p:txBody>
        </p:sp>
        <p:sp>
          <p:nvSpPr>
            <p:cNvPr id="55" name="TextBox 55"/>
            <p:cNvSpPr txBox="1"/>
            <p:nvPr/>
          </p:nvSpPr>
          <p:spPr>
            <a:xfrm>
              <a:off x="2083118" y="5000149"/>
              <a:ext cx="209883"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OR</a:t>
              </a:r>
            </a:p>
          </p:txBody>
        </p:sp>
        <p:sp>
          <p:nvSpPr>
            <p:cNvPr id="56" name="TextBox 56"/>
            <p:cNvSpPr txBox="1"/>
            <p:nvPr/>
          </p:nvSpPr>
          <p:spPr>
            <a:xfrm>
              <a:off x="2483168" y="5000149"/>
              <a:ext cx="964597" cy="198120"/>
            </a:xfrm>
            <a:prstGeom prst="rect">
              <a:avLst/>
            </a:prstGeom>
            <a:noFill/>
            <a:ln>
              <a:noFill/>
            </a:ln>
          </p:spPr>
          <p:txBody>
            <a:bodyPr wrap="none" lIns="0" tIns="0" rIns="0" bIns="0" anchor="t" anchorCtr="0">
              <a:spAutoFit/>
            </a:bodyPr>
            <a:lstStyle/>
            <a:p>
              <a:pPr algn="l"/>
              <a:r>
                <a:rPr lang="zh-CN" sz="975" dirty="0">
                  <a:solidFill>
                    <a:srgbClr val="9334E6"/>
                  </a:solidFill>
                  <a:latin typeface="Consolas"/>
                  <a:ea typeface="Microsoft YaHei"/>
                  <a:cs typeface="Consolas"/>
                </a:rPr>
                <a:t>(NOT x AND z)</a:t>
              </a:r>
            </a:p>
          </p:txBody>
        </p:sp>
        <p:sp>
          <p:nvSpPr>
            <p:cNvPr id="57" name="TextBox 57"/>
            <p:cNvSpPr txBox="1"/>
            <p:nvPr/>
          </p:nvSpPr>
          <p:spPr>
            <a:xfrm>
              <a:off x="749618" y="5381149"/>
              <a:ext cx="424688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Implementation: flatten OR groups → detect complement pair</a:t>
              </a:r>
            </a:p>
          </p:txBody>
        </p:sp>
        <p:sp>
          <p:nvSpPr>
            <p:cNvPr id="58" name="TextBox 58"/>
            <p:cNvSpPr txBox="1"/>
            <p:nvPr/>
          </p:nvSpPr>
          <p:spPr>
            <a:xfrm>
              <a:off x="749618" y="5571649"/>
              <a:ext cx="407600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 construct consensus term (y AND z) → remove if present</a:t>
              </a:r>
            </a:p>
          </p:txBody>
        </p:sp>
        <p:sp>
          <p:nvSpPr>
            <p:cNvPr id="59" name="TextBox 59"/>
            <p:cNvSpPr txBox="1"/>
            <p:nvPr/>
          </p:nvSpPr>
          <p:spPr>
            <a:xfrm>
              <a:off x="749618" y="5800249"/>
              <a:ext cx="372001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POS dual form also supported for AND outer operator</a:t>
              </a:r>
            </a:p>
          </p:txBody>
        </p:sp>
      </p:grpSp>
      <p:grpSp>
        <p:nvGrpSpPr>
          <p:cNvPr id="76" name="Group 76"/>
          <p:cNvGrpSpPr/>
          <p:nvPr/>
        </p:nvGrpSpPr>
        <p:grpSpPr>
          <a:xfrm>
            <a:off x="6286500" y="3505200"/>
            <a:ext cx="5334000" cy="2857500"/>
            <a:chOff x="6286500" y="3505200"/>
            <a:chExt cx="5334000" cy="2857500"/>
          </a:xfrm>
        </p:grpSpPr>
        <p:sp>
          <p:nvSpPr>
            <p:cNvPr id="61" name="Rectangle 61"/>
            <p:cNvSpPr/>
            <p:nvPr/>
          </p:nvSpPr>
          <p:spPr>
            <a:xfrm>
              <a:off x="6286500" y="3505200"/>
              <a:ext cx="5334000" cy="2857500"/>
            </a:xfrm>
            <a:prstGeom prst="roundRect">
              <a:avLst>
                <a:gd name="adj" fmla="val 3333"/>
              </a:avLst>
            </a:prstGeom>
            <a:solidFill>
              <a:srgbClr val="FFFFFF"/>
            </a:solidFill>
            <a:ln w="9525">
              <a:solidFill>
                <a:srgbClr val="DADCE0"/>
              </a:solidFill>
            </a:ln>
          </p:spPr>
          <p:txBody>
            <a:bodyPr/>
            <a:lstStyle/>
            <a:p>
              <a:endParaRPr lang="zh-CN" altLang="en-US"/>
            </a:p>
          </p:txBody>
        </p:sp>
        <p:sp>
          <p:nvSpPr>
            <p:cNvPr id="62" name="TextBox 62"/>
            <p:cNvSpPr txBox="1"/>
            <p:nvPr/>
          </p:nvSpPr>
          <p:spPr>
            <a:xfrm>
              <a:off x="6462712" y="3688556"/>
              <a:ext cx="2495633"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Optimizer Function Hierarchy</a:t>
              </a:r>
            </a:p>
          </p:txBody>
        </p:sp>
        <p:sp>
          <p:nvSpPr>
            <p:cNvPr id="63" name="Rectangle 63"/>
            <p:cNvSpPr/>
            <p:nvPr/>
          </p:nvSpPr>
          <p:spPr>
            <a:xfrm>
              <a:off x="6477000" y="3886200"/>
              <a:ext cx="952500" cy="19050"/>
            </a:xfrm>
            <a:prstGeom prst="rect">
              <a:avLst/>
            </a:prstGeom>
            <a:solidFill>
              <a:srgbClr val="9334E6"/>
            </a:solidFill>
            <a:ln>
              <a:noFill/>
            </a:ln>
          </p:spPr>
          <p:txBody>
            <a:bodyPr/>
            <a:lstStyle/>
            <a:p>
              <a:endParaRPr lang="zh-CN" altLang="en-US"/>
            </a:p>
          </p:txBody>
        </p:sp>
        <p:sp>
          <p:nvSpPr>
            <p:cNvPr id="64" name="TextBox 64"/>
            <p:cNvSpPr txBox="1"/>
            <p:nvPr/>
          </p:nvSpPr>
          <p:spPr>
            <a:xfrm>
              <a:off x="6463665" y="4058602"/>
              <a:ext cx="2848356" cy="213360"/>
            </a:xfrm>
            <a:prstGeom prst="rect">
              <a:avLst/>
            </a:prstGeom>
            <a:noFill/>
            <a:ln>
              <a:noFill/>
            </a:ln>
          </p:spPr>
          <p:txBody>
            <a:bodyPr wrap="none" lIns="0" tIns="0" rIns="0" bIns="0" anchor="t" anchorCtr="0">
              <a:spAutoFit/>
            </a:bodyPr>
            <a:lstStyle/>
            <a:p>
              <a:pPr algn="l"/>
              <a:r>
                <a:rPr lang="zh-CN" sz="1050" dirty="0">
                  <a:solidFill>
                    <a:srgbClr val="5F6368"/>
                  </a:solidFill>
                  <a:latin typeface="Consolas"/>
                  <a:ea typeface="Microsoft YaHei"/>
                  <a:cs typeface="Consolas"/>
                </a:rPr>
                <a:t>run_optimizer_phase(parser_output)</a:t>
              </a:r>
            </a:p>
          </p:txBody>
        </p:sp>
        <p:sp>
          <p:nvSpPr>
            <p:cNvPr id="65" name="Line 65"/>
            <p:cNvSpPr/>
            <p:nvPr/>
          </p:nvSpPr>
          <p:spPr>
            <a:xfrm>
              <a:off x="8001000" y="4229100"/>
              <a:ext cx="9525" cy="171450"/>
            </a:xfrm>
            <a:custGeom>
              <a:avLst/>
              <a:gdLst/>
              <a:ahLst/>
              <a:cxnLst/>
              <a:rect l="l" t="t" r="r" b="b"/>
              <a:pathLst>
                <a:path w="9525" h="171450">
                  <a:moveTo>
                    <a:pt x="0" y="0"/>
                  </a:moveTo>
                  <a:lnTo>
                    <a:pt x="0" y="171450"/>
                  </a:lnTo>
                </a:path>
              </a:pathLst>
            </a:custGeom>
            <a:noFill/>
            <a:ln w="14288">
              <a:solidFill>
                <a:srgbClr val="DADCE0"/>
              </a:solidFill>
            </a:ln>
          </p:spPr>
          <p:txBody>
            <a:bodyPr/>
            <a:lstStyle/>
            <a:p>
              <a:endParaRPr lang="zh-CN" altLang="en-US"/>
            </a:p>
          </p:txBody>
        </p:sp>
        <p:sp>
          <p:nvSpPr>
            <p:cNvPr id="66" name="TextBox 66"/>
            <p:cNvSpPr txBox="1"/>
            <p:nvPr/>
          </p:nvSpPr>
          <p:spPr>
            <a:xfrm>
              <a:off x="7357408" y="4432081"/>
              <a:ext cx="1414510" cy="213360"/>
            </a:xfrm>
            <a:prstGeom prst="rect">
              <a:avLst/>
            </a:prstGeom>
            <a:noFill/>
            <a:ln>
              <a:noFill/>
            </a:ln>
          </p:spPr>
          <p:txBody>
            <a:bodyPr wrap="none" lIns="0" tIns="0" rIns="0" bIns="0" anchor="t" anchorCtr="0">
              <a:spAutoFit/>
            </a:bodyPr>
            <a:lstStyle/>
            <a:p>
              <a:pPr algn="l"/>
              <a:r>
                <a:rPr lang="zh-CN" sz="1050" dirty="0">
                  <a:solidFill>
                    <a:srgbClr val="9334E6"/>
                  </a:solidFill>
                  <a:latin typeface="Consolas"/>
                  <a:ea typeface="Microsoft YaHei"/>
                  <a:cs typeface="Consolas"/>
                </a:rPr>
                <a:t>optimize_ast(ast)</a:t>
              </a:r>
            </a:p>
          </p:txBody>
        </p:sp>
        <p:sp>
          <p:nvSpPr>
            <p:cNvPr id="67" name="Line 67"/>
            <p:cNvSpPr/>
            <p:nvPr/>
          </p:nvSpPr>
          <p:spPr>
            <a:xfrm>
              <a:off x="8001000" y="4591050"/>
              <a:ext cx="9525" cy="171450"/>
            </a:xfrm>
            <a:custGeom>
              <a:avLst/>
              <a:gdLst/>
              <a:ahLst/>
              <a:cxnLst/>
              <a:rect l="l" t="t" r="r" b="b"/>
              <a:pathLst>
                <a:path w="9525" h="171450">
                  <a:moveTo>
                    <a:pt x="0" y="0"/>
                  </a:moveTo>
                  <a:lnTo>
                    <a:pt x="0" y="171450"/>
                  </a:lnTo>
                </a:path>
              </a:pathLst>
            </a:custGeom>
            <a:noFill/>
            <a:ln w="14288">
              <a:solidFill>
                <a:srgbClr val="DADCE0"/>
              </a:solidFill>
            </a:ln>
          </p:spPr>
          <p:txBody>
            <a:bodyPr/>
            <a:lstStyle/>
            <a:p>
              <a:endParaRPr lang="zh-CN" altLang="en-US"/>
            </a:p>
          </p:txBody>
        </p:sp>
        <p:sp>
          <p:nvSpPr>
            <p:cNvPr id="68" name="TextBox 68"/>
            <p:cNvSpPr txBox="1"/>
            <p:nvPr/>
          </p:nvSpPr>
          <p:spPr>
            <a:xfrm>
              <a:off x="7273576" y="4792079"/>
              <a:ext cx="1667542" cy="213360"/>
            </a:xfrm>
            <a:prstGeom prst="rect">
              <a:avLst/>
            </a:prstGeom>
            <a:noFill/>
            <a:ln>
              <a:noFill/>
            </a:ln>
          </p:spPr>
          <p:txBody>
            <a:bodyPr wrap="none" lIns="0" tIns="0" rIns="0" bIns="0" anchor="t" anchorCtr="0">
              <a:spAutoFit/>
            </a:bodyPr>
            <a:lstStyle/>
            <a:p>
              <a:pPr algn="l"/>
              <a:r>
                <a:rPr lang="zh-CN" sz="1050" dirty="0">
                  <a:solidFill>
                    <a:srgbClr val="9334E6"/>
                  </a:solidFill>
                  <a:latin typeface="Consolas"/>
                  <a:ea typeface="Microsoft YaHei"/>
                  <a:cs typeface="Consolas"/>
                </a:rPr>
                <a:t>_optimize_node(node)</a:t>
              </a:r>
            </a:p>
          </p:txBody>
        </p:sp>
        <p:sp>
          <p:nvSpPr>
            <p:cNvPr id="69" name="Line 69"/>
            <p:cNvSpPr/>
            <p:nvPr/>
          </p:nvSpPr>
          <p:spPr>
            <a:xfrm>
              <a:off x="8001000" y="4953000"/>
              <a:ext cx="9525" cy="171450"/>
            </a:xfrm>
            <a:custGeom>
              <a:avLst/>
              <a:gdLst/>
              <a:ahLst/>
              <a:cxnLst/>
              <a:rect l="l" t="t" r="r" b="b"/>
              <a:pathLst>
                <a:path w="9525" h="171450">
                  <a:moveTo>
                    <a:pt x="0" y="0"/>
                  </a:moveTo>
                  <a:lnTo>
                    <a:pt x="0" y="171450"/>
                  </a:lnTo>
                </a:path>
              </a:pathLst>
            </a:custGeom>
            <a:noFill/>
            <a:ln w="14288">
              <a:solidFill>
                <a:srgbClr val="DADCE0"/>
              </a:solidFill>
            </a:ln>
          </p:spPr>
          <p:txBody>
            <a:bodyPr/>
            <a:lstStyle/>
            <a:p>
              <a:endParaRPr lang="zh-CN" altLang="en-US"/>
            </a:p>
          </p:txBody>
        </p:sp>
        <p:sp>
          <p:nvSpPr>
            <p:cNvPr id="70" name="TextBox 70"/>
            <p:cNvSpPr txBox="1"/>
            <p:nvPr/>
          </p:nvSpPr>
          <p:spPr>
            <a:xfrm>
              <a:off x="7130415" y="5165419"/>
              <a:ext cx="2103787" cy="198120"/>
            </a:xfrm>
            <a:prstGeom prst="rect">
              <a:avLst/>
            </a:prstGeom>
            <a:noFill/>
            <a:ln>
              <a:noFill/>
            </a:ln>
          </p:spPr>
          <p:txBody>
            <a:bodyPr wrap="none" lIns="0" tIns="0" rIns="0" bIns="0" anchor="t" anchorCtr="0">
              <a:spAutoFit/>
            </a:bodyPr>
            <a:lstStyle/>
            <a:p>
              <a:pPr algn="l"/>
              <a:r>
                <a:rPr lang="zh-CN" sz="975" dirty="0">
                  <a:solidFill>
                    <a:srgbClr val="34A853"/>
                  </a:solidFill>
                  <a:latin typeface="Consolas"/>
                  <a:ea typeface="Microsoft YaHei"/>
                  <a:cs typeface="Consolas"/>
                </a:rPr>
                <a:t>_optimize_expr_recursively()</a:t>
              </a:r>
            </a:p>
          </p:txBody>
        </p:sp>
        <p:sp>
          <p:nvSpPr>
            <p:cNvPr id="71" name="Line 71"/>
            <p:cNvSpPr/>
            <p:nvPr/>
          </p:nvSpPr>
          <p:spPr>
            <a:xfrm>
              <a:off x="8001000" y="5314950"/>
              <a:ext cx="9525" cy="171450"/>
            </a:xfrm>
            <a:custGeom>
              <a:avLst/>
              <a:gdLst/>
              <a:ahLst/>
              <a:cxnLst/>
              <a:rect l="l" t="t" r="r" b="b"/>
              <a:pathLst>
                <a:path w="9525" h="171450">
                  <a:moveTo>
                    <a:pt x="0" y="0"/>
                  </a:moveTo>
                  <a:lnTo>
                    <a:pt x="0" y="171450"/>
                  </a:lnTo>
                </a:path>
              </a:pathLst>
            </a:custGeom>
            <a:noFill/>
            <a:ln w="14288">
              <a:solidFill>
                <a:srgbClr val="DADCE0"/>
              </a:solidFill>
            </a:ln>
          </p:spPr>
          <p:txBody>
            <a:bodyPr/>
            <a:lstStyle/>
            <a:p>
              <a:endParaRPr lang="zh-CN" altLang="en-US"/>
            </a:p>
          </p:txBody>
        </p:sp>
        <p:sp>
          <p:nvSpPr>
            <p:cNvPr id="72" name="TextBox 72"/>
            <p:cNvSpPr txBox="1"/>
            <p:nvPr/>
          </p:nvSpPr>
          <p:spPr>
            <a:xfrm>
              <a:off x="7162509" y="5526405"/>
              <a:ext cx="1669471" cy="198120"/>
            </a:xfrm>
            <a:prstGeom prst="rect">
              <a:avLst/>
            </a:prstGeom>
            <a:noFill/>
            <a:ln>
              <a:noFill/>
            </a:ln>
          </p:spPr>
          <p:txBody>
            <a:bodyPr wrap="none" lIns="0" tIns="0" rIns="0" bIns="0" anchor="t" anchorCtr="0">
              <a:spAutoFit/>
            </a:bodyPr>
            <a:lstStyle/>
            <a:p>
              <a:pPr algn="l"/>
              <a:r>
                <a:rPr lang="zh-CN" sz="975" dirty="0">
                  <a:solidFill>
                    <a:srgbClr val="1E8E3E"/>
                  </a:solidFill>
                  <a:latin typeface="Consolas"/>
                  <a:ea typeface="Microsoft YaHei"/>
                  <a:cs typeface="Consolas"/>
                </a:rPr>
                <a:t>_optimize_expression()</a:t>
              </a:r>
            </a:p>
          </p:txBody>
        </p:sp>
        <p:sp>
          <p:nvSpPr>
            <p:cNvPr id="73" name="TextBox 73"/>
            <p:cNvSpPr txBox="1"/>
            <p:nvPr/>
          </p:nvSpPr>
          <p:spPr>
            <a:xfrm>
              <a:off x="6751320" y="5732145"/>
              <a:ext cx="1166431"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 11 rule functions</a:t>
              </a:r>
            </a:p>
          </p:txBody>
        </p:sp>
        <p:sp>
          <p:nvSpPr>
            <p:cNvPr id="74" name="TextBox 74"/>
            <p:cNvSpPr txBox="1"/>
            <p:nvPr/>
          </p:nvSpPr>
          <p:spPr>
            <a:xfrm>
              <a:off x="6751320" y="5903595"/>
              <a:ext cx="1159859"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 fixed-point loop</a:t>
              </a:r>
            </a:p>
          </p:txBody>
        </p:sp>
        <p:sp>
          <p:nvSpPr>
            <p:cNvPr id="75" name="TextBox 75"/>
            <p:cNvSpPr txBox="1"/>
            <p:nvPr/>
          </p:nvSpPr>
          <p:spPr>
            <a:xfrm>
              <a:off x="6751320" y="6075045"/>
              <a:ext cx="1619917"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 returns optimized node</a:t>
              </a:r>
            </a:p>
          </p:txBody>
        </p:sp>
      </p:grpSp>
      <p:grpSp>
        <p:nvGrpSpPr>
          <p:cNvPr id="80" name="Group 80"/>
          <p:cNvGrpSpPr/>
          <p:nvPr/>
        </p:nvGrpSpPr>
        <p:grpSpPr>
          <a:xfrm>
            <a:off x="561022" y="6572250"/>
            <a:ext cx="11069955" cy="269081"/>
            <a:chOff x="561022" y="6572250"/>
            <a:chExt cx="11069955" cy="269081"/>
          </a:xfrm>
        </p:grpSpPr>
        <p:sp>
          <p:nvSpPr>
            <p:cNvPr id="77" name="Rectangle 77"/>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78" name="TextBox 78"/>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79" name="TextBox 79"/>
            <p:cNvSpPr txBox="1"/>
            <p:nvPr/>
          </p:nvSpPr>
          <p:spPr>
            <a:xfrm>
              <a:off x="11477482" y="6673691"/>
              <a:ext cx="153495"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09</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60"/>
                                        </p:tgtEl>
                                        <p:attrNameLst>
                                          <p:attrName>style.visibility</p:attrName>
                                        </p:attrNameLst>
                                      </p:cBhvr>
                                      <p:to>
                                        <p:strVal val="visible"/>
                                      </p:to>
                                    </p:set>
                                    <p:animEffect transition="in" filter="fade">
                                      <p:cBhvr>
                                        <p:cTn id="11" dur="500"/>
                                        <p:tgtEl>
                                          <p:spTgt spid="60"/>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76"/>
                                        </p:tgtEl>
                                        <p:attrNameLst>
                                          <p:attrName>style.visibility</p:attrName>
                                        </p:attrNameLst>
                                      </p:cBhvr>
                                      <p:to>
                                        <p:strVal val="visible"/>
                                      </p:to>
                                    </p:set>
                                    <p:animEffect transition="in" filter="fade">
                                      <p:cBhvr>
                                        <p:cTn id="15"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P spid="60"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57212" y="316230"/>
            <a:ext cx="6699409" cy="648176"/>
            <a:chOff x="557212" y="316230"/>
            <a:chExt cx="6699409" cy="648176"/>
          </a:xfrm>
        </p:grpSpPr>
        <p:sp>
          <p:nvSpPr>
            <p:cNvPr id="5" name="Rectangle 5"/>
            <p:cNvSpPr/>
            <p:nvPr/>
          </p:nvSpPr>
          <p:spPr>
            <a:xfrm>
              <a:off x="571500" y="333375"/>
              <a:ext cx="666750" cy="304800"/>
            </a:xfrm>
            <a:prstGeom prst="roundRect">
              <a:avLst>
                <a:gd name="adj" fmla="val 50000"/>
              </a:avLst>
            </a:prstGeom>
            <a:solidFill>
              <a:srgbClr val="1E8E3E">
                <a:alpha val="15000"/>
              </a:srgbClr>
            </a:solidFill>
            <a:ln w="9525">
              <a:solidFill>
                <a:srgbClr val="1E8E3E">
                  <a:alpha val="50000"/>
                </a:srgbClr>
              </a:solidFill>
            </a:ln>
          </p:spPr>
          <p:txBody>
            <a:bodyPr/>
            <a:lstStyle/>
            <a:p>
              <a:endParaRPr lang="zh-CN" altLang="en-US"/>
            </a:p>
          </p:txBody>
        </p:sp>
        <p:sp>
          <p:nvSpPr>
            <p:cNvPr id="6" name="TextBox 6"/>
            <p:cNvSpPr txBox="1"/>
            <p:nvPr/>
          </p:nvSpPr>
          <p:spPr>
            <a:xfrm>
              <a:off x="623359" y="428149"/>
              <a:ext cx="563032" cy="198120"/>
            </a:xfrm>
            <a:prstGeom prst="rect">
              <a:avLst/>
            </a:prstGeom>
            <a:noFill/>
            <a:ln>
              <a:noFill/>
            </a:ln>
          </p:spPr>
          <p:txBody>
            <a:bodyPr wrap="none" lIns="0" tIns="0" rIns="0" bIns="0" anchor="t" anchorCtr="0">
              <a:spAutoFit/>
            </a:bodyPr>
            <a:lstStyle/>
            <a:p>
              <a:pPr algn="ctr"/>
              <a:r>
                <a:rPr lang="zh-CN" sz="975" b="1" dirty="0">
                  <a:solidFill>
                    <a:srgbClr val="1E8E3E"/>
                  </a:solidFill>
                  <a:latin typeface="Segoe UI"/>
                  <a:ea typeface="Microsoft YaHei"/>
                  <a:cs typeface="Segoe UI"/>
                </a:rPr>
                <a:t>Phase 4</a:t>
              </a:r>
            </a:p>
          </p:txBody>
        </p:sp>
        <p:sp>
          <p:nvSpPr>
            <p:cNvPr id="7" name="TextBox 7"/>
            <p:cNvSpPr txBox="1"/>
            <p:nvPr/>
          </p:nvSpPr>
          <p:spPr>
            <a:xfrm>
              <a:off x="1354455" y="316230"/>
              <a:ext cx="4094945"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Equivalence Verification</a:t>
              </a:r>
            </a:p>
          </p:txBody>
        </p:sp>
        <p:sp>
          <p:nvSpPr>
            <p:cNvPr id="8" name="TextBox 8"/>
            <p:cNvSpPr txBox="1"/>
            <p:nvPr/>
          </p:nvSpPr>
          <p:spPr>
            <a:xfrm>
              <a:off x="557212" y="735806"/>
              <a:ext cx="6699409"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Exhaustive truth-table comparison proves semantic equivalence after optimization</a:t>
              </a:r>
            </a:p>
          </p:txBody>
        </p:sp>
      </p:grpSp>
      <p:grpSp>
        <p:nvGrpSpPr>
          <p:cNvPr id="56" name="Group 56"/>
          <p:cNvGrpSpPr/>
          <p:nvPr/>
        </p:nvGrpSpPr>
        <p:grpSpPr>
          <a:xfrm>
            <a:off x="571500" y="1047750"/>
            <a:ext cx="5334000" cy="5334000"/>
            <a:chOff x="571500" y="1047750"/>
            <a:chExt cx="5334000" cy="5334000"/>
          </a:xfrm>
        </p:grpSpPr>
        <p:sp>
          <p:nvSpPr>
            <p:cNvPr id="10" name="Rectangle 10"/>
            <p:cNvSpPr/>
            <p:nvPr/>
          </p:nvSpPr>
          <p:spPr>
            <a:xfrm>
              <a:off x="571500" y="1047750"/>
              <a:ext cx="5334000" cy="5334000"/>
            </a:xfrm>
            <a:prstGeom prst="roundRect">
              <a:avLst>
                <a:gd name="adj" fmla="val 1786"/>
              </a:avLst>
            </a:prstGeom>
            <a:solidFill>
              <a:srgbClr val="FFFFFF"/>
            </a:solidFill>
            <a:ln w="9525">
              <a:solidFill>
                <a:srgbClr val="DADCE0"/>
              </a:solidFill>
            </a:ln>
          </p:spPr>
          <p:txBody>
            <a:bodyPr/>
            <a:lstStyle/>
            <a:p>
              <a:endParaRPr lang="zh-CN" altLang="en-US"/>
            </a:p>
          </p:txBody>
        </p:sp>
        <p:sp>
          <p:nvSpPr>
            <p:cNvPr id="11" name="TextBox 11"/>
            <p:cNvSpPr txBox="1"/>
            <p:nvPr/>
          </p:nvSpPr>
          <p:spPr>
            <a:xfrm>
              <a:off x="2331413" y="1288256"/>
              <a:ext cx="1814173" cy="228600"/>
            </a:xfrm>
            <a:prstGeom prst="rect">
              <a:avLst/>
            </a:prstGeom>
            <a:noFill/>
            <a:ln>
              <a:noFill/>
            </a:ln>
          </p:spPr>
          <p:txBody>
            <a:bodyPr wrap="none" lIns="0" tIns="0" rIns="0" bIns="0" anchor="t" anchorCtr="0">
              <a:spAutoFit/>
            </a:bodyPr>
            <a:lstStyle/>
            <a:p>
              <a:pPr algn="ctr"/>
              <a:r>
                <a:rPr lang="zh-CN" sz="1125" b="1" dirty="0">
                  <a:solidFill>
                    <a:srgbClr val="202124"/>
                  </a:solidFill>
                  <a:latin typeface="Segoe UI"/>
                  <a:ea typeface="Microsoft YaHei"/>
                  <a:cs typeface="Segoe UI"/>
                </a:rPr>
                <a:t>Truth Table for line 3</a:t>
              </a:r>
            </a:p>
          </p:txBody>
        </p:sp>
        <p:sp>
          <p:nvSpPr>
            <p:cNvPr id="12" name="TextBox 12"/>
            <p:cNvSpPr txBox="1"/>
            <p:nvPr/>
          </p:nvSpPr>
          <p:spPr>
            <a:xfrm>
              <a:off x="2211526" y="1494949"/>
              <a:ext cx="2053947"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Consolas"/>
                  <a:ea typeface="Microsoft YaHei"/>
                  <a:cs typeface="Consolas"/>
                </a:rPr>
                <a:t>Original: NOT((NOT p) AND q)</a:t>
              </a:r>
            </a:p>
          </p:txBody>
        </p:sp>
        <p:sp>
          <p:nvSpPr>
            <p:cNvPr id="13" name="TextBox 13"/>
            <p:cNvSpPr txBox="1"/>
            <p:nvPr/>
          </p:nvSpPr>
          <p:spPr>
            <a:xfrm>
              <a:off x="2375285" y="1685449"/>
              <a:ext cx="1726430" cy="198120"/>
            </a:xfrm>
            <a:prstGeom prst="rect">
              <a:avLst/>
            </a:prstGeom>
            <a:noFill/>
            <a:ln>
              <a:noFill/>
            </a:ln>
          </p:spPr>
          <p:txBody>
            <a:bodyPr wrap="none" lIns="0" tIns="0" rIns="0" bIns="0" anchor="t" anchorCtr="0">
              <a:spAutoFit/>
            </a:bodyPr>
            <a:lstStyle/>
            <a:p>
              <a:pPr algn="ctr"/>
              <a:r>
                <a:rPr lang="zh-CN" sz="975" dirty="0">
                  <a:solidFill>
                    <a:srgbClr val="9334E6"/>
                  </a:solidFill>
                  <a:latin typeface="Consolas"/>
                  <a:ea typeface="Microsoft YaHei"/>
                  <a:cs typeface="Consolas"/>
                </a:rPr>
                <a:t>Optimized: p OR (NOT q)</a:t>
              </a:r>
            </a:p>
          </p:txBody>
        </p:sp>
        <p:sp>
          <p:nvSpPr>
            <p:cNvPr id="14" name="Rectangle 14"/>
            <p:cNvSpPr/>
            <p:nvPr/>
          </p:nvSpPr>
          <p:spPr>
            <a:xfrm>
              <a:off x="762000" y="1924050"/>
              <a:ext cx="4953000" cy="361950"/>
            </a:xfrm>
            <a:prstGeom prst="roundRect">
              <a:avLst>
                <a:gd name="adj" fmla="val 15789"/>
              </a:avLst>
            </a:prstGeom>
            <a:solidFill>
              <a:srgbClr val="F8F9FA"/>
            </a:solidFill>
            <a:ln>
              <a:noFill/>
            </a:ln>
          </p:spPr>
          <p:txBody>
            <a:bodyPr/>
            <a:lstStyle/>
            <a:p>
              <a:endParaRPr lang="zh-CN" altLang="en-US"/>
            </a:p>
          </p:txBody>
        </p:sp>
        <p:sp>
          <p:nvSpPr>
            <p:cNvPr id="15" name="TextBox 15"/>
            <p:cNvSpPr txBox="1"/>
            <p:nvPr/>
          </p:nvSpPr>
          <p:spPr>
            <a:xfrm>
              <a:off x="1180634" y="2039302"/>
              <a:ext cx="115231" cy="213360"/>
            </a:xfrm>
            <a:prstGeom prst="rect">
              <a:avLst/>
            </a:prstGeom>
            <a:noFill/>
            <a:ln>
              <a:noFill/>
            </a:ln>
          </p:spPr>
          <p:txBody>
            <a:bodyPr wrap="none" lIns="0" tIns="0" rIns="0" bIns="0" anchor="t" anchorCtr="0">
              <a:spAutoFit/>
            </a:bodyPr>
            <a:lstStyle/>
            <a:p>
              <a:pPr algn="ctr"/>
              <a:r>
                <a:rPr lang="zh-CN" sz="1050" b="1" dirty="0">
                  <a:solidFill>
                    <a:srgbClr val="4285F4"/>
                  </a:solidFill>
                  <a:latin typeface="Segoe UI"/>
                  <a:ea typeface="Microsoft YaHei"/>
                  <a:cs typeface="Segoe UI"/>
                </a:rPr>
                <a:t>p</a:t>
              </a:r>
            </a:p>
          </p:txBody>
        </p:sp>
        <p:sp>
          <p:nvSpPr>
            <p:cNvPr id="16" name="TextBox 16"/>
            <p:cNvSpPr txBox="1"/>
            <p:nvPr/>
          </p:nvSpPr>
          <p:spPr>
            <a:xfrm>
              <a:off x="2037884" y="2039302"/>
              <a:ext cx="115231" cy="213360"/>
            </a:xfrm>
            <a:prstGeom prst="rect">
              <a:avLst/>
            </a:prstGeom>
            <a:noFill/>
            <a:ln>
              <a:noFill/>
            </a:ln>
          </p:spPr>
          <p:txBody>
            <a:bodyPr wrap="none" lIns="0" tIns="0" rIns="0" bIns="0" anchor="t" anchorCtr="0">
              <a:spAutoFit/>
            </a:bodyPr>
            <a:lstStyle/>
            <a:p>
              <a:pPr algn="ctr"/>
              <a:r>
                <a:rPr lang="zh-CN" sz="1050" b="1" dirty="0">
                  <a:solidFill>
                    <a:srgbClr val="4285F4"/>
                  </a:solidFill>
                  <a:latin typeface="Segoe UI"/>
                  <a:ea typeface="Microsoft YaHei"/>
                  <a:cs typeface="Segoe UI"/>
                </a:rPr>
                <a:t>q</a:t>
              </a:r>
            </a:p>
          </p:txBody>
        </p:sp>
        <p:sp>
          <p:nvSpPr>
            <p:cNvPr id="17" name="TextBox 17"/>
            <p:cNvSpPr txBox="1"/>
            <p:nvPr/>
          </p:nvSpPr>
          <p:spPr>
            <a:xfrm>
              <a:off x="3128794" y="2047399"/>
              <a:ext cx="600412" cy="198120"/>
            </a:xfrm>
            <a:prstGeom prst="rect">
              <a:avLst/>
            </a:prstGeom>
            <a:noFill/>
            <a:ln>
              <a:noFill/>
            </a:ln>
          </p:spPr>
          <p:txBody>
            <a:bodyPr wrap="none" lIns="0" tIns="0" rIns="0" bIns="0" anchor="t" anchorCtr="0">
              <a:spAutoFit/>
            </a:bodyPr>
            <a:lstStyle/>
            <a:p>
              <a:pPr algn="ctr"/>
              <a:r>
                <a:rPr lang="zh-CN" sz="975" b="1" dirty="0">
                  <a:solidFill>
                    <a:srgbClr val="5F6368"/>
                  </a:solidFill>
                  <a:latin typeface="Segoe UI"/>
                  <a:ea typeface="Microsoft YaHei"/>
                  <a:cs typeface="Segoe UI"/>
                </a:rPr>
                <a:t>Original</a:t>
              </a:r>
            </a:p>
          </p:txBody>
        </p:sp>
        <p:sp>
          <p:nvSpPr>
            <p:cNvPr id="18" name="TextBox 18"/>
            <p:cNvSpPr txBox="1"/>
            <p:nvPr/>
          </p:nvSpPr>
          <p:spPr>
            <a:xfrm>
              <a:off x="4387535" y="2047399"/>
              <a:ext cx="749931" cy="198120"/>
            </a:xfrm>
            <a:prstGeom prst="rect">
              <a:avLst/>
            </a:prstGeom>
            <a:noFill/>
            <a:ln>
              <a:noFill/>
            </a:ln>
          </p:spPr>
          <p:txBody>
            <a:bodyPr wrap="none" lIns="0" tIns="0" rIns="0" bIns="0" anchor="t" anchorCtr="0">
              <a:spAutoFit/>
            </a:bodyPr>
            <a:lstStyle/>
            <a:p>
              <a:pPr algn="ctr"/>
              <a:r>
                <a:rPr lang="zh-CN" sz="975" b="1" dirty="0">
                  <a:solidFill>
                    <a:srgbClr val="9334E6"/>
                  </a:solidFill>
                  <a:latin typeface="Segoe UI"/>
                  <a:ea typeface="Microsoft YaHei"/>
                  <a:cs typeface="Segoe UI"/>
                </a:rPr>
                <a:t>Optimized</a:t>
              </a:r>
            </a:p>
          </p:txBody>
        </p:sp>
        <p:sp>
          <p:nvSpPr>
            <p:cNvPr id="19" name="Line 19"/>
            <p:cNvSpPr/>
            <p:nvPr/>
          </p:nvSpPr>
          <p:spPr>
            <a:xfrm>
              <a:off x="762000" y="2286000"/>
              <a:ext cx="4953000" cy="9525"/>
            </a:xfrm>
            <a:custGeom>
              <a:avLst/>
              <a:gdLst/>
              <a:ahLst/>
              <a:cxnLst/>
              <a:rect l="l" t="t" r="r" b="b"/>
              <a:pathLst>
                <a:path w="4953000" h="9525">
                  <a:moveTo>
                    <a:pt x="0" y="0"/>
                  </a:moveTo>
                  <a:lnTo>
                    <a:pt x="4953000" y="0"/>
                  </a:lnTo>
                </a:path>
              </a:pathLst>
            </a:custGeom>
            <a:noFill/>
            <a:ln w="9525">
              <a:solidFill>
                <a:srgbClr val="DADCE0"/>
              </a:solidFill>
            </a:ln>
          </p:spPr>
          <p:txBody>
            <a:bodyPr/>
            <a:lstStyle/>
            <a:p>
              <a:endParaRPr lang="zh-CN" altLang="en-US"/>
            </a:p>
          </p:txBody>
        </p:sp>
        <p:sp>
          <p:nvSpPr>
            <p:cNvPr id="20" name="Line 20"/>
            <p:cNvSpPr/>
            <p:nvPr/>
          </p:nvSpPr>
          <p:spPr>
            <a:xfrm>
              <a:off x="1600200" y="1924050"/>
              <a:ext cx="9525" cy="3200400"/>
            </a:xfrm>
            <a:custGeom>
              <a:avLst/>
              <a:gdLst/>
              <a:ahLst/>
              <a:cxnLst/>
              <a:rect l="l" t="t" r="r" b="b"/>
              <a:pathLst>
                <a:path w="9525" h="3200400">
                  <a:moveTo>
                    <a:pt x="0" y="0"/>
                  </a:moveTo>
                  <a:lnTo>
                    <a:pt x="0" y="3200400"/>
                  </a:lnTo>
                </a:path>
              </a:pathLst>
            </a:custGeom>
            <a:noFill/>
            <a:ln w="9525">
              <a:solidFill>
                <a:srgbClr val="DADCE0"/>
              </a:solidFill>
            </a:ln>
          </p:spPr>
          <p:txBody>
            <a:bodyPr/>
            <a:lstStyle/>
            <a:p>
              <a:endParaRPr lang="zh-CN" altLang="en-US"/>
            </a:p>
          </p:txBody>
        </p:sp>
        <p:sp>
          <p:nvSpPr>
            <p:cNvPr id="21" name="Line 21"/>
            <p:cNvSpPr/>
            <p:nvPr/>
          </p:nvSpPr>
          <p:spPr>
            <a:xfrm>
              <a:off x="2552700" y="1924050"/>
              <a:ext cx="9525" cy="3200400"/>
            </a:xfrm>
            <a:custGeom>
              <a:avLst/>
              <a:gdLst/>
              <a:ahLst/>
              <a:cxnLst/>
              <a:rect l="l" t="t" r="r" b="b"/>
              <a:pathLst>
                <a:path w="9525" h="3200400">
                  <a:moveTo>
                    <a:pt x="0" y="0"/>
                  </a:moveTo>
                  <a:lnTo>
                    <a:pt x="0" y="3200400"/>
                  </a:lnTo>
                </a:path>
              </a:pathLst>
            </a:custGeom>
            <a:noFill/>
            <a:ln w="9525">
              <a:solidFill>
                <a:srgbClr val="DADCE0"/>
              </a:solidFill>
            </a:ln>
          </p:spPr>
          <p:txBody>
            <a:bodyPr/>
            <a:lstStyle/>
            <a:p>
              <a:endParaRPr lang="zh-CN" altLang="en-US"/>
            </a:p>
          </p:txBody>
        </p:sp>
        <p:sp>
          <p:nvSpPr>
            <p:cNvPr id="22" name="Line 22"/>
            <p:cNvSpPr/>
            <p:nvPr/>
          </p:nvSpPr>
          <p:spPr>
            <a:xfrm>
              <a:off x="4095750" y="1924050"/>
              <a:ext cx="9525" cy="3200400"/>
            </a:xfrm>
            <a:custGeom>
              <a:avLst/>
              <a:gdLst/>
              <a:ahLst/>
              <a:cxnLst/>
              <a:rect l="l" t="t" r="r" b="b"/>
              <a:pathLst>
                <a:path w="9525" h="3200400">
                  <a:moveTo>
                    <a:pt x="0" y="0"/>
                  </a:moveTo>
                  <a:lnTo>
                    <a:pt x="0" y="3200400"/>
                  </a:lnTo>
                </a:path>
              </a:pathLst>
            </a:custGeom>
            <a:noFill/>
            <a:ln w="9525">
              <a:solidFill>
                <a:srgbClr val="DADCE0"/>
              </a:solidFill>
            </a:ln>
          </p:spPr>
          <p:txBody>
            <a:bodyPr/>
            <a:lstStyle/>
            <a:p>
              <a:endParaRPr lang="zh-CN" altLang="en-US"/>
            </a:p>
          </p:txBody>
        </p:sp>
        <p:sp>
          <p:nvSpPr>
            <p:cNvPr id="23" name="Rectangle 23"/>
            <p:cNvSpPr/>
            <p:nvPr/>
          </p:nvSpPr>
          <p:spPr>
            <a:xfrm>
              <a:off x="762000" y="2286000"/>
              <a:ext cx="4953000" cy="704850"/>
            </a:xfrm>
            <a:prstGeom prst="rect">
              <a:avLst/>
            </a:prstGeom>
            <a:solidFill>
              <a:srgbClr val="FFFFFF"/>
            </a:solidFill>
            <a:ln>
              <a:noFill/>
            </a:ln>
          </p:spPr>
          <p:txBody>
            <a:bodyPr/>
            <a:lstStyle/>
            <a:p>
              <a:endParaRPr lang="zh-CN" altLang="en-US"/>
            </a:p>
          </p:txBody>
        </p:sp>
        <p:sp>
          <p:nvSpPr>
            <p:cNvPr id="24" name="TextBox 24"/>
            <p:cNvSpPr txBox="1"/>
            <p:nvPr/>
          </p:nvSpPr>
          <p:spPr>
            <a:xfrm>
              <a:off x="1176519" y="256460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25" name="TextBox 25"/>
            <p:cNvSpPr txBox="1"/>
            <p:nvPr/>
          </p:nvSpPr>
          <p:spPr>
            <a:xfrm>
              <a:off x="2033769" y="256460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26" name="TextBox 26"/>
            <p:cNvSpPr txBox="1"/>
            <p:nvPr/>
          </p:nvSpPr>
          <p:spPr>
            <a:xfrm>
              <a:off x="3367269" y="256460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27" name="TextBox 27"/>
            <p:cNvSpPr txBox="1"/>
            <p:nvPr/>
          </p:nvSpPr>
          <p:spPr>
            <a:xfrm>
              <a:off x="4700769" y="256460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28" name="Rectangle 28"/>
            <p:cNvSpPr/>
            <p:nvPr/>
          </p:nvSpPr>
          <p:spPr>
            <a:xfrm>
              <a:off x="5524500" y="2428875"/>
              <a:ext cx="228600" cy="228600"/>
            </a:xfrm>
            <a:prstGeom prst="roundRect">
              <a:avLst>
                <a:gd name="adj" fmla="val 50000"/>
              </a:avLst>
            </a:prstGeom>
            <a:solidFill>
              <a:srgbClr val="1E8E3E">
                <a:alpha val="20000"/>
              </a:srgbClr>
            </a:solidFill>
            <a:ln>
              <a:noFill/>
            </a:ln>
          </p:spPr>
          <p:txBody>
            <a:bodyPr/>
            <a:lstStyle/>
            <a:p>
              <a:endParaRPr lang="zh-CN" altLang="en-US"/>
            </a:p>
          </p:txBody>
        </p:sp>
        <p:sp>
          <p:nvSpPr>
            <p:cNvPr id="29" name="TextBox 29"/>
            <p:cNvSpPr txBox="1"/>
            <p:nvPr/>
          </p:nvSpPr>
          <p:spPr>
            <a:xfrm>
              <a:off x="5583293" y="2477452"/>
              <a:ext cx="111014" cy="213360"/>
            </a:xfrm>
            <a:prstGeom prst="rect">
              <a:avLst/>
            </a:prstGeom>
            <a:noFill/>
            <a:ln>
              <a:noFill/>
            </a:ln>
          </p:spPr>
          <p:txBody>
            <a:bodyPr wrap="none" lIns="0" tIns="0" rIns="0" bIns="0" anchor="t" anchorCtr="0">
              <a:spAutoFit/>
            </a:bodyPr>
            <a:lstStyle/>
            <a:p>
              <a:pPr algn="ctr"/>
              <a:r>
                <a:rPr lang="zh-CN" sz="1050" dirty="0">
                  <a:solidFill>
                    <a:srgbClr val="1E8E3E"/>
                  </a:solidFill>
                  <a:latin typeface="Segoe UI"/>
                  <a:ea typeface="Microsoft YaHei"/>
                  <a:cs typeface="Segoe UI"/>
                </a:rPr>
                <a:t>=</a:t>
              </a:r>
            </a:p>
          </p:txBody>
        </p:sp>
        <p:sp>
          <p:nvSpPr>
            <p:cNvPr id="30" name="Line 30"/>
            <p:cNvSpPr/>
            <p:nvPr/>
          </p:nvSpPr>
          <p:spPr>
            <a:xfrm>
              <a:off x="762000" y="2990850"/>
              <a:ext cx="4953000" cy="9525"/>
            </a:xfrm>
            <a:custGeom>
              <a:avLst/>
              <a:gdLst/>
              <a:ahLst/>
              <a:cxnLst/>
              <a:rect l="l" t="t" r="r" b="b"/>
              <a:pathLst>
                <a:path w="4953000" h="9525">
                  <a:moveTo>
                    <a:pt x="0" y="0"/>
                  </a:moveTo>
                  <a:lnTo>
                    <a:pt x="4953000" y="0"/>
                  </a:lnTo>
                </a:path>
              </a:pathLst>
            </a:custGeom>
            <a:noFill/>
            <a:ln w="9525">
              <a:solidFill>
                <a:srgbClr val="DADCE0"/>
              </a:solidFill>
            </a:ln>
          </p:spPr>
          <p:txBody>
            <a:bodyPr/>
            <a:lstStyle/>
            <a:p>
              <a:endParaRPr lang="zh-CN" altLang="en-US"/>
            </a:p>
          </p:txBody>
        </p:sp>
        <p:sp>
          <p:nvSpPr>
            <p:cNvPr id="31" name="TextBox 31"/>
            <p:cNvSpPr txBox="1"/>
            <p:nvPr/>
          </p:nvSpPr>
          <p:spPr>
            <a:xfrm>
              <a:off x="1176519" y="326945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32" name="TextBox 32"/>
            <p:cNvSpPr txBox="1"/>
            <p:nvPr/>
          </p:nvSpPr>
          <p:spPr>
            <a:xfrm>
              <a:off x="2033769" y="326945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33" name="TextBox 33"/>
            <p:cNvSpPr txBox="1"/>
            <p:nvPr/>
          </p:nvSpPr>
          <p:spPr>
            <a:xfrm>
              <a:off x="3367269" y="326945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34" name="TextBox 34"/>
            <p:cNvSpPr txBox="1"/>
            <p:nvPr/>
          </p:nvSpPr>
          <p:spPr>
            <a:xfrm>
              <a:off x="4700769" y="326945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35" name="Rectangle 35"/>
            <p:cNvSpPr/>
            <p:nvPr/>
          </p:nvSpPr>
          <p:spPr>
            <a:xfrm>
              <a:off x="5524500" y="3133725"/>
              <a:ext cx="228600" cy="228600"/>
            </a:xfrm>
            <a:prstGeom prst="roundRect">
              <a:avLst>
                <a:gd name="adj" fmla="val 50000"/>
              </a:avLst>
            </a:prstGeom>
            <a:solidFill>
              <a:srgbClr val="1E8E3E">
                <a:alpha val="20000"/>
              </a:srgbClr>
            </a:solidFill>
            <a:ln>
              <a:noFill/>
            </a:ln>
          </p:spPr>
          <p:txBody>
            <a:bodyPr/>
            <a:lstStyle/>
            <a:p>
              <a:endParaRPr lang="zh-CN" altLang="en-US"/>
            </a:p>
          </p:txBody>
        </p:sp>
        <p:sp>
          <p:nvSpPr>
            <p:cNvPr id="36" name="TextBox 36"/>
            <p:cNvSpPr txBox="1"/>
            <p:nvPr/>
          </p:nvSpPr>
          <p:spPr>
            <a:xfrm>
              <a:off x="5583293" y="3182302"/>
              <a:ext cx="111014" cy="213360"/>
            </a:xfrm>
            <a:prstGeom prst="rect">
              <a:avLst/>
            </a:prstGeom>
            <a:noFill/>
            <a:ln>
              <a:noFill/>
            </a:ln>
          </p:spPr>
          <p:txBody>
            <a:bodyPr wrap="none" lIns="0" tIns="0" rIns="0" bIns="0" anchor="t" anchorCtr="0">
              <a:spAutoFit/>
            </a:bodyPr>
            <a:lstStyle/>
            <a:p>
              <a:pPr algn="ctr"/>
              <a:r>
                <a:rPr lang="zh-CN" sz="1050" dirty="0">
                  <a:solidFill>
                    <a:srgbClr val="1E8E3E"/>
                  </a:solidFill>
                  <a:latin typeface="Segoe UI"/>
                  <a:ea typeface="Microsoft YaHei"/>
                  <a:cs typeface="Segoe UI"/>
                </a:rPr>
                <a:t>=</a:t>
              </a:r>
            </a:p>
          </p:txBody>
        </p:sp>
        <p:sp>
          <p:nvSpPr>
            <p:cNvPr id="37" name="Line 37"/>
            <p:cNvSpPr/>
            <p:nvPr/>
          </p:nvSpPr>
          <p:spPr>
            <a:xfrm>
              <a:off x="762000" y="3695700"/>
              <a:ext cx="4953000" cy="9525"/>
            </a:xfrm>
            <a:custGeom>
              <a:avLst/>
              <a:gdLst/>
              <a:ahLst/>
              <a:cxnLst/>
              <a:rect l="l" t="t" r="r" b="b"/>
              <a:pathLst>
                <a:path w="4953000" h="9525">
                  <a:moveTo>
                    <a:pt x="0" y="0"/>
                  </a:moveTo>
                  <a:lnTo>
                    <a:pt x="4953000" y="0"/>
                  </a:lnTo>
                </a:path>
              </a:pathLst>
            </a:custGeom>
            <a:noFill/>
            <a:ln w="9525">
              <a:solidFill>
                <a:srgbClr val="DADCE0"/>
              </a:solidFill>
            </a:ln>
          </p:spPr>
          <p:txBody>
            <a:bodyPr/>
            <a:lstStyle/>
            <a:p>
              <a:endParaRPr lang="zh-CN" altLang="en-US"/>
            </a:p>
          </p:txBody>
        </p:sp>
        <p:sp>
          <p:nvSpPr>
            <p:cNvPr id="38" name="TextBox 38"/>
            <p:cNvSpPr txBox="1"/>
            <p:nvPr/>
          </p:nvSpPr>
          <p:spPr>
            <a:xfrm>
              <a:off x="1176519" y="397430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39" name="TextBox 39"/>
            <p:cNvSpPr txBox="1"/>
            <p:nvPr/>
          </p:nvSpPr>
          <p:spPr>
            <a:xfrm>
              <a:off x="2033769" y="397430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40" name="TextBox 40"/>
            <p:cNvSpPr txBox="1"/>
            <p:nvPr/>
          </p:nvSpPr>
          <p:spPr>
            <a:xfrm>
              <a:off x="3367269" y="397430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41" name="TextBox 41"/>
            <p:cNvSpPr txBox="1"/>
            <p:nvPr/>
          </p:nvSpPr>
          <p:spPr>
            <a:xfrm>
              <a:off x="4700769" y="397430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42" name="Rectangle 42"/>
            <p:cNvSpPr/>
            <p:nvPr/>
          </p:nvSpPr>
          <p:spPr>
            <a:xfrm>
              <a:off x="5524500" y="3838575"/>
              <a:ext cx="228600" cy="228600"/>
            </a:xfrm>
            <a:prstGeom prst="roundRect">
              <a:avLst>
                <a:gd name="adj" fmla="val 50000"/>
              </a:avLst>
            </a:prstGeom>
            <a:solidFill>
              <a:srgbClr val="1E8E3E">
                <a:alpha val="20000"/>
              </a:srgbClr>
            </a:solidFill>
            <a:ln>
              <a:noFill/>
            </a:ln>
          </p:spPr>
          <p:txBody>
            <a:bodyPr/>
            <a:lstStyle/>
            <a:p>
              <a:endParaRPr lang="zh-CN" altLang="en-US"/>
            </a:p>
          </p:txBody>
        </p:sp>
        <p:sp>
          <p:nvSpPr>
            <p:cNvPr id="43" name="TextBox 43"/>
            <p:cNvSpPr txBox="1"/>
            <p:nvPr/>
          </p:nvSpPr>
          <p:spPr>
            <a:xfrm>
              <a:off x="5583293" y="3887152"/>
              <a:ext cx="111014" cy="213360"/>
            </a:xfrm>
            <a:prstGeom prst="rect">
              <a:avLst/>
            </a:prstGeom>
            <a:noFill/>
            <a:ln>
              <a:noFill/>
            </a:ln>
          </p:spPr>
          <p:txBody>
            <a:bodyPr wrap="none" lIns="0" tIns="0" rIns="0" bIns="0" anchor="t" anchorCtr="0">
              <a:spAutoFit/>
            </a:bodyPr>
            <a:lstStyle/>
            <a:p>
              <a:pPr algn="ctr"/>
              <a:r>
                <a:rPr lang="zh-CN" sz="1050" dirty="0">
                  <a:solidFill>
                    <a:srgbClr val="1E8E3E"/>
                  </a:solidFill>
                  <a:latin typeface="Segoe UI"/>
                  <a:ea typeface="Microsoft YaHei"/>
                  <a:cs typeface="Segoe UI"/>
                </a:rPr>
                <a:t>=</a:t>
              </a:r>
            </a:p>
          </p:txBody>
        </p:sp>
        <p:sp>
          <p:nvSpPr>
            <p:cNvPr id="44" name="Line 44"/>
            <p:cNvSpPr/>
            <p:nvPr/>
          </p:nvSpPr>
          <p:spPr>
            <a:xfrm>
              <a:off x="762000" y="4400550"/>
              <a:ext cx="4953000" cy="9525"/>
            </a:xfrm>
            <a:custGeom>
              <a:avLst/>
              <a:gdLst/>
              <a:ahLst/>
              <a:cxnLst/>
              <a:rect l="l" t="t" r="r" b="b"/>
              <a:pathLst>
                <a:path w="4953000" h="9525">
                  <a:moveTo>
                    <a:pt x="0" y="0"/>
                  </a:moveTo>
                  <a:lnTo>
                    <a:pt x="4953000" y="0"/>
                  </a:lnTo>
                </a:path>
              </a:pathLst>
            </a:custGeom>
            <a:noFill/>
            <a:ln w="9525">
              <a:solidFill>
                <a:srgbClr val="DADCE0"/>
              </a:solidFill>
            </a:ln>
          </p:spPr>
          <p:txBody>
            <a:bodyPr/>
            <a:lstStyle/>
            <a:p>
              <a:endParaRPr lang="zh-CN" altLang="en-US"/>
            </a:p>
          </p:txBody>
        </p:sp>
        <p:sp>
          <p:nvSpPr>
            <p:cNvPr id="45" name="TextBox 45"/>
            <p:cNvSpPr txBox="1"/>
            <p:nvPr/>
          </p:nvSpPr>
          <p:spPr>
            <a:xfrm>
              <a:off x="1176519" y="467915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46" name="TextBox 46"/>
            <p:cNvSpPr txBox="1"/>
            <p:nvPr/>
          </p:nvSpPr>
          <p:spPr>
            <a:xfrm>
              <a:off x="2033769" y="4679156"/>
              <a:ext cx="123462" cy="228600"/>
            </a:xfrm>
            <a:prstGeom prst="rect">
              <a:avLst/>
            </a:prstGeom>
            <a:noFill/>
            <a:ln>
              <a:noFill/>
            </a:ln>
          </p:spPr>
          <p:txBody>
            <a:bodyPr wrap="none" lIns="0" tIns="0" rIns="0" bIns="0" anchor="t" anchorCtr="0">
              <a:spAutoFit/>
            </a:bodyPr>
            <a:lstStyle/>
            <a:p>
              <a:pPr algn="ctr"/>
              <a:r>
                <a:rPr lang="zh-CN" sz="1125" b="1" dirty="0">
                  <a:solidFill>
                    <a:srgbClr val="EA4335"/>
                  </a:solidFill>
                  <a:latin typeface="Consolas"/>
                  <a:ea typeface="Microsoft YaHei"/>
                  <a:cs typeface="Consolas"/>
                </a:rPr>
                <a:t>F</a:t>
              </a:r>
            </a:p>
          </p:txBody>
        </p:sp>
        <p:sp>
          <p:nvSpPr>
            <p:cNvPr id="47" name="TextBox 47"/>
            <p:cNvSpPr txBox="1"/>
            <p:nvPr/>
          </p:nvSpPr>
          <p:spPr>
            <a:xfrm>
              <a:off x="3367269" y="467915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48" name="TextBox 48"/>
            <p:cNvSpPr txBox="1"/>
            <p:nvPr/>
          </p:nvSpPr>
          <p:spPr>
            <a:xfrm>
              <a:off x="4700769" y="4679156"/>
              <a:ext cx="123462"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Consolas"/>
                  <a:ea typeface="Microsoft YaHei"/>
                  <a:cs typeface="Consolas"/>
                </a:rPr>
                <a:t>T</a:t>
              </a:r>
            </a:p>
          </p:txBody>
        </p:sp>
        <p:sp>
          <p:nvSpPr>
            <p:cNvPr id="49" name="Rectangle 49"/>
            <p:cNvSpPr/>
            <p:nvPr/>
          </p:nvSpPr>
          <p:spPr>
            <a:xfrm>
              <a:off x="5524500" y="4543425"/>
              <a:ext cx="228600" cy="228600"/>
            </a:xfrm>
            <a:prstGeom prst="roundRect">
              <a:avLst>
                <a:gd name="adj" fmla="val 50000"/>
              </a:avLst>
            </a:prstGeom>
            <a:solidFill>
              <a:srgbClr val="1E8E3E">
                <a:alpha val="20000"/>
              </a:srgbClr>
            </a:solidFill>
            <a:ln>
              <a:noFill/>
            </a:ln>
          </p:spPr>
          <p:txBody>
            <a:bodyPr/>
            <a:lstStyle/>
            <a:p>
              <a:endParaRPr lang="zh-CN" altLang="en-US"/>
            </a:p>
          </p:txBody>
        </p:sp>
        <p:sp>
          <p:nvSpPr>
            <p:cNvPr id="50" name="TextBox 50"/>
            <p:cNvSpPr txBox="1"/>
            <p:nvPr/>
          </p:nvSpPr>
          <p:spPr>
            <a:xfrm>
              <a:off x="5583293" y="4592002"/>
              <a:ext cx="111014" cy="213360"/>
            </a:xfrm>
            <a:prstGeom prst="rect">
              <a:avLst/>
            </a:prstGeom>
            <a:noFill/>
            <a:ln>
              <a:noFill/>
            </a:ln>
          </p:spPr>
          <p:txBody>
            <a:bodyPr wrap="none" lIns="0" tIns="0" rIns="0" bIns="0" anchor="t" anchorCtr="0">
              <a:spAutoFit/>
            </a:bodyPr>
            <a:lstStyle/>
            <a:p>
              <a:pPr algn="ctr"/>
              <a:r>
                <a:rPr lang="zh-CN" sz="1050" dirty="0">
                  <a:solidFill>
                    <a:srgbClr val="1E8E3E"/>
                  </a:solidFill>
                  <a:latin typeface="Segoe UI"/>
                  <a:ea typeface="Microsoft YaHei"/>
                  <a:cs typeface="Segoe UI"/>
                </a:rPr>
                <a:t>=</a:t>
              </a:r>
            </a:p>
          </p:txBody>
        </p:sp>
        <p:sp>
          <p:nvSpPr>
            <p:cNvPr id="51" name="Line 51"/>
            <p:cNvSpPr/>
            <p:nvPr/>
          </p:nvSpPr>
          <p:spPr>
            <a:xfrm>
              <a:off x="762000" y="5105400"/>
              <a:ext cx="4953000" cy="9525"/>
            </a:xfrm>
            <a:custGeom>
              <a:avLst/>
              <a:gdLst/>
              <a:ahLst/>
              <a:cxnLst/>
              <a:rect l="l" t="t" r="r" b="b"/>
              <a:pathLst>
                <a:path w="4953000" h="9525">
                  <a:moveTo>
                    <a:pt x="0" y="0"/>
                  </a:moveTo>
                  <a:lnTo>
                    <a:pt x="4953000" y="0"/>
                  </a:lnTo>
                </a:path>
              </a:pathLst>
            </a:custGeom>
            <a:noFill/>
            <a:ln w="9525">
              <a:solidFill>
                <a:srgbClr val="DADCE0"/>
              </a:solidFill>
            </a:ln>
          </p:spPr>
          <p:txBody>
            <a:bodyPr/>
            <a:lstStyle/>
            <a:p>
              <a:endParaRPr lang="zh-CN" altLang="en-US"/>
            </a:p>
          </p:txBody>
        </p:sp>
        <p:sp>
          <p:nvSpPr>
            <p:cNvPr id="52" name="Rectangle 52"/>
            <p:cNvSpPr/>
            <p:nvPr/>
          </p:nvSpPr>
          <p:spPr>
            <a:xfrm>
              <a:off x="762000" y="5124450"/>
              <a:ext cx="4953000" cy="457200"/>
            </a:xfrm>
            <a:prstGeom prst="roundRect">
              <a:avLst>
                <a:gd name="adj" fmla="val 12500"/>
              </a:avLst>
            </a:prstGeom>
            <a:solidFill>
              <a:srgbClr val="1E8E3E">
                <a:alpha val="10000"/>
              </a:srgbClr>
            </a:solidFill>
            <a:ln w="9525">
              <a:solidFill>
                <a:srgbClr val="1E8E3E"/>
              </a:solidFill>
            </a:ln>
          </p:spPr>
          <p:txBody>
            <a:bodyPr/>
            <a:lstStyle/>
            <a:p>
              <a:endParaRPr lang="zh-CN" altLang="en-US"/>
            </a:p>
          </p:txBody>
        </p:sp>
        <p:sp>
          <p:nvSpPr>
            <p:cNvPr id="53" name="TextBox 53"/>
            <p:cNvSpPr txBox="1"/>
            <p:nvPr/>
          </p:nvSpPr>
          <p:spPr>
            <a:xfrm>
              <a:off x="1550753" y="5288756"/>
              <a:ext cx="3375493" cy="228600"/>
            </a:xfrm>
            <a:prstGeom prst="rect">
              <a:avLst/>
            </a:prstGeom>
            <a:noFill/>
            <a:ln>
              <a:noFill/>
            </a:ln>
          </p:spPr>
          <p:txBody>
            <a:bodyPr wrap="none" lIns="0" tIns="0" rIns="0" bIns="0" anchor="t" anchorCtr="0">
              <a:spAutoFit/>
            </a:bodyPr>
            <a:lstStyle/>
            <a:p>
              <a:pPr algn="ctr"/>
              <a:r>
                <a:rPr lang="zh-CN" sz="1125" b="1" dirty="0">
                  <a:solidFill>
                    <a:srgbClr val="1E8E3E"/>
                  </a:solidFill>
                  <a:latin typeface="Segoe UI"/>
                  <a:ea typeface="Microsoft YaHei"/>
                  <a:cs typeface="Segoe UI"/>
                </a:rPr>
                <a:t>✓ All 4 rows match — is_equivalent: TRUE</a:t>
              </a:r>
            </a:p>
          </p:txBody>
        </p:sp>
        <p:sp>
          <p:nvSpPr>
            <p:cNvPr id="54" name="TextBox 54"/>
            <p:cNvSpPr txBox="1"/>
            <p:nvPr/>
          </p:nvSpPr>
          <p:spPr>
            <a:xfrm>
              <a:off x="1923169" y="5762149"/>
              <a:ext cx="2630662"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2 variables → 2² = 4 rows | O(2ⁿ) cost</a:t>
              </a:r>
            </a:p>
          </p:txBody>
        </p:sp>
        <p:sp>
          <p:nvSpPr>
            <p:cNvPr id="55" name="TextBox 55"/>
            <p:cNvSpPr txBox="1"/>
            <p:nvPr/>
          </p:nvSpPr>
          <p:spPr>
            <a:xfrm>
              <a:off x="1848410" y="5952649"/>
              <a:ext cx="2780181" cy="198120"/>
            </a:xfrm>
            <a:prstGeom prst="rect">
              <a:avLst/>
            </a:prstGeom>
            <a:noFill/>
            <a:ln>
              <a:noFill/>
            </a:ln>
          </p:spPr>
          <p:txBody>
            <a:bodyPr wrap="none" lIns="0" tIns="0" rIns="0" bIns="0" anchor="t" anchorCtr="0">
              <a:spAutoFit/>
            </a:bodyPr>
            <a:lstStyle/>
            <a:p>
              <a:pPr algn="ctr"/>
              <a:r>
                <a:rPr lang="zh-CN" sz="975" dirty="0">
                  <a:solidFill>
                    <a:srgbClr val="80868B"/>
                  </a:solidFill>
                  <a:latin typeface="Segoe UI"/>
                  <a:ea typeface="Microsoft YaHei"/>
                  <a:cs typeface="Segoe UI"/>
                </a:rPr>
                <a:t>n=10 vars → 1,024 rows | n=20 → ~1M rows</a:t>
              </a:r>
            </a:p>
          </p:txBody>
        </p:sp>
      </p:grpSp>
      <p:grpSp>
        <p:nvGrpSpPr>
          <p:cNvPr id="91" name="Group 91"/>
          <p:cNvGrpSpPr/>
          <p:nvPr/>
        </p:nvGrpSpPr>
        <p:grpSpPr>
          <a:xfrm>
            <a:off x="6286500" y="1047750"/>
            <a:ext cx="5334000" cy="5334000"/>
            <a:chOff x="6286500" y="1047750"/>
            <a:chExt cx="5334000" cy="5334000"/>
          </a:xfrm>
        </p:grpSpPr>
        <p:sp>
          <p:nvSpPr>
            <p:cNvPr id="57" name="Rectangle 57"/>
            <p:cNvSpPr/>
            <p:nvPr/>
          </p:nvSpPr>
          <p:spPr>
            <a:xfrm>
              <a:off x="6286500" y="1047750"/>
              <a:ext cx="5334000" cy="5334000"/>
            </a:xfrm>
            <a:prstGeom prst="roundRect">
              <a:avLst>
                <a:gd name="adj" fmla="val 1786"/>
              </a:avLst>
            </a:prstGeom>
            <a:solidFill>
              <a:srgbClr val="FFFFFF"/>
            </a:solidFill>
            <a:ln w="9525">
              <a:solidFill>
                <a:srgbClr val="DADCE0"/>
              </a:solidFill>
            </a:ln>
          </p:spPr>
          <p:txBody>
            <a:bodyPr/>
            <a:lstStyle/>
            <a:p>
              <a:endParaRPr lang="zh-CN" altLang="en-US"/>
            </a:p>
          </p:txBody>
        </p:sp>
        <p:sp>
          <p:nvSpPr>
            <p:cNvPr id="58" name="Rectangle 58"/>
            <p:cNvSpPr/>
            <p:nvPr/>
          </p:nvSpPr>
          <p:spPr>
            <a:xfrm>
              <a:off x="6477000" y="1238250"/>
              <a:ext cx="495300" cy="495300"/>
            </a:xfrm>
            <a:prstGeom prst="roundRect">
              <a:avLst>
                <a:gd name="adj" fmla="val 19231"/>
              </a:avLst>
            </a:prstGeom>
            <a:solidFill>
              <a:srgbClr val="1E8E3E">
                <a:alpha val="12000"/>
              </a:srgbClr>
            </a:solidFill>
            <a:ln>
              <a:noFill/>
            </a:ln>
          </p:spPr>
          <p:txBody>
            <a:bodyPr/>
            <a:lstStyle/>
            <a:p>
              <a:endParaRPr lang="zh-CN" altLang="en-US"/>
            </a:p>
          </p:txBody>
        </p:sp>
        <p:sp>
          <p:nvSpPr>
            <p:cNvPr id="59" name="Freeform 59"/>
            <p:cNvSpPr/>
            <p:nvPr/>
          </p:nvSpPr>
          <p:spPr>
            <a:xfrm>
              <a:off x="6581775" y="1336625"/>
              <a:ext cx="300466" cy="300958"/>
            </a:xfrm>
            <a:custGeom>
              <a:avLst/>
              <a:gdLst/>
              <a:ahLst/>
              <a:cxnLst/>
              <a:rect l="l" t="t" r="r" b="b"/>
              <a:pathLst>
                <a:path w="300466" h="300958">
                  <a:moveTo>
                    <a:pt x="214312" y="25545"/>
                  </a:moveTo>
                  <a:cubicBezTo>
                    <a:pt x="273854" y="59924"/>
                    <a:pt x="300466" y="131835"/>
                    <a:pt x="277649" y="196693"/>
                  </a:cubicBezTo>
                  <a:cubicBezTo>
                    <a:pt x="254832" y="261550"/>
                    <a:pt x="189056" y="300958"/>
                    <a:pt x="121104" y="290484"/>
                  </a:cubicBezTo>
                  <a:cubicBezTo>
                    <a:pt x="53153" y="280009"/>
                    <a:pt x="2298" y="222622"/>
                    <a:pt x="71" y="153904"/>
                  </a:cubicBezTo>
                  <a:lnTo>
                    <a:pt x="0" y="149275"/>
                  </a:lnTo>
                  <a:lnTo>
                    <a:pt x="71" y="144646"/>
                  </a:lnTo>
                  <a:cubicBezTo>
                    <a:pt x="1699" y="94454"/>
                    <a:pt x="29558" y="48801"/>
                    <a:pt x="73450" y="24400"/>
                  </a:cubicBezTo>
                  <a:cubicBezTo>
                    <a:pt x="117343" y="0"/>
                    <a:pt x="170823" y="435"/>
                    <a:pt x="214312" y="25545"/>
                  </a:cubicBezTo>
                  <a:close/>
                  <a:moveTo>
                    <a:pt x="195839" y="110599"/>
                  </a:moveTo>
                  <a:cubicBezTo>
                    <a:pt x="190749" y="105509"/>
                    <a:pt x="182667" y="105001"/>
                    <a:pt x="176979" y="109413"/>
                  </a:cubicBezTo>
                  <a:lnTo>
                    <a:pt x="175636" y="110599"/>
                  </a:lnTo>
                  <a:lnTo>
                    <a:pt x="128588" y="157633"/>
                  </a:lnTo>
                  <a:lnTo>
                    <a:pt x="110114" y="139174"/>
                  </a:lnTo>
                  <a:lnTo>
                    <a:pt x="108771" y="137988"/>
                  </a:lnTo>
                  <a:cubicBezTo>
                    <a:pt x="103083" y="133579"/>
                    <a:pt x="95004" y="134089"/>
                    <a:pt x="89915" y="139177"/>
                  </a:cubicBezTo>
                  <a:cubicBezTo>
                    <a:pt x="84826" y="144266"/>
                    <a:pt x="84317" y="152345"/>
                    <a:pt x="88725" y="158033"/>
                  </a:cubicBezTo>
                  <a:lnTo>
                    <a:pt x="89911" y="159376"/>
                  </a:lnTo>
                  <a:lnTo>
                    <a:pt x="118486" y="187951"/>
                  </a:lnTo>
                  <a:lnTo>
                    <a:pt x="119829" y="189137"/>
                  </a:lnTo>
                  <a:cubicBezTo>
                    <a:pt x="124983" y="193136"/>
                    <a:pt x="132192" y="193136"/>
                    <a:pt x="137346" y="189137"/>
                  </a:cubicBezTo>
                  <a:lnTo>
                    <a:pt x="138689" y="187951"/>
                  </a:lnTo>
                  <a:lnTo>
                    <a:pt x="195839" y="130801"/>
                  </a:lnTo>
                  <a:lnTo>
                    <a:pt x="197025" y="129458"/>
                  </a:lnTo>
                  <a:cubicBezTo>
                    <a:pt x="201437" y="123771"/>
                    <a:pt x="200928" y="115689"/>
                    <a:pt x="195839" y="110599"/>
                  </a:cubicBezTo>
                  <a:close/>
                </a:path>
              </a:pathLst>
            </a:custGeom>
            <a:solidFill>
              <a:srgbClr val="1E8E3E"/>
            </a:solidFill>
            <a:ln>
              <a:noFill/>
            </a:ln>
          </p:spPr>
          <p:txBody>
            <a:bodyPr/>
            <a:lstStyle/>
            <a:p>
              <a:endParaRPr lang="zh-CN" altLang="en-US"/>
            </a:p>
          </p:txBody>
        </p:sp>
        <p:sp>
          <p:nvSpPr>
            <p:cNvPr id="60" name="TextBox 60"/>
            <p:cNvSpPr txBox="1"/>
            <p:nvPr/>
          </p:nvSpPr>
          <p:spPr>
            <a:xfrm>
              <a:off x="7108508" y="1310164"/>
              <a:ext cx="2036510"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verify_equivalence()</a:t>
              </a:r>
            </a:p>
          </p:txBody>
        </p:sp>
        <p:sp>
          <p:nvSpPr>
            <p:cNvPr id="61" name="TextBox 61"/>
            <p:cNvSpPr txBox="1"/>
            <p:nvPr/>
          </p:nvSpPr>
          <p:spPr>
            <a:xfrm>
              <a:off x="7112318" y="1533049"/>
              <a:ext cx="1669471"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Consumes Phase 3 seeds</a:t>
              </a:r>
            </a:p>
          </p:txBody>
        </p:sp>
        <p:sp>
          <p:nvSpPr>
            <p:cNvPr id="62" name="Rectangle 62"/>
            <p:cNvSpPr/>
            <p:nvPr/>
          </p:nvSpPr>
          <p:spPr>
            <a:xfrm>
              <a:off x="6477000" y="1828800"/>
              <a:ext cx="4953000" cy="9525"/>
            </a:xfrm>
            <a:prstGeom prst="rect">
              <a:avLst/>
            </a:prstGeom>
            <a:solidFill>
              <a:srgbClr val="DADCE0"/>
            </a:solidFill>
            <a:ln>
              <a:noFill/>
            </a:ln>
          </p:spPr>
          <p:txBody>
            <a:bodyPr/>
            <a:lstStyle/>
            <a:p>
              <a:endParaRPr lang="zh-CN" altLang="en-US"/>
            </a:p>
          </p:txBody>
        </p:sp>
        <p:sp>
          <p:nvSpPr>
            <p:cNvPr id="63" name="Rectangle 63"/>
            <p:cNvSpPr/>
            <p:nvPr/>
          </p:nvSpPr>
          <p:spPr>
            <a:xfrm>
              <a:off x="6477000" y="1962150"/>
              <a:ext cx="4953000" cy="609600"/>
            </a:xfrm>
            <a:prstGeom prst="roundRect">
              <a:avLst>
                <a:gd name="adj" fmla="val 12500"/>
              </a:avLst>
            </a:prstGeom>
            <a:solidFill>
              <a:srgbClr val="F8F9FA"/>
            </a:solidFill>
            <a:ln>
              <a:noFill/>
            </a:ln>
          </p:spPr>
          <p:txBody>
            <a:bodyPr/>
            <a:lstStyle/>
            <a:p>
              <a:endParaRPr lang="zh-CN" altLang="en-US"/>
            </a:p>
          </p:txBody>
        </p:sp>
        <p:sp>
          <p:nvSpPr>
            <p:cNvPr id="64" name="Rectangle 64"/>
            <p:cNvSpPr/>
            <p:nvPr/>
          </p:nvSpPr>
          <p:spPr>
            <a:xfrm>
              <a:off x="6477000" y="1962150"/>
              <a:ext cx="38100" cy="609600"/>
            </a:xfrm>
            <a:prstGeom prst="roundRect">
              <a:avLst>
                <a:gd name="adj" fmla="val 50000"/>
              </a:avLst>
            </a:prstGeom>
            <a:solidFill>
              <a:srgbClr val="4285F4"/>
            </a:solidFill>
            <a:ln>
              <a:noFill/>
            </a:ln>
          </p:spPr>
          <p:txBody>
            <a:bodyPr/>
            <a:lstStyle/>
            <a:p>
              <a:endParaRPr lang="zh-CN" altLang="en-US"/>
            </a:p>
          </p:txBody>
        </p:sp>
        <p:sp>
          <p:nvSpPr>
            <p:cNvPr id="65" name="TextBox 65"/>
            <p:cNvSpPr txBox="1"/>
            <p:nvPr/>
          </p:nvSpPr>
          <p:spPr>
            <a:xfrm>
              <a:off x="6635115" y="2039302"/>
              <a:ext cx="1596616" cy="213360"/>
            </a:xfrm>
            <a:prstGeom prst="rect">
              <a:avLst/>
            </a:prstGeom>
            <a:noFill/>
            <a:ln>
              <a:noFill/>
            </a:ln>
          </p:spPr>
          <p:txBody>
            <a:bodyPr wrap="none" lIns="0" tIns="0" rIns="0" bIns="0" anchor="t" anchorCtr="0">
              <a:spAutoFit/>
            </a:bodyPr>
            <a:lstStyle/>
            <a:p>
              <a:pPr algn="l"/>
              <a:r>
                <a:rPr lang="zh-CN" sz="1050" b="1" dirty="0">
                  <a:solidFill>
                    <a:srgbClr val="4285F4"/>
                  </a:solidFill>
                  <a:latin typeface="Segoe UI"/>
                  <a:ea typeface="Microsoft YaHei"/>
                  <a:cs typeface="Segoe UI"/>
                </a:rPr>
                <a:t>1. Extract variables</a:t>
              </a:r>
            </a:p>
          </p:txBody>
        </p:sp>
        <p:sp>
          <p:nvSpPr>
            <p:cNvPr id="66" name="TextBox 66"/>
            <p:cNvSpPr txBox="1"/>
            <p:nvPr/>
          </p:nvSpPr>
          <p:spPr>
            <a:xfrm>
              <a:off x="6636068" y="2237899"/>
              <a:ext cx="326433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Walk both ASTs → collect all unique VAR_X names</a:t>
              </a:r>
            </a:p>
          </p:txBody>
        </p:sp>
        <p:sp>
          <p:nvSpPr>
            <p:cNvPr id="67" name="TextBox 67"/>
            <p:cNvSpPr txBox="1"/>
            <p:nvPr/>
          </p:nvSpPr>
          <p:spPr>
            <a:xfrm>
              <a:off x="6637020" y="2398395"/>
              <a:ext cx="2993517"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extract_variables(ast) → {"VAR_P", "VAR_Q"}</a:t>
              </a:r>
            </a:p>
          </p:txBody>
        </p:sp>
        <p:sp>
          <p:nvSpPr>
            <p:cNvPr id="68" name="Rectangle 68"/>
            <p:cNvSpPr/>
            <p:nvPr/>
          </p:nvSpPr>
          <p:spPr>
            <a:xfrm>
              <a:off x="6477000" y="2686050"/>
              <a:ext cx="4953000" cy="609600"/>
            </a:xfrm>
            <a:prstGeom prst="roundRect">
              <a:avLst>
                <a:gd name="adj" fmla="val 12500"/>
              </a:avLst>
            </a:prstGeom>
            <a:solidFill>
              <a:srgbClr val="F8F9FA"/>
            </a:solidFill>
            <a:ln>
              <a:noFill/>
            </a:ln>
          </p:spPr>
          <p:txBody>
            <a:bodyPr/>
            <a:lstStyle/>
            <a:p>
              <a:endParaRPr lang="zh-CN" altLang="en-US"/>
            </a:p>
          </p:txBody>
        </p:sp>
        <p:sp>
          <p:nvSpPr>
            <p:cNvPr id="69" name="Rectangle 69"/>
            <p:cNvSpPr/>
            <p:nvPr/>
          </p:nvSpPr>
          <p:spPr>
            <a:xfrm>
              <a:off x="6477000" y="2686050"/>
              <a:ext cx="38100" cy="609600"/>
            </a:xfrm>
            <a:prstGeom prst="roundRect">
              <a:avLst>
                <a:gd name="adj" fmla="val 50000"/>
              </a:avLst>
            </a:prstGeom>
            <a:solidFill>
              <a:srgbClr val="9334E6"/>
            </a:solidFill>
            <a:ln>
              <a:noFill/>
            </a:ln>
          </p:spPr>
          <p:txBody>
            <a:bodyPr/>
            <a:lstStyle/>
            <a:p>
              <a:endParaRPr lang="zh-CN" altLang="en-US"/>
            </a:p>
          </p:txBody>
        </p:sp>
        <p:sp>
          <p:nvSpPr>
            <p:cNvPr id="70" name="TextBox 70"/>
            <p:cNvSpPr txBox="1"/>
            <p:nvPr/>
          </p:nvSpPr>
          <p:spPr>
            <a:xfrm>
              <a:off x="6635115" y="2763202"/>
              <a:ext cx="1886452" cy="213360"/>
            </a:xfrm>
            <a:prstGeom prst="rect">
              <a:avLst/>
            </a:prstGeom>
            <a:noFill/>
            <a:ln>
              <a:noFill/>
            </a:ln>
          </p:spPr>
          <p:txBody>
            <a:bodyPr wrap="none" lIns="0" tIns="0" rIns="0" bIns="0" anchor="t" anchorCtr="0">
              <a:spAutoFit/>
            </a:bodyPr>
            <a:lstStyle/>
            <a:p>
              <a:pPr algn="l"/>
              <a:r>
                <a:rPr lang="zh-CN" sz="1050" b="1" dirty="0">
                  <a:solidFill>
                    <a:srgbClr val="9334E6"/>
                  </a:solidFill>
                  <a:latin typeface="Segoe UI"/>
                  <a:ea typeface="Microsoft YaHei"/>
                  <a:cs typeface="Segoe UI"/>
                </a:rPr>
                <a:t>2. Enumerate 2ⁿ states</a:t>
              </a:r>
            </a:p>
          </p:txBody>
        </p:sp>
        <p:sp>
          <p:nvSpPr>
            <p:cNvPr id="71" name="TextBox 71"/>
            <p:cNvSpPr txBox="1"/>
            <p:nvPr/>
          </p:nvSpPr>
          <p:spPr>
            <a:xfrm>
              <a:off x="6636068" y="2961799"/>
              <a:ext cx="324297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Bitwise iteration: bit j of row i → T/F for var j</a:t>
              </a:r>
            </a:p>
          </p:txBody>
        </p:sp>
        <p:sp>
          <p:nvSpPr>
            <p:cNvPr id="72" name="TextBox 72"/>
            <p:cNvSpPr txBox="1"/>
            <p:nvPr/>
          </p:nvSpPr>
          <p:spPr>
            <a:xfrm>
              <a:off x="6637020" y="3122295"/>
              <a:ext cx="2290286"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for i in range(2**n): state = {...}</a:t>
              </a:r>
            </a:p>
          </p:txBody>
        </p:sp>
        <p:sp>
          <p:nvSpPr>
            <p:cNvPr id="73" name="Rectangle 73"/>
            <p:cNvSpPr/>
            <p:nvPr/>
          </p:nvSpPr>
          <p:spPr>
            <a:xfrm>
              <a:off x="6477000" y="3409950"/>
              <a:ext cx="4953000" cy="609600"/>
            </a:xfrm>
            <a:prstGeom prst="roundRect">
              <a:avLst>
                <a:gd name="adj" fmla="val 12500"/>
              </a:avLst>
            </a:prstGeom>
            <a:solidFill>
              <a:srgbClr val="F8F9FA"/>
            </a:solidFill>
            <a:ln>
              <a:noFill/>
            </a:ln>
          </p:spPr>
          <p:txBody>
            <a:bodyPr/>
            <a:lstStyle/>
            <a:p>
              <a:endParaRPr lang="zh-CN" altLang="en-US"/>
            </a:p>
          </p:txBody>
        </p:sp>
        <p:sp>
          <p:nvSpPr>
            <p:cNvPr id="74" name="Rectangle 74"/>
            <p:cNvSpPr/>
            <p:nvPr/>
          </p:nvSpPr>
          <p:spPr>
            <a:xfrm>
              <a:off x="6477000" y="3409950"/>
              <a:ext cx="38100" cy="609600"/>
            </a:xfrm>
            <a:prstGeom prst="roundRect">
              <a:avLst>
                <a:gd name="adj" fmla="val 50000"/>
              </a:avLst>
            </a:prstGeom>
            <a:solidFill>
              <a:srgbClr val="34A853"/>
            </a:solidFill>
            <a:ln>
              <a:noFill/>
            </a:ln>
          </p:spPr>
          <p:txBody>
            <a:bodyPr/>
            <a:lstStyle/>
            <a:p>
              <a:endParaRPr lang="zh-CN" altLang="en-US"/>
            </a:p>
          </p:txBody>
        </p:sp>
        <p:sp>
          <p:nvSpPr>
            <p:cNvPr id="75" name="TextBox 75"/>
            <p:cNvSpPr txBox="1"/>
            <p:nvPr/>
          </p:nvSpPr>
          <p:spPr>
            <a:xfrm>
              <a:off x="6635115" y="3487102"/>
              <a:ext cx="1725432" cy="213360"/>
            </a:xfrm>
            <a:prstGeom prst="rect">
              <a:avLst/>
            </a:prstGeom>
            <a:noFill/>
            <a:ln>
              <a:noFill/>
            </a:ln>
          </p:spPr>
          <p:txBody>
            <a:bodyPr wrap="none" lIns="0" tIns="0" rIns="0" bIns="0" anchor="t" anchorCtr="0">
              <a:spAutoFit/>
            </a:bodyPr>
            <a:lstStyle/>
            <a:p>
              <a:pPr algn="l"/>
              <a:r>
                <a:rPr lang="zh-CN" sz="1050" b="1" dirty="0">
                  <a:solidFill>
                    <a:srgbClr val="34A853"/>
                  </a:solidFill>
                  <a:latin typeface="Segoe UI"/>
                  <a:ea typeface="Microsoft YaHei"/>
                  <a:cs typeface="Segoe UI"/>
                </a:rPr>
                <a:t>3. Evaluate both ASTs</a:t>
              </a:r>
            </a:p>
          </p:txBody>
        </p:sp>
        <p:sp>
          <p:nvSpPr>
            <p:cNvPr id="76" name="TextBox 76"/>
            <p:cNvSpPr txBox="1"/>
            <p:nvPr/>
          </p:nvSpPr>
          <p:spPr>
            <a:xfrm>
              <a:off x="6636068" y="3685699"/>
              <a:ext cx="4674084"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evaluate_ast(original, state) and evaluate_ast(optimized, state)</a:t>
              </a:r>
            </a:p>
          </p:txBody>
        </p:sp>
        <p:sp>
          <p:nvSpPr>
            <p:cNvPr id="77" name="TextBox 77"/>
            <p:cNvSpPr txBox="1"/>
            <p:nvPr/>
          </p:nvSpPr>
          <p:spPr>
            <a:xfrm>
              <a:off x="6637020" y="3846195"/>
              <a:ext cx="2342864"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recursive operator truth semantics</a:t>
              </a:r>
            </a:p>
          </p:txBody>
        </p:sp>
        <p:sp>
          <p:nvSpPr>
            <p:cNvPr id="78" name="Rectangle 78"/>
            <p:cNvSpPr/>
            <p:nvPr/>
          </p:nvSpPr>
          <p:spPr>
            <a:xfrm>
              <a:off x="6477000" y="4133850"/>
              <a:ext cx="4953000" cy="609600"/>
            </a:xfrm>
            <a:prstGeom prst="roundRect">
              <a:avLst>
                <a:gd name="adj" fmla="val 12500"/>
              </a:avLst>
            </a:prstGeom>
            <a:solidFill>
              <a:srgbClr val="F8F9FA"/>
            </a:solidFill>
            <a:ln>
              <a:noFill/>
            </a:ln>
          </p:spPr>
          <p:txBody>
            <a:bodyPr/>
            <a:lstStyle/>
            <a:p>
              <a:endParaRPr lang="zh-CN" altLang="en-US"/>
            </a:p>
          </p:txBody>
        </p:sp>
        <p:sp>
          <p:nvSpPr>
            <p:cNvPr id="79" name="Rectangle 79"/>
            <p:cNvSpPr/>
            <p:nvPr/>
          </p:nvSpPr>
          <p:spPr>
            <a:xfrm>
              <a:off x="6477000" y="4133850"/>
              <a:ext cx="38100" cy="609600"/>
            </a:xfrm>
            <a:prstGeom prst="roundRect">
              <a:avLst>
                <a:gd name="adj" fmla="val 50000"/>
              </a:avLst>
            </a:prstGeom>
            <a:solidFill>
              <a:srgbClr val="1E8E3E"/>
            </a:solidFill>
            <a:ln>
              <a:noFill/>
            </a:ln>
          </p:spPr>
          <p:txBody>
            <a:bodyPr/>
            <a:lstStyle/>
            <a:p>
              <a:endParaRPr lang="zh-CN" altLang="en-US"/>
            </a:p>
          </p:txBody>
        </p:sp>
        <p:sp>
          <p:nvSpPr>
            <p:cNvPr id="80" name="TextBox 80"/>
            <p:cNvSpPr txBox="1"/>
            <p:nvPr/>
          </p:nvSpPr>
          <p:spPr>
            <a:xfrm>
              <a:off x="6635115" y="4211002"/>
              <a:ext cx="2353411" cy="213360"/>
            </a:xfrm>
            <a:prstGeom prst="rect">
              <a:avLst/>
            </a:prstGeom>
            <a:noFill/>
            <a:ln>
              <a:noFill/>
            </a:ln>
          </p:spPr>
          <p:txBody>
            <a:bodyPr wrap="none" lIns="0" tIns="0" rIns="0" bIns="0" anchor="t" anchorCtr="0">
              <a:spAutoFit/>
            </a:bodyPr>
            <a:lstStyle/>
            <a:p>
              <a:pPr algn="l"/>
              <a:r>
                <a:rPr lang="zh-CN" sz="1050" b="1" dirty="0">
                  <a:solidFill>
                    <a:srgbClr val="1E8E3E"/>
                  </a:solidFill>
                  <a:latin typeface="Segoe UI"/>
                  <a:ea typeface="Microsoft YaHei"/>
                  <a:cs typeface="Segoe UI"/>
                </a:rPr>
                <a:t>4. Compare column-by-column</a:t>
              </a:r>
            </a:p>
          </p:txBody>
        </p:sp>
        <p:sp>
          <p:nvSpPr>
            <p:cNvPr id="81" name="TextBox 81"/>
            <p:cNvSpPr txBox="1"/>
            <p:nvPr/>
          </p:nvSpPr>
          <p:spPr>
            <a:xfrm>
              <a:off x="6636068" y="4409599"/>
              <a:ext cx="2580823"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Any mismatch → is_equivalent = FALSE</a:t>
              </a:r>
            </a:p>
          </p:txBody>
        </p:sp>
        <p:sp>
          <p:nvSpPr>
            <p:cNvPr id="82" name="TextBox 82"/>
            <p:cNvSpPr txBox="1"/>
            <p:nvPr/>
          </p:nvSpPr>
          <p:spPr>
            <a:xfrm>
              <a:off x="6637020" y="4570095"/>
              <a:ext cx="3216973"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if orig_result != opt_result: is_equivalent = False</a:t>
              </a:r>
            </a:p>
          </p:txBody>
        </p:sp>
        <p:sp>
          <p:nvSpPr>
            <p:cNvPr id="83" name="Rectangle 83"/>
            <p:cNvSpPr/>
            <p:nvPr/>
          </p:nvSpPr>
          <p:spPr>
            <a:xfrm>
              <a:off x="6477000" y="4876800"/>
              <a:ext cx="4953000" cy="9525"/>
            </a:xfrm>
            <a:prstGeom prst="rect">
              <a:avLst/>
            </a:prstGeom>
            <a:solidFill>
              <a:srgbClr val="DADCE0"/>
            </a:solidFill>
            <a:ln>
              <a:noFill/>
            </a:ln>
          </p:spPr>
          <p:txBody>
            <a:bodyPr/>
            <a:lstStyle/>
            <a:p>
              <a:endParaRPr lang="zh-CN" altLang="en-US"/>
            </a:p>
          </p:txBody>
        </p:sp>
        <p:sp>
          <p:nvSpPr>
            <p:cNvPr id="84" name="TextBox 84"/>
            <p:cNvSpPr txBox="1"/>
            <p:nvPr/>
          </p:nvSpPr>
          <p:spPr>
            <a:xfrm>
              <a:off x="6464618" y="4981099"/>
              <a:ext cx="2196346"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Verification output structure:</a:t>
              </a:r>
            </a:p>
          </p:txBody>
        </p:sp>
        <p:sp>
          <p:nvSpPr>
            <p:cNvPr id="85" name="Rectangle 85"/>
            <p:cNvSpPr/>
            <p:nvPr/>
          </p:nvSpPr>
          <p:spPr>
            <a:xfrm>
              <a:off x="6477000" y="5181600"/>
              <a:ext cx="4953000" cy="914400"/>
            </a:xfrm>
            <a:prstGeom prst="roundRect">
              <a:avLst>
                <a:gd name="adj" fmla="val 6250"/>
              </a:avLst>
            </a:prstGeom>
            <a:solidFill>
              <a:srgbClr val="F8F9FA"/>
            </a:solidFill>
            <a:ln>
              <a:noFill/>
            </a:ln>
          </p:spPr>
          <p:txBody>
            <a:bodyPr/>
            <a:lstStyle/>
            <a:p>
              <a:endParaRPr lang="zh-CN" altLang="en-US"/>
            </a:p>
          </p:txBody>
        </p:sp>
        <p:sp>
          <p:nvSpPr>
            <p:cNvPr id="86" name="TextBox 86"/>
            <p:cNvSpPr txBox="1"/>
            <p:nvPr/>
          </p:nvSpPr>
          <p:spPr>
            <a:xfrm>
              <a:off x="6656070" y="5293995"/>
              <a:ext cx="95155" cy="182880"/>
            </a:xfrm>
            <a:prstGeom prst="rect">
              <a:avLst/>
            </a:prstGeom>
            <a:noFill/>
            <a:ln>
              <a:noFill/>
            </a:ln>
          </p:spPr>
          <p:txBody>
            <a:bodyPr wrap="none" lIns="0" tIns="0" rIns="0" bIns="0" anchor="t" anchorCtr="0">
              <a:spAutoFit/>
            </a:bodyPr>
            <a:lstStyle/>
            <a:p>
              <a:pPr algn="l"/>
              <a:r>
                <a:rPr lang="zh-CN" sz="900" dirty="0">
                  <a:solidFill>
                    <a:srgbClr val="202124"/>
                  </a:solidFill>
                  <a:latin typeface="Consolas"/>
                  <a:ea typeface="Microsoft YaHei"/>
                  <a:cs typeface="Consolas"/>
                </a:rPr>
                <a:t>{</a:t>
              </a:r>
            </a:p>
          </p:txBody>
        </p:sp>
        <p:sp>
          <p:nvSpPr>
            <p:cNvPr id="87" name="TextBox 87"/>
            <p:cNvSpPr txBox="1"/>
            <p:nvPr/>
          </p:nvSpPr>
          <p:spPr>
            <a:xfrm>
              <a:off x="6827520" y="5465445"/>
              <a:ext cx="64722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 3,</a:t>
              </a:r>
            </a:p>
          </p:txBody>
        </p:sp>
        <p:sp>
          <p:nvSpPr>
            <p:cNvPr id="88" name="TextBox 88"/>
            <p:cNvSpPr txBox="1"/>
            <p:nvPr/>
          </p:nvSpPr>
          <p:spPr>
            <a:xfrm>
              <a:off x="6827520" y="5636895"/>
              <a:ext cx="269776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"variables_tested": ["VAR_P","VAR_Q"],</a:t>
              </a:r>
            </a:p>
          </p:txBody>
        </p:sp>
        <p:sp>
          <p:nvSpPr>
            <p:cNvPr id="89" name="TextBox 89"/>
            <p:cNvSpPr txBox="1"/>
            <p:nvPr/>
          </p:nvSpPr>
          <p:spPr>
            <a:xfrm>
              <a:off x="6827520" y="5808345"/>
              <a:ext cx="284892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"ast_original_column": ["T","T","F","T"],</a:t>
              </a:r>
            </a:p>
          </p:txBody>
        </p:sp>
        <p:sp>
          <p:nvSpPr>
            <p:cNvPr id="90" name="TextBox 90"/>
            <p:cNvSpPr txBox="1"/>
            <p:nvPr/>
          </p:nvSpPr>
          <p:spPr>
            <a:xfrm>
              <a:off x="6827520" y="5941695"/>
              <a:ext cx="1554194"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"is_equivalent": "TRUE"</a:t>
              </a:r>
            </a:p>
          </p:txBody>
        </p:sp>
      </p:grpSp>
      <p:grpSp>
        <p:nvGrpSpPr>
          <p:cNvPr id="95" name="Group 95"/>
          <p:cNvGrpSpPr/>
          <p:nvPr/>
        </p:nvGrpSpPr>
        <p:grpSpPr>
          <a:xfrm>
            <a:off x="561022" y="6572250"/>
            <a:ext cx="11069956" cy="269081"/>
            <a:chOff x="561022" y="6572250"/>
            <a:chExt cx="11069956" cy="269081"/>
          </a:xfrm>
        </p:grpSpPr>
        <p:sp>
          <p:nvSpPr>
            <p:cNvPr id="92" name="Rectangle 92"/>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93" name="TextBox 93"/>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94" name="TextBox 94"/>
            <p:cNvSpPr txBox="1"/>
            <p:nvPr/>
          </p:nvSpPr>
          <p:spPr>
            <a:xfrm>
              <a:off x="11507605" y="667369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500"/>
                                        <p:tgtEl>
                                          <p:spTgt spid="56"/>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91"/>
                                        </p:tgtEl>
                                        <p:attrNameLst>
                                          <p:attrName>style.visibility</p:attrName>
                                        </p:attrNameLst>
                                      </p:cBhvr>
                                      <p:to>
                                        <p:strVal val="visible"/>
                                      </p:to>
                                    </p:set>
                                    <p:animEffect transition="in" filter="fade">
                                      <p:cBhvr>
                                        <p:cTn id="11"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P spid="9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9" name="Group 9"/>
          <p:cNvGrpSpPr/>
          <p:nvPr/>
        </p:nvGrpSpPr>
        <p:grpSpPr>
          <a:xfrm>
            <a:off x="557212" y="316230"/>
            <a:ext cx="5426035" cy="648176"/>
            <a:chOff x="557212" y="316230"/>
            <a:chExt cx="5426035" cy="648176"/>
          </a:xfrm>
        </p:grpSpPr>
        <p:sp>
          <p:nvSpPr>
            <p:cNvPr id="5" name="Rectangle 5"/>
            <p:cNvSpPr/>
            <p:nvPr/>
          </p:nvSpPr>
          <p:spPr>
            <a:xfrm>
              <a:off x="571500" y="333375"/>
              <a:ext cx="666750" cy="304800"/>
            </a:xfrm>
            <a:prstGeom prst="roundRect">
              <a:avLst>
                <a:gd name="adj" fmla="val 50000"/>
              </a:avLst>
            </a:prstGeom>
            <a:solidFill>
              <a:srgbClr val="1E8E3E">
                <a:alpha val="15000"/>
              </a:srgbClr>
            </a:solidFill>
            <a:ln w="9525">
              <a:solidFill>
                <a:srgbClr val="1E8E3E">
                  <a:alpha val="50000"/>
                </a:srgbClr>
              </a:solidFill>
            </a:ln>
          </p:spPr>
          <p:txBody>
            <a:bodyPr/>
            <a:lstStyle/>
            <a:p>
              <a:endParaRPr lang="zh-CN" altLang="en-US"/>
            </a:p>
          </p:txBody>
        </p:sp>
        <p:sp>
          <p:nvSpPr>
            <p:cNvPr id="6" name="TextBox 6"/>
            <p:cNvSpPr txBox="1"/>
            <p:nvPr/>
          </p:nvSpPr>
          <p:spPr>
            <a:xfrm>
              <a:off x="623359" y="428149"/>
              <a:ext cx="563032" cy="198120"/>
            </a:xfrm>
            <a:prstGeom prst="rect">
              <a:avLst/>
            </a:prstGeom>
            <a:noFill/>
            <a:ln>
              <a:noFill/>
            </a:ln>
          </p:spPr>
          <p:txBody>
            <a:bodyPr wrap="none" lIns="0" tIns="0" rIns="0" bIns="0" anchor="t" anchorCtr="0">
              <a:spAutoFit/>
            </a:bodyPr>
            <a:lstStyle/>
            <a:p>
              <a:pPr algn="ctr"/>
              <a:r>
                <a:rPr lang="zh-CN" sz="975" b="1" dirty="0">
                  <a:solidFill>
                    <a:srgbClr val="1E8E3E"/>
                  </a:solidFill>
                  <a:latin typeface="Segoe UI"/>
                  <a:ea typeface="Microsoft YaHei"/>
                  <a:cs typeface="Segoe UI"/>
                </a:rPr>
                <a:t>Phase 4</a:t>
              </a:r>
            </a:p>
          </p:txBody>
        </p:sp>
        <p:sp>
          <p:nvSpPr>
            <p:cNvPr id="7" name="TextBox 7"/>
            <p:cNvSpPr txBox="1"/>
            <p:nvPr/>
          </p:nvSpPr>
          <p:spPr>
            <a:xfrm>
              <a:off x="1354455" y="316230"/>
              <a:ext cx="2919498" cy="426720"/>
            </a:xfrm>
            <a:prstGeom prst="rect">
              <a:avLst/>
            </a:prstGeom>
            <a:noFill/>
            <a:ln>
              <a:noFill/>
            </a:ln>
          </p:spPr>
          <p:txBody>
            <a:bodyPr wrap="none" lIns="0" tIns="0" rIns="0" bIns="0" anchor="t" anchorCtr="0">
              <a:spAutoFit/>
            </a:bodyPr>
            <a:lstStyle/>
            <a:p>
              <a:pPr algn="l"/>
              <a:r>
                <a:rPr lang="zh-CN" sz="2100" b="1" dirty="0">
                  <a:solidFill>
                    <a:srgbClr val="202124"/>
                  </a:solidFill>
                  <a:latin typeface="Segoe UI"/>
                  <a:ea typeface="Microsoft YaHei"/>
                  <a:cs typeface="Segoe UI"/>
                </a:rPr>
                <a:t>— Execution Engine</a:t>
              </a:r>
            </a:p>
          </p:txBody>
        </p:sp>
        <p:sp>
          <p:nvSpPr>
            <p:cNvPr id="8" name="TextBox 8"/>
            <p:cNvSpPr txBox="1"/>
            <p:nvPr/>
          </p:nvSpPr>
          <p:spPr>
            <a:xfrm>
              <a:off x="557212" y="735806"/>
              <a:ext cx="5426035"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Statement dispatch, state management, and JSON output assembly</a:t>
              </a:r>
            </a:p>
          </p:txBody>
        </p:sp>
      </p:grpSp>
      <p:grpSp>
        <p:nvGrpSpPr>
          <p:cNvPr id="48" name="Group 48"/>
          <p:cNvGrpSpPr/>
          <p:nvPr/>
        </p:nvGrpSpPr>
        <p:grpSpPr>
          <a:xfrm>
            <a:off x="571500" y="1047750"/>
            <a:ext cx="5143500" cy="5334000"/>
            <a:chOff x="571500" y="1047750"/>
            <a:chExt cx="5143500" cy="5334000"/>
          </a:xfrm>
        </p:grpSpPr>
        <p:sp>
          <p:nvSpPr>
            <p:cNvPr id="10" name="Rectangle 10"/>
            <p:cNvSpPr/>
            <p:nvPr/>
          </p:nvSpPr>
          <p:spPr>
            <a:xfrm>
              <a:off x="571500" y="1047750"/>
              <a:ext cx="5143500" cy="5334000"/>
            </a:xfrm>
            <a:prstGeom prst="roundRect">
              <a:avLst>
                <a:gd name="adj" fmla="val 1852"/>
              </a:avLst>
            </a:prstGeom>
            <a:solidFill>
              <a:srgbClr val="FFFFFF"/>
            </a:solidFill>
            <a:ln w="9525">
              <a:solidFill>
                <a:srgbClr val="DADCE0"/>
              </a:solidFill>
            </a:ln>
          </p:spPr>
          <p:txBody>
            <a:bodyPr/>
            <a:lstStyle/>
            <a:p>
              <a:endParaRPr lang="zh-CN" altLang="en-US"/>
            </a:p>
          </p:txBody>
        </p:sp>
        <p:sp>
          <p:nvSpPr>
            <p:cNvPr id="11" name="Rectangle 11"/>
            <p:cNvSpPr/>
            <p:nvPr/>
          </p:nvSpPr>
          <p:spPr>
            <a:xfrm>
              <a:off x="762000" y="1238250"/>
              <a:ext cx="495300" cy="495300"/>
            </a:xfrm>
            <a:prstGeom prst="roundRect">
              <a:avLst>
                <a:gd name="adj" fmla="val 19231"/>
              </a:avLst>
            </a:prstGeom>
            <a:solidFill>
              <a:srgbClr val="1E8E3E">
                <a:alpha val="12000"/>
              </a:srgbClr>
            </a:solidFill>
            <a:ln>
              <a:noFill/>
            </a:ln>
          </p:spPr>
          <p:txBody>
            <a:bodyPr/>
            <a:lstStyle/>
            <a:p>
              <a:endParaRPr lang="zh-CN" altLang="en-US"/>
            </a:p>
          </p:txBody>
        </p:sp>
        <p:sp>
          <p:nvSpPr>
            <p:cNvPr id="12" name="Freeform 12"/>
            <p:cNvSpPr/>
            <p:nvPr/>
          </p:nvSpPr>
          <p:spPr>
            <a:xfrm>
              <a:off x="866773" y="1336625"/>
              <a:ext cx="300850" cy="302024"/>
            </a:xfrm>
            <a:custGeom>
              <a:avLst/>
              <a:gdLst/>
              <a:ahLst/>
              <a:cxnLst/>
              <a:rect l="l" t="t" r="r" b="b"/>
              <a:pathLst>
                <a:path w="300850" h="302024">
                  <a:moveTo>
                    <a:pt x="214314" y="25545"/>
                  </a:moveTo>
                  <a:cubicBezTo>
                    <a:pt x="274362" y="60214"/>
                    <a:pt x="300850" y="132991"/>
                    <a:pt x="277135" y="198146"/>
                  </a:cubicBezTo>
                  <a:cubicBezTo>
                    <a:pt x="253420" y="263301"/>
                    <a:pt x="186348" y="302024"/>
                    <a:pt x="118064" y="289983"/>
                  </a:cubicBezTo>
                  <a:cubicBezTo>
                    <a:pt x="49781" y="277941"/>
                    <a:pt x="0" y="218612"/>
                    <a:pt x="2" y="149275"/>
                  </a:cubicBezTo>
                  <a:lnTo>
                    <a:pt x="73" y="144646"/>
                  </a:lnTo>
                  <a:cubicBezTo>
                    <a:pt x="1701" y="94454"/>
                    <a:pt x="29560" y="48801"/>
                    <a:pt x="73452" y="24400"/>
                  </a:cubicBezTo>
                  <a:cubicBezTo>
                    <a:pt x="117344" y="0"/>
                    <a:pt x="170824" y="435"/>
                    <a:pt x="214314" y="25545"/>
                  </a:cubicBezTo>
                  <a:moveTo>
                    <a:pt x="162051" y="100126"/>
                  </a:moveTo>
                  <a:cubicBezTo>
                    <a:pt x="158489" y="98829"/>
                    <a:pt x="154557" y="99000"/>
                    <a:pt x="151122" y="100603"/>
                  </a:cubicBezTo>
                  <a:cubicBezTo>
                    <a:pt x="147687" y="102205"/>
                    <a:pt x="145029" y="105107"/>
                    <a:pt x="143734" y="108670"/>
                  </a:cubicBezTo>
                  <a:lnTo>
                    <a:pt x="115159" y="187251"/>
                  </a:lnTo>
                  <a:cubicBezTo>
                    <a:pt x="112460" y="194668"/>
                    <a:pt x="116286" y="202869"/>
                    <a:pt x="123703" y="205568"/>
                  </a:cubicBezTo>
                  <a:cubicBezTo>
                    <a:pt x="131120" y="208266"/>
                    <a:pt x="139321" y="204441"/>
                    <a:pt x="142020" y="197024"/>
                  </a:cubicBezTo>
                  <a:lnTo>
                    <a:pt x="170595" y="118443"/>
                  </a:lnTo>
                  <a:cubicBezTo>
                    <a:pt x="171892" y="114881"/>
                    <a:pt x="171720" y="110949"/>
                    <a:pt x="170118" y="107514"/>
                  </a:cubicBezTo>
                  <a:cubicBezTo>
                    <a:pt x="168515" y="104079"/>
                    <a:pt x="165613" y="101421"/>
                    <a:pt x="162051" y="100126"/>
                  </a:cubicBezTo>
                  <a:moveTo>
                    <a:pt x="102972" y="117742"/>
                  </a:moveTo>
                  <a:cubicBezTo>
                    <a:pt x="97393" y="112165"/>
                    <a:pt x="88349" y="112165"/>
                    <a:pt x="82769" y="117742"/>
                  </a:cubicBezTo>
                  <a:lnTo>
                    <a:pt x="61338" y="139174"/>
                  </a:lnTo>
                  <a:cubicBezTo>
                    <a:pt x="55760" y="144753"/>
                    <a:pt x="55760" y="153797"/>
                    <a:pt x="61338" y="159376"/>
                  </a:cubicBezTo>
                  <a:lnTo>
                    <a:pt x="82769" y="180807"/>
                  </a:lnTo>
                  <a:cubicBezTo>
                    <a:pt x="88349" y="186385"/>
                    <a:pt x="97393" y="186385"/>
                    <a:pt x="102972" y="180807"/>
                  </a:cubicBezTo>
                  <a:lnTo>
                    <a:pt x="104158" y="179464"/>
                  </a:lnTo>
                  <a:cubicBezTo>
                    <a:pt x="108570" y="173777"/>
                    <a:pt x="108061" y="165695"/>
                    <a:pt x="102972" y="160605"/>
                  </a:cubicBezTo>
                  <a:lnTo>
                    <a:pt x="91656" y="149275"/>
                  </a:lnTo>
                  <a:lnTo>
                    <a:pt x="102972" y="137945"/>
                  </a:lnTo>
                  <a:cubicBezTo>
                    <a:pt x="108549" y="132366"/>
                    <a:pt x="108549" y="123322"/>
                    <a:pt x="102972" y="117742"/>
                  </a:cubicBezTo>
                  <a:moveTo>
                    <a:pt x="202984" y="117742"/>
                  </a:moveTo>
                  <a:cubicBezTo>
                    <a:pt x="197405" y="112165"/>
                    <a:pt x="188361" y="112165"/>
                    <a:pt x="182782" y="117742"/>
                  </a:cubicBezTo>
                  <a:lnTo>
                    <a:pt x="181596" y="119085"/>
                  </a:lnTo>
                  <a:cubicBezTo>
                    <a:pt x="177184" y="124773"/>
                    <a:pt x="177692" y="132855"/>
                    <a:pt x="182782" y="137945"/>
                  </a:cubicBezTo>
                  <a:lnTo>
                    <a:pt x="194097" y="149275"/>
                  </a:lnTo>
                  <a:lnTo>
                    <a:pt x="182782" y="160605"/>
                  </a:lnTo>
                  <a:cubicBezTo>
                    <a:pt x="177367" y="166211"/>
                    <a:pt x="177445" y="175122"/>
                    <a:pt x="182956" y="180633"/>
                  </a:cubicBezTo>
                  <a:cubicBezTo>
                    <a:pt x="188467" y="186145"/>
                    <a:pt x="197378" y="186222"/>
                    <a:pt x="202984" y="180807"/>
                  </a:cubicBezTo>
                  <a:lnTo>
                    <a:pt x="224416" y="159376"/>
                  </a:lnTo>
                  <a:cubicBezTo>
                    <a:pt x="229993" y="153797"/>
                    <a:pt x="229993" y="144753"/>
                    <a:pt x="224416" y="139174"/>
                  </a:cubicBezTo>
                  <a:close/>
                </a:path>
              </a:pathLst>
            </a:custGeom>
            <a:solidFill>
              <a:srgbClr val="1E8E3E"/>
            </a:solidFill>
            <a:ln>
              <a:noFill/>
            </a:ln>
          </p:spPr>
          <p:txBody>
            <a:bodyPr/>
            <a:lstStyle/>
            <a:p>
              <a:endParaRPr lang="zh-CN" altLang="en-US"/>
            </a:p>
          </p:txBody>
        </p:sp>
        <p:sp>
          <p:nvSpPr>
            <p:cNvPr id="13" name="TextBox 13"/>
            <p:cNvSpPr txBox="1"/>
            <p:nvPr/>
          </p:nvSpPr>
          <p:spPr>
            <a:xfrm>
              <a:off x="1393508" y="1310164"/>
              <a:ext cx="2114720" cy="259080"/>
            </a:xfrm>
            <a:prstGeom prst="rect">
              <a:avLst/>
            </a:prstGeom>
            <a:noFill/>
            <a:ln>
              <a:noFill/>
            </a:ln>
          </p:spPr>
          <p:txBody>
            <a:bodyPr wrap="none" lIns="0" tIns="0" rIns="0" bIns="0" anchor="t" anchorCtr="0">
              <a:spAutoFit/>
            </a:bodyPr>
            <a:lstStyle/>
            <a:p>
              <a:pPr algn="l"/>
              <a:r>
                <a:rPr lang="zh-CN" sz="1275" b="1" dirty="0">
                  <a:solidFill>
                    <a:srgbClr val="202124"/>
                  </a:solidFill>
                  <a:latin typeface="Segoe UI"/>
                  <a:ea typeface="Microsoft YaHei"/>
                  <a:cs typeface="Segoe UI"/>
                </a:rPr>
                <a:t>execute_statement()</a:t>
              </a:r>
            </a:p>
          </p:txBody>
        </p:sp>
        <p:sp>
          <p:nvSpPr>
            <p:cNvPr id="14" name="TextBox 14"/>
            <p:cNvSpPr txBox="1"/>
            <p:nvPr/>
          </p:nvSpPr>
          <p:spPr>
            <a:xfrm>
              <a:off x="1397318" y="1533049"/>
              <a:ext cx="299377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Dispatches by AST tag → updates state dict</a:t>
              </a:r>
            </a:p>
          </p:txBody>
        </p:sp>
        <p:sp>
          <p:nvSpPr>
            <p:cNvPr id="15" name="Rectangle 15"/>
            <p:cNvSpPr/>
            <p:nvPr/>
          </p:nvSpPr>
          <p:spPr>
            <a:xfrm>
              <a:off x="762000" y="1828800"/>
              <a:ext cx="4762500" cy="9525"/>
            </a:xfrm>
            <a:prstGeom prst="rect">
              <a:avLst/>
            </a:prstGeom>
            <a:solidFill>
              <a:srgbClr val="DADCE0"/>
            </a:solidFill>
            <a:ln>
              <a:noFill/>
            </a:ln>
          </p:spPr>
          <p:txBody>
            <a:bodyPr/>
            <a:lstStyle/>
            <a:p>
              <a:endParaRPr lang="zh-CN" altLang="en-US"/>
            </a:p>
          </p:txBody>
        </p:sp>
        <p:grpSp>
          <p:nvGrpSpPr>
            <p:cNvPr id="23" name="Group 23"/>
            <p:cNvGrpSpPr/>
            <p:nvPr/>
          </p:nvGrpSpPr>
          <p:grpSpPr>
            <a:xfrm>
              <a:off x="762000" y="1962150"/>
              <a:ext cx="4762500" cy="809625"/>
              <a:chOff x="762000" y="1962150"/>
              <a:chExt cx="4762500" cy="809625"/>
            </a:xfrm>
          </p:grpSpPr>
          <p:sp>
            <p:nvSpPr>
              <p:cNvPr id="16" name="Rectangle 16"/>
              <p:cNvSpPr/>
              <p:nvPr/>
            </p:nvSpPr>
            <p:spPr>
              <a:xfrm>
                <a:off x="762000" y="1962150"/>
                <a:ext cx="4762500" cy="781050"/>
              </a:xfrm>
              <a:prstGeom prst="roundRect">
                <a:avLst>
                  <a:gd name="adj" fmla="val 9756"/>
                </a:avLst>
              </a:prstGeom>
              <a:solidFill>
                <a:srgbClr val="F8F9FA"/>
              </a:solidFill>
              <a:ln>
                <a:noFill/>
              </a:ln>
            </p:spPr>
            <p:txBody>
              <a:bodyPr/>
              <a:lstStyle/>
              <a:p>
                <a:endParaRPr lang="zh-CN" altLang="en-US"/>
              </a:p>
            </p:txBody>
          </p:sp>
          <p:sp>
            <p:nvSpPr>
              <p:cNvPr id="17" name="Rectangle 17"/>
              <p:cNvSpPr/>
              <p:nvPr/>
            </p:nvSpPr>
            <p:spPr>
              <a:xfrm>
                <a:off x="762000" y="1962150"/>
                <a:ext cx="38100" cy="781050"/>
              </a:xfrm>
              <a:prstGeom prst="roundRect">
                <a:avLst>
                  <a:gd name="adj" fmla="val 50000"/>
                </a:avLst>
              </a:prstGeom>
              <a:solidFill>
                <a:srgbClr val="4285F4"/>
              </a:solidFill>
              <a:ln>
                <a:noFill/>
              </a:ln>
            </p:spPr>
            <p:txBody>
              <a:bodyPr/>
              <a:lstStyle/>
              <a:p>
                <a:endParaRPr lang="zh-CN" altLang="en-US"/>
              </a:p>
            </p:txBody>
          </p:sp>
          <p:sp>
            <p:nvSpPr>
              <p:cNvPr id="18" name="TextBox 18"/>
              <p:cNvSpPr txBox="1"/>
              <p:nvPr/>
            </p:nvSpPr>
            <p:spPr>
              <a:xfrm>
                <a:off x="920115" y="2039302"/>
                <a:ext cx="292353" cy="213360"/>
              </a:xfrm>
              <a:prstGeom prst="rect">
                <a:avLst/>
              </a:prstGeom>
              <a:noFill/>
              <a:ln>
                <a:noFill/>
              </a:ln>
            </p:spPr>
            <p:txBody>
              <a:bodyPr wrap="none" lIns="0" tIns="0" rIns="0" bIns="0" anchor="t" anchorCtr="0">
                <a:spAutoFit/>
              </a:bodyPr>
              <a:lstStyle/>
              <a:p>
                <a:pPr algn="l"/>
                <a:r>
                  <a:rPr lang="zh-CN" sz="1050" b="1" dirty="0">
                    <a:solidFill>
                      <a:srgbClr val="4285F4"/>
                    </a:solidFill>
                    <a:latin typeface="Consolas"/>
                    <a:ea typeface="Microsoft YaHei"/>
                    <a:cs typeface="Consolas"/>
                  </a:rPr>
                  <a:t>LET</a:t>
                </a:r>
              </a:p>
            </p:txBody>
          </p:sp>
          <p:sp>
            <p:nvSpPr>
              <p:cNvPr id="19" name="TextBox 19"/>
              <p:cNvSpPr txBox="1"/>
              <p:nvPr/>
            </p:nvSpPr>
            <p:spPr>
              <a:xfrm>
                <a:off x="1283018" y="2047399"/>
                <a:ext cx="75811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statement</a:t>
                </a:r>
              </a:p>
            </p:txBody>
          </p:sp>
          <p:sp>
            <p:nvSpPr>
              <p:cNvPr id="20" name="TextBox 20"/>
              <p:cNvSpPr txBox="1"/>
              <p:nvPr/>
            </p:nvSpPr>
            <p:spPr>
              <a:xfrm>
                <a:off x="921068" y="2256949"/>
                <a:ext cx="2879860"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Evaluate expression → store in state dict</a:t>
                </a:r>
              </a:p>
            </p:txBody>
          </p:sp>
          <p:sp>
            <p:nvSpPr>
              <p:cNvPr id="21" name="TextBox 21"/>
              <p:cNvSpPr txBox="1"/>
              <p:nvPr/>
            </p:nvSpPr>
            <p:spPr>
              <a:xfrm>
                <a:off x="922020" y="2455545"/>
                <a:ext cx="3072384"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state["VAR_P"] = evaluate_ast(ast[2], state)</a:t>
                </a:r>
              </a:p>
            </p:txBody>
          </p:sp>
          <p:sp>
            <p:nvSpPr>
              <p:cNvPr id="22" name="TextBox 22"/>
              <p:cNvSpPr txBox="1"/>
              <p:nvPr/>
            </p:nvSpPr>
            <p:spPr>
              <a:xfrm>
                <a:off x="922020" y="2588895"/>
                <a:ext cx="217198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Returns None (no printed output)</a:t>
                </a:r>
              </a:p>
            </p:txBody>
          </p:sp>
        </p:grpSp>
        <p:grpSp>
          <p:nvGrpSpPr>
            <p:cNvPr id="32" name="Group 32"/>
            <p:cNvGrpSpPr/>
            <p:nvPr/>
          </p:nvGrpSpPr>
          <p:grpSpPr>
            <a:xfrm>
              <a:off x="762000" y="2857500"/>
              <a:ext cx="4762500" cy="942975"/>
              <a:chOff x="762000" y="2857500"/>
              <a:chExt cx="4762500" cy="942975"/>
            </a:xfrm>
          </p:grpSpPr>
          <p:sp>
            <p:nvSpPr>
              <p:cNvPr id="24" name="Rectangle 24"/>
              <p:cNvSpPr/>
              <p:nvPr/>
            </p:nvSpPr>
            <p:spPr>
              <a:xfrm>
                <a:off x="762000" y="2857500"/>
                <a:ext cx="4762500" cy="914400"/>
              </a:xfrm>
              <a:prstGeom prst="roundRect">
                <a:avLst>
                  <a:gd name="adj" fmla="val 8333"/>
                </a:avLst>
              </a:prstGeom>
              <a:solidFill>
                <a:srgbClr val="F8F9FA"/>
              </a:solidFill>
              <a:ln>
                <a:noFill/>
              </a:ln>
            </p:spPr>
            <p:txBody>
              <a:bodyPr/>
              <a:lstStyle/>
              <a:p>
                <a:endParaRPr lang="zh-CN" altLang="en-US"/>
              </a:p>
            </p:txBody>
          </p:sp>
          <p:sp>
            <p:nvSpPr>
              <p:cNvPr id="25" name="Rectangle 25"/>
              <p:cNvSpPr/>
              <p:nvPr/>
            </p:nvSpPr>
            <p:spPr>
              <a:xfrm>
                <a:off x="762000" y="2857500"/>
                <a:ext cx="38100" cy="914400"/>
              </a:xfrm>
              <a:prstGeom prst="roundRect">
                <a:avLst>
                  <a:gd name="adj" fmla="val 50000"/>
                </a:avLst>
              </a:prstGeom>
              <a:solidFill>
                <a:srgbClr val="34A853"/>
              </a:solidFill>
              <a:ln>
                <a:noFill/>
              </a:ln>
            </p:spPr>
            <p:txBody>
              <a:bodyPr/>
              <a:lstStyle/>
              <a:p>
                <a:endParaRPr lang="zh-CN" altLang="en-US"/>
              </a:p>
            </p:txBody>
          </p:sp>
          <p:sp>
            <p:nvSpPr>
              <p:cNvPr id="26" name="TextBox 26"/>
              <p:cNvSpPr txBox="1"/>
              <p:nvPr/>
            </p:nvSpPr>
            <p:spPr>
              <a:xfrm>
                <a:off x="920115" y="2934652"/>
                <a:ext cx="163537" cy="213360"/>
              </a:xfrm>
              <a:prstGeom prst="rect">
                <a:avLst/>
              </a:prstGeom>
              <a:noFill/>
              <a:ln>
                <a:noFill/>
              </a:ln>
            </p:spPr>
            <p:txBody>
              <a:bodyPr wrap="none" lIns="0" tIns="0" rIns="0" bIns="0" anchor="t" anchorCtr="0">
                <a:spAutoFit/>
              </a:bodyPr>
              <a:lstStyle/>
              <a:p>
                <a:pPr algn="l"/>
                <a:r>
                  <a:rPr lang="zh-CN" sz="1050" b="1" dirty="0">
                    <a:solidFill>
                      <a:srgbClr val="34A853"/>
                    </a:solidFill>
                    <a:latin typeface="Consolas"/>
                    <a:ea typeface="Microsoft YaHei"/>
                    <a:cs typeface="Consolas"/>
                  </a:rPr>
                  <a:t>IF</a:t>
                </a:r>
              </a:p>
            </p:txBody>
          </p:sp>
          <p:sp>
            <p:nvSpPr>
              <p:cNvPr id="27" name="TextBox 27"/>
              <p:cNvSpPr txBox="1"/>
              <p:nvPr/>
            </p:nvSpPr>
            <p:spPr>
              <a:xfrm>
                <a:off x="1187768" y="2942749"/>
                <a:ext cx="75811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statement</a:t>
                </a:r>
              </a:p>
            </p:txBody>
          </p:sp>
          <p:sp>
            <p:nvSpPr>
              <p:cNvPr id="28" name="TextBox 28"/>
              <p:cNvSpPr txBox="1"/>
              <p:nvPr/>
            </p:nvSpPr>
            <p:spPr>
              <a:xfrm>
                <a:off x="921068" y="3152299"/>
                <a:ext cx="3278576"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Evaluate condition → if TRUE, recurse into body</a:t>
                </a:r>
              </a:p>
            </p:txBody>
          </p:sp>
          <p:sp>
            <p:nvSpPr>
              <p:cNvPr id="29" name="TextBox 29"/>
              <p:cNvSpPr txBox="1"/>
              <p:nvPr/>
            </p:nvSpPr>
            <p:spPr>
              <a:xfrm>
                <a:off x="922020" y="3350895"/>
                <a:ext cx="2756916"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if evaluate_ast(ast[1], state) == "TRUE":</a:t>
                </a:r>
              </a:p>
            </p:txBody>
          </p:sp>
          <p:sp>
            <p:nvSpPr>
              <p:cNvPr id="30" name="TextBox 30"/>
              <p:cNvSpPr txBox="1"/>
              <p:nvPr/>
            </p:nvSpPr>
            <p:spPr>
              <a:xfrm>
                <a:off x="922020" y="3522345"/>
                <a:ext cx="2802922"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return execute_statement(ast[2], state)</a:t>
                </a:r>
              </a:p>
            </p:txBody>
          </p:sp>
          <p:sp>
            <p:nvSpPr>
              <p:cNvPr id="31" name="TextBox 31"/>
              <p:cNvSpPr txBox="1"/>
              <p:nvPr/>
            </p:nvSpPr>
            <p:spPr>
              <a:xfrm>
                <a:off x="922020" y="3617595"/>
                <a:ext cx="2513743"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Condition FALSE → returns None silently</a:t>
                </a:r>
              </a:p>
            </p:txBody>
          </p:sp>
        </p:grpSp>
        <p:grpSp>
          <p:nvGrpSpPr>
            <p:cNvPr id="40" name="Group 40"/>
            <p:cNvGrpSpPr/>
            <p:nvPr/>
          </p:nvGrpSpPr>
          <p:grpSpPr>
            <a:xfrm>
              <a:off x="762000" y="3886200"/>
              <a:ext cx="4762500" cy="809625"/>
              <a:chOff x="762000" y="3886200"/>
              <a:chExt cx="4762500" cy="809625"/>
            </a:xfrm>
          </p:grpSpPr>
          <p:sp>
            <p:nvSpPr>
              <p:cNvPr id="33" name="Rectangle 33"/>
              <p:cNvSpPr/>
              <p:nvPr/>
            </p:nvSpPr>
            <p:spPr>
              <a:xfrm>
                <a:off x="762000" y="3886200"/>
                <a:ext cx="4762500" cy="781050"/>
              </a:xfrm>
              <a:prstGeom prst="roundRect">
                <a:avLst>
                  <a:gd name="adj" fmla="val 9756"/>
                </a:avLst>
              </a:prstGeom>
              <a:solidFill>
                <a:srgbClr val="F8F9FA"/>
              </a:solidFill>
              <a:ln>
                <a:noFill/>
              </a:ln>
            </p:spPr>
            <p:txBody>
              <a:bodyPr/>
              <a:lstStyle/>
              <a:p>
                <a:endParaRPr lang="zh-CN" altLang="en-US"/>
              </a:p>
            </p:txBody>
          </p:sp>
          <p:sp>
            <p:nvSpPr>
              <p:cNvPr id="34" name="Rectangle 34"/>
              <p:cNvSpPr/>
              <p:nvPr/>
            </p:nvSpPr>
            <p:spPr>
              <a:xfrm>
                <a:off x="762000" y="3886200"/>
                <a:ext cx="38100" cy="781050"/>
              </a:xfrm>
              <a:prstGeom prst="roundRect">
                <a:avLst>
                  <a:gd name="adj" fmla="val 50000"/>
                </a:avLst>
              </a:prstGeom>
              <a:solidFill>
                <a:srgbClr val="9334E6"/>
              </a:solidFill>
              <a:ln>
                <a:noFill/>
              </a:ln>
            </p:spPr>
            <p:txBody>
              <a:bodyPr/>
              <a:lstStyle/>
              <a:p>
                <a:endParaRPr lang="zh-CN" altLang="en-US"/>
              </a:p>
            </p:txBody>
          </p:sp>
          <p:sp>
            <p:nvSpPr>
              <p:cNvPr id="35" name="TextBox 35"/>
              <p:cNvSpPr txBox="1"/>
              <p:nvPr/>
            </p:nvSpPr>
            <p:spPr>
              <a:xfrm>
                <a:off x="920115" y="3963352"/>
                <a:ext cx="429220" cy="213360"/>
              </a:xfrm>
              <a:prstGeom prst="rect">
                <a:avLst/>
              </a:prstGeom>
              <a:noFill/>
              <a:ln>
                <a:noFill/>
              </a:ln>
            </p:spPr>
            <p:txBody>
              <a:bodyPr wrap="none" lIns="0" tIns="0" rIns="0" bIns="0" anchor="t" anchorCtr="0">
                <a:spAutoFit/>
              </a:bodyPr>
              <a:lstStyle/>
              <a:p>
                <a:pPr algn="l"/>
                <a:r>
                  <a:rPr lang="zh-CN" sz="1050" b="1" dirty="0">
                    <a:solidFill>
                      <a:srgbClr val="9334E6"/>
                    </a:solidFill>
                    <a:latin typeface="Consolas"/>
                    <a:ea typeface="Microsoft YaHei"/>
                    <a:cs typeface="Consolas"/>
                  </a:rPr>
                  <a:t>PRINT</a:t>
                </a:r>
              </a:p>
            </p:txBody>
          </p:sp>
          <p:sp>
            <p:nvSpPr>
              <p:cNvPr id="36" name="TextBox 36"/>
              <p:cNvSpPr txBox="1"/>
              <p:nvPr/>
            </p:nvSpPr>
            <p:spPr>
              <a:xfrm>
                <a:off x="1540192" y="3971449"/>
                <a:ext cx="75811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statement</a:t>
                </a:r>
              </a:p>
            </p:txBody>
          </p:sp>
          <p:sp>
            <p:nvSpPr>
              <p:cNvPr id="37" name="TextBox 37"/>
              <p:cNvSpPr txBox="1"/>
              <p:nvPr/>
            </p:nvSpPr>
            <p:spPr>
              <a:xfrm>
                <a:off x="921068" y="4180999"/>
                <a:ext cx="3008019" cy="198120"/>
              </a:xfrm>
              <a:prstGeom prst="rect">
                <a:avLst/>
              </a:prstGeom>
              <a:noFill/>
              <a:ln>
                <a:noFill/>
              </a:ln>
            </p:spPr>
            <p:txBody>
              <a:bodyPr wrap="none" lIns="0" tIns="0" rIns="0" bIns="0" anchor="t" anchorCtr="0">
                <a:spAutoFit/>
              </a:bodyPr>
              <a:lstStyle/>
              <a:p>
                <a:pPr algn="l"/>
                <a:r>
                  <a:rPr lang="zh-CN" sz="975" dirty="0">
                    <a:solidFill>
                      <a:srgbClr val="202124"/>
                    </a:solidFill>
                    <a:latin typeface="Segoe UI"/>
                    <a:ea typeface="Microsoft YaHei"/>
                    <a:cs typeface="Segoe UI"/>
                  </a:rPr>
                  <a:t>Look up variable in state → return its value</a:t>
                </a:r>
              </a:p>
            </p:txBody>
          </p:sp>
          <p:sp>
            <p:nvSpPr>
              <p:cNvPr id="38" name="TextBox 38"/>
              <p:cNvSpPr txBox="1"/>
              <p:nvPr/>
            </p:nvSpPr>
            <p:spPr>
              <a:xfrm>
                <a:off x="922020" y="4379595"/>
                <a:ext cx="2822638" cy="182880"/>
              </a:xfrm>
              <a:prstGeom prst="rect">
                <a:avLst/>
              </a:prstGeom>
              <a:noFill/>
              <a:ln>
                <a:noFill/>
              </a:ln>
            </p:spPr>
            <p:txBody>
              <a:bodyPr wrap="none" lIns="0" tIns="0" rIns="0" bIns="0" anchor="t" anchorCtr="0">
                <a:spAutoFit/>
              </a:bodyPr>
              <a:lstStyle/>
              <a:p>
                <a:pPr algn="l"/>
                <a:r>
                  <a:rPr lang="zh-CN" sz="900" dirty="0">
                    <a:solidFill>
                      <a:srgbClr val="80868B"/>
                    </a:solidFill>
                    <a:latin typeface="Consolas"/>
                    <a:ea typeface="Microsoft YaHei"/>
                    <a:cs typeface="Consolas"/>
                  </a:rPr>
                  <a:t>return state["VAR_P"] # "TRUE" or "FALSE"</a:t>
                </a:r>
              </a:p>
            </p:txBody>
          </p:sp>
          <p:sp>
            <p:nvSpPr>
              <p:cNvPr id="39" name="TextBox 39"/>
              <p:cNvSpPr txBox="1"/>
              <p:nvPr/>
            </p:nvSpPr>
            <p:spPr>
              <a:xfrm>
                <a:off x="922020" y="4512945"/>
                <a:ext cx="203396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Captured in printed_output list</a:t>
                </a:r>
              </a:p>
            </p:txBody>
          </p:sp>
        </p:grpSp>
        <p:sp>
          <p:nvSpPr>
            <p:cNvPr id="41" name="Rectangle 41"/>
            <p:cNvSpPr/>
            <p:nvPr/>
          </p:nvSpPr>
          <p:spPr>
            <a:xfrm>
              <a:off x="762000" y="4800600"/>
              <a:ext cx="4762500" cy="9525"/>
            </a:xfrm>
            <a:prstGeom prst="rect">
              <a:avLst/>
            </a:prstGeom>
            <a:solidFill>
              <a:srgbClr val="DADCE0"/>
            </a:solidFill>
            <a:ln>
              <a:noFill/>
            </a:ln>
          </p:spPr>
          <p:txBody>
            <a:bodyPr/>
            <a:lstStyle/>
            <a:p>
              <a:endParaRPr lang="zh-CN" altLang="en-US"/>
            </a:p>
          </p:txBody>
        </p:sp>
        <p:sp>
          <p:nvSpPr>
            <p:cNvPr id="42" name="TextBox 42"/>
            <p:cNvSpPr txBox="1"/>
            <p:nvPr/>
          </p:nvSpPr>
          <p:spPr>
            <a:xfrm>
              <a:off x="748665" y="4877752"/>
              <a:ext cx="1458733" cy="161583"/>
            </a:xfrm>
            <a:prstGeom prst="rect">
              <a:avLst/>
            </a:prstGeom>
            <a:noFill/>
            <a:ln>
              <a:noFill/>
            </a:ln>
          </p:spPr>
          <p:txBody>
            <a:bodyPr wrap="square" lIns="0" tIns="0" rIns="0" bIns="0" anchor="t" anchorCtr="0">
              <a:spAutoFit/>
            </a:bodyPr>
            <a:lstStyle/>
            <a:p>
              <a:r>
                <a:rPr lang="zh-CN" sz="1050" b="1" dirty="0">
                  <a:solidFill>
                    <a:srgbClr val="202124"/>
                  </a:solidFill>
                  <a:latin typeface="Segoe UI"/>
                  <a:ea typeface="Microsoft YaHei"/>
                  <a:cs typeface="Segoe UI"/>
                </a:rPr>
                <a:t>Unified Error Hierarchy</a:t>
              </a:r>
            </a:p>
          </p:txBody>
        </p:sp>
        <p:sp>
          <p:nvSpPr>
            <p:cNvPr id="43" name="Rectangle 43"/>
            <p:cNvSpPr/>
            <p:nvPr/>
          </p:nvSpPr>
          <p:spPr>
            <a:xfrm>
              <a:off x="762000" y="5086350"/>
              <a:ext cx="4762500" cy="952500"/>
            </a:xfrm>
            <a:prstGeom prst="roundRect">
              <a:avLst>
                <a:gd name="adj" fmla="val 8000"/>
              </a:avLst>
            </a:prstGeom>
            <a:solidFill>
              <a:srgbClr val="EA4335">
                <a:alpha val="5000"/>
              </a:srgbClr>
            </a:solidFill>
            <a:ln w="9525">
              <a:solidFill>
                <a:srgbClr val="EA4335">
                  <a:alpha val="30000"/>
                </a:srgbClr>
              </a:solidFill>
            </a:ln>
          </p:spPr>
          <p:txBody>
            <a:bodyPr/>
            <a:lstStyle/>
            <a:p>
              <a:endParaRPr lang="zh-CN" altLang="en-US"/>
            </a:p>
          </p:txBody>
        </p:sp>
        <p:sp>
          <p:nvSpPr>
            <p:cNvPr id="44" name="TextBox 44"/>
            <p:cNvSpPr txBox="1"/>
            <p:nvPr/>
          </p:nvSpPr>
          <p:spPr>
            <a:xfrm>
              <a:off x="939165" y="5201602"/>
              <a:ext cx="1077135" cy="213360"/>
            </a:xfrm>
            <a:prstGeom prst="rect">
              <a:avLst/>
            </a:prstGeom>
            <a:noFill/>
            <a:ln>
              <a:noFill/>
            </a:ln>
          </p:spPr>
          <p:txBody>
            <a:bodyPr wrap="none" lIns="0" tIns="0" rIns="0" bIns="0" anchor="t" anchorCtr="0">
              <a:spAutoFit/>
            </a:bodyPr>
            <a:lstStyle/>
            <a:p>
              <a:pPr algn="l"/>
              <a:r>
                <a:rPr lang="zh-CN" sz="1050" dirty="0">
                  <a:solidFill>
                    <a:srgbClr val="EA4335"/>
                  </a:solidFill>
                  <a:latin typeface="Consolas"/>
                  <a:ea typeface="Microsoft YaHei"/>
                  <a:cs typeface="Consolas"/>
                </a:rPr>
                <a:t>CompilerError</a:t>
              </a:r>
            </a:p>
          </p:txBody>
        </p:sp>
        <p:sp>
          <p:nvSpPr>
            <p:cNvPr id="45" name="TextBox 45"/>
            <p:cNvSpPr txBox="1"/>
            <p:nvPr/>
          </p:nvSpPr>
          <p:spPr>
            <a:xfrm>
              <a:off x="1225868" y="5400199"/>
              <a:ext cx="2317385"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 LexicalError (phase_1_lexer)</a:t>
              </a:r>
            </a:p>
          </p:txBody>
        </p:sp>
        <p:sp>
          <p:nvSpPr>
            <p:cNvPr id="46" name="TextBox 46"/>
            <p:cNvSpPr txBox="1"/>
            <p:nvPr/>
          </p:nvSpPr>
          <p:spPr>
            <a:xfrm>
              <a:off x="1225868" y="5590699"/>
              <a:ext cx="2381464"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 ParseError (phase_2_parser)</a:t>
              </a:r>
            </a:p>
          </p:txBody>
        </p:sp>
        <p:sp>
          <p:nvSpPr>
            <p:cNvPr id="47" name="TextBox 47"/>
            <p:cNvSpPr txBox="1"/>
            <p:nvPr/>
          </p:nvSpPr>
          <p:spPr>
            <a:xfrm>
              <a:off x="1225868" y="5781199"/>
              <a:ext cx="2858500"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 ExecutionError (phase_4_execution)</a:t>
              </a:r>
            </a:p>
          </p:txBody>
        </p:sp>
      </p:grpSp>
      <p:grpSp>
        <p:nvGrpSpPr>
          <p:cNvPr id="86" name="Group 86"/>
          <p:cNvGrpSpPr/>
          <p:nvPr/>
        </p:nvGrpSpPr>
        <p:grpSpPr>
          <a:xfrm>
            <a:off x="6096000" y="1047750"/>
            <a:ext cx="5524500" cy="5334000"/>
            <a:chOff x="6096000" y="1047750"/>
            <a:chExt cx="5524500" cy="5334000"/>
          </a:xfrm>
        </p:grpSpPr>
        <p:sp>
          <p:nvSpPr>
            <p:cNvPr id="49" name="Rectangle 49"/>
            <p:cNvSpPr/>
            <p:nvPr/>
          </p:nvSpPr>
          <p:spPr>
            <a:xfrm>
              <a:off x="6096000" y="1047750"/>
              <a:ext cx="5524500" cy="5334000"/>
            </a:xfrm>
            <a:prstGeom prst="roundRect">
              <a:avLst>
                <a:gd name="adj" fmla="val 1786"/>
              </a:avLst>
            </a:prstGeom>
            <a:solidFill>
              <a:srgbClr val="FFFFFF"/>
            </a:solidFill>
            <a:ln w="9525">
              <a:solidFill>
                <a:srgbClr val="DADCE0"/>
              </a:solidFill>
            </a:ln>
          </p:spPr>
          <p:txBody>
            <a:bodyPr/>
            <a:lstStyle/>
            <a:p>
              <a:endParaRPr lang="zh-CN" altLang="en-US"/>
            </a:p>
          </p:txBody>
        </p:sp>
        <p:sp>
          <p:nvSpPr>
            <p:cNvPr id="50" name="TextBox 50"/>
            <p:cNvSpPr txBox="1"/>
            <p:nvPr/>
          </p:nvSpPr>
          <p:spPr>
            <a:xfrm>
              <a:off x="6272212" y="1288256"/>
              <a:ext cx="3591145"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run_execution_phase() — Full JSON Output</a:t>
              </a:r>
            </a:p>
          </p:txBody>
        </p:sp>
        <p:sp>
          <p:nvSpPr>
            <p:cNvPr id="51" name="Rectangle 51"/>
            <p:cNvSpPr/>
            <p:nvPr/>
          </p:nvSpPr>
          <p:spPr>
            <a:xfrm>
              <a:off x="6286500" y="1504950"/>
              <a:ext cx="5143500" cy="9525"/>
            </a:xfrm>
            <a:prstGeom prst="rect">
              <a:avLst/>
            </a:prstGeom>
            <a:solidFill>
              <a:srgbClr val="DADCE0"/>
            </a:solidFill>
            <a:ln>
              <a:noFill/>
            </a:ln>
          </p:spPr>
          <p:txBody>
            <a:bodyPr/>
            <a:lstStyle/>
            <a:p>
              <a:endParaRPr lang="zh-CN" altLang="en-US"/>
            </a:p>
          </p:txBody>
        </p:sp>
        <p:sp>
          <p:nvSpPr>
            <p:cNvPr id="52" name="Rectangle 52"/>
            <p:cNvSpPr/>
            <p:nvPr/>
          </p:nvSpPr>
          <p:spPr>
            <a:xfrm>
              <a:off x="6286500" y="1600200"/>
              <a:ext cx="5143500" cy="3048000"/>
            </a:xfrm>
            <a:prstGeom prst="roundRect">
              <a:avLst>
                <a:gd name="adj" fmla="val 2500"/>
              </a:avLst>
            </a:prstGeom>
            <a:solidFill>
              <a:srgbClr val="F8F9FA"/>
            </a:solidFill>
            <a:ln>
              <a:noFill/>
            </a:ln>
          </p:spPr>
          <p:txBody>
            <a:bodyPr/>
            <a:lstStyle/>
            <a:p>
              <a:endParaRPr lang="zh-CN" altLang="en-US"/>
            </a:p>
          </p:txBody>
        </p:sp>
        <p:sp>
          <p:nvSpPr>
            <p:cNvPr id="53" name="TextBox 53"/>
            <p:cNvSpPr txBox="1"/>
            <p:nvPr/>
          </p:nvSpPr>
          <p:spPr>
            <a:xfrm>
              <a:off x="6464618" y="172354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54" name="TextBox 54"/>
            <p:cNvSpPr txBox="1"/>
            <p:nvPr/>
          </p:nvSpPr>
          <p:spPr>
            <a:xfrm>
              <a:off x="6655118" y="1933099"/>
              <a:ext cx="1477232" cy="198120"/>
            </a:xfrm>
            <a:prstGeom prst="rect">
              <a:avLst/>
            </a:prstGeom>
            <a:noFill/>
            <a:ln>
              <a:noFill/>
            </a:ln>
          </p:spPr>
          <p:txBody>
            <a:bodyPr wrap="none" lIns="0" tIns="0" rIns="0" bIns="0" anchor="t" anchorCtr="0">
              <a:spAutoFit/>
            </a:bodyPr>
            <a:lstStyle/>
            <a:p>
              <a:pPr algn="l"/>
              <a:r>
                <a:rPr lang="zh-CN" sz="975" dirty="0">
                  <a:solidFill>
                    <a:srgbClr val="1E8E3E"/>
                  </a:solidFill>
                  <a:latin typeface="Consolas"/>
                  <a:ea typeface="Microsoft YaHei"/>
                  <a:cs typeface="Consolas"/>
                </a:rPr>
                <a:t>"phase_4_execution"</a:t>
              </a:r>
            </a:p>
          </p:txBody>
        </p:sp>
        <p:sp>
          <p:nvSpPr>
            <p:cNvPr id="55" name="TextBox 55"/>
            <p:cNvSpPr txBox="1"/>
            <p:nvPr/>
          </p:nvSpPr>
          <p:spPr>
            <a:xfrm>
              <a:off x="8274368" y="1933099"/>
              <a:ext cx="224123"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 {</a:t>
              </a:r>
            </a:p>
          </p:txBody>
        </p:sp>
        <p:sp>
          <p:nvSpPr>
            <p:cNvPr id="56" name="TextBox 56"/>
            <p:cNvSpPr txBox="1"/>
            <p:nvPr/>
          </p:nvSpPr>
          <p:spPr>
            <a:xfrm>
              <a:off x="6846570" y="2150745"/>
              <a:ext cx="119272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"verifications": [</a:t>
              </a:r>
            </a:p>
          </p:txBody>
        </p:sp>
        <p:sp>
          <p:nvSpPr>
            <p:cNvPr id="57" name="TextBox 57"/>
            <p:cNvSpPr txBox="1"/>
            <p:nvPr/>
          </p:nvSpPr>
          <p:spPr>
            <a:xfrm>
              <a:off x="7037070" y="2341245"/>
              <a:ext cx="951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58" name="TextBox 58"/>
            <p:cNvSpPr txBox="1"/>
            <p:nvPr/>
          </p:nvSpPr>
          <p:spPr>
            <a:xfrm>
              <a:off x="7208520" y="2512695"/>
              <a:ext cx="64722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"line": 3,</a:t>
              </a:r>
            </a:p>
          </p:txBody>
        </p:sp>
        <p:sp>
          <p:nvSpPr>
            <p:cNvPr id="59" name="TextBox 59"/>
            <p:cNvSpPr txBox="1"/>
            <p:nvPr/>
          </p:nvSpPr>
          <p:spPr>
            <a:xfrm>
              <a:off x="7208520" y="2684145"/>
              <a:ext cx="269776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"variables_tested": ["VAR_P","VAR_Q"],</a:t>
              </a:r>
            </a:p>
          </p:txBody>
        </p:sp>
        <p:sp>
          <p:nvSpPr>
            <p:cNvPr id="60" name="TextBox 60"/>
            <p:cNvSpPr txBox="1"/>
            <p:nvPr/>
          </p:nvSpPr>
          <p:spPr>
            <a:xfrm>
              <a:off x="7208520" y="2855595"/>
              <a:ext cx="284892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"ast_original_column": ["T","T","F","T"],</a:t>
              </a:r>
            </a:p>
          </p:txBody>
        </p:sp>
        <p:sp>
          <p:nvSpPr>
            <p:cNvPr id="61" name="TextBox 61"/>
            <p:cNvSpPr txBox="1"/>
            <p:nvPr/>
          </p:nvSpPr>
          <p:spPr>
            <a:xfrm>
              <a:off x="7208520" y="3027045"/>
              <a:ext cx="298037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"ast_optimized_column": ["T","T","F","T"],</a:t>
              </a:r>
            </a:p>
          </p:txBody>
        </p:sp>
        <p:sp>
          <p:nvSpPr>
            <p:cNvPr id="62" name="TextBox 62"/>
            <p:cNvSpPr txBox="1"/>
            <p:nvPr/>
          </p:nvSpPr>
          <p:spPr>
            <a:xfrm>
              <a:off x="7208520" y="3198495"/>
              <a:ext cx="1554194"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"is_equivalent": "TRUE"</a:t>
              </a:r>
            </a:p>
          </p:txBody>
        </p:sp>
        <p:sp>
          <p:nvSpPr>
            <p:cNvPr id="63" name="TextBox 63"/>
            <p:cNvSpPr txBox="1"/>
            <p:nvPr/>
          </p:nvSpPr>
          <p:spPr>
            <a:xfrm>
              <a:off x="7037070" y="3369945"/>
              <a:ext cx="951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64" name="TextBox 64"/>
            <p:cNvSpPr txBox="1"/>
            <p:nvPr/>
          </p:nvSpPr>
          <p:spPr>
            <a:xfrm>
              <a:off x="6846570" y="3541395"/>
              <a:ext cx="167449"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65" name="TextBox 65"/>
            <p:cNvSpPr txBox="1"/>
            <p:nvPr/>
          </p:nvSpPr>
          <p:spPr>
            <a:xfrm>
              <a:off x="6846570" y="3731895"/>
              <a:ext cx="181051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"final_state_dictionary": {</a:t>
              </a:r>
            </a:p>
          </p:txBody>
        </p:sp>
        <p:sp>
          <p:nvSpPr>
            <p:cNvPr id="66" name="TextBox 66"/>
            <p:cNvSpPr txBox="1"/>
            <p:nvPr/>
          </p:nvSpPr>
          <p:spPr>
            <a:xfrm>
              <a:off x="7037070" y="3903345"/>
              <a:ext cx="1146715"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"VAR_P": "TRUE",</a:t>
              </a:r>
            </a:p>
          </p:txBody>
        </p:sp>
        <p:sp>
          <p:nvSpPr>
            <p:cNvPr id="67" name="TextBox 67"/>
            <p:cNvSpPr txBox="1"/>
            <p:nvPr/>
          </p:nvSpPr>
          <p:spPr>
            <a:xfrm>
              <a:off x="7037070" y="4074795"/>
              <a:ext cx="1245298" cy="182880"/>
            </a:xfrm>
            <a:prstGeom prst="rect">
              <a:avLst/>
            </a:prstGeom>
            <a:noFill/>
            <a:ln>
              <a:noFill/>
            </a:ln>
          </p:spPr>
          <p:txBody>
            <a:bodyPr wrap="none" lIns="0" tIns="0" rIns="0" bIns="0" anchor="t" anchorCtr="0">
              <a:spAutoFit/>
            </a:bodyPr>
            <a:lstStyle/>
            <a:p>
              <a:pPr algn="l"/>
              <a:r>
                <a:rPr lang="zh-CN" sz="900" dirty="0">
                  <a:solidFill>
                    <a:srgbClr val="EA4335"/>
                  </a:solidFill>
                  <a:latin typeface="Consolas"/>
                  <a:ea typeface="Microsoft YaHei"/>
                  <a:cs typeface="Consolas"/>
                </a:rPr>
                <a:t>"VAR_Q": "FALSE",</a:t>
              </a:r>
            </a:p>
          </p:txBody>
        </p:sp>
        <p:sp>
          <p:nvSpPr>
            <p:cNvPr id="68" name="TextBox 68"/>
            <p:cNvSpPr txBox="1"/>
            <p:nvPr/>
          </p:nvSpPr>
          <p:spPr>
            <a:xfrm>
              <a:off x="7037070" y="4246245"/>
              <a:ext cx="1074420" cy="182880"/>
            </a:xfrm>
            <a:prstGeom prst="rect">
              <a:avLst/>
            </a:prstGeom>
            <a:noFill/>
            <a:ln>
              <a:noFill/>
            </a:ln>
          </p:spPr>
          <p:txBody>
            <a:bodyPr wrap="none" lIns="0" tIns="0" rIns="0" bIns="0" anchor="t" anchorCtr="0">
              <a:spAutoFit/>
            </a:bodyPr>
            <a:lstStyle/>
            <a:p>
              <a:pPr algn="l"/>
              <a:r>
                <a:rPr lang="zh-CN" sz="900" dirty="0">
                  <a:solidFill>
                    <a:srgbClr val="1E8E3E"/>
                  </a:solidFill>
                  <a:latin typeface="Consolas"/>
                  <a:ea typeface="Microsoft YaHei"/>
                  <a:cs typeface="Consolas"/>
                </a:rPr>
                <a:t>"VAR_R": "TRUE"</a:t>
              </a:r>
            </a:p>
          </p:txBody>
        </p:sp>
        <p:sp>
          <p:nvSpPr>
            <p:cNvPr id="69" name="TextBox 69"/>
            <p:cNvSpPr txBox="1"/>
            <p:nvPr/>
          </p:nvSpPr>
          <p:spPr>
            <a:xfrm>
              <a:off x="6846570" y="4417695"/>
              <a:ext cx="167449"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t>
              </a:r>
            </a:p>
          </p:txBody>
        </p:sp>
        <p:sp>
          <p:nvSpPr>
            <p:cNvPr id="70" name="TextBox 70"/>
            <p:cNvSpPr txBox="1"/>
            <p:nvPr/>
          </p:nvSpPr>
          <p:spPr>
            <a:xfrm>
              <a:off x="6464618" y="442864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71" name="TextBox 71"/>
            <p:cNvSpPr txBox="1"/>
            <p:nvPr/>
          </p:nvSpPr>
          <p:spPr>
            <a:xfrm>
              <a:off x="6464618" y="4600099"/>
              <a:ext cx="103084" cy="198120"/>
            </a:xfrm>
            <a:prstGeom prst="rect">
              <a:avLst/>
            </a:prstGeom>
            <a:noFill/>
            <a:ln>
              <a:noFill/>
            </a:ln>
          </p:spPr>
          <p:txBody>
            <a:bodyPr wrap="none" lIns="0" tIns="0" rIns="0" bIns="0" anchor="t" anchorCtr="0">
              <a:spAutoFit/>
            </a:bodyPr>
            <a:lstStyle/>
            <a:p>
              <a:pPr algn="l"/>
              <a:r>
                <a:rPr lang="zh-CN" sz="975" dirty="0">
                  <a:solidFill>
                    <a:srgbClr val="202124"/>
                  </a:solidFill>
                  <a:latin typeface="Consolas"/>
                  <a:ea typeface="Microsoft YaHei"/>
                  <a:cs typeface="Consolas"/>
                </a:rPr>
                <a:t>}</a:t>
              </a:r>
            </a:p>
          </p:txBody>
        </p:sp>
        <p:sp>
          <p:nvSpPr>
            <p:cNvPr id="72" name="Rectangle 72"/>
            <p:cNvSpPr/>
            <p:nvPr/>
          </p:nvSpPr>
          <p:spPr>
            <a:xfrm>
              <a:off x="6286500" y="4762500"/>
              <a:ext cx="5143500" cy="9525"/>
            </a:xfrm>
            <a:prstGeom prst="rect">
              <a:avLst/>
            </a:prstGeom>
            <a:solidFill>
              <a:srgbClr val="DADCE0"/>
            </a:solidFill>
            <a:ln>
              <a:noFill/>
            </a:ln>
          </p:spPr>
          <p:txBody>
            <a:bodyPr/>
            <a:lstStyle/>
            <a:p>
              <a:endParaRPr lang="zh-CN" altLang="en-US"/>
            </a:p>
          </p:txBody>
        </p:sp>
        <p:sp>
          <p:nvSpPr>
            <p:cNvPr id="73" name="TextBox 73"/>
            <p:cNvSpPr txBox="1"/>
            <p:nvPr/>
          </p:nvSpPr>
          <p:spPr>
            <a:xfrm>
              <a:off x="6273165" y="4858702"/>
              <a:ext cx="3480552" cy="213360"/>
            </a:xfrm>
            <a:prstGeom prst="rect">
              <a:avLst/>
            </a:prstGeom>
            <a:noFill/>
            <a:ln>
              <a:noFill/>
            </a:ln>
          </p:spPr>
          <p:txBody>
            <a:bodyPr wrap="none" lIns="0" tIns="0" rIns="0" bIns="0" anchor="t" anchorCtr="0">
              <a:spAutoFit/>
            </a:bodyPr>
            <a:lstStyle/>
            <a:p>
              <a:pPr algn="l"/>
              <a:r>
                <a:rPr lang="zh-CN" sz="1050" b="1" dirty="0">
                  <a:solidFill>
                    <a:srgbClr val="202124"/>
                  </a:solidFill>
                  <a:latin typeface="Segoe UI"/>
                  <a:ea typeface="Microsoft YaHei"/>
                  <a:cs typeface="Segoe UI"/>
                </a:rPr>
                <a:t>evaluate_ast() — Operator Truth Semantics</a:t>
              </a:r>
            </a:p>
          </p:txBody>
        </p:sp>
        <p:sp>
          <p:nvSpPr>
            <p:cNvPr id="74" name="Rectangle 74"/>
            <p:cNvSpPr/>
            <p:nvPr/>
          </p:nvSpPr>
          <p:spPr>
            <a:xfrm>
              <a:off x="6286500" y="5067300"/>
              <a:ext cx="5143500" cy="952500"/>
            </a:xfrm>
            <a:prstGeom prst="roundRect">
              <a:avLst>
                <a:gd name="adj" fmla="val 8000"/>
              </a:avLst>
            </a:prstGeom>
            <a:solidFill>
              <a:srgbClr val="F8F9FA"/>
            </a:solidFill>
            <a:ln>
              <a:noFill/>
            </a:ln>
          </p:spPr>
          <p:txBody>
            <a:bodyPr/>
            <a:lstStyle/>
            <a:p>
              <a:endParaRPr lang="zh-CN" altLang="en-US"/>
            </a:p>
          </p:txBody>
        </p:sp>
        <p:sp>
          <p:nvSpPr>
            <p:cNvPr id="75" name="TextBox 75"/>
            <p:cNvSpPr txBox="1"/>
            <p:nvPr/>
          </p:nvSpPr>
          <p:spPr>
            <a:xfrm>
              <a:off x="6559868" y="5171599"/>
              <a:ext cx="712551" cy="198120"/>
            </a:xfrm>
            <a:prstGeom prst="rect">
              <a:avLst/>
            </a:prstGeom>
            <a:noFill/>
            <a:ln>
              <a:noFill/>
            </a:ln>
          </p:spPr>
          <p:txBody>
            <a:bodyPr wrap="none" lIns="0" tIns="0" rIns="0" bIns="0" anchor="t" anchorCtr="0">
              <a:spAutoFit/>
            </a:bodyPr>
            <a:lstStyle/>
            <a:p>
              <a:pPr algn="l"/>
              <a:r>
                <a:rPr lang="zh-CN" sz="975" b="1" dirty="0">
                  <a:solidFill>
                    <a:srgbClr val="4285F4"/>
                  </a:solidFill>
                  <a:latin typeface="Segoe UI"/>
                  <a:ea typeface="Microsoft YaHei"/>
                  <a:cs typeface="Segoe UI"/>
                </a:rPr>
                <a:t>Operator</a:t>
              </a:r>
            </a:p>
          </p:txBody>
        </p:sp>
        <p:sp>
          <p:nvSpPr>
            <p:cNvPr id="76" name="TextBox 76"/>
            <p:cNvSpPr txBox="1"/>
            <p:nvPr/>
          </p:nvSpPr>
          <p:spPr>
            <a:xfrm>
              <a:off x="8560118" y="5171599"/>
              <a:ext cx="316326" cy="198120"/>
            </a:xfrm>
            <a:prstGeom prst="rect">
              <a:avLst/>
            </a:prstGeom>
            <a:noFill/>
            <a:ln>
              <a:noFill/>
            </a:ln>
          </p:spPr>
          <p:txBody>
            <a:bodyPr wrap="none" lIns="0" tIns="0" rIns="0" bIns="0" anchor="t" anchorCtr="0">
              <a:spAutoFit/>
            </a:bodyPr>
            <a:lstStyle/>
            <a:p>
              <a:pPr algn="l"/>
              <a:r>
                <a:rPr lang="zh-CN" sz="975" b="1" dirty="0">
                  <a:solidFill>
                    <a:srgbClr val="5F6368"/>
                  </a:solidFill>
                  <a:latin typeface="Segoe UI"/>
                  <a:ea typeface="Microsoft YaHei"/>
                  <a:cs typeface="Segoe UI"/>
                </a:rPr>
                <a:t>Rule</a:t>
              </a:r>
            </a:p>
          </p:txBody>
        </p:sp>
        <p:sp>
          <p:nvSpPr>
            <p:cNvPr id="77" name="Line 77"/>
            <p:cNvSpPr/>
            <p:nvPr/>
          </p:nvSpPr>
          <p:spPr>
            <a:xfrm>
              <a:off x="6477000" y="5334000"/>
              <a:ext cx="4857750" cy="9525"/>
            </a:xfrm>
            <a:custGeom>
              <a:avLst/>
              <a:gdLst/>
              <a:ahLst/>
              <a:cxnLst/>
              <a:rect l="l" t="t" r="r" b="b"/>
              <a:pathLst>
                <a:path w="4857750" h="9525">
                  <a:moveTo>
                    <a:pt x="0" y="0"/>
                  </a:moveTo>
                  <a:lnTo>
                    <a:pt x="4857750" y="0"/>
                  </a:lnTo>
                </a:path>
              </a:pathLst>
            </a:custGeom>
            <a:noFill/>
            <a:ln w="9525">
              <a:solidFill>
                <a:srgbClr val="DADCE0"/>
              </a:solidFill>
            </a:ln>
          </p:spPr>
          <p:txBody>
            <a:bodyPr/>
            <a:lstStyle/>
            <a:p>
              <a:endParaRPr lang="zh-CN" altLang="en-US"/>
            </a:p>
          </p:txBody>
        </p:sp>
        <p:sp>
          <p:nvSpPr>
            <p:cNvPr id="78" name="TextBox 78"/>
            <p:cNvSpPr txBox="1"/>
            <p:nvPr/>
          </p:nvSpPr>
          <p:spPr>
            <a:xfrm>
              <a:off x="6560820" y="5408295"/>
              <a:ext cx="377762" cy="182880"/>
            </a:xfrm>
            <a:prstGeom prst="rect">
              <a:avLst/>
            </a:prstGeom>
            <a:noFill/>
            <a:ln>
              <a:noFill/>
            </a:ln>
          </p:spPr>
          <p:txBody>
            <a:bodyPr wrap="none" lIns="0" tIns="0" rIns="0" bIns="0" anchor="t" anchorCtr="0">
              <a:spAutoFit/>
            </a:bodyPr>
            <a:lstStyle/>
            <a:p>
              <a:pPr algn="l"/>
              <a:r>
                <a:rPr lang="zh-CN" sz="900" dirty="0">
                  <a:solidFill>
                    <a:srgbClr val="9334E6"/>
                  </a:solidFill>
                  <a:latin typeface="Consolas"/>
                  <a:ea typeface="Microsoft YaHei"/>
                  <a:cs typeface="Consolas"/>
                </a:rPr>
                <a:t>NOT A</a:t>
              </a:r>
            </a:p>
          </p:txBody>
        </p:sp>
        <p:sp>
          <p:nvSpPr>
            <p:cNvPr id="79" name="TextBox 79"/>
            <p:cNvSpPr txBox="1"/>
            <p:nvPr/>
          </p:nvSpPr>
          <p:spPr>
            <a:xfrm>
              <a:off x="8561070" y="5408295"/>
              <a:ext cx="109413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 T if A=F, else F</a:t>
              </a:r>
            </a:p>
          </p:txBody>
        </p:sp>
        <p:sp>
          <p:nvSpPr>
            <p:cNvPr id="80" name="TextBox 80"/>
            <p:cNvSpPr txBox="1"/>
            <p:nvPr/>
          </p:nvSpPr>
          <p:spPr>
            <a:xfrm>
              <a:off x="6560820" y="5579745"/>
              <a:ext cx="463201" cy="182880"/>
            </a:xfrm>
            <a:prstGeom prst="rect">
              <a:avLst/>
            </a:prstGeom>
            <a:noFill/>
            <a:ln>
              <a:noFill/>
            </a:ln>
          </p:spPr>
          <p:txBody>
            <a:bodyPr wrap="none" lIns="0" tIns="0" rIns="0" bIns="0" anchor="t" anchorCtr="0">
              <a:spAutoFit/>
            </a:bodyPr>
            <a:lstStyle/>
            <a:p>
              <a:pPr algn="l"/>
              <a:r>
                <a:rPr lang="zh-CN" sz="900" dirty="0">
                  <a:solidFill>
                    <a:srgbClr val="34A853"/>
                  </a:solidFill>
                  <a:latin typeface="Consolas"/>
                  <a:ea typeface="Microsoft YaHei"/>
                  <a:cs typeface="Consolas"/>
                </a:rPr>
                <a:t>A AND B</a:t>
              </a:r>
            </a:p>
          </p:txBody>
        </p:sp>
        <p:sp>
          <p:nvSpPr>
            <p:cNvPr id="81" name="TextBox 81"/>
            <p:cNvSpPr txBox="1"/>
            <p:nvPr/>
          </p:nvSpPr>
          <p:spPr>
            <a:xfrm>
              <a:off x="8561070" y="5579745"/>
              <a:ext cx="109413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 T only if both T</a:t>
              </a:r>
            </a:p>
          </p:txBody>
        </p:sp>
        <p:sp>
          <p:nvSpPr>
            <p:cNvPr id="82" name="TextBox 82"/>
            <p:cNvSpPr txBox="1"/>
            <p:nvPr/>
          </p:nvSpPr>
          <p:spPr>
            <a:xfrm>
              <a:off x="6560820" y="5751195"/>
              <a:ext cx="417195" cy="182880"/>
            </a:xfrm>
            <a:prstGeom prst="rect">
              <a:avLst/>
            </a:prstGeom>
            <a:noFill/>
            <a:ln>
              <a:noFill/>
            </a:ln>
          </p:spPr>
          <p:txBody>
            <a:bodyPr wrap="none" lIns="0" tIns="0" rIns="0" bIns="0" anchor="t" anchorCtr="0">
              <a:spAutoFit/>
            </a:bodyPr>
            <a:lstStyle/>
            <a:p>
              <a:pPr algn="l"/>
              <a:r>
                <a:rPr lang="zh-CN" sz="900" dirty="0">
                  <a:solidFill>
                    <a:srgbClr val="34A853"/>
                  </a:solidFill>
                  <a:latin typeface="Consolas"/>
                  <a:ea typeface="Microsoft YaHei"/>
                  <a:cs typeface="Consolas"/>
                </a:rPr>
                <a:t>A OR B</a:t>
              </a:r>
            </a:p>
          </p:txBody>
        </p:sp>
        <p:sp>
          <p:nvSpPr>
            <p:cNvPr id="83" name="TextBox 83"/>
            <p:cNvSpPr txBox="1"/>
            <p:nvPr/>
          </p:nvSpPr>
          <p:spPr>
            <a:xfrm>
              <a:off x="8561070" y="5751195"/>
              <a:ext cx="127816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 T if at least one T</a:t>
              </a:r>
            </a:p>
          </p:txBody>
        </p:sp>
        <p:sp>
          <p:nvSpPr>
            <p:cNvPr id="84" name="TextBox 84"/>
            <p:cNvSpPr txBox="1"/>
            <p:nvPr/>
          </p:nvSpPr>
          <p:spPr>
            <a:xfrm>
              <a:off x="6560820" y="5903595"/>
              <a:ext cx="712946" cy="182880"/>
            </a:xfrm>
            <a:prstGeom prst="rect">
              <a:avLst/>
            </a:prstGeom>
            <a:noFill/>
            <a:ln>
              <a:noFill/>
            </a:ln>
          </p:spPr>
          <p:txBody>
            <a:bodyPr wrap="none" lIns="0" tIns="0" rIns="0" bIns="0" anchor="t" anchorCtr="0">
              <a:spAutoFit/>
            </a:bodyPr>
            <a:lstStyle/>
            <a:p>
              <a:pPr algn="l"/>
              <a:r>
                <a:rPr lang="zh-CN" sz="900" dirty="0">
                  <a:solidFill>
                    <a:srgbClr val="4285F4"/>
                  </a:solidFill>
                  <a:latin typeface="Consolas"/>
                  <a:ea typeface="Microsoft YaHei"/>
                  <a:cs typeface="Consolas"/>
                </a:rPr>
                <a:t>A IMPLIES B</a:t>
              </a:r>
            </a:p>
          </p:txBody>
        </p:sp>
        <p:sp>
          <p:nvSpPr>
            <p:cNvPr id="85" name="TextBox 85"/>
            <p:cNvSpPr txBox="1"/>
            <p:nvPr/>
          </p:nvSpPr>
          <p:spPr>
            <a:xfrm>
              <a:off x="8561070" y="5903595"/>
              <a:ext cx="1350454"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 F only if A=T &amp;&amp; B=F</a:t>
              </a:r>
            </a:p>
          </p:txBody>
        </p:sp>
      </p:grpSp>
      <p:grpSp>
        <p:nvGrpSpPr>
          <p:cNvPr id="90" name="Group 90"/>
          <p:cNvGrpSpPr/>
          <p:nvPr/>
        </p:nvGrpSpPr>
        <p:grpSpPr>
          <a:xfrm>
            <a:off x="561022" y="6572250"/>
            <a:ext cx="11069956" cy="269081"/>
            <a:chOff x="561022" y="6572250"/>
            <a:chExt cx="11069956" cy="269081"/>
          </a:xfrm>
        </p:grpSpPr>
        <p:sp>
          <p:nvSpPr>
            <p:cNvPr id="87" name="Rectangle 87"/>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88" name="TextBox 88"/>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89" name="TextBox 89"/>
            <p:cNvSpPr txBox="1"/>
            <p:nvPr/>
          </p:nvSpPr>
          <p:spPr>
            <a:xfrm>
              <a:off x="11537728" y="6673691"/>
              <a:ext cx="93250"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11</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86"/>
                                        </p:tgtEl>
                                        <p:attrNameLst>
                                          <p:attrName>style.visibility</p:attrName>
                                        </p:attrNameLst>
                                      </p:cBhvr>
                                      <p:to>
                                        <p:strVal val="visible"/>
                                      </p:to>
                                    </p:set>
                                    <p:animEffect transition="in" filter="fade">
                                      <p:cBhvr>
                                        <p:cTn id="11"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8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6623685" cy="632936"/>
            <a:chOff x="571500" y="379095"/>
            <a:chExt cx="6623685" cy="632936"/>
          </a:xfrm>
        </p:grpSpPr>
        <p:sp>
          <p:nvSpPr>
            <p:cNvPr id="5" name="Rectangle 5"/>
            <p:cNvSpPr/>
            <p:nvPr/>
          </p:nvSpPr>
          <p:spPr>
            <a:xfrm>
              <a:off x="571500" y="381000"/>
              <a:ext cx="47625" cy="342900"/>
            </a:xfrm>
            <a:prstGeom prst="roundRect">
              <a:avLst>
                <a:gd name="adj" fmla="val 40000"/>
              </a:avLst>
            </a:prstGeom>
            <a:solidFill>
              <a:srgbClr val="4285F4"/>
            </a:solidFill>
            <a:ln>
              <a:noFill/>
            </a:ln>
          </p:spPr>
          <p:txBody>
            <a:bodyPr/>
            <a:lstStyle/>
            <a:p>
              <a:endParaRPr lang="zh-CN" altLang="en-US"/>
            </a:p>
          </p:txBody>
        </p:sp>
        <p:sp>
          <p:nvSpPr>
            <p:cNvPr id="6" name="TextBox 6"/>
            <p:cNvSpPr txBox="1"/>
            <p:nvPr/>
          </p:nvSpPr>
          <p:spPr>
            <a:xfrm>
              <a:off x="693420" y="379095"/>
              <a:ext cx="6501765"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Testing Suite — Four Phase Coverage</a:t>
              </a:r>
            </a:p>
          </p:txBody>
        </p:sp>
        <p:sp>
          <p:nvSpPr>
            <p:cNvPr id="7" name="TextBox 7"/>
            <p:cNvSpPr txBox="1"/>
            <p:nvPr/>
          </p:nvSpPr>
          <p:spPr>
            <a:xfrm>
              <a:off x="709612" y="783431"/>
              <a:ext cx="4620935"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Valid and invalid test cases for each phase of the pipeline</a:t>
              </a:r>
            </a:p>
          </p:txBody>
        </p:sp>
      </p:grpSp>
      <p:grpSp>
        <p:nvGrpSpPr>
          <p:cNvPr id="29" name="Group 29"/>
          <p:cNvGrpSpPr/>
          <p:nvPr/>
        </p:nvGrpSpPr>
        <p:grpSpPr>
          <a:xfrm>
            <a:off x="571500" y="1082040"/>
            <a:ext cx="5585460" cy="2575560"/>
            <a:chOff x="571500" y="1082040"/>
            <a:chExt cx="5585460" cy="2575560"/>
          </a:xfrm>
        </p:grpSpPr>
        <p:sp>
          <p:nvSpPr>
            <p:cNvPr id="9" name="Rectangle 9"/>
            <p:cNvSpPr/>
            <p:nvPr/>
          </p:nvSpPr>
          <p:spPr>
            <a:xfrm>
              <a:off x="571500" y="1143000"/>
              <a:ext cx="5391150" cy="2514600"/>
            </a:xfrm>
            <a:prstGeom prst="roundRect">
              <a:avLst>
                <a:gd name="adj" fmla="val 4545"/>
              </a:avLst>
            </a:prstGeom>
            <a:solidFill>
              <a:srgbClr val="FFFFFF"/>
            </a:solidFill>
            <a:ln w="9525">
              <a:solidFill>
                <a:srgbClr val="4285F4">
                  <a:alpha val="40000"/>
                </a:srgbClr>
              </a:solidFill>
            </a:ln>
          </p:spPr>
          <p:txBody>
            <a:bodyPr/>
            <a:lstStyle/>
            <a:p>
              <a:endParaRPr lang="zh-CN" altLang="en-US"/>
            </a:p>
          </p:txBody>
        </p:sp>
        <p:sp>
          <p:nvSpPr>
            <p:cNvPr id="10" name="Rectangle 10"/>
            <p:cNvSpPr/>
            <p:nvPr/>
          </p:nvSpPr>
          <p:spPr>
            <a:xfrm>
              <a:off x="571500" y="1143000"/>
              <a:ext cx="5391150" cy="38100"/>
            </a:xfrm>
            <a:prstGeom prst="roundRect">
              <a:avLst>
                <a:gd name="adj" fmla="val 50000"/>
              </a:avLst>
            </a:prstGeom>
            <a:solidFill>
              <a:srgbClr val="4285F4"/>
            </a:solidFill>
            <a:ln>
              <a:noFill/>
            </a:ln>
          </p:spPr>
          <p:txBody>
            <a:bodyPr/>
            <a:lstStyle/>
            <a:p>
              <a:endParaRPr lang="zh-CN" altLang="en-US"/>
            </a:p>
          </p:txBody>
        </p:sp>
        <p:sp>
          <p:nvSpPr>
            <p:cNvPr id="11" name="TextBox 11"/>
            <p:cNvSpPr txBox="1"/>
            <p:nvPr/>
          </p:nvSpPr>
          <p:spPr>
            <a:xfrm>
              <a:off x="5409362" y="1082040"/>
              <a:ext cx="747598" cy="975360"/>
            </a:xfrm>
            <a:prstGeom prst="rect">
              <a:avLst/>
            </a:prstGeom>
            <a:noFill/>
            <a:ln>
              <a:noFill/>
            </a:ln>
          </p:spPr>
          <p:txBody>
            <a:bodyPr wrap="none" lIns="0" tIns="0" rIns="0" bIns="0" anchor="t" anchorCtr="0">
              <a:spAutoFit/>
            </a:bodyPr>
            <a:lstStyle/>
            <a:p>
              <a:pPr algn="r"/>
              <a:r>
                <a:rPr lang="zh-CN" sz="4800" b="1" dirty="0">
                  <a:solidFill>
                    <a:srgbClr val="4285F4">
                      <a:alpha val="6000"/>
                    </a:srgbClr>
                  </a:solidFill>
                  <a:latin typeface="Segoe UI"/>
                  <a:ea typeface="Microsoft YaHei"/>
                  <a:cs typeface="Segoe UI"/>
                </a:rPr>
                <a:t>01</a:t>
              </a:r>
            </a:p>
          </p:txBody>
        </p:sp>
        <p:sp>
          <p:nvSpPr>
            <p:cNvPr id="12" name="Rectangle 12"/>
            <p:cNvSpPr/>
            <p:nvPr/>
          </p:nvSpPr>
          <p:spPr>
            <a:xfrm>
              <a:off x="762000" y="1333500"/>
              <a:ext cx="495300" cy="495300"/>
            </a:xfrm>
            <a:prstGeom prst="roundRect">
              <a:avLst>
                <a:gd name="adj" fmla="val 19231"/>
              </a:avLst>
            </a:prstGeom>
            <a:solidFill>
              <a:srgbClr val="4285F4">
                <a:alpha val="12000"/>
              </a:srgbClr>
            </a:solidFill>
            <a:ln>
              <a:noFill/>
            </a:ln>
          </p:spPr>
          <p:txBody>
            <a:bodyPr/>
            <a:lstStyle/>
            <a:p>
              <a:endParaRPr lang="zh-CN" altLang="en-US"/>
            </a:p>
          </p:txBody>
        </p:sp>
        <p:sp>
          <p:nvSpPr>
            <p:cNvPr id="13" name="Freeform 13"/>
            <p:cNvSpPr/>
            <p:nvPr/>
          </p:nvSpPr>
          <p:spPr>
            <a:xfrm>
              <a:off x="881062" y="1452562"/>
              <a:ext cx="257180" cy="272185"/>
            </a:xfrm>
            <a:custGeom>
              <a:avLst/>
              <a:gdLst/>
              <a:ahLst/>
              <a:cxnLst/>
              <a:rect l="l" t="t" r="r" b="b"/>
              <a:pathLst>
                <a:path w="257180" h="272185">
                  <a:moveTo>
                    <a:pt x="242888" y="0"/>
                  </a:moveTo>
                  <a:lnTo>
                    <a:pt x="14288" y="0"/>
                  </a:lnTo>
                  <a:cubicBezTo>
                    <a:pt x="6397" y="0"/>
                    <a:pt x="0" y="6397"/>
                    <a:pt x="0" y="14288"/>
                  </a:cubicBezTo>
                  <a:lnTo>
                    <a:pt x="0" y="46106"/>
                  </a:lnTo>
                  <a:lnTo>
                    <a:pt x="114" y="49292"/>
                  </a:lnTo>
                  <a:cubicBezTo>
                    <a:pt x="826" y="58832"/>
                    <a:pt x="4709" y="67860"/>
                    <a:pt x="11144" y="74938"/>
                  </a:cubicBezTo>
                  <a:lnTo>
                    <a:pt x="71438" y="141246"/>
                  </a:lnTo>
                  <a:lnTo>
                    <a:pt x="71438" y="257175"/>
                  </a:lnTo>
                  <a:cubicBezTo>
                    <a:pt x="71436" y="261768"/>
                    <a:pt x="73643" y="266081"/>
                    <a:pt x="77368" y="268767"/>
                  </a:cubicBezTo>
                  <a:cubicBezTo>
                    <a:pt x="81093" y="271453"/>
                    <a:pt x="85883" y="272185"/>
                    <a:pt x="90240" y="270734"/>
                  </a:cubicBezTo>
                  <a:lnTo>
                    <a:pt x="175965" y="242159"/>
                  </a:lnTo>
                  <a:lnTo>
                    <a:pt x="177508" y="241544"/>
                  </a:lnTo>
                  <a:cubicBezTo>
                    <a:pt x="182531" y="239193"/>
                    <a:pt x="185739" y="234146"/>
                    <a:pt x="185738" y="228600"/>
                  </a:cubicBezTo>
                  <a:lnTo>
                    <a:pt x="185738" y="134503"/>
                  </a:lnTo>
                  <a:lnTo>
                    <a:pt x="244616" y="75638"/>
                  </a:lnTo>
                  <a:cubicBezTo>
                    <a:pt x="252662" y="67595"/>
                    <a:pt x="257180" y="56682"/>
                    <a:pt x="257175" y="45306"/>
                  </a:cubicBezTo>
                  <a:lnTo>
                    <a:pt x="257175" y="14288"/>
                  </a:lnTo>
                  <a:cubicBezTo>
                    <a:pt x="257175" y="6397"/>
                    <a:pt x="250778" y="0"/>
                    <a:pt x="242888" y="0"/>
                  </a:cubicBezTo>
                  <a:close/>
                </a:path>
              </a:pathLst>
            </a:custGeom>
            <a:solidFill>
              <a:srgbClr val="4285F4"/>
            </a:solidFill>
            <a:ln>
              <a:noFill/>
            </a:ln>
          </p:spPr>
          <p:txBody>
            <a:bodyPr/>
            <a:lstStyle/>
            <a:p>
              <a:endParaRPr lang="zh-CN" altLang="en-US"/>
            </a:p>
          </p:txBody>
        </p:sp>
        <p:sp>
          <p:nvSpPr>
            <p:cNvPr id="14" name="TextBox 14"/>
            <p:cNvSpPr txBox="1"/>
            <p:nvPr/>
          </p:nvSpPr>
          <p:spPr>
            <a:xfrm>
              <a:off x="1373505" y="1397318"/>
              <a:ext cx="1473120"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Phase 1: Lexer</a:t>
              </a:r>
            </a:p>
          </p:txBody>
        </p:sp>
        <p:sp>
          <p:nvSpPr>
            <p:cNvPr id="15" name="TextBox 15"/>
            <p:cNvSpPr txBox="1"/>
            <p:nvPr/>
          </p:nvSpPr>
          <p:spPr>
            <a:xfrm>
              <a:off x="1379220" y="1636395"/>
              <a:ext cx="1340925" cy="182880"/>
            </a:xfrm>
            <a:prstGeom prst="rect">
              <a:avLst/>
            </a:prstGeom>
            <a:noFill/>
            <a:ln>
              <a:noFill/>
            </a:ln>
          </p:spPr>
          <p:txBody>
            <a:bodyPr wrap="none" lIns="0" tIns="0" rIns="0" bIns="0" anchor="t" anchorCtr="0">
              <a:spAutoFit/>
            </a:bodyPr>
            <a:lstStyle/>
            <a:p>
              <a:pPr algn="l"/>
              <a:r>
                <a:rPr lang="zh-CN" sz="900" b="1" dirty="0">
                  <a:solidFill>
                    <a:srgbClr val="4285F4"/>
                  </a:solidFill>
                  <a:latin typeface="Segoe UI"/>
                  <a:ea typeface="Microsoft YaHei"/>
                  <a:cs typeface="Segoe UI"/>
                </a:rPr>
                <a:t>TOKENIZATION TESTS</a:t>
              </a:r>
            </a:p>
          </p:txBody>
        </p:sp>
        <p:sp>
          <p:nvSpPr>
            <p:cNvPr id="16" name="Rectangle 16"/>
            <p:cNvSpPr/>
            <p:nvPr/>
          </p:nvSpPr>
          <p:spPr>
            <a:xfrm>
              <a:off x="762000" y="1924050"/>
              <a:ext cx="5010150" cy="9525"/>
            </a:xfrm>
            <a:prstGeom prst="rect">
              <a:avLst/>
            </a:prstGeom>
            <a:solidFill>
              <a:srgbClr val="DADCE0"/>
            </a:solidFill>
            <a:ln>
              <a:noFill/>
            </a:ln>
          </p:spPr>
          <p:txBody>
            <a:bodyPr/>
            <a:lstStyle/>
            <a:p>
              <a:endParaRPr lang="zh-CN" altLang="en-US"/>
            </a:p>
          </p:txBody>
        </p:sp>
        <p:sp>
          <p:nvSpPr>
            <p:cNvPr id="17" name="Rectangle 17"/>
            <p:cNvSpPr/>
            <p:nvPr/>
          </p:nvSpPr>
          <p:spPr>
            <a:xfrm>
              <a:off x="762000" y="2019300"/>
              <a:ext cx="2381250" cy="800100"/>
            </a:xfrm>
            <a:prstGeom prst="roundRect">
              <a:avLst>
                <a:gd name="adj" fmla="val 7143"/>
              </a:avLst>
            </a:prstGeom>
            <a:solidFill>
              <a:srgbClr val="1E8E3E">
                <a:alpha val="6000"/>
              </a:srgbClr>
            </a:solidFill>
            <a:ln w="9525">
              <a:solidFill>
                <a:srgbClr val="1E8E3E">
                  <a:alpha val="30000"/>
                </a:srgbClr>
              </a:solidFill>
            </a:ln>
          </p:spPr>
          <p:txBody>
            <a:bodyPr/>
            <a:lstStyle/>
            <a:p>
              <a:endParaRPr lang="zh-CN" altLang="en-US"/>
            </a:p>
          </p:txBody>
        </p:sp>
        <p:sp>
          <p:nvSpPr>
            <p:cNvPr id="18" name="TextBox 18"/>
            <p:cNvSpPr txBox="1"/>
            <p:nvPr/>
          </p:nvSpPr>
          <p:spPr>
            <a:xfrm>
              <a:off x="941070" y="2093595"/>
              <a:ext cx="367903" cy="182880"/>
            </a:xfrm>
            <a:prstGeom prst="rect">
              <a:avLst/>
            </a:prstGeom>
            <a:noFill/>
            <a:ln>
              <a:noFill/>
            </a:ln>
          </p:spPr>
          <p:txBody>
            <a:bodyPr wrap="none" lIns="0" tIns="0" rIns="0" bIns="0" anchor="t" anchorCtr="0">
              <a:spAutoFit/>
            </a:bodyPr>
            <a:lstStyle/>
            <a:p>
              <a:pPr algn="l"/>
              <a:r>
                <a:rPr lang="zh-CN" sz="900" b="1" dirty="0">
                  <a:solidFill>
                    <a:srgbClr val="1E8E3E"/>
                  </a:solidFill>
                  <a:latin typeface="Segoe UI"/>
                  <a:ea typeface="Microsoft YaHei"/>
                  <a:cs typeface="Segoe UI"/>
                </a:rPr>
                <a:t>VALID</a:t>
              </a:r>
            </a:p>
          </p:txBody>
        </p:sp>
        <p:sp>
          <p:nvSpPr>
            <p:cNvPr id="19" name="TextBox 19"/>
            <p:cNvSpPr txBox="1"/>
            <p:nvPr/>
          </p:nvSpPr>
          <p:spPr>
            <a:xfrm>
              <a:off x="941070" y="2265045"/>
              <a:ext cx="152790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Single-line tokenization</a:t>
              </a:r>
            </a:p>
          </p:txBody>
        </p:sp>
        <p:sp>
          <p:nvSpPr>
            <p:cNvPr id="20" name="TextBox 20"/>
            <p:cNvSpPr txBox="1"/>
            <p:nvPr/>
          </p:nvSpPr>
          <p:spPr>
            <a:xfrm>
              <a:off x="941070" y="2417445"/>
              <a:ext cx="169221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Nested parens + mixed ops</a:t>
              </a:r>
            </a:p>
          </p:txBody>
        </p:sp>
        <p:sp>
          <p:nvSpPr>
            <p:cNvPr id="21" name="TextBox 21"/>
            <p:cNvSpPr txBox="1"/>
            <p:nvPr/>
          </p:nvSpPr>
          <p:spPr>
            <a:xfrm>
              <a:off x="941070" y="2569845"/>
              <a:ext cx="154762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All keywords recognized</a:t>
              </a:r>
            </a:p>
          </p:txBody>
        </p:sp>
        <p:sp>
          <p:nvSpPr>
            <p:cNvPr id="22" name="Rectangle 22"/>
            <p:cNvSpPr/>
            <p:nvPr/>
          </p:nvSpPr>
          <p:spPr>
            <a:xfrm>
              <a:off x="3314700" y="2019300"/>
              <a:ext cx="2457450" cy="800100"/>
            </a:xfrm>
            <a:prstGeom prst="roundRect">
              <a:avLst>
                <a:gd name="adj" fmla="val 7143"/>
              </a:avLst>
            </a:prstGeom>
            <a:solidFill>
              <a:srgbClr val="EA4335">
                <a:alpha val="6000"/>
              </a:srgbClr>
            </a:solidFill>
            <a:ln w="9525">
              <a:solidFill>
                <a:srgbClr val="EA4335">
                  <a:alpha val="30000"/>
                </a:srgbClr>
              </a:solidFill>
            </a:ln>
          </p:spPr>
          <p:txBody>
            <a:bodyPr/>
            <a:lstStyle/>
            <a:p>
              <a:endParaRPr lang="zh-CN" altLang="en-US"/>
            </a:p>
          </p:txBody>
        </p:sp>
        <p:sp>
          <p:nvSpPr>
            <p:cNvPr id="23" name="TextBox 23"/>
            <p:cNvSpPr txBox="1"/>
            <p:nvPr/>
          </p:nvSpPr>
          <p:spPr>
            <a:xfrm>
              <a:off x="3493770" y="2093595"/>
              <a:ext cx="485218" cy="182880"/>
            </a:xfrm>
            <a:prstGeom prst="rect">
              <a:avLst/>
            </a:prstGeom>
            <a:noFill/>
            <a:ln>
              <a:noFill/>
            </a:ln>
          </p:spPr>
          <p:txBody>
            <a:bodyPr wrap="none" lIns="0" tIns="0" rIns="0" bIns="0" anchor="t" anchorCtr="0">
              <a:spAutoFit/>
            </a:bodyPr>
            <a:lstStyle/>
            <a:p>
              <a:pPr algn="l"/>
              <a:r>
                <a:rPr lang="zh-CN" sz="900" b="1" dirty="0">
                  <a:solidFill>
                    <a:srgbClr val="EA4335"/>
                  </a:solidFill>
                  <a:latin typeface="Segoe UI"/>
                  <a:ea typeface="Microsoft YaHei"/>
                  <a:cs typeface="Segoe UI"/>
                </a:rPr>
                <a:t>INVALID</a:t>
              </a:r>
            </a:p>
          </p:txBody>
        </p:sp>
        <p:sp>
          <p:nvSpPr>
            <p:cNvPr id="24" name="TextBox 24"/>
            <p:cNvSpPr txBox="1"/>
            <p:nvPr/>
          </p:nvSpPr>
          <p:spPr>
            <a:xfrm>
              <a:off x="3493770" y="2265045"/>
              <a:ext cx="173164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Capitalized var names (PP)</a:t>
              </a:r>
            </a:p>
          </p:txBody>
        </p:sp>
        <p:sp>
          <p:nvSpPr>
            <p:cNvPr id="25" name="TextBox 25"/>
            <p:cNvSpPr txBox="1"/>
            <p:nvPr/>
          </p:nvSpPr>
          <p:spPr>
            <a:xfrm>
              <a:off x="3493770" y="2417445"/>
              <a:ext cx="150161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Numeric var names (p1)</a:t>
              </a:r>
            </a:p>
          </p:txBody>
        </p:sp>
        <p:sp>
          <p:nvSpPr>
            <p:cNvPr id="26" name="TextBox 26"/>
            <p:cNvSpPr txBox="1"/>
            <p:nvPr/>
          </p:nvSpPr>
          <p:spPr>
            <a:xfrm>
              <a:off x="3493770" y="2569845"/>
              <a:ext cx="158705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Unknown boolean literals</a:t>
              </a:r>
            </a:p>
          </p:txBody>
        </p:sp>
        <p:sp>
          <p:nvSpPr>
            <p:cNvPr id="27" name="TextBox 27"/>
            <p:cNvSpPr txBox="1"/>
            <p:nvPr/>
          </p:nvSpPr>
          <p:spPr>
            <a:xfrm>
              <a:off x="750570" y="2912745"/>
              <a:ext cx="3065812"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Line-precise LexicalError + phase field verified</a:t>
              </a:r>
            </a:p>
          </p:txBody>
        </p:sp>
        <p:sp>
          <p:nvSpPr>
            <p:cNvPr id="28" name="TextBox 28"/>
            <p:cNvSpPr txBox="1"/>
            <p:nvPr/>
          </p:nvSpPr>
          <p:spPr>
            <a:xfrm>
              <a:off x="750570" y="3084195"/>
              <a:ext cx="3276124"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Multi-line: error on later lines detected correctly</a:t>
              </a:r>
            </a:p>
          </p:txBody>
        </p:sp>
      </p:grpSp>
      <p:grpSp>
        <p:nvGrpSpPr>
          <p:cNvPr id="54" name="Group 54"/>
          <p:cNvGrpSpPr/>
          <p:nvPr/>
        </p:nvGrpSpPr>
        <p:grpSpPr>
          <a:xfrm>
            <a:off x="6229350" y="1082040"/>
            <a:ext cx="5585460" cy="2575560"/>
            <a:chOff x="6229350" y="1082040"/>
            <a:chExt cx="5585460" cy="2575560"/>
          </a:xfrm>
        </p:grpSpPr>
        <p:sp>
          <p:nvSpPr>
            <p:cNvPr id="30" name="Rectangle 30"/>
            <p:cNvSpPr/>
            <p:nvPr/>
          </p:nvSpPr>
          <p:spPr>
            <a:xfrm>
              <a:off x="6229350" y="1143000"/>
              <a:ext cx="5391150" cy="2514600"/>
            </a:xfrm>
            <a:prstGeom prst="roundRect">
              <a:avLst>
                <a:gd name="adj" fmla="val 4545"/>
              </a:avLst>
            </a:prstGeom>
            <a:solidFill>
              <a:srgbClr val="FFFFFF"/>
            </a:solidFill>
            <a:ln w="9525">
              <a:solidFill>
                <a:srgbClr val="34A853">
                  <a:alpha val="40000"/>
                </a:srgbClr>
              </a:solidFill>
            </a:ln>
          </p:spPr>
          <p:txBody>
            <a:bodyPr/>
            <a:lstStyle/>
            <a:p>
              <a:endParaRPr lang="zh-CN" altLang="en-US"/>
            </a:p>
          </p:txBody>
        </p:sp>
        <p:sp>
          <p:nvSpPr>
            <p:cNvPr id="31" name="Rectangle 31"/>
            <p:cNvSpPr/>
            <p:nvPr/>
          </p:nvSpPr>
          <p:spPr>
            <a:xfrm>
              <a:off x="6229350" y="1143000"/>
              <a:ext cx="5391150" cy="38100"/>
            </a:xfrm>
            <a:prstGeom prst="roundRect">
              <a:avLst>
                <a:gd name="adj" fmla="val 50000"/>
              </a:avLst>
            </a:prstGeom>
            <a:solidFill>
              <a:srgbClr val="34A853"/>
            </a:solidFill>
            <a:ln>
              <a:noFill/>
            </a:ln>
          </p:spPr>
          <p:txBody>
            <a:bodyPr/>
            <a:lstStyle/>
            <a:p>
              <a:endParaRPr lang="zh-CN" altLang="en-US"/>
            </a:p>
          </p:txBody>
        </p:sp>
        <p:sp>
          <p:nvSpPr>
            <p:cNvPr id="32" name="TextBox 32"/>
            <p:cNvSpPr txBox="1"/>
            <p:nvPr/>
          </p:nvSpPr>
          <p:spPr>
            <a:xfrm>
              <a:off x="10883189" y="1082040"/>
              <a:ext cx="931621" cy="975360"/>
            </a:xfrm>
            <a:prstGeom prst="rect">
              <a:avLst/>
            </a:prstGeom>
            <a:noFill/>
            <a:ln>
              <a:noFill/>
            </a:ln>
          </p:spPr>
          <p:txBody>
            <a:bodyPr wrap="none" lIns="0" tIns="0" rIns="0" bIns="0" anchor="t" anchorCtr="0">
              <a:spAutoFit/>
            </a:bodyPr>
            <a:lstStyle/>
            <a:p>
              <a:pPr algn="r"/>
              <a:r>
                <a:rPr lang="zh-CN" sz="4800" b="1" dirty="0">
                  <a:solidFill>
                    <a:srgbClr val="34A853">
                      <a:alpha val="6000"/>
                    </a:srgbClr>
                  </a:solidFill>
                  <a:latin typeface="Segoe UI"/>
                  <a:ea typeface="Microsoft YaHei"/>
                  <a:cs typeface="Segoe UI"/>
                </a:rPr>
                <a:t>02</a:t>
              </a:r>
            </a:p>
          </p:txBody>
        </p:sp>
        <p:sp>
          <p:nvSpPr>
            <p:cNvPr id="33" name="Rectangle 33"/>
            <p:cNvSpPr/>
            <p:nvPr/>
          </p:nvSpPr>
          <p:spPr>
            <a:xfrm>
              <a:off x="6419850" y="1333500"/>
              <a:ext cx="495300" cy="495300"/>
            </a:xfrm>
            <a:prstGeom prst="roundRect">
              <a:avLst>
                <a:gd name="adj" fmla="val 19231"/>
              </a:avLst>
            </a:prstGeom>
            <a:solidFill>
              <a:srgbClr val="34A853">
                <a:alpha val="12000"/>
              </a:srgbClr>
            </a:solidFill>
            <a:ln>
              <a:noFill/>
            </a:ln>
          </p:spPr>
          <p:txBody>
            <a:bodyPr/>
            <a:lstStyle/>
            <a:p>
              <a:endParaRPr lang="zh-CN" altLang="en-US"/>
            </a:p>
          </p:txBody>
        </p:sp>
        <p:grpSp>
          <p:nvGrpSpPr>
            <p:cNvPr id="38" name="Group 38"/>
            <p:cNvGrpSpPr/>
            <p:nvPr/>
          </p:nvGrpSpPr>
          <p:grpSpPr>
            <a:xfrm>
              <a:off x="6524625" y="1436884"/>
              <a:ext cx="286262" cy="288534"/>
              <a:chOff x="6524625" y="1436884"/>
              <a:chExt cx="286262" cy="288534"/>
            </a:xfrm>
          </p:grpSpPr>
          <p:sp>
            <p:nvSpPr>
              <p:cNvPr id="34" name="Freeform 34"/>
              <p:cNvSpPr/>
              <p:nvPr/>
            </p:nvSpPr>
            <p:spPr>
              <a:xfrm>
                <a:off x="6696075" y="160972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34A853"/>
              </a:solidFill>
              <a:ln>
                <a:noFill/>
              </a:ln>
            </p:spPr>
            <p:txBody>
              <a:bodyPr/>
              <a:lstStyle/>
              <a:p>
                <a:endParaRPr lang="zh-CN" altLang="en-US"/>
              </a:p>
            </p:txBody>
          </p:sp>
          <p:sp>
            <p:nvSpPr>
              <p:cNvPr id="35" name="Freeform 35"/>
              <p:cNvSpPr/>
              <p:nvPr/>
            </p:nvSpPr>
            <p:spPr>
              <a:xfrm>
                <a:off x="6666877" y="1436884"/>
                <a:ext cx="143498" cy="144669"/>
              </a:xfrm>
              <a:custGeom>
                <a:avLst/>
                <a:gdLst/>
                <a:ahLst/>
                <a:cxnLst/>
                <a:rect l="l" t="t" r="r" b="b"/>
                <a:pathLst>
                  <a:path w="143498" h="144669">
                    <a:moveTo>
                      <a:pt x="67874" y="5578"/>
                    </a:moveTo>
                    <a:cubicBezTo>
                      <a:pt x="72964" y="10668"/>
                      <a:pt x="73472" y="18749"/>
                      <a:pt x="69060" y="24437"/>
                    </a:cubicBezTo>
                    <a:lnTo>
                      <a:pt x="67874" y="25780"/>
                    </a:lnTo>
                    <a:lnTo>
                      <a:pt x="49400" y="44254"/>
                    </a:lnTo>
                    <a:lnTo>
                      <a:pt x="100635" y="44254"/>
                    </a:lnTo>
                    <a:cubicBezTo>
                      <a:pt x="123332" y="44253"/>
                      <a:pt x="142095" y="61944"/>
                      <a:pt x="143426" y="84602"/>
                    </a:cubicBezTo>
                    <a:lnTo>
                      <a:pt x="143498" y="87116"/>
                    </a:lnTo>
                    <a:lnTo>
                      <a:pt x="143498" y="129979"/>
                    </a:lnTo>
                    <a:cubicBezTo>
                      <a:pt x="143489" y="137538"/>
                      <a:pt x="137594" y="143783"/>
                      <a:pt x="130047" y="144226"/>
                    </a:cubicBezTo>
                    <a:cubicBezTo>
                      <a:pt x="122501" y="144669"/>
                      <a:pt x="115916" y="139157"/>
                      <a:pt x="115023" y="131650"/>
                    </a:cubicBezTo>
                    <a:lnTo>
                      <a:pt x="114923" y="129979"/>
                    </a:lnTo>
                    <a:lnTo>
                      <a:pt x="114923" y="87116"/>
                    </a:lnTo>
                    <a:cubicBezTo>
                      <a:pt x="114922" y="79873"/>
                      <a:pt x="109500" y="73776"/>
                      <a:pt x="102307" y="72929"/>
                    </a:cubicBezTo>
                    <a:lnTo>
                      <a:pt x="100635" y="72829"/>
                    </a:lnTo>
                    <a:lnTo>
                      <a:pt x="49414" y="72829"/>
                    </a:lnTo>
                    <a:lnTo>
                      <a:pt x="67874" y="91303"/>
                    </a:lnTo>
                    <a:cubicBezTo>
                      <a:pt x="73192" y="96639"/>
                      <a:pt x="73453" y="105187"/>
                      <a:pt x="68470" y="110838"/>
                    </a:cubicBezTo>
                    <a:cubicBezTo>
                      <a:pt x="63488" y="116488"/>
                      <a:pt x="54974" y="117299"/>
                      <a:pt x="49014" y="112691"/>
                    </a:cubicBezTo>
                    <a:lnTo>
                      <a:pt x="47671" y="111505"/>
                    </a:lnTo>
                    <a:lnTo>
                      <a:pt x="4809" y="68643"/>
                    </a:lnTo>
                    <a:cubicBezTo>
                      <a:pt x="1498" y="65407"/>
                      <a:pt x="0" y="60743"/>
                      <a:pt x="808" y="56184"/>
                    </a:cubicBezTo>
                    <a:lnTo>
                      <a:pt x="1323" y="54098"/>
                    </a:lnTo>
                    <a:lnTo>
                      <a:pt x="1894" y="52612"/>
                    </a:lnTo>
                    <a:cubicBezTo>
                      <a:pt x="2723" y="50812"/>
                      <a:pt x="3895" y="49183"/>
                      <a:pt x="5395" y="47840"/>
                    </a:cubicBezTo>
                    <a:lnTo>
                      <a:pt x="47671" y="5578"/>
                    </a:lnTo>
                    <a:cubicBezTo>
                      <a:pt x="53251" y="0"/>
                      <a:pt x="62295" y="0"/>
                      <a:pt x="67874" y="5578"/>
                    </a:cubicBezTo>
                    <a:close/>
                  </a:path>
                </a:pathLst>
              </a:custGeom>
              <a:solidFill>
                <a:srgbClr val="34A853"/>
              </a:solidFill>
              <a:ln>
                <a:noFill/>
              </a:ln>
            </p:spPr>
            <p:txBody>
              <a:bodyPr/>
              <a:lstStyle/>
              <a:p>
                <a:endParaRPr lang="zh-CN" altLang="en-US"/>
              </a:p>
            </p:txBody>
          </p:sp>
          <p:sp>
            <p:nvSpPr>
              <p:cNvPr id="36" name="Freeform 36"/>
              <p:cNvSpPr/>
              <p:nvPr/>
            </p:nvSpPr>
            <p:spPr>
              <a:xfrm>
                <a:off x="6524625" y="1581150"/>
                <a:ext cx="143498" cy="144268"/>
              </a:xfrm>
              <a:custGeom>
                <a:avLst/>
                <a:gdLst/>
                <a:ahLst/>
                <a:cxnLst/>
                <a:rect l="l" t="t" r="r" b="b"/>
                <a:pathLst>
                  <a:path w="143498" h="144268">
                    <a:moveTo>
                      <a:pt x="14288" y="0"/>
                    </a:moveTo>
                    <a:cubicBezTo>
                      <a:pt x="21531" y="1"/>
                      <a:pt x="27628" y="5422"/>
                      <a:pt x="28475" y="12616"/>
                    </a:cubicBezTo>
                    <a:lnTo>
                      <a:pt x="28575" y="14288"/>
                    </a:lnTo>
                    <a:lnTo>
                      <a:pt x="28575" y="57150"/>
                    </a:lnTo>
                    <a:cubicBezTo>
                      <a:pt x="28576" y="64393"/>
                      <a:pt x="33997" y="70490"/>
                      <a:pt x="41191" y="71337"/>
                    </a:cubicBezTo>
                    <a:lnTo>
                      <a:pt x="42862" y="71438"/>
                    </a:lnTo>
                    <a:lnTo>
                      <a:pt x="94083" y="71438"/>
                    </a:lnTo>
                    <a:lnTo>
                      <a:pt x="75624" y="52964"/>
                    </a:lnTo>
                    <a:cubicBezTo>
                      <a:pt x="70534" y="47874"/>
                      <a:pt x="70026" y="39792"/>
                      <a:pt x="74438" y="34104"/>
                    </a:cubicBezTo>
                    <a:lnTo>
                      <a:pt x="75624" y="32761"/>
                    </a:lnTo>
                    <a:cubicBezTo>
                      <a:pt x="80714" y="27672"/>
                      <a:pt x="88796" y="27163"/>
                      <a:pt x="94483" y="31575"/>
                    </a:cubicBezTo>
                    <a:lnTo>
                      <a:pt x="95826" y="32761"/>
                    </a:lnTo>
                    <a:lnTo>
                      <a:pt x="138689" y="75624"/>
                    </a:lnTo>
                    <a:cubicBezTo>
                      <a:pt x="142000" y="78860"/>
                      <a:pt x="143498" y="83524"/>
                      <a:pt x="142689" y="88082"/>
                    </a:cubicBezTo>
                    <a:lnTo>
                      <a:pt x="142175" y="90168"/>
                    </a:lnTo>
                    <a:lnTo>
                      <a:pt x="141603" y="91654"/>
                    </a:lnTo>
                    <a:cubicBezTo>
                      <a:pt x="140775" y="93468"/>
                      <a:pt x="139584" y="95092"/>
                      <a:pt x="138103" y="96426"/>
                    </a:cubicBezTo>
                    <a:lnTo>
                      <a:pt x="95826" y="138689"/>
                    </a:lnTo>
                    <a:cubicBezTo>
                      <a:pt x="90490" y="144007"/>
                      <a:pt x="81942" y="144268"/>
                      <a:pt x="76291" y="139285"/>
                    </a:cubicBezTo>
                    <a:cubicBezTo>
                      <a:pt x="70641" y="134303"/>
                      <a:pt x="69830" y="125789"/>
                      <a:pt x="74438" y="119829"/>
                    </a:cubicBezTo>
                    <a:lnTo>
                      <a:pt x="75624" y="118486"/>
                    </a:lnTo>
                    <a:lnTo>
                      <a:pt x="94069" y="100012"/>
                    </a:lnTo>
                    <a:lnTo>
                      <a:pt x="42862" y="100012"/>
                    </a:lnTo>
                    <a:cubicBezTo>
                      <a:pt x="20166" y="100014"/>
                      <a:pt x="1403" y="82322"/>
                      <a:pt x="71" y="59665"/>
                    </a:cubicBezTo>
                    <a:lnTo>
                      <a:pt x="0" y="57150"/>
                    </a:lnTo>
                    <a:lnTo>
                      <a:pt x="0" y="14288"/>
                    </a:lnTo>
                    <a:cubicBezTo>
                      <a:pt x="0" y="6397"/>
                      <a:pt x="6397" y="0"/>
                      <a:pt x="14288" y="0"/>
                    </a:cubicBezTo>
                    <a:close/>
                  </a:path>
                </a:pathLst>
              </a:custGeom>
              <a:solidFill>
                <a:srgbClr val="34A853"/>
              </a:solidFill>
              <a:ln>
                <a:noFill/>
              </a:ln>
            </p:spPr>
            <p:txBody>
              <a:bodyPr/>
              <a:lstStyle/>
              <a:p>
                <a:endParaRPr lang="zh-CN" altLang="en-US"/>
              </a:p>
            </p:txBody>
          </p:sp>
          <p:sp>
            <p:nvSpPr>
              <p:cNvPr id="37" name="Freeform 37"/>
              <p:cNvSpPr/>
              <p:nvPr/>
            </p:nvSpPr>
            <p:spPr>
              <a:xfrm>
                <a:off x="6524625" y="1438275"/>
                <a:ext cx="114812" cy="115308"/>
              </a:xfrm>
              <a:custGeom>
                <a:avLst/>
                <a:gdLst/>
                <a:ahLst/>
                <a:cxnLst/>
                <a:rect l="l" t="t" r="r" b="b"/>
                <a:pathLst>
                  <a:path w="114812" h="115308">
                    <a:moveTo>
                      <a:pt x="57150" y="0"/>
                    </a:moveTo>
                    <a:cubicBezTo>
                      <a:pt x="88342" y="0"/>
                      <a:pt x="113772" y="25010"/>
                      <a:pt x="114292" y="56197"/>
                    </a:cubicBezTo>
                    <a:cubicBezTo>
                      <a:pt x="114812" y="87384"/>
                      <a:pt x="90230" y="113228"/>
                      <a:pt x="59055" y="114268"/>
                    </a:cubicBezTo>
                    <a:cubicBezTo>
                      <a:pt x="27881" y="115308"/>
                      <a:pt x="1631" y="91160"/>
                      <a:pt x="71" y="60008"/>
                    </a:cubicBezTo>
                    <a:lnTo>
                      <a:pt x="0" y="57150"/>
                    </a:lnTo>
                    <a:lnTo>
                      <a:pt x="71" y="54293"/>
                    </a:lnTo>
                    <a:cubicBezTo>
                      <a:pt x="1594" y="23878"/>
                      <a:pt x="26698" y="0"/>
                      <a:pt x="57150" y="0"/>
                    </a:cubicBezTo>
                    <a:close/>
                  </a:path>
                </a:pathLst>
              </a:custGeom>
              <a:solidFill>
                <a:srgbClr val="34A853"/>
              </a:solidFill>
              <a:ln>
                <a:noFill/>
              </a:ln>
            </p:spPr>
            <p:txBody>
              <a:bodyPr/>
              <a:lstStyle/>
              <a:p>
                <a:endParaRPr lang="zh-CN" altLang="en-US"/>
              </a:p>
            </p:txBody>
          </p:sp>
        </p:grpSp>
        <p:sp>
          <p:nvSpPr>
            <p:cNvPr id="39" name="TextBox 39"/>
            <p:cNvSpPr txBox="1"/>
            <p:nvPr/>
          </p:nvSpPr>
          <p:spPr>
            <a:xfrm>
              <a:off x="7031355" y="1397318"/>
              <a:ext cx="1638741"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Phase 2: Parser</a:t>
              </a:r>
            </a:p>
          </p:txBody>
        </p:sp>
        <p:sp>
          <p:nvSpPr>
            <p:cNvPr id="40" name="TextBox 40"/>
            <p:cNvSpPr txBox="1"/>
            <p:nvPr/>
          </p:nvSpPr>
          <p:spPr>
            <a:xfrm>
              <a:off x="7037070" y="1636395"/>
              <a:ext cx="1465140" cy="182880"/>
            </a:xfrm>
            <a:prstGeom prst="rect">
              <a:avLst/>
            </a:prstGeom>
            <a:noFill/>
            <a:ln>
              <a:noFill/>
            </a:ln>
          </p:spPr>
          <p:txBody>
            <a:bodyPr wrap="none" lIns="0" tIns="0" rIns="0" bIns="0" anchor="t" anchorCtr="0">
              <a:spAutoFit/>
            </a:bodyPr>
            <a:lstStyle/>
            <a:p>
              <a:pPr algn="l"/>
              <a:r>
                <a:rPr lang="zh-CN" sz="900" b="1" dirty="0">
                  <a:solidFill>
                    <a:srgbClr val="34A853"/>
                  </a:solidFill>
                  <a:latin typeface="Segoe UI"/>
                  <a:ea typeface="Microsoft YaHei"/>
                  <a:cs typeface="Segoe UI"/>
                </a:rPr>
                <a:t>AST GENERATION TESTS</a:t>
              </a:r>
            </a:p>
          </p:txBody>
        </p:sp>
        <p:sp>
          <p:nvSpPr>
            <p:cNvPr id="41" name="Rectangle 41"/>
            <p:cNvSpPr/>
            <p:nvPr/>
          </p:nvSpPr>
          <p:spPr>
            <a:xfrm>
              <a:off x="6419850" y="1924050"/>
              <a:ext cx="5010150" cy="9525"/>
            </a:xfrm>
            <a:prstGeom prst="rect">
              <a:avLst/>
            </a:prstGeom>
            <a:solidFill>
              <a:srgbClr val="DADCE0"/>
            </a:solidFill>
            <a:ln>
              <a:noFill/>
            </a:ln>
          </p:spPr>
          <p:txBody>
            <a:bodyPr/>
            <a:lstStyle/>
            <a:p>
              <a:endParaRPr lang="zh-CN" altLang="en-US"/>
            </a:p>
          </p:txBody>
        </p:sp>
        <p:sp>
          <p:nvSpPr>
            <p:cNvPr id="42" name="Rectangle 42"/>
            <p:cNvSpPr/>
            <p:nvPr/>
          </p:nvSpPr>
          <p:spPr>
            <a:xfrm>
              <a:off x="6419850" y="2019300"/>
              <a:ext cx="2381250" cy="800100"/>
            </a:xfrm>
            <a:prstGeom prst="roundRect">
              <a:avLst>
                <a:gd name="adj" fmla="val 7143"/>
              </a:avLst>
            </a:prstGeom>
            <a:solidFill>
              <a:srgbClr val="1E8E3E">
                <a:alpha val="6000"/>
              </a:srgbClr>
            </a:solidFill>
            <a:ln w="9525">
              <a:solidFill>
                <a:srgbClr val="1E8E3E">
                  <a:alpha val="30000"/>
                </a:srgbClr>
              </a:solidFill>
            </a:ln>
          </p:spPr>
          <p:txBody>
            <a:bodyPr/>
            <a:lstStyle/>
            <a:p>
              <a:endParaRPr lang="zh-CN" altLang="en-US"/>
            </a:p>
          </p:txBody>
        </p:sp>
        <p:sp>
          <p:nvSpPr>
            <p:cNvPr id="43" name="TextBox 43"/>
            <p:cNvSpPr txBox="1"/>
            <p:nvPr/>
          </p:nvSpPr>
          <p:spPr>
            <a:xfrm>
              <a:off x="6598920" y="2093595"/>
              <a:ext cx="367903" cy="182880"/>
            </a:xfrm>
            <a:prstGeom prst="rect">
              <a:avLst/>
            </a:prstGeom>
            <a:noFill/>
            <a:ln>
              <a:noFill/>
            </a:ln>
          </p:spPr>
          <p:txBody>
            <a:bodyPr wrap="none" lIns="0" tIns="0" rIns="0" bIns="0" anchor="t" anchorCtr="0">
              <a:spAutoFit/>
            </a:bodyPr>
            <a:lstStyle/>
            <a:p>
              <a:pPr algn="l"/>
              <a:r>
                <a:rPr lang="zh-CN" sz="900" b="1" dirty="0">
                  <a:solidFill>
                    <a:srgbClr val="1E8E3E"/>
                  </a:solidFill>
                  <a:latin typeface="Segoe UI"/>
                  <a:ea typeface="Microsoft YaHei"/>
                  <a:cs typeface="Segoe UI"/>
                </a:rPr>
                <a:t>VALID</a:t>
              </a:r>
            </a:p>
          </p:txBody>
        </p:sp>
        <p:sp>
          <p:nvSpPr>
            <p:cNvPr id="44" name="TextBox 44"/>
            <p:cNvSpPr txBox="1"/>
            <p:nvPr/>
          </p:nvSpPr>
          <p:spPr>
            <a:xfrm>
              <a:off x="6598920" y="2265045"/>
              <a:ext cx="227714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All statement types (LET/IF/PRINT)</a:t>
              </a:r>
            </a:p>
          </p:txBody>
        </p:sp>
        <p:sp>
          <p:nvSpPr>
            <p:cNvPr id="45" name="TextBox 45"/>
            <p:cNvSpPr txBox="1"/>
            <p:nvPr/>
          </p:nvSpPr>
          <p:spPr>
            <a:xfrm>
              <a:off x="6598920" y="2417445"/>
              <a:ext cx="1265015"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Nested conditionals</a:t>
              </a:r>
            </a:p>
          </p:txBody>
        </p:sp>
        <p:sp>
          <p:nvSpPr>
            <p:cNvPr id="46" name="TextBox 46"/>
            <p:cNvSpPr txBox="1"/>
            <p:nvPr/>
          </p:nvSpPr>
          <p:spPr>
            <a:xfrm>
              <a:off x="6598920" y="2569845"/>
              <a:ext cx="161991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Multi-line valid programs</a:t>
              </a:r>
            </a:p>
          </p:txBody>
        </p:sp>
        <p:sp>
          <p:nvSpPr>
            <p:cNvPr id="47" name="Rectangle 47"/>
            <p:cNvSpPr/>
            <p:nvPr/>
          </p:nvSpPr>
          <p:spPr>
            <a:xfrm>
              <a:off x="8972550" y="2019300"/>
              <a:ext cx="2457450" cy="800100"/>
            </a:xfrm>
            <a:prstGeom prst="roundRect">
              <a:avLst>
                <a:gd name="adj" fmla="val 7143"/>
              </a:avLst>
            </a:prstGeom>
            <a:solidFill>
              <a:srgbClr val="EA4335">
                <a:alpha val="6000"/>
              </a:srgbClr>
            </a:solidFill>
            <a:ln w="9525">
              <a:solidFill>
                <a:srgbClr val="EA4335">
                  <a:alpha val="30000"/>
                </a:srgbClr>
              </a:solidFill>
            </a:ln>
          </p:spPr>
          <p:txBody>
            <a:bodyPr/>
            <a:lstStyle/>
            <a:p>
              <a:endParaRPr lang="zh-CN" altLang="en-US"/>
            </a:p>
          </p:txBody>
        </p:sp>
        <p:sp>
          <p:nvSpPr>
            <p:cNvPr id="48" name="TextBox 48"/>
            <p:cNvSpPr txBox="1"/>
            <p:nvPr/>
          </p:nvSpPr>
          <p:spPr>
            <a:xfrm>
              <a:off x="9151620" y="2093595"/>
              <a:ext cx="485218" cy="182880"/>
            </a:xfrm>
            <a:prstGeom prst="rect">
              <a:avLst/>
            </a:prstGeom>
            <a:noFill/>
            <a:ln>
              <a:noFill/>
            </a:ln>
          </p:spPr>
          <p:txBody>
            <a:bodyPr wrap="none" lIns="0" tIns="0" rIns="0" bIns="0" anchor="t" anchorCtr="0">
              <a:spAutoFit/>
            </a:bodyPr>
            <a:lstStyle/>
            <a:p>
              <a:pPr algn="l"/>
              <a:r>
                <a:rPr lang="zh-CN" sz="900" b="1" dirty="0">
                  <a:solidFill>
                    <a:srgbClr val="EA4335"/>
                  </a:solidFill>
                  <a:latin typeface="Segoe UI"/>
                  <a:ea typeface="Microsoft YaHei"/>
                  <a:cs typeface="Segoe UI"/>
                </a:rPr>
                <a:t>INVALID</a:t>
              </a:r>
            </a:p>
          </p:txBody>
        </p:sp>
        <p:sp>
          <p:nvSpPr>
            <p:cNvPr id="49" name="TextBox 49"/>
            <p:cNvSpPr txBox="1"/>
            <p:nvPr/>
          </p:nvSpPr>
          <p:spPr>
            <a:xfrm>
              <a:off x="9151620" y="2265045"/>
              <a:ext cx="112042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Missing THEN in IF</a:t>
              </a:r>
            </a:p>
          </p:txBody>
        </p:sp>
        <p:sp>
          <p:nvSpPr>
            <p:cNvPr id="50" name="TextBox 50"/>
            <p:cNvSpPr txBox="1"/>
            <p:nvPr/>
          </p:nvSpPr>
          <p:spPr>
            <a:xfrm>
              <a:off x="9151620" y="2417445"/>
              <a:ext cx="144246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Incomplete LET / PRINT</a:t>
              </a:r>
            </a:p>
          </p:txBody>
        </p:sp>
        <p:sp>
          <p:nvSpPr>
            <p:cNvPr id="51" name="TextBox 51"/>
            <p:cNvSpPr txBox="1"/>
            <p:nvPr/>
          </p:nvSpPr>
          <p:spPr>
            <a:xfrm>
              <a:off x="9151620" y="2569845"/>
              <a:ext cx="1619917"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Unexpected extra tokens</a:t>
              </a:r>
            </a:p>
          </p:txBody>
        </p:sp>
        <p:sp>
          <p:nvSpPr>
            <p:cNvPr id="52" name="TextBox 52"/>
            <p:cNvSpPr txBox="1"/>
            <p:nvPr/>
          </p:nvSpPr>
          <p:spPr>
            <a:xfrm>
              <a:off x="6408420" y="2912745"/>
              <a:ext cx="3742754"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ParseError with phase &amp; line number verified for all cases</a:t>
              </a:r>
            </a:p>
          </p:txBody>
        </p:sp>
        <p:sp>
          <p:nvSpPr>
            <p:cNvPr id="53" name="TextBox 53"/>
            <p:cNvSpPr txBox="1"/>
            <p:nvPr/>
          </p:nvSpPr>
          <p:spPr>
            <a:xfrm>
              <a:off x="6408420" y="3084195"/>
              <a:ext cx="3729609"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Missing right parentheses, missing right operands tested</a:t>
              </a:r>
            </a:p>
          </p:txBody>
        </p:sp>
      </p:grpSp>
      <p:grpSp>
        <p:nvGrpSpPr>
          <p:cNvPr id="73" name="Group 73"/>
          <p:cNvGrpSpPr/>
          <p:nvPr/>
        </p:nvGrpSpPr>
        <p:grpSpPr>
          <a:xfrm>
            <a:off x="571500" y="3806190"/>
            <a:ext cx="5585460" cy="2575560"/>
            <a:chOff x="571500" y="3806190"/>
            <a:chExt cx="5585460" cy="2575560"/>
          </a:xfrm>
        </p:grpSpPr>
        <p:sp>
          <p:nvSpPr>
            <p:cNvPr id="55" name="Rectangle 55"/>
            <p:cNvSpPr/>
            <p:nvPr/>
          </p:nvSpPr>
          <p:spPr>
            <a:xfrm>
              <a:off x="571500" y="3867150"/>
              <a:ext cx="5391150" cy="2514600"/>
            </a:xfrm>
            <a:prstGeom prst="roundRect">
              <a:avLst>
                <a:gd name="adj" fmla="val 4545"/>
              </a:avLst>
            </a:prstGeom>
            <a:solidFill>
              <a:srgbClr val="FFFFFF"/>
            </a:solidFill>
            <a:ln w="9525">
              <a:solidFill>
                <a:srgbClr val="9334E6">
                  <a:alpha val="40000"/>
                </a:srgbClr>
              </a:solidFill>
            </a:ln>
          </p:spPr>
          <p:txBody>
            <a:bodyPr/>
            <a:lstStyle/>
            <a:p>
              <a:endParaRPr lang="zh-CN" altLang="en-US"/>
            </a:p>
          </p:txBody>
        </p:sp>
        <p:sp>
          <p:nvSpPr>
            <p:cNvPr id="56" name="Rectangle 56"/>
            <p:cNvSpPr/>
            <p:nvPr/>
          </p:nvSpPr>
          <p:spPr>
            <a:xfrm>
              <a:off x="571500" y="3867150"/>
              <a:ext cx="5391150" cy="38100"/>
            </a:xfrm>
            <a:prstGeom prst="roundRect">
              <a:avLst>
                <a:gd name="adj" fmla="val 50000"/>
              </a:avLst>
            </a:prstGeom>
            <a:solidFill>
              <a:srgbClr val="9334E6"/>
            </a:solidFill>
            <a:ln>
              <a:noFill/>
            </a:ln>
          </p:spPr>
          <p:txBody>
            <a:bodyPr/>
            <a:lstStyle/>
            <a:p>
              <a:endParaRPr lang="zh-CN" altLang="en-US"/>
            </a:p>
          </p:txBody>
        </p:sp>
        <p:sp>
          <p:nvSpPr>
            <p:cNvPr id="57" name="TextBox 57"/>
            <p:cNvSpPr txBox="1"/>
            <p:nvPr/>
          </p:nvSpPr>
          <p:spPr>
            <a:xfrm>
              <a:off x="5225339" y="3806190"/>
              <a:ext cx="931621" cy="975360"/>
            </a:xfrm>
            <a:prstGeom prst="rect">
              <a:avLst/>
            </a:prstGeom>
            <a:noFill/>
            <a:ln>
              <a:noFill/>
            </a:ln>
          </p:spPr>
          <p:txBody>
            <a:bodyPr wrap="none" lIns="0" tIns="0" rIns="0" bIns="0" anchor="t" anchorCtr="0">
              <a:spAutoFit/>
            </a:bodyPr>
            <a:lstStyle/>
            <a:p>
              <a:pPr algn="r"/>
              <a:r>
                <a:rPr lang="zh-CN" sz="4800" b="1" dirty="0">
                  <a:solidFill>
                    <a:srgbClr val="9334E6">
                      <a:alpha val="6000"/>
                    </a:srgbClr>
                  </a:solidFill>
                  <a:latin typeface="Segoe UI"/>
                  <a:ea typeface="Microsoft YaHei"/>
                  <a:cs typeface="Segoe UI"/>
                </a:rPr>
                <a:t>03</a:t>
              </a:r>
            </a:p>
          </p:txBody>
        </p:sp>
        <p:sp>
          <p:nvSpPr>
            <p:cNvPr id="58" name="Rectangle 58"/>
            <p:cNvSpPr/>
            <p:nvPr/>
          </p:nvSpPr>
          <p:spPr>
            <a:xfrm>
              <a:off x="762000" y="4057650"/>
              <a:ext cx="495300" cy="495300"/>
            </a:xfrm>
            <a:prstGeom prst="roundRect">
              <a:avLst>
                <a:gd name="adj" fmla="val 19231"/>
              </a:avLst>
            </a:prstGeom>
            <a:solidFill>
              <a:srgbClr val="9334E6">
                <a:alpha val="12000"/>
              </a:srgbClr>
            </a:solidFill>
            <a:ln>
              <a:noFill/>
            </a:ln>
          </p:spPr>
          <p:txBody>
            <a:bodyPr/>
            <a:lstStyle/>
            <a:p>
              <a:endParaRPr lang="zh-CN" altLang="en-US"/>
            </a:p>
          </p:txBody>
        </p:sp>
        <p:sp>
          <p:nvSpPr>
            <p:cNvPr id="59" name="Freeform 59"/>
            <p:cNvSpPr/>
            <p:nvPr/>
          </p:nvSpPr>
          <p:spPr>
            <a:xfrm>
              <a:off x="894703" y="4162425"/>
              <a:ext cx="229894" cy="291051"/>
            </a:xfrm>
            <a:custGeom>
              <a:avLst/>
              <a:gdLst/>
              <a:ahLst/>
              <a:cxnLst/>
              <a:rect l="l" t="t" r="r" b="b"/>
              <a:pathLst>
                <a:path w="229894" h="291051">
                  <a:moveTo>
                    <a:pt x="129234" y="0"/>
                  </a:moveTo>
                  <a:lnTo>
                    <a:pt x="129492" y="14"/>
                  </a:lnTo>
                  <a:lnTo>
                    <a:pt x="129720" y="29"/>
                  </a:lnTo>
                  <a:lnTo>
                    <a:pt x="130906" y="100"/>
                  </a:lnTo>
                  <a:lnTo>
                    <a:pt x="131063" y="129"/>
                  </a:lnTo>
                  <a:lnTo>
                    <a:pt x="131220" y="129"/>
                  </a:lnTo>
                  <a:lnTo>
                    <a:pt x="131763" y="257"/>
                  </a:lnTo>
                  <a:lnTo>
                    <a:pt x="132506" y="371"/>
                  </a:lnTo>
                  <a:lnTo>
                    <a:pt x="132735" y="457"/>
                  </a:lnTo>
                  <a:lnTo>
                    <a:pt x="132892" y="471"/>
                  </a:lnTo>
                  <a:lnTo>
                    <a:pt x="133306" y="629"/>
                  </a:lnTo>
                  <a:lnTo>
                    <a:pt x="134049" y="829"/>
                  </a:lnTo>
                  <a:lnTo>
                    <a:pt x="134321" y="957"/>
                  </a:lnTo>
                  <a:lnTo>
                    <a:pt x="134535" y="1014"/>
                  </a:lnTo>
                  <a:lnTo>
                    <a:pt x="134935" y="1214"/>
                  </a:lnTo>
                  <a:lnTo>
                    <a:pt x="135507" y="1457"/>
                  </a:lnTo>
                  <a:lnTo>
                    <a:pt x="135807" y="1629"/>
                  </a:lnTo>
                  <a:lnTo>
                    <a:pt x="136121" y="1772"/>
                  </a:lnTo>
                  <a:lnTo>
                    <a:pt x="136450" y="1986"/>
                  </a:lnTo>
                  <a:lnTo>
                    <a:pt x="136892" y="2229"/>
                  </a:lnTo>
                  <a:lnTo>
                    <a:pt x="137378" y="2572"/>
                  </a:lnTo>
                  <a:lnTo>
                    <a:pt x="137635" y="2729"/>
                  </a:lnTo>
                  <a:lnTo>
                    <a:pt x="137821" y="2900"/>
                  </a:lnTo>
                  <a:lnTo>
                    <a:pt x="138164" y="3143"/>
                  </a:lnTo>
                  <a:lnTo>
                    <a:pt x="138707" y="3629"/>
                  </a:lnTo>
                  <a:lnTo>
                    <a:pt x="139021" y="3872"/>
                  </a:lnTo>
                  <a:lnTo>
                    <a:pt x="139136" y="4015"/>
                  </a:lnTo>
                  <a:lnTo>
                    <a:pt x="139336" y="4186"/>
                  </a:lnTo>
                  <a:lnTo>
                    <a:pt x="139850" y="4772"/>
                  </a:lnTo>
                  <a:lnTo>
                    <a:pt x="140221" y="5158"/>
                  </a:lnTo>
                  <a:lnTo>
                    <a:pt x="140307" y="5286"/>
                  </a:lnTo>
                  <a:cubicBezTo>
                    <a:pt x="142022" y="7387"/>
                    <a:pt x="143108" y="9887"/>
                    <a:pt x="143422" y="12616"/>
                  </a:cubicBezTo>
                  <a:lnTo>
                    <a:pt x="143436" y="12787"/>
                  </a:lnTo>
                  <a:lnTo>
                    <a:pt x="143465" y="13373"/>
                  </a:lnTo>
                  <a:lnTo>
                    <a:pt x="143522" y="14288"/>
                  </a:lnTo>
                  <a:lnTo>
                    <a:pt x="143522" y="100012"/>
                  </a:lnTo>
                  <a:lnTo>
                    <a:pt x="214959" y="100012"/>
                  </a:lnTo>
                  <a:cubicBezTo>
                    <a:pt x="220056" y="100011"/>
                    <a:pt x="224767" y="102725"/>
                    <a:pt x="227323" y="107133"/>
                  </a:cubicBezTo>
                  <a:cubicBezTo>
                    <a:pt x="229879" y="111542"/>
                    <a:pt x="229894" y="116979"/>
                    <a:pt x="227361" y="121401"/>
                  </a:cubicBezTo>
                  <a:lnTo>
                    <a:pt x="226504" y="122701"/>
                  </a:lnTo>
                  <a:lnTo>
                    <a:pt x="112204" y="279864"/>
                  </a:lnTo>
                  <a:cubicBezTo>
                    <a:pt x="104088" y="291051"/>
                    <a:pt x="86372" y="285293"/>
                    <a:pt x="86372" y="271462"/>
                  </a:cubicBezTo>
                  <a:lnTo>
                    <a:pt x="86372" y="185738"/>
                  </a:lnTo>
                  <a:lnTo>
                    <a:pt x="14934" y="185738"/>
                  </a:lnTo>
                  <a:cubicBezTo>
                    <a:pt x="9838" y="185739"/>
                    <a:pt x="5127" y="183025"/>
                    <a:pt x="2571" y="178617"/>
                  </a:cubicBezTo>
                  <a:cubicBezTo>
                    <a:pt x="14" y="174208"/>
                    <a:pt x="0" y="168771"/>
                    <a:pt x="2533" y="164349"/>
                  </a:cubicBezTo>
                  <a:lnTo>
                    <a:pt x="3390" y="163049"/>
                  </a:lnTo>
                  <a:lnTo>
                    <a:pt x="117690" y="5886"/>
                  </a:lnTo>
                  <a:lnTo>
                    <a:pt x="117833" y="5701"/>
                  </a:lnTo>
                  <a:lnTo>
                    <a:pt x="118090" y="5358"/>
                  </a:lnTo>
                  <a:lnTo>
                    <a:pt x="118562" y="4815"/>
                  </a:lnTo>
                  <a:lnTo>
                    <a:pt x="118819" y="4501"/>
                  </a:lnTo>
                  <a:lnTo>
                    <a:pt x="118947" y="4386"/>
                  </a:lnTo>
                  <a:lnTo>
                    <a:pt x="119133" y="4186"/>
                  </a:lnTo>
                  <a:lnTo>
                    <a:pt x="119705" y="3672"/>
                  </a:lnTo>
                  <a:lnTo>
                    <a:pt x="120105" y="3300"/>
                  </a:lnTo>
                  <a:lnTo>
                    <a:pt x="120219" y="3215"/>
                  </a:lnTo>
                  <a:cubicBezTo>
                    <a:pt x="121893" y="1844"/>
                    <a:pt x="123857" y="872"/>
                    <a:pt x="125963" y="371"/>
                  </a:cubicBezTo>
                  <a:lnTo>
                    <a:pt x="126120" y="357"/>
                  </a:lnTo>
                  <a:lnTo>
                    <a:pt x="126505" y="286"/>
                  </a:lnTo>
                  <a:lnTo>
                    <a:pt x="127563" y="100"/>
                  </a:lnTo>
                  <a:lnTo>
                    <a:pt x="127720" y="86"/>
                  </a:lnTo>
                  <a:lnTo>
                    <a:pt x="128306" y="57"/>
                  </a:lnTo>
                  <a:close/>
                </a:path>
              </a:pathLst>
            </a:custGeom>
            <a:solidFill>
              <a:srgbClr val="9334E6"/>
            </a:solidFill>
            <a:ln>
              <a:noFill/>
            </a:ln>
          </p:spPr>
          <p:txBody>
            <a:bodyPr/>
            <a:lstStyle/>
            <a:p>
              <a:endParaRPr lang="zh-CN" altLang="en-US"/>
            </a:p>
          </p:txBody>
        </p:sp>
        <p:sp>
          <p:nvSpPr>
            <p:cNvPr id="60" name="TextBox 60"/>
            <p:cNvSpPr txBox="1"/>
            <p:nvPr/>
          </p:nvSpPr>
          <p:spPr>
            <a:xfrm>
              <a:off x="1373505" y="4121468"/>
              <a:ext cx="1959631"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Phase 3: Optimizer</a:t>
              </a:r>
            </a:p>
          </p:txBody>
        </p:sp>
        <p:sp>
          <p:nvSpPr>
            <p:cNvPr id="61" name="TextBox 61"/>
            <p:cNvSpPr txBox="1"/>
            <p:nvPr/>
          </p:nvSpPr>
          <p:spPr>
            <a:xfrm>
              <a:off x="1379220" y="4360545"/>
              <a:ext cx="1975804" cy="182880"/>
            </a:xfrm>
            <a:prstGeom prst="rect">
              <a:avLst/>
            </a:prstGeom>
            <a:noFill/>
            <a:ln>
              <a:noFill/>
            </a:ln>
          </p:spPr>
          <p:txBody>
            <a:bodyPr wrap="none" lIns="0" tIns="0" rIns="0" bIns="0" anchor="t" anchorCtr="0">
              <a:spAutoFit/>
            </a:bodyPr>
            <a:lstStyle/>
            <a:p>
              <a:pPr algn="l"/>
              <a:r>
                <a:rPr lang="zh-CN" sz="900" b="1" dirty="0">
                  <a:solidFill>
                    <a:srgbClr val="9334E6"/>
                  </a:solidFill>
                  <a:latin typeface="Segoe UI"/>
                  <a:ea typeface="Microsoft YaHei"/>
                  <a:cs typeface="Segoe UI"/>
                </a:rPr>
                <a:t>SEMANTIC OPTIMIZATION TESTS</a:t>
              </a:r>
            </a:p>
          </p:txBody>
        </p:sp>
        <p:sp>
          <p:nvSpPr>
            <p:cNvPr id="62" name="Rectangle 62"/>
            <p:cNvSpPr/>
            <p:nvPr/>
          </p:nvSpPr>
          <p:spPr>
            <a:xfrm>
              <a:off x="762000" y="4648200"/>
              <a:ext cx="5010150" cy="9525"/>
            </a:xfrm>
            <a:prstGeom prst="rect">
              <a:avLst/>
            </a:prstGeom>
            <a:solidFill>
              <a:srgbClr val="DADCE0"/>
            </a:solidFill>
            <a:ln>
              <a:noFill/>
            </a:ln>
          </p:spPr>
          <p:txBody>
            <a:bodyPr/>
            <a:lstStyle/>
            <a:p>
              <a:endParaRPr lang="zh-CN" altLang="en-US"/>
            </a:p>
          </p:txBody>
        </p:sp>
        <p:sp>
          <p:nvSpPr>
            <p:cNvPr id="63" name="Rectangle 63"/>
            <p:cNvSpPr/>
            <p:nvPr/>
          </p:nvSpPr>
          <p:spPr>
            <a:xfrm>
              <a:off x="762000" y="4743450"/>
              <a:ext cx="5010150" cy="952500"/>
            </a:xfrm>
            <a:prstGeom prst="roundRect">
              <a:avLst>
                <a:gd name="adj" fmla="val 6000"/>
              </a:avLst>
            </a:prstGeom>
            <a:solidFill>
              <a:srgbClr val="F8F9FA"/>
            </a:solidFill>
            <a:ln>
              <a:noFill/>
            </a:ln>
          </p:spPr>
          <p:txBody>
            <a:bodyPr/>
            <a:lstStyle/>
            <a:p>
              <a:endParaRPr lang="zh-CN" altLang="en-US"/>
            </a:p>
          </p:txBody>
        </p:sp>
        <p:sp>
          <p:nvSpPr>
            <p:cNvPr id="64" name="TextBox 64"/>
            <p:cNvSpPr txBox="1"/>
            <p:nvPr/>
          </p:nvSpPr>
          <p:spPr>
            <a:xfrm>
              <a:off x="940118" y="4828699"/>
              <a:ext cx="2618914" cy="198120"/>
            </a:xfrm>
            <a:prstGeom prst="rect">
              <a:avLst/>
            </a:prstGeom>
            <a:noFill/>
            <a:ln>
              <a:noFill/>
            </a:ln>
          </p:spPr>
          <p:txBody>
            <a:bodyPr wrap="none" lIns="0" tIns="0" rIns="0" bIns="0" anchor="t" anchorCtr="0">
              <a:spAutoFit/>
            </a:bodyPr>
            <a:lstStyle/>
            <a:p>
              <a:pPr algn="l"/>
              <a:r>
                <a:rPr lang="zh-CN" sz="975" b="1" dirty="0">
                  <a:solidFill>
                    <a:srgbClr val="9334E6"/>
                  </a:solidFill>
                  <a:latin typeface="Segoe UI"/>
                  <a:ea typeface="Microsoft YaHei"/>
                  <a:cs typeface="Segoe UI"/>
                </a:rPr>
                <a:t>Parametrized exact-AST assertions</a:t>
              </a:r>
            </a:p>
          </p:txBody>
        </p:sp>
        <p:sp>
          <p:nvSpPr>
            <p:cNvPr id="65" name="Ellipse 65"/>
            <p:cNvSpPr/>
            <p:nvPr/>
          </p:nvSpPr>
          <p:spPr>
            <a:xfrm>
              <a:off x="923925" y="5095875"/>
              <a:ext cx="57150" cy="57150"/>
            </a:xfrm>
            <a:prstGeom prst="ellipse">
              <a:avLst/>
            </a:prstGeom>
            <a:solidFill>
              <a:srgbClr val="9334E6"/>
            </a:solidFill>
            <a:ln>
              <a:noFill/>
            </a:ln>
          </p:spPr>
          <p:txBody>
            <a:bodyPr/>
            <a:lstStyle/>
            <a:p>
              <a:endParaRPr lang="zh-CN" altLang="en-US"/>
            </a:p>
          </p:txBody>
        </p:sp>
        <p:sp>
          <p:nvSpPr>
            <p:cNvPr id="66" name="TextBox 66"/>
            <p:cNvSpPr txBox="1"/>
            <p:nvPr/>
          </p:nvSpPr>
          <p:spPr>
            <a:xfrm>
              <a:off x="1055370" y="5074920"/>
              <a:ext cx="489947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Single-rule: double negation, De Morgan, idempotent, identity, absorption…</a:t>
              </a:r>
            </a:p>
          </p:txBody>
        </p:sp>
        <p:sp>
          <p:nvSpPr>
            <p:cNvPr id="67" name="Ellipse 67"/>
            <p:cNvSpPr/>
            <p:nvPr/>
          </p:nvSpPr>
          <p:spPr>
            <a:xfrm>
              <a:off x="923925" y="5305425"/>
              <a:ext cx="57150" cy="57150"/>
            </a:xfrm>
            <a:prstGeom prst="ellipse">
              <a:avLst/>
            </a:prstGeom>
            <a:solidFill>
              <a:srgbClr val="9334E6"/>
            </a:solidFill>
            <a:ln>
              <a:noFill/>
            </a:ln>
          </p:spPr>
          <p:txBody>
            <a:bodyPr/>
            <a:lstStyle/>
            <a:p>
              <a:endParaRPr lang="zh-CN" altLang="en-US"/>
            </a:p>
          </p:txBody>
        </p:sp>
        <p:sp>
          <p:nvSpPr>
            <p:cNvPr id="68" name="TextBox 68"/>
            <p:cNvSpPr txBox="1"/>
            <p:nvPr/>
          </p:nvSpPr>
          <p:spPr>
            <a:xfrm>
              <a:off x="1055370" y="5284470"/>
              <a:ext cx="405822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Chained: implication + double negation, De Morgan combinations</a:t>
              </a:r>
            </a:p>
          </p:txBody>
        </p:sp>
        <p:sp>
          <p:nvSpPr>
            <p:cNvPr id="69" name="Ellipse 69"/>
            <p:cNvSpPr/>
            <p:nvPr/>
          </p:nvSpPr>
          <p:spPr>
            <a:xfrm>
              <a:off x="923925" y="5514975"/>
              <a:ext cx="57150" cy="57150"/>
            </a:xfrm>
            <a:prstGeom prst="ellipse">
              <a:avLst/>
            </a:prstGeom>
            <a:solidFill>
              <a:srgbClr val="9334E6"/>
            </a:solidFill>
            <a:ln>
              <a:noFill/>
            </a:ln>
          </p:spPr>
          <p:txBody>
            <a:bodyPr/>
            <a:lstStyle/>
            <a:p>
              <a:endParaRPr lang="zh-CN" altLang="en-US"/>
            </a:p>
          </p:txBody>
        </p:sp>
        <p:sp>
          <p:nvSpPr>
            <p:cNvPr id="70" name="TextBox 70"/>
            <p:cNvSpPr txBox="1"/>
            <p:nvPr/>
          </p:nvSpPr>
          <p:spPr>
            <a:xfrm>
              <a:off x="1055370" y="5494020"/>
              <a:ext cx="3381280"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Consensus theorem (SOP &amp; POS dual) + normalization</a:t>
              </a:r>
            </a:p>
          </p:txBody>
        </p:sp>
        <p:sp>
          <p:nvSpPr>
            <p:cNvPr id="71" name="TextBox 71"/>
            <p:cNvSpPr txBox="1"/>
            <p:nvPr/>
          </p:nvSpPr>
          <p:spPr>
            <a:xfrm>
              <a:off x="750570" y="5846445"/>
              <a:ext cx="3913632"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High-complexity expressions stress fixed-point convergence</a:t>
              </a:r>
            </a:p>
          </p:txBody>
        </p:sp>
        <p:sp>
          <p:nvSpPr>
            <p:cNvPr id="72" name="TextBox 72"/>
            <p:cNvSpPr txBox="1"/>
            <p:nvPr/>
          </p:nvSpPr>
          <p:spPr>
            <a:xfrm>
              <a:off x="750570" y="6017895"/>
              <a:ext cx="3532442"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LET + IF structure-level optimization behavior verified</a:t>
              </a:r>
            </a:p>
          </p:txBody>
        </p:sp>
      </p:grpSp>
      <p:grpSp>
        <p:nvGrpSpPr>
          <p:cNvPr id="96" name="Group 96"/>
          <p:cNvGrpSpPr/>
          <p:nvPr/>
        </p:nvGrpSpPr>
        <p:grpSpPr>
          <a:xfrm>
            <a:off x="6229350" y="3806190"/>
            <a:ext cx="5585460" cy="2575560"/>
            <a:chOff x="6229350" y="3806190"/>
            <a:chExt cx="5585460" cy="2575560"/>
          </a:xfrm>
        </p:grpSpPr>
        <p:sp>
          <p:nvSpPr>
            <p:cNvPr id="74" name="Rectangle 74"/>
            <p:cNvSpPr/>
            <p:nvPr/>
          </p:nvSpPr>
          <p:spPr>
            <a:xfrm>
              <a:off x="6229350" y="3867150"/>
              <a:ext cx="5391150" cy="2514600"/>
            </a:xfrm>
            <a:prstGeom prst="roundRect">
              <a:avLst>
                <a:gd name="adj" fmla="val 4545"/>
              </a:avLst>
            </a:prstGeom>
            <a:solidFill>
              <a:srgbClr val="FFFFFF"/>
            </a:solidFill>
            <a:ln w="9525">
              <a:solidFill>
                <a:srgbClr val="1E8E3E">
                  <a:alpha val="40000"/>
                </a:srgbClr>
              </a:solidFill>
            </a:ln>
          </p:spPr>
          <p:txBody>
            <a:bodyPr/>
            <a:lstStyle/>
            <a:p>
              <a:endParaRPr lang="zh-CN" altLang="en-US"/>
            </a:p>
          </p:txBody>
        </p:sp>
        <p:sp>
          <p:nvSpPr>
            <p:cNvPr id="75" name="Rectangle 75"/>
            <p:cNvSpPr/>
            <p:nvPr/>
          </p:nvSpPr>
          <p:spPr>
            <a:xfrm>
              <a:off x="6229350" y="3867150"/>
              <a:ext cx="5391150" cy="38100"/>
            </a:xfrm>
            <a:prstGeom prst="roundRect">
              <a:avLst>
                <a:gd name="adj" fmla="val 50000"/>
              </a:avLst>
            </a:prstGeom>
            <a:solidFill>
              <a:srgbClr val="1E8E3E"/>
            </a:solidFill>
            <a:ln>
              <a:noFill/>
            </a:ln>
          </p:spPr>
          <p:txBody>
            <a:bodyPr/>
            <a:lstStyle/>
            <a:p>
              <a:endParaRPr lang="zh-CN" altLang="en-US"/>
            </a:p>
          </p:txBody>
        </p:sp>
        <p:sp>
          <p:nvSpPr>
            <p:cNvPr id="76" name="TextBox 76"/>
            <p:cNvSpPr txBox="1"/>
            <p:nvPr/>
          </p:nvSpPr>
          <p:spPr>
            <a:xfrm>
              <a:off x="10883189" y="3806190"/>
              <a:ext cx="931621" cy="975360"/>
            </a:xfrm>
            <a:prstGeom prst="rect">
              <a:avLst/>
            </a:prstGeom>
            <a:noFill/>
            <a:ln>
              <a:noFill/>
            </a:ln>
          </p:spPr>
          <p:txBody>
            <a:bodyPr wrap="none" lIns="0" tIns="0" rIns="0" bIns="0" anchor="t" anchorCtr="0">
              <a:spAutoFit/>
            </a:bodyPr>
            <a:lstStyle/>
            <a:p>
              <a:pPr algn="r"/>
              <a:r>
                <a:rPr lang="zh-CN" sz="4800" b="1" dirty="0">
                  <a:solidFill>
                    <a:srgbClr val="1E8E3E">
                      <a:alpha val="6000"/>
                    </a:srgbClr>
                  </a:solidFill>
                  <a:latin typeface="Segoe UI"/>
                  <a:ea typeface="Microsoft YaHei"/>
                  <a:cs typeface="Segoe UI"/>
                </a:rPr>
                <a:t>04</a:t>
              </a:r>
            </a:p>
          </p:txBody>
        </p:sp>
        <p:sp>
          <p:nvSpPr>
            <p:cNvPr id="77" name="Rectangle 77"/>
            <p:cNvSpPr/>
            <p:nvPr/>
          </p:nvSpPr>
          <p:spPr>
            <a:xfrm>
              <a:off x="6419850" y="4057650"/>
              <a:ext cx="495300" cy="495300"/>
            </a:xfrm>
            <a:prstGeom prst="roundRect">
              <a:avLst>
                <a:gd name="adj" fmla="val 19231"/>
              </a:avLst>
            </a:prstGeom>
            <a:solidFill>
              <a:srgbClr val="1E8E3E">
                <a:alpha val="12000"/>
              </a:srgbClr>
            </a:solidFill>
            <a:ln>
              <a:noFill/>
            </a:ln>
          </p:spPr>
          <p:txBody>
            <a:bodyPr/>
            <a:lstStyle/>
            <a:p>
              <a:endParaRPr lang="zh-CN" altLang="en-US"/>
            </a:p>
          </p:txBody>
        </p:sp>
        <p:sp>
          <p:nvSpPr>
            <p:cNvPr id="78" name="Freeform 78"/>
            <p:cNvSpPr/>
            <p:nvPr/>
          </p:nvSpPr>
          <p:spPr>
            <a:xfrm>
              <a:off x="6518156" y="4162425"/>
              <a:ext cx="298675" cy="285903"/>
            </a:xfrm>
            <a:custGeom>
              <a:avLst/>
              <a:gdLst/>
              <a:ahLst/>
              <a:cxnLst/>
              <a:rect l="l" t="t" r="r" b="b"/>
              <a:pathLst>
                <a:path w="298675" h="285903">
                  <a:moveTo>
                    <a:pt x="149316" y="0"/>
                  </a:moveTo>
                  <a:lnTo>
                    <a:pt x="151002" y="100"/>
                  </a:lnTo>
                  <a:lnTo>
                    <a:pt x="151845" y="214"/>
                  </a:lnTo>
                  <a:lnTo>
                    <a:pt x="152716" y="400"/>
                  </a:lnTo>
                  <a:lnTo>
                    <a:pt x="154302" y="886"/>
                  </a:lnTo>
                  <a:cubicBezTo>
                    <a:pt x="155397" y="1290"/>
                    <a:pt x="156439" y="1827"/>
                    <a:pt x="157402" y="2486"/>
                  </a:cubicBezTo>
                  <a:lnTo>
                    <a:pt x="158888" y="3658"/>
                  </a:lnTo>
                  <a:lnTo>
                    <a:pt x="162532" y="6772"/>
                  </a:lnTo>
                  <a:cubicBezTo>
                    <a:pt x="191354" y="30712"/>
                    <a:pt x="227781" y="43567"/>
                    <a:pt x="265245" y="43020"/>
                  </a:cubicBezTo>
                  <a:lnTo>
                    <a:pt x="270131" y="42877"/>
                  </a:lnTo>
                  <a:cubicBezTo>
                    <a:pt x="276705" y="42577"/>
                    <a:pt x="282634" y="46807"/>
                    <a:pt x="284490" y="53121"/>
                  </a:cubicBezTo>
                  <a:cubicBezTo>
                    <a:pt x="298675" y="101374"/>
                    <a:pt x="292685" y="153316"/>
                    <a:pt x="267890" y="197074"/>
                  </a:cubicBezTo>
                  <a:cubicBezTo>
                    <a:pt x="243095" y="240832"/>
                    <a:pt x="201614" y="272664"/>
                    <a:pt x="152930" y="285293"/>
                  </a:cubicBezTo>
                  <a:cubicBezTo>
                    <a:pt x="150579" y="285903"/>
                    <a:pt x="148110" y="285903"/>
                    <a:pt x="145758" y="285293"/>
                  </a:cubicBezTo>
                  <a:cubicBezTo>
                    <a:pt x="97072" y="272667"/>
                    <a:pt x="55588" y="240837"/>
                    <a:pt x="30790" y="197078"/>
                  </a:cubicBezTo>
                  <a:cubicBezTo>
                    <a:pt x="5992" y="153320"/>
                    <a:pt x="0" y="101376"/>
                    <a:pt x="14185" y="53121"/>
                  </a:cubicBezTo>
                  <a:cubicBezTo>
                    <a:pt x="16040" y="46807"/>
                    <a:pt x="21969" y="42577"/>
                    <a:pt x="28543" y="42877"/>
                  </a:cubicBezTo>
                  <a:cubicBezTo>
                    <a:pt x="67655" y="44665"/>
                    <a:pt x="106026" y="31790"/>
                    <a:pt x="136143" y="6772"/>
                  </a:cubicBezTo>
                  <a:lnTo>
                    <a:pt x="139900" y="3558"/>
                  </a:lnTo>
                  <a:lnTo>
                    <a:pt x="141272" y="2486"/>
                  </a:lnTo>
                  <a:cubicBezTo>
                    <a:pt x="142236" y="1827"/>
                    <a:pt x="143277" y="1290"/>
                    <a:pt x="144372" y="886"/>
                  </a:cubicBezTo>
                  <a:lnTo>
                    <a:pt x="145972" y="400"/>
                  </a:lnTo>
                  <a:cubicBezTo>
                    <a:pt x="146532" y="265"/>
                    <a:pt x="147100" y="165"/>
                    <a:pt x="147673" y="100"/>
                  </a:cubicBezTo>
                  <a:lnTo>
                    <a:pt x="149316" y="0"/>
                  </a:lnTo>
                  <a:close/>
                  <a:moveTo>
                    <a:pt x="202322" y="104199"/>
                  </a:moveTo>
                  <a:cubicBezTo>
                    <a:pt x="199642" y="101516"/>
                    <a:pt x="196006" y="100008"/>
                    <a:pt x="192214" y="100008"/>
                  </a:cubicBezTo>
                  <a:cubicBezTo>
                    <a:pt x="188422" y="100008"/>
                    <a:pt x="184785" y="101516"/>
                    <a:pt x="182106" y="104199"/>
                  </a:cubicBezTo>
                  <a:lnTo>
                    <a:pt x="135057" y="151233"/>
                  </a:lnTo>
                  <a:lnTo>
                    <a:pt x="116583" y="132774"/>
                  </a:lnTo>
                  <a:lnTo>
                    <a:pt x="115240" y="131588"/>
                  </a:lnTo>
                  <a:cubicBezTo>
                    <a:pt x="109280" y="126980"/>
                    <a:pt x="100766" y="127791"/>
                    <a:pt x="95784" y="133441"/>
                  </a:cubicBezTo>
                  <a:cubicBezTo>
                    <a:pt x="90802" y="139092"/>
                    <a:pt x="91063" y="147640"/>
                    <a:pt x="96381" y="152976"/>
                  </a:cubicBezTo>
                  <a:lnTo>
                    <a:pt x="124956" y="181551"/>
                  </a:lnTo>
                  <a:lnTo>
                    <a:pt x="126299" y="182737"/>
                  </a:lnTo>
                  <a:cubicBezTo>
                    <a:pt x="131986" y="187149"/>
                    <a:pt x="140068" y="186641"/>
                    <a:pt x="145158" y="181551"/>
                  </a:cubicBezTo>
                  <a:lnTo>
                    <a:pt x="202308" y="124401"/>
                  </a:lnTo>
                  <a:lnTo>
                    <a:pt x="203494" y="123058"/>
                  </a:lnTo>
                  <a:cubicBezTo>
                    <a:pt x="207906" y="117371"/>
                    <a:pt x="207398" y="109289"/>
                    <a:pt x="202308" y="104199"/>
                  </a:cubicBezTo>
                  <a:close/>
                </a:path>
              </a:pathLst>
            </a:custGeom>
            <a:solidFill>
              <a:srgbClr val="1E8E3E"/>
            </a:solidFill>
            <a:ln>
              <a:noFill/>
            </a:ln>
          </p:spPr>
          <p:txBody>
            <a:bodyPr/>
            <a:lstStyle/>
            <a:p>
              <a:endParaRPr lang="zh-CN" altLang="en-US"/>
            </a:p>
          </p:txBody>
        </p:sp>
        <p:sp>
          <p:nvSpPr>
            <p:cNvPr id="79" name="TextBox 79"/>
            <p:cNvSpPr txBox="1"/>
            <p:nvPr/>
          </p:nvSpPr>
          <p:spPr>
            <a:xfrm>
              <a:off x="7031355" y="4121468"/>
              <a:ext cx="1928577" cy="274320"/>
            </a:xfrm>
            <a:prstGeom prst="rect">
              <a:avLst/>
            </a:prstGeom>
            <a:noFill/>
            <a:ln>
              <a:noFill/>
            </a:ln>
          </p:spPr>
          <p:txBody>
            <a:bodyPr wrap="none" lIns="0" tIns="0" rIns="0" bIns="0" anchor="t" anchorCtr="0">
              <a:spAutoFit/>
            </a:bodyPr>
            <a:lstStyle/>
            <a:p>
              <a:pPr algn="l"/>
              <a:r>
                <a:rPr lang="zh-CN" sz="1350" b="1" dirty="0">
                  <a:solidFill>
                    <a:srgbClr val="202124"/>
                  </a:solidFill>
                  <a:latin typeface="Segoe UI"/>
                  <a:ea typeface="Microsoft YaHei"/>
                  <a:cs typeface="Segoe UI"/>
                </a:rPr>
                <a:t>Phase 4: Execution</a:t>
              </a:r>
            </a:p>
          </p:txBody>
        </p:sp>
        <p:sp>
          <p:nvSpPr>
            <p:cNvPr id="80" name="TextBox 80"/>
            <p:cNvSpPr txBox="1"/>
            <p:nvPr/>
          </p:nvSpPr>
          <p:spPr>
            <a:xfrm>
              <a:off x="7037070" y="4360545"/>
              <a:ext cx="1962002" cy="182880"/>
            </a:xfrm>
            <a:prstGeom prst="rect">
              <a:avLst/>
            </a:prstGeom>
            <a:noFill/>
            <a:ln>
              <a:noFill/>
            </a:ln>
          </p:spPr>
          <p:txBody>
            <a:bodyPr wrap="none" lIns="0" tIns="0" rIns="0" bIns="0" anchor="t" anchorCtr="0">
              <a:spAutoFit/>
            </a:bodyPr>
            <a:lstStyle/>
            <a:p>
              <a:pPr algn="l"/>
              <a:r>
                <a:rPr lang="zh-CN" sz="900" b="1" dirty="0">
                  <a:solidFill>
                    <a:srgbClr val="1E8E3E"/>
                  </a:solidFill>
                  <a:latin typeface="Segoe UI"/>
                  <a:ea typeface="Microsoft YaHei"/>
                  <a:cs typeface="Segoe UI"/>
                </a:rPr>
                <a:t>VERIFICATION + RUNTIME TESTS</a:t>
              </a:r>
            </a:p>
          </p:txBody>
        </p:sp>
        <p:sp>
          <p:nvSpPr>
            <p:cNvPr id="81" name="Rectangle 81"/>
            <p:cNvSpPr/>
            <p:nvPr/>
          </p:nvSpPr>
          <p:spPr>
            <a:xfrm>
              <a:off x="6419850" y="4648200"/>
              <a:ext cx="5010150" cy="9525"/>
            </a:xfrm>
            <a:prstGeom prst="rect">
              <a:avLst/>
            </a:prstGeom>
            <a:solidFill>
              <a:srgbClr val="DADCE0"/>
            </a:solidFill>
            <a:ln>
              <a:noFill/>
            </a:ln>
          </p:spPr>
          <p:txBody>
            <a:bodyPr/>
            <a:lstStyle/>
            <a:p>
              <a:endParaRPr lang="zh-CN" altLang="en-US"/>
            </a:p>
          </p:txBody>
        </p:sp>
        <p:sp>
          <p:nvSpPr>
            <p:cNvPr id="82" name="Rectangle 82"/>
            <p:cNvSpPr/>
            <p:nvPr/>
          </p:nvSpPr>
          <p:spPr>
            <a:xfrm>
              <a:off x="6419850" y="4743450"/>
              <a:ext cx="2381250" cy="952500"/>
            </a:xfrm>
            <a:prstGeom prst="roundRect">
              <a:avLst>
                <a:gd name="adj" fmla="val 6000"/>
              </a:avLst>
            </a:prstGeom>
            <a:solidFill>
              <a:srgbClr val="1E8E3E">
                <a:alpha val="6000"/>
              </a:srgbClr>
            </a:solidFill>
            <a:ln w="9525">
              <a:solidFill>
                <a:srgbClr val="1E8E3E">
                  <a:alpha val="30000"/>
                </a:srgbClr>
              </a:solidFill>
            </a:ln>
          </p:spPr>
          <p:txBody>
            <a:bodyPr/>
            <a:lstStyle/>
            <a:p>
              <a:endParaRPr lang="zh-CN" altLang="en-US"/>
            </a:p>
          </p:txBody>
        </p:sp>
        <p:sp>
          <p:nvSpPr>
            <p:cNvPr id="83" name="TextBox 83"/>
            <p:cNvSpPr txBox="1"/>
            <p:nvPr/>
          </p:nvSpPr>
          <p:spPr>
            <a:xfrm>
              <a:off x="6598920" y="4817745"/>
              <a:ext cx="367903" cy="182880"/>
            </a:xfrm>
            <a:prstGeom prst="rect">
              <a:avLst/>
            </a:prstGeom>
            <a:noFill/>
            <a:ln>
              <a:noFill/>
            </a:ln>
          </p:spPr>
          <p:txBody>
            <a:bodyPr wrap="none" lIns="0" tIns="0" rIns="0" bIns="0" anchor="t" anchorCtr="0">
              <a:spAutoFit/>
            </a:bodyPr>
            <a:lstStyle/>
            <a:p>
              <a:pPr algn="l"/>
              <a:r>
                <a:rPr lang="zh-CN" sz="900" b="1" dirty="0">
                  <a:solidFill>
                    <a:srgbClr val="1E8E3E"/>
                  </a:solidFill>
                  <a:latin typeface="Segoe UI"/>
                  <a:ea typeface="Microsoft YaHei"/>
                  <a:cs typeface="Segoe UI"/>
                </a:rPr>
                <a:t>VALID</a:t>
              </a:r>
            </a:p>
          </p:txBody>
        </p:sp>
        <p:sp>
          <p:nvSpPr>
            <p:cNvPr id="84" name="TextBox 84"/>
            <p:cNvSpPr txBox="1"/>
            <p:nvPr/>
          </p:nvSpPr>
          <p:spPr>
            <a:xfrm>
              <a:off x="6598920" y="4989195"/>
              <a:ext cx="2047113"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All 11 optimization rules verified</a:t>
              </a:r>
            </a:p>
          </p:txBody>
        </p:sp>
        <p:sp>
          <p:nvSpPr>
            <p:cNvPr id="85" name="TextBox 85"/>
            <p:cNvSpPr txBox="1"/>
            <p:nvPr/>
          </p:nvSpPr>
          <p:spPr>
            <a:xfrm>
              <a:off x="6598920" y="5160645"/>
              <a:ext cx="2395442"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All operators correct (truth tables)</a:t>
              </a:r>
            </a:p>
          </p:txBody>
        </p:sp>
        <p:sp>
          <p:nvSpPr>
            <p:cNvPr id="86" name="TextBox 86"/>
            <p:cNvSpPr txBox="1"/>
            <p:nvPr/>
          </p:nvSpPr>
          <p:spPr>
            <a:xfrm>
              <a:off x="6598920" y="5332095"/>
              <a:ext cx="195510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IF true/false branches tested</a:t>
              </a:r>
            </a:p>
          </p:txBody>
        </p:sp>
        <p:sp>
          <p:nvSpPr>
            <p:cNvPr id="87" name="TextBox 87"/>
            <p:cNvSpPr txBox="1"/>
            <p:nvPr/>
          </p:nvSpPr>
          <p:spPr>
            <a:xfrm>
              <a:off x="6598920" y="5503545"/>
              <a:ext cx="1692211"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End-to-end pipeline match</a:t>
              </a:r>
            </a:p>
          </p:txBody>
        </p:sp>
        <p:sp>
          <p:nvSpPr>
            <p:cNvPr id="88" name="Rectangle 88"/>
            <p:cNvSpPr/>
            <p:nvPr/>
          </p:nvSpPr>
          <p:spPr>
            <a:xfrm>
              <a:off x="8972550" y="4743450"/>
              <a:ext cx="2457450" cy="952500"/>
            </a:xfrm>
            <a:prstGeom prst="roundRect">
              <a:avLst>
                <a:gd name="adj" fmla="val 6000"/>
              </a:avLst>
            </a:prstGeom>
            <a:solidFill>
              <a:srgbClr val="EA4335">
                <a:alpha val="6000"/>
              </a:srgbClr>
            </a:solidFill>
            <a:ln w="9525">
              <a:solidFill>
                <a:srgbClr val="EA4335">
                  <a:alpha val="30000"/>
                </a:srgbClr>
              </a:solidFill>
            </a:ln>
          </p:spPr>
          <p:txBody>
            <a:bodyPr/>
            <a:lstStyle/>
            <a:p>
              <a:endParaRPr lang="zh-CN" altLang="en-US"/>
            </a:p>
          </p:txBody>
        </p:sp>
        <p:sp>
          <p:nvSpPr>
            <p:cNvPr id="89" name="TextBox 89"/>
            <p:cNvSpPr txBox="1"/>
            <p:nvPr/>
          </p:nvSpPr>
          <p:spPr>
            <a:xfrm>
              <a:off x="9151620" y="4817745"/>
              <a:ext cx="485218" cy="182880"/>
            </a:xfrm>
            <a:prstGeom prst="rect">
              <a:avLst/>
            </a:prstGeom>
            <a:noFill/>
            <a:ln>
              <a:noFill/>
            </a:ln>
          </p:spPr>
          <p:txBody>
            <a:bodyPr wrap="none" lIns="0" tIns="0" rIns="0" bIns="0" anchor="t" anchorCtr="0">
              <a:spAutoFit/>
            </a:bodyPr>
            <a:lstStyle/>
            <a:p>
              <a:pPr algn="l"/>
              <a:r>
                <a:rPr lang="zh-CN" sz="900" b="1" dirty="0">
                  <a:solidFill>
                    <a:srgbClr val="EA4335"/>
                  </a:solidFill>
                  <a:latin typeface="Segoe UI"/>
                  <a:ea typeface="Microsoft YaHei"/>
                  <a:cs typeface="Segoe UI"/>
                </a:rPr>
                <a:t>INVALID</a:t>
              </a:r>
            </a:p>
          </p:txBody>
        </p:sp>
        <p:sp>
          <p:nvSpPr>
            <p:cNvPr id="90" name="TextBox 90"/>
            <p:cNvSpPr txBox="1"/>
            <p:nvPr/>
          </p:nvSpPr>
          <p:spPr>
            <a:xfrm>
              <a:off x="9151620" y="4989195"/>
              <a:ext cx="171192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Undefined variable in PRINT</a:t>
              </a:r>
            </a:p>
          </p:txBody>
        </p:sp>
        <p:sp>
          <p:nvSpPr>
            <p:cNvPr id="91" name="TextBox 91"/>
            <p:cNvSpPr txBox="1"/>
            <p:nvPr/>
          </p:nvSpPr>
          <p:spPr>
            <a:xfrm>
              <a:off x="9151620" y="5160645"/>
              <a:ext cx="1317593"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Malformed AST arity</a:t>
              </a:r>
            </a:p>
          </p:txBody>
        </p:sp>
        <p:sp>
          <p:nvSpPr>
            <p:cNvPr id="92" name="TextBox 92"/>
            <p:cNvSpPr txBox="1"/>
            <p:nvPr/>
          </p:nvSpPr>
          <p:spPr>
            <a:xfrm>
              <a:off x="9151620" y="5332095"/>
              <a:ext cx="177107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Non-equivalent (neg. test)</a:t>
              </a:r>
            </a:p>
          </p:txBody>
        </p:sp>
        <p:sp>
          <p:nvSpPr>
            <p:cNvPr id="93" name="TextBox 93"/>
            <p:cNvSpPr txBox="1"/>
            <p:nvPr/>
          </p:nvSpPr>
          <p:spPr>
            <a:xfrm>
              <a:off x="9151620" y="5503545"/>
              <a:ext cx="1501616" cy="182880"/>
            </a:xfrm>
            <a:prstGeom prst="rect">
              <a:avLst/>
            </a:prstGeom>
            <a:noFill/>
            <a:ln>
              <a:noFill/>
            </a:ln>
          </p:spPr>
          <p:txBody>
            <a:bodyPr wrap="none" lIns="0" tIns="0" rIns="0" bIns="0" anchor="t" anchorCtr="0">
              <a:spAutoFit/>
            </a:bodyPr>
            <a:lstStyle/>
            <a:p>
              <a:pPr algn="l"/>
              <a:r>
                <a:rPr lang="zh-CN" sz="900" dirty="0">
                  <a:solidFill>
                    <a:srgbClr val="5F6368"/>
                  </a:solidFill>
                  <a:latin typeface="Segoe UI"/>
                  <a:ea typeface="Microsoft YaHei"/>
                  <a:cs typeface="Segoe UI"/>
                </a:rPr>
                <a:t>Unknown operator type</a:t>
              </a:r>
            </a:p>
          </p:txBody>
        </p:sp>
        <p:sp>
          <p:nvSpPr>
            <p:cNvPr id="94" name="TextBox 94"/>
            <p:cNvSpPr txBox="1"/>
            <p:nvPr/>
          </p:nvSpPr>
          <p:spPr>
            <a:xfrm>
              <a:off x="6408420" y="5846445"/>
              <a:ext cx="3946493"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ExecutionError with phase + line verified for all invalid cases</a:t>
              </a:r>
            </a:p>
          </p:txBody>
        </p:sp>
        <p:sp>
          <p:nvSpPr>
            <p:cNvPr id="95" name="TextBox 95"/>
            <p:cNvSpPr txBox="1"/>
            <p:nvPr/>
          </p:nvSpPr>
          <p:spPr>
            <a:xfrm>
              <a:off x="6408420" y="6017895"/>
              <a:ext cx="3985927" cy="182880"/>
            </a:xfrm>
            <a:prstGeom prst="rect">
              <a:avLst/>
            </a:prstGeom>
            <a:noFill/>
            <a:ln>
              <a:noFill/>
            </a:ln>
          </p:spPr>
          <p:txBody>
            <a:bodyPr wrap="none" lIns="0" tIns="0" rIns="0" bIns="0" anchor="t" anchorCtr="0">
              <a:spAutoFit/>
            </a:bodyPr>
            <a:lstStyle/>
            <a:p>
              <a:pPr algn="l"/>
              <a:r>
                <a:rPr lang="zh-CN" sz="900" dirty="0">
                  <a:solidFill>
                    <a:srgbClr val="80868B"/>
                  </a:solidFill>
                  <a:latin typeface="Segoe UI"/>
                  <a:ea typeface="Microsoft YaHei"/>
                  <a:cs typeface="Segoe UI"/>
                </a:rPr>
                <a:t>is_equivalent correctly reports FALSE on deliberate mismatch</a:t>
              </a:r>
            </a:p>
          </p:txBody>
        </p:sp>
      </p:grpSp>
      <p:grpSp>
        <p:nvGrpSpPr>
          <p:cNvPr id="100" name="Group 100"/>
          <p:cNvGrpSpPr/>
          <p:nvPr/>
        </p:nvGrpSpPr>
        <p:grpSpPr>
          <a:xfrm>
            <a:off x="561022" y="6572250"/>
            <a:ext cx="11069956" cy="269081"/>
            <a:chOff x="561022" y="6572250"/>
            <a:chExt cx="11069956" cy="269081"/>
          </a:xfrm>
        </p:grpSpPr>
        <p:sp>
          <p:nvSpPr>
            <p:cNvPr id="97" name="Rectangle 97"/>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98" name="TextBox 98"/>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99" name="TextBox 99"/>
            <p:cNvSpPr txBox="1"/>
            <p:nvPr/>
          </p:nvSpPr>
          <p:spPr>
            <a:xfrm>
              <a:off x="11507605" y="667369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12</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4"/>
                                        </p:tgtEl>
                                        <p:attrNameLst>
                                          <p:attrName>style.visibility</p:attrName>
                                        </p:attrNameLst>
                                      </p:cBhvr>
                                      <p:to>
                                        <p:strVal val="visible"/>
                                      </p:to>
                                    </p:set>
                                    <p:animEffect transition="in" filter="fade">
                                      <p:cBhvr>
                                        <p:cTn id="11" dur="500"/>
                                        <p:tgtEl>
                                          <p:spTgt spid="54"/>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fade">
                                      <p:cBhvr>
                                        <p:cTn id="15" dur="500"/>
                                        <p:tgtEl>
                                          <p:spTgt spid="73"/>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96"/>
                                        </p:tgtEl>
                                        <p:attrNameLst>
                                          <p:attrName>style.visibility</p:attrName>
                                        </p:attrNameLst>
                                      </p:cBhvr>
                                      <p:to>
                                        <p:strVal val="visible"/>
                                      </p:to>
                                    </p:set>
                                    <p:animEffect transition="in" filter="fade">
                                      <p:cBhvr>
                                        <p:cTn id="19" dur="500"/>
                                        <p:tgtEl>
                                          <p:spTgt spid="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54" grpId="0"/>
      <p:bldP spid="73" grpId="0"/>
      <p:bldP spid="9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6673214" cy="632936"/>
            <a:chOff x="571500" y="379095"/>
            <a:chExt cx="6673214" cy="632936"/>
          </a:xfrm>
        </p:grpSpPr>
        <p:sp>
          <p:nvSpPr>
            <p:cNvPr id="5" name="Rectangle 5"/>
            <p:cNvSpPr/>
            <p:nvPr/>
          </p:nvSpPr>
          <p:spPr>
            <a:xfrm>
              <a:off x="571500" y="381000"/>
              <a:ext cx="47625" cy="342900"/>
            </a:xfrm>
            <a:prstGeom prst="roundRect">
              <a:avLst>
                <a:gd name="adj" fmla="val 40000"/>
              </a:avLst>
            </a:prstGeom>
            <a:solidFill>
              <a:srgbClr val="EA4335"/>
            </a:solidFill>
            <a:ln>
              <a:noFill/>
            </a:ln>
          </p:spPr>
          <p:txBody>
            <a:bodyPr/>
            <a:lstStyle/>
            <a:p>
              <a:endParaRPr lang="zh-CN" altLang="en-US"/>
            </a:p>
          </p:txBody>
        </p:sp>
        <p:sp>
          <p:nvSpPr>
            <p:cNvPr id="6" name="TextBox 6"/>
            <p:cNvSpPr txBox="1"/>
            <p:nvPr/>
          </p:nvSpPr>
          <p:spPr>
            <a:xfrm>
              <a:off x="693420" y="379095"/>
              <a:ext cx="3612604"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Current Limitations</a:t>
              </a:r>
            </a:p>
          </p:txBody>
        </p:sp>
        <p:sp>
          <p:nvSpPr>
            <p:cNvPr id="7" name="TextBox 7"/>
            <p:cNvSpPr txBox="1"/>
            <p:nvPr/>
          </p:nvSpPr>
          <p:spPr>
            <a:xfrm>
              <a:off x="709612" y="783431"/>
              <a:ext cx="6535102"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Known constraints in the current implementation — acknowledged and documented</a:t>
              </a:r>
            </a:p>
          </p:txBody>
        </p:sp>
      </p:grpSp>
      <p:grpSp>
        <p:nvGrpSpPr>
          <p:cNvPr id="17" name="Group 17"/>
          <p:cNvGrpSpPr/>
          <p:nvPr/>
        </p:nvGrpSpPr>
        <p:grpSpPr>
          <a:xfrm>
            <a:off x="571500" y="1143000"/>
            <a:ext cx="5334000" cy="1123950"/>
            <a:chOff x="571500" y="1143000"/>
            <a:chExt cx="5334000" cy="1123950"/>
          </a:xfrm>
        </p:grpSpPr>
        <p:sp>
          <p:nvSpPr>
            <p:cNvPr id="9" name="Rectangle 9"/>
            <p:cNvSpPr/>
            <p:nvPr/>
          </p:nvSpPr>
          <p:spPr>
            <a:xfrm>
              <a:off x="571500" y="1143000"/>
              <a:ext cx="5334000" cy="1123950"/>
            </a:xfrm>
            <a:prstGeom prst="roundRect">
              <a:avLst>
                <a:gd name="adj" fmla="val 8475"/>
              </a:avLst>
            </a:prstGeom>
            <a:solidFill>
              <a:srgbClr val="FFFFFF"/>
            </a:solidFill>
            <a:ln w="9525">
              <a:solidFill>
                <a:srgbClr val="EA4335">
                  <a:alpha val="30000"/>
                </a:srgbClr>
              </a:solidFill>
            </a:ln>
          </p:spPr>
          <p:txBody>
            <a:bodyPr/>
            <a:lstStyle/>
            <a:p>
              <a:endParaRPr lang="zh-CN" altLang="en-US"/>
            </a:p>
          </p:txBody>
        </p:sp>
        <p:sp>
          <p:nvSpPr>
            <p:cNvPr id="10" name="Rectangle 10"/>
            <p:cNvSpPr/>
            <p:nvPr/>
          </p:nvSpPr>
          <p:spPr>
            <a:xfrm>
              <a:off x="571500" y="1143000"/>
              <a:ext cx="38100" cy="1123950"/>
            </a:xfrm>
            <a:prstGeom prst="roundRect">
              <a:avLst>
                <a:gd name="adj" fmla="val 50000"/>
              </a:avLst>
            </a:prstGeom>
            <a:solidFill>
              <a:srgbClr val="EA4335"/>
            </a:solidFill>
            <a:ln>
              <a:noFill/>
            </a:ln>
          </p:spPr>
          <p:txBody>
            <a:bodyPr/>
            <a:lstStyle/>
            <a:p>
              <a:endParaRPr lang="zh-CN" altLang="en-US"/>
            </a:p>
          </p:txBody>
        </p:sp>
        <p:sp>
          <p:nvSpPr>
            <p:cNvPr id="11" name="Rectangle 11"/>
            <p:cNvSpPr/>
            <p:nvPr/>
          </p:nvSpPr>
          <p:spPr>
            <a:xfrm>
              <a:off x="762000" y="1314450"/>
              <a:ext cx="381000" cy="381000"/>
            </a:xfrm>
            <a:prstGeom prst="roundRect">
              <a:avLst>
                <a:gd name="adj" fmla="val 20000"/>
              </a:avLst>
            </a:prstGeom>
            <a:solidFill>
              <a:srgbClr val="EA4335">
                <a:alpha val="12000"/>
              </a:srgbClr>
            </a:solidFill>
            <a:ln>
              <a:noFill/>
            </a:ln>
          </p:spPr>
          <p:txBody>
            <a:bodyPr/>
            <a:lstStyle/>
            <a:p>
              <a:endParaRPr lang="zh-CN" altLang="en-US"/>
            </a:p>
          </p:txBody>
        </p:sp>
        <p:sp>
          <p:nvSpPr>
            <p:cNvPr id="12" name="Freeform 12"/>
            <p:cNvSpPr/>
            <p:nvPr/>
          </p:nvSpPr>
          <p:spPr>
            <a:xfrm>
              <a:off x="846375" y="1406557"/>
              <a:ext cx="212139" cy="184080"/>
            </a:xfrm>
            <a:custGeom>
              <a:avLst/>
              <a:gdLst/>
              <a:ahLst/>
              <a:cxnLst/>
              <a:rect l="l" t="t" r="r" b="b"/>
              <a:pathLst>
                <a:path w="212139" h="184080">
                  <a:moveTo>
                    <a:pt x="106125" y="0"/>
                  </a:moveTo>
                  <a:cubicBezTo>
                    <a:pt x="115221" y="0"/>
                    <a:pt x="123698" y="4448"/>
                    <a:pt x="128889" y="11878"/>
                  </a:cubicBezTo>
                  <a:lnTo>
                    <a:pt x="129890" y="13402"/>
                  </a:lnTo>
                  <a:lnTo>
                    <a:pt x="207175" y="142446"/>
                  </a:lnTo>
                  <a:cubicBezTo>
                    <a:pt x="211950" y="150715"/>
                    <a:pt x="212139" y="160858"/>
                    <a:pt x="207675" y="169299"/>
                  </a:cubicBezTo>
                  <a:cubicBezTo>
                    <a:pt x="203212" y="177740"/>
                    <a:pt x="194723" y="183294"/>
                    <a:pt x="185201" y="184004"/>
                  </a:cubicBezTo>
                  <a:lnTo>
                    <a:pt x="183344" y="184080"/>
                  </a:lnTo>
                  <a:lnTo>
                    <a:pt x="28801" y="184080"/>
                  </a:lnTo>
                  <a:cubicBezTo>
                    <a:pt x="19269" y="183973"/>
                    <a:pt x="10460" y="178982"/>
                    <a:pt x="5468" y="170862"/>
                  </a:cubicBezTo>
                  <a:cubicBezTo>
                    <a:pt x="476" y="162742"/>
                    <a:pt x="0" y="152628"/>
                    <a:pt x="4207" y="144075"/>
                  </a:cubicBezTo>
                  <a:lnTo>
                    <a:pt x="5150" y="142313"/>
                  </a:lnTo>
                  <a:lnTo>
                    <a:pt x="82398" y="13364"/>
                  </a:lnTo>
                  <a:cubicBezTo>
                    <a:pt x="87428" y="5069"/>
                    <a:pt x="96424" y="2"/>
                    <a:pt x="106125" y="0"/>
                  </a:cubicBezTo>
                  <a:close/>
                  <a:moveTo>
                    <a:pt x="106220" y="126968"/>
                  </a:moveTo>
                  <a:lnTo>
                    <a:pt x="105010" y="127035"/>
                  </a:lnTo>
                  <a:cubicBezTo>
                    <a:pt x="100219" y="127605"/>
                    <a:pt x="96610" y="131668"/>
                    <a:pt x="96610" y="136493"/>
                  </a:cubicBezTo>
                  <a:cubicBezTo>
                    <a:pt x="96610" y="141319"/>
                    <a:pt x="100219" y="145382"/>
                    <a:pt x="105010" y="145952"/>
                  </a:cubicBezTo>
                  <a:lnTo>
                    <a:pt x="106125" y="146018"/>
                  </a:lnTo>
                  <a:lnTo>
                    <a:pt x="107334" y="145952"/>
                  </a:lnTo>
                  <a:cubicBezTo>
                    <a:pt x="112126" y="145382"/>
                    <a:pt x="115734" y="141319"/>
                    <a:pt x="115734" y="136493"/>
                  </a:cubicBezTo>
                  <a:cubicBezTo>
                    <a:pt x="115734" y="131668"/>
                    <a:pt x="112126" y="127605"/>
                    <a:pt x="107334" y="127035"/>
                  </a:cubicBezTo>
                  <a:lnTo>
                    <a:pt x="106220" y="126968"/>
                  </a:lnTo>
                  <a:close/>
                  <a:moveTo>
                    <a:pt x="106125" y="60293"/>
                  </a:moveTo>
                  <a:cubicBezTo>
                    <a:pt x="101296" y="60294"/>
                    <a:pt x="97231" y="63908"/>
                    <a:pt x="96666" y="68704"/>
                  </a:cubicBezTo>
                  <a:lnTo>
                    <a:pt x="96600" y="69818"/>
                  </a:lnTo>
                  <a:lnTo>
                    <a:pt x="96600" y="107918"/>
                  </a:lnTo>
                  <a:lnTo>
                    <a:pt x="96666" y="109033"/>
                  </a:lnTo>
                  <a:cubicBezTo>
                    <a:pt x="97236" y="113824"/>
                    <a:pt x="101299" y="117433"/>
                    <a:pt x="106125" y="117433"/>
                  </a:cubicBezTo>
                  <a:cubicBezTo>
                    <a:pt x="110950" y="117433"/>
                    <a:pt x="115013" y="113824"/>
                    <a:pt x="115583" y="109033"/>
                  </a:cubicBezTo>
                  <a:lnTo>
                    <a:pt x="115650" y="107918"/>
                  </a:lnTo>
                  <a:lnTo>
                    <a:pt x="115650" y="69818"/>
                  </a:lnTo>
                  <a:lnTo>
                    <a:pt x="115583" y="68704"/>
                  </a:lnTo>
                  <a:cubicBezTo>
                    <a:pt x="115018" y="63908"/>
                    <a:pt x="110954" y="60294"/>
                    <a:pt x="106125" y="60293"/>
                  </a:cubicBezTo>
                  <a:close/>
                </a:path>
              </a:pathLst>
            </a:custGeom>
            <a:solidFill>
              <a:srgbClr val="EA4335"/>
            </a:solidFill>
            <a:ln>
              <a:noFill/>
            </a:ln>
          </p:spPr>
          <p:txBody>
            <a:bodyPr/>
            <a:lstStyle/>
            <a:p>
              <a:endParaRPr lang="zh-CN" altLang="en-US"/>
            </a:p>
          </p:txBody>
        </p:sp>
        <p:sp>
          <p:nvSpPr>
            <p:cNvPr id="13" name="TextBox 13"/>
            <p:cNvSpPr txBox="1"/>
            <p:nvPr/>
          </p:nvSpPr>
          <p:spPr>
            <a:xfrm>
              <a:off x="1261110" y="1346835"/>
              <a:ext cx="2450382" cy="243840"/>
            </a:xfrm>
            <a:prstGeom prst="rect">
              <a:avLst/>
            </a:prstGeom>
            <a:noFill/>
            <a:ln>
              <a:noFill/>
            </a:ln>
          </p:spPr>
          <p:txBody>
            <a:bodyPr wrap="none" lIns="0" tIns="0" rIns="0" bIns="0" anchor="t" anchorCtr="0">
              <a:spAutoFit/>
            </a:bodyPr>
            <a:lstStyle/>
            <a:p>
              <a:pPr algn="l"/>
              <a:r>
                <a:rPr lang="zh-CN" sz="1200" b="1" dirty="0">
                  <a:solidFill>
                    <a:srgbClr val="EA4335"/>
                  </a:solidFill>
                  <a:latin typeface="Segoe UI"/>
                  <a:ea typeface="Microsoft YaHei"/>
                  <a:cs typeface="Segoe UI"/>
                </a:rPr>
                <a:t>Limited Optimization Depth</a:t>
              </a:r>
            </a:p>
          </p:txBody>
        </p:sp>
        <p:sp>
          <p:nvSpPr>
            <p:cNvPr id="14" name="TextBox 14"/>
            <p:cNvSpPr txBox="1"/>
            <p:nvPr/>
          </p:nvSpPr>
          <p:spPr>
            <a:xfrm>
              <a:off x="748665" y="1715452"/>
              <a:ext cx="4887944"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Distributive law expansion not implemented. Complex expressions</a:t>
              </a:r>
            </a:p>
          </p:txBody>
        </p:sp>
        <p:sp>
          <p:nvSpPr>
            <p:cNvPr id="15" name="TextBox 15"/>
            <p:cNvSpPr txBox="1"/>
            <p:nvPr/>
          </p:nvSpPr>
          <p:spPr>
            <a:xfrm>
              <a:off x="748665" y="1905952"/>
              <a:ext cx="493395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requiring distributive rewrites may not reach the simplest form.</a:t>
              </a:r>
            </a:p>
          </p:txBody>
        </p:sp>
        <p:sp>
          <p:nvSpPr>
            <p:cNvPr id="16" name="TextBox 16"/>
            <p:cNvSpPr txBox="1"/>
            <p:nvPr/>
          </p:nvSpPr>
          <p:spPr>
            <a:xfrm>
              <a:off x="749618" y="2066449"/>
              <a:ext cx="409024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e.g. A AND (B OR C) not expanded to (A AND B) OR (A AND C)</a:t>
              </a:r>
            </a:p>
          </p:txBody>
        </p:sp>
      </p:grpSp>
      <p:grpSp>
        <p:nvGrpSpPr>
          <p:cNvPr id="26" name="Group 26"/>
          <p:cNvGrpSpPr/>
          <p:nvPr/>
        </p:nvGrpSpPr>
        <p:grpSpPr>
          <a:xfrm>
            <a:off x="571500" y="2400300"/>
            <a:ext cx="5334000" cy="1007269"/>
            <a:chOff x="571500" y="2400300"/>
            <a:chExt cx="5334000" cy="1007269"/>
          </a:xfrm>
        </p:grpSpPr>
        <p:sp>
          <p:nvSpPr>
            <p:cNvPr id="18" name="Rectangle 18"/>
            <p:cNvSpPr/>
            <p:nvPr/>
          </p:nvSpPr>
          <p:spPr>
            <a:xfrm>
              <a:off x="571500" y="2400300"/>
              <a:ext cx="5334000" cy="990600"/>
            </a:xfrm>
            <a:prstGeom prst="roundRect">
              <a:avLst>
                <a:gd name="adj" fmla="val 9615"/>
              </a:avLst>
            </a:prstGeom>
            <a:solidFill>
              <a:srgbClr val="FFFFFF"/>
            </a:solidFill>
            <a:ln w="9525">
              <a:solidFill>
                <a:srgbClr val="EA4335">
                  <a:alpha val="30000"/>
                </a:srgbClr>
              </a:solidFill>
            </a:ln>
          </p:spPr>
          <p:txBody>
            <a:bodyPr/>
            <a:lstStyle/>
            <a:p>
              <a:endParaRPr lang="zh-CN" altLang="en-US"/>
            </a:p>
          </p:txBody>
        </p:sp>
        <p:sp>
          <p:nvSpPr>
            <p:cNvPr id="19" name="Rectangle 19"/>
            <p:cNvSpPr/>
            <p:nvPr/>
          </p:nvSpPr>
          <p:spPr>
            <a:xfrm>
              <a:off x="571500" y="2400300"/>
              <a:ext cx="38100" cy="990600"/>
            </a:xfrm>
            <a:prstGeom prst="roundRect">
              <a:avLst>
                <a:gd name="adj" fmla="val 50000"/>
              </a:avLst>
            </a:prstGeom>
            <a:solidFill>
              <a:srgbClr val="EA4335"/>
            </a:solidFill>
            <a:ln>
              <a:noFill/>
            </a:ln>
          </p:spPr>
          <p:txBody>
            <a:bodyPr/>
            <a:lstStyle/>
            <a:p>
              <a:endParaRPr lang="zh-CN" altLang="en-US"/>
            </a:p>
          </p:txBody>
        </p:sp>
        <p:sp>
          <p:nvSpPr>
            <p:cNvPr id="20" name="Rectangle 20"/>
            <p:cNvSpPr/>
            <p:nvPr/>
          </p:nvSpPr>
          <p:spPr>
            <a:xfrm>
              <a:off x="762000" y="2533650"/>
              <a:ext cx="381000" cy="381000"/>
            </a:xfrm>
            <a:prstGeom prst="roundRect">
              <a:avLst>
                <a:gd name="adj" fmla="val 20000"/>
              </a:avLst>
            </a:prstGeom>
            <a:solidFill>
              <a:srgbClr val="EA4335">
                <a:alpha val="12000"/>
              </a:srgbClr>
            </a:solidFill>
            <a:ln>
              <a:noFill/>
            </a:ln>
          </p:spPr>
          <p:txBody>
            <a:bodyPr/>
            <a:lstStyle/>
            <a:p>
              <a:endParaRPr lang="zh-CN" altLang="en-US"/>
            </a:p>
          </p:txBody>
        </p:sp>
        <p:sp>
          <p:nvSpPr>
            <p:cNvPr id="21" name="Freeform 21"/>
            <p:cNvSpPr/>
            <p:nvPr/>
          </p:nvSpPr>
          <p:spPr>
            <a:xfrm>
              <a:off x="846375" y="2625757"/>
              <a:ext cx="212139" cy="184080"/>
            </a:xfrm>
            <a:custGeom>
              <a:avLst/>
              <a:gdLst/>
              <a:ahLst/>
              <a:cxnLst/>
              <a:rect l="l" t="t" r="r" b="b"/>
              <a:pathLst>
                <a:path w="212139" h="184080">
                  <a:moveTo>
                    <a:pt x="106125" y="0"/>
                  </a:moveTo>
                  <a:cubicBezTo>
                    <a:pt x="115221" y="0"/>
                    <a:pt x="123698" y="4448"/>
                    <a:pt x="128889" y="11878"/>
                  </a:cubicBezTo>
                  <a:lnTo>
                    <a:pt x="129890" y="13402"/>
                  </a:lnTo>
                  <a:lnTo>
                    <a:pt x="207175" y="142446"/>
                  </a:lnTo>
                  <a:cubicBezTo>
                    <a:pt x="211950" y="150715"/>
                    <a:pt x="212139" y="160858"/>
                    <a:pt x="207675" y="169299"/>
                  </a:cubicBezTo>
                  <a:cubicBezTo>
                    <a:pt x="203212" y="177740"/>
                    <a:pt x="194723" y="183294"/>
                    <a:pt x="185201" y="184004"/>
                  </a:cubicBezTo>
                  <a:lnTo>
                    <a:pt x="183344" y="184080"/>
                  </a:lnTo>
                  <a:lnTo>
                    <a:pt x="28801" y="184080"/>
                  </a:lnTo>
                  <a:cubicBezTo>
                    <a:pt x="19269" y="183973"/>
                    <a:pt x="10460" y="178982"/>
                    <a:pt x="5468" y="170862"/>
                  </a:cubicBezTo>
                  <a:cubicBezTo>
                    <a:pt x="476" y="162742"/>
                    <a:pt x="0" y="152628"/>
                    <a:pt x="4207" y="144075"/>
                  </a:cubicBezTo>
                  <a:lnTo>
                    <a:pt x="5150" y="142313"/>
                  </a:lnTo>
                  <a:lnTo>
                    <a:pt x="82398" y="13364"/>
                  </a:lnTo>
                  <a:cubicBezTo>
                    <a:pt x="87428" y="5069"/>
                    <a:pt x="96424" y="2"/>
                    <a:pt x="106125" y="0"/>
                  </a:cubicBezTo>
                  <a:close/>
                  <a:moveTo>
                    <a:pt x="106220" y="126968"/>
                  </a:moveTo>
                  <a:lnTo>
                    <a:pt x="105010" y="127035"/>
                  </a:lnTo>
                  <a:cubicBezTo>
                    <a:pt x="100219" y="127605"/>
                    <a:pt x="96610" y="131668"/>
                    <a:pt x="96610" y="136493"/>
                  </a:cubicBezTo>
                  <a:cubicBezTo>
                    <a:pt x="96610" y="141319"/>
                    <a:pt x="100219" y="145382"/>
                    <a:pt x="105010" y="145952"/>
                  </a:cubicBezTo>
                  <a:lnTo>
                    <a:pt x="106125" y="146018"/>
                  </a:lnTo>
                  <a:lnTo>
                    <a:pt x="107334" y="145952"/>
                  </a:lnTo>
                  <a:cubicBezTo>
                    <a:pt x="112126" y="145382"/>
                    <a:pt x="115734" y="141319"/>
                    <a:pt x="115734" y="136493"/>
                  </a:cubicBezTo>
                  <a:cubicBezTo>
                    <a:pt x="115734" y="131668"/>
                    <a:pt x="112126" y="127605"/>
                    <a:pt x="107334" y="127035"/>
                  </a:cubicBezTo>
                  <a:lnTo>
                    <a:pt x="106220" y="126968"/>
                  </a:lnTo>
                  <a:close/>
                  <a:moveTo>
                    <a:pt x="106125" y="60293"/>
                  </a:moveTo>
                  <a:cubicBezTo>
                    <a:pt x="101296" y="60294"/>
                    <a:pt x="97231" y="63908"/>
                    <a:pt x="96666" y="68704"/>
                  </a:cubicBezTo>
                  <a:lnTo>
                    <a:pt x="96600" y="69818"/>
                  </a:lnTo>
                  <a:lnTo>
                    <a:pt x="96600" y="107918"/>
                  </a:lnTo>
                  <a:lnTo>
                    <a:pt x="96666" y="109033"/>
                  </a:lnTo>
                  <a:cubicBezTo>
                    <a:pt x="97236" y="113824"/>
                    <a:pt x="101299" y="117433"/>
                    <a:pt x="106125" y="117433"/>
                  </a:cubicBezTo>
                  <a:cubicBezTo>
                    <a:pt x="110950" y="117433"/>
                    <a:pt x="115013" y="113824"/>
                    <a:pt x="115583" y="109033"/>
                  </a:cubicBezTo>
                  <a:lnTo>
                    <a:pt x="115650" y="107918"/>
                  </a:lnTo>
                  <a:lnTo>
                    <a:pt x="115650" y="69818"/>
                  </a:lnTo>
                  <a:lnTo>
                    <a:pt x="115583" y="68704"/>
                  </a:lnTo>
                  <a:cubicBezTo>
                    <a:pt x="115018" y="63908"/>
                    <a:pt x="110954" y="60294"/>
                    <a:pt x="106125" y="60293"/>
                  </a:cubicBezTo>
                  <a:close/>
                </a:path>
              </a:pathLst>
            </a:custGeom>
            <a:solidFill>
              <a:srgbClr val="EA4335"/>
            </a:solidFill>
            <a:ln>
              <a:noFill/>
            </a:ln>
          </p:spPr>
          <p:txBody>
            <a:bodyPr/>
            <a:lstStyle/>
            <a:p>
              <a:endParaRPr lang="zh-CN" altLang="en-US"/>
            </a:p>
          </p:txBody>
        </p:sp>
        <p:sp>
          <p:nvSpPr>
            <p:cNvPr id="22" name="TextBox 22"/>
            <p:cNvSpPr txBox="1"/>
            <p:nvPr/>
          </p:nvSpPr>
          <p:spPr>
            <a:xfrm>
              <a:off x="1261110" y="2566035"/>
              <a:ext cx="2100739" cy="243840"/>
            </a:xfrm>
            <a:prstGeom prst="rect">
              <a:avLst/>
            </a:prstGeom>
            <a:noFill/>
            <a:ln>
              <a:noFill/>
            </a:ln>
          </p:spPr>
          <p:txBody>
            <a:bodyPr wrap="none" lIns="0" tIns="0" rIns="0" bIns="0" anchor="t" anchorCtr="0">
              <a:spAutoFit/>
            </a:bodyPr>
            <a:lstStyle/>
            <a:p>
              <a:pPr algn="l"/>
              <a:r>
                <a:rPr lang="zh-CN" sz="1200" b="1" dirty="0">
                  <a:solidFill>
                    <a:srgbClr val="EA4335"/>
                  </a:solidFill>
                  <a:latin typeface="Segoe UI"/>
                  <a:ea typeface="Microsoft YaHei"/>
                  <a:cs typeface="Segoe UI"/>
                </a:rPr>
                <a:t>Minimal Language Scope</a:t>
              </a:r>
            </a:p>
          </p:txBody>
        </p:sp>
        <p:sp>
          <p:nvSpPr>
            <p:cNvPr id="23" name="TextBox 23"/>
            <p:cNvSpPr txBox="1"/>
            <p:nvPr/>
          </p:nvSpPr>
          <p:spPr>
            <a:xfrm>
              <a:off x="748665" y="2877502"/>
              <a:ext cx="4404884"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Single-letter variables only. No loops, no multi-statement</a:t>
              </a:r>
            </a:p>
          </p:txBody>
        </p:sp>
        <p:sp>
          <p:nvSpPr>
            <p:cNvPr id="24" name="TextBox 24"/>
            <p:cNvSpPr txBox="1"/>
            <p:nvPr/>
          </p:nvSpPr>
          <p:spPr>
            <a:xfrm>
              <a:off x="748665" y="3068002"/>
              <a:ext cx="5048964"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conditional blocks, no re-assignment. By design for project scope.</a:t>
              </a:r>
            </a:p>
          </p:txBody>
        </p:sp>
        <p:sp>
          <p:nvSpPr>
            <p:cNvPr id="25" name="TextBox 25"/>
            <p:cNvSpPr txBox="1"/>
            <p:nvPr/>
          </p:nvSpPr>
          <p:spPr>
            <a:xfrm>
              <a:off x="749618" y="3209449"/>
              <a:ext cx="3000899"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26 possible variables | no variable mutation</a:t>
              </a:r>
            </a:p>
          </p:txBody>
        </p:sp>
      </p:grpSp>
      <p:grpSp>
        <p:nvGrpSpPr>
          <p:cNvPr id="35" name="Group 35"/>
          <p:cNvGrpSpPr/>
          <p:nvPr/>
        </p:nvGrpSpPr>
        <p:grpSpPr>
          <a:xfrm>
            <a:off x="571500" y="3524250"/>
            <a:ext cx="5334000" cy="969169"/>
            <a:chOff x="571500" y="3524250"/>
            <a:chExt cx="5334000" cy="969169"/>
          </a:xfrm>
        </p:grpSpPr>
        <p:sp>
          <p:nvSpPr>
            <p:cNvPr id="27" name="Rectangle 27"/>
            <p:cNvSpPr/>
            <p:nvPr/>
          </p:nvSpPr>
          <p:spPr>
            <a:xfrm>
              <a:off x="571500" y="3524250"/>
              <a:ext cx="5334000" cy="952500"/>
            </a:xfrm>
            <a:prstGeom prst="roundRect">
              <a:avLst>
                <a:gd name="adj" fmla="val 10000"/>
              </a:avLst>
            </a:prstGeom>
            <a:solidFill>
              <a:srgbClr val="FFFFFF"/>
            </a:solidFill>
            <a:ln w="9525">
              <a:solidFill>
                <a:srgbClr val="EA4335">
                  <a:alpha val="30000"/>
                </a:srgbClr>
              </a:solidFill>
            </a:ln>
          </p:spPr>
          <p:txBody>
            <a:bodyPr/>
            <a:lstStyle/>
            <a:p>
              <a:endParaRPr lang="zh-CN" altLang="en-US"/>
            </a:p>
          </p:txBody>
        </p:sp>
        <p:sp>
          <p:nvSpPr>
            <p:cNvPr id="28" name="Rectangle 28"/>
            <p:cNvSpPr/>
            <p:nvPr/>
          </p:nvSpPr>
          <p:spPr>
            <a:xfrm>
              <a:off x="571500" y="3524250"/>
              <a:ext cx="38100" cy="952500"/>
            </a:xfrm>
            <a:prstGeom prst="roundRect">
              <a:avLst>
                <a:gd name="adj" fmla="val 50000"/>
              </a:avLst>
            </a:prstGeom>
            <a:solidFill>
              <a:srgbClr val="5F6368"/>
            </a:solidFill>
            <a:ln>
              <a:noFill/>
            </a:ln>
          </p:spPr>
          <p:txBody>
            <a:bodyPr/>
            <a:lstStyle/>
            <a:p>
              <a:endParaRPr lang="zh-CN" altLang="en-US"/>
            </a:p>
          </p:txBody>
        </p:sp>
        <p:sp>
          <p:nvSpPr>
            <p:cNvPr id="29" name="Rectangle 29"/>
            <p:cNvSpPr/>
            <p:nvPr/>
          </p:nvSpPr>
          <p:spPr>
            <a:xfrm>
              <a:off x="762000" y="3657600"/>
              <a:ext cx="381000" cy="381000"/>
            </a:xfrm>
            <a:prstGeom prst="roundRect">
              <a:avLst>
                <a:gd name="adj" fmla="val 20000"/>
              </a:avLst>
            </a:prstGeom>
            <a:solidFill>
              <a:srgbClr val="5F6368">
                <a:alpha val="12000"/>
              </a:srgbClr>
            </a:solidFill>
            <a:ln>
              <a:noFill/>
            </a:ln>
          </p:spPr>
          <p:txBody>
            <a:bodyPr/>
            <a:lstStyle/>
            <a:p>
              <a:endParaRPr lang="zh-CN" altLang="en-US"/>
            </a:p>
          </p:txBody>
        </p:sp>
        <p:sp>
          <p:nvSpPr>
            <p:cNvPr id="30" name="Freeform 30"/>
            <p:cNvSpPr/>
            <p:nvPr/>
          </p:nvSpPr>
          <p:spPr>
            <a:xfrm>
              <a:off x="846375" y="3749707"/>
              <a:ext cx="212139" cy="184080"/>
            </a:xfrm>
            <a:custGeom>
              <a:avLst/>
              <a:gdLst/>
              <a:ahLst/>
              <a:cxnLst/>
              <a:rect l="l" t="t" r="r" b="b"/>
              <a:pathLst>
                <a:path w="212139" h="184080">
                  <a:moveTo>
                    <a:pt x="106125" y="0"/>
                  </a:moveTo>
                  <a:cubicBezTo>
                    <a:pt x="115221" y="0"/>
                    <a:pt x="123698" y="4448"/>
                    <a:pt x="128889" y="11878"/>
                  </a:cubicBezTo>
                  <a:lnTo>
                    <a:pt x="129890" y="13402"/>
                  </a:lnTo>
                  <a:lnTo>
                    <a:pt x="207175" y="142446"/>
                  </a:lnTo>
                  <a:cubicBezTo>
                    <a:pt x="211950" y="150715"/>
                    <a:pt x="212139" y="160858"/>
                    <a:pt x="207675" y="169299"/>
                  </a:cubicBezTo>
                  <a:cubicBezTo>
                    <a:pt x="203212" y="177740"/>
                    <a:pt x="194723" y="183294"/>
                    <a:pt x="185201" y="184004"/>
                  </a:cubicBezTo>
                  <a:lnTo>
                    <a:pt x="183344" y="184080"/>
                  </a:lnTo>
                  <a:lnTo>
                    <a:pt x="28801" y="184080"/>
                  </a:lnTo>
                  <a:cubicBezTo>
                    <a:pt x="19269" y="183973"/>
                    <a:pt x="10460" y="178982"/>
                    <a:pt x="5468" y="170862"/>
                  </a:cubicBezTo>
                  <a:cubicBezTo>
                    <a:pt x="476" y="162742"/>
                    <a:pt x="0" y="152628"/>
                    <a:pt x="4207" y="144075"/>
                  </a:cubicBezTo>
                  <a:lnTo>
                    <a:pt x="5150" y="142313"/>
                  </a:lnTo>
                  <a:lnTo>
                    <a:pt x="82398" y="13364"/>
                  </a:lnTo>
                  <a:cubicBezTo>
                    <a:pt x="87428" y="5069"/>
                    <a:pt x="96424" y="2"/>
                    <a:pt x="106125" y="0"/>
                  </a:cubicBezTo>
                  <a:close/>
                  <a:moveTo>
                    <a:pt x="106220" y="126968"/>
                  </a:moveTo>
                  <a:lnTo>
                    <a:pt x="105010" y="127035"/>
                  </a:lnTo>
                  <a:cubicBezTo>
                    <a:pt x="100219" y="127605"/>
                    <a:pt x="96610" y="131668"/>
                    <a:pt x="96610" y="136493"/>
                  </a:cubicBezTo>
                  <a:cubicBezTo>
                    <a:pt x="96610" y="141319"/>
                    <a:pt x="100219" y="145382"/>
                    <a:pt x="105010" y="145952"/>
                  </a:cubicBezTo>
                  <a:lnTo>
                    <a:pt x="106125" y="146018"/>
                  </a:lnTo>
                  <a:lnTo>
                    <a:pt x="107334" y="145952"/>
                  </a:lnTo>
                  <a:cubicBezTo>
                    <a:pt x="112126" y="145382"/>
                    <a:pt x="115734" y="141319"/>
                    <a:pt x="115734" y="136493"/>
                  </a:cubicBezTo>
                  <a:cubicBezTo>
                    <a:pt x="115734" y="131668"/>
                    <a:pt x="112126" y="127605"/>
                    <a:pt x="107334" y="127035"/>
                  </a:cubicBezTo>
                  <a:lnTo>
                    <a:pt x="106220" y="126968"/>
                  </a:lnTo>
                  <a:close/>
                  <a:moveTo>
                    <a:pt x="106125" y="60293"/>
                  </a:moveTo>
                  <a:cubicBezTo>
                    <a:pt x="101296" y="60294"/>
                    <a:pt x="97231" y="63908"/>
                    <a:pt x="96666" y="68704"/>
                  </a:cubicBezTo>
                  <a:lnTo>
                    <a:pt x="96600" y="69818"/>
                  </a:lnTo>
                  <a:lnTo>
                    <a:pt x="96600" y="107918"/>
                  </a:lnTo>
                  <a:lnTo>
                    <a:pt x="96666" y="109033"/>
                  </a:lnTo>
                  <a:cubicBezTo>
                    <a:pt x="97236" y="113824"/>
                    <a:pt x="101299" y="117433"/>
                    <a:pt x="106125" y="117433"/>
                  </a:cubicBezTo>
                  <a:cubicBezTo>
                    <a:pt x="110950" y="117433"/>
                    <a:pt x="115013" y="113824"/>
                    <a:pt x="115583" y="109033"/>
                  </a:cubicBezTo>
                  <a:lnTo>
                    <a:pt x="115650" y="107918"/>
                  </a:lnTo>
                  <a:lnTo>
                    <a:pt x="115650" y="69818"/>
                  </a:lnTo>
                  <a:lnTo>
                    <a:pt x="115583" y="68704"/>
                  </a:lnTo>
                  <a:cubicBezTo>
                    <a:pt x="115018" y="63908"/>
                    <a:pt x="110954" y="60294"/>
                    <a:pt x="106125" y="60293"/>
                  </a:cubicBezTo>
                  <a:close/>
                </a:path>
              </a:pathLst>
            </a:custGeom>
            <a:solidFill>
              <a:srgbClr val="5F6368"/>
            </a:solidFill>
            <a:ln>
              <a:noFill/>
            </a:ln>
          </p:spPr>
          <p:txBody>
            <a:bodyPr/>
            <a:lstStyle/>
            <a:p>
              <a:endParaRPr lang="zh-CN" altLang="en-US"/>
            </a:p>
          </p:txBody>
        </p:sp>
        <p:sp>
          <p:nvSpPr>
            <p:cNvPr id="31" name="TextBox 31"/>
            <p:cNvSpPr txBox="1"/>
            <p:nvPr/>
          </p:nvSpPr>
          <p:spPr>
            <a:xfrm>
              <a:off x="1261110" y="3689985"/>
              <a:ext cx="2054733" cy="243840"/>
            </a:xfrm>
            <a:prstGeom prst="rect">
              <a:avLst/>
            </a:prstGeom>
            <a:noFill/>
            <a:ln>
              <a:noFill/>
            </a:ln>
          </p:spPr>
          <p:txBody>
            <a:bodyPr wrap="none" lIns="0" tIns="0" rIns="0" bIns="0" anchor="t" anchorCtr="0">
              <a:spAutoFit/>
            </a:bodyPr>
            <a:lstStyle/>
            <a:p>
              <a:pPr algn="l"/>
              <a:r>
                <a:rPr lang="zh-CN" sz="1200" b="1" dirty="0">
                  <a:solidFill>
                    <a:srgbClr val="5F6368"/>
                  </a:solidFill>
                  <a:latin typeface="Segoe UI"/>
                  <a:ea typeface="Microsoft YaHei"/>
                  <a:cs typeface="Segoe UI"/>
                </a:rPr>
                <a:t>Limited Modularization</a:t>
              </a:r>
            </a:p>
          </p:txBody>
        </p:sp>
        <p:sp>
          <p:nvSpPr>
            <p:cNvPr id="32" name="TextBox 32"/>
            <p:cNvSpPr txBox="1"/>
            <p:nvPr/>
          </p:nvSpPr>
          <p:spPr>
            <a:xfrm>
              <a:off x="748665" y="4001452"/>
              <a:ext cx="4657915"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All four phases in a single file. Increases coupling and reduces</a:t>
              </a:r>
            </a:p>
          </p:txBody>
        </p:sp>
        <p:sp>
          <p:nvSpPr>
            <p:cNvPr id="33" name="TextBox 33"/>
            <p:cNvSpPr txBox="1"/>
            <p:nvPr/>
          </p:nvSpPr>
          <p:spPr>
            <a:xfrm>
              <a:off x="748665" y="4191952"/>
              <a:ext cx="2948035"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maintainability as the codebase grows.</a:t>
              </a:r>
            </a:p>
          </p:txBody>
        </p:sp>
        <p:sp>
          <p:nvSpPr>
            <p:cNvPr id="34" name="TextBox 34"/>
            <p:cNvSpPr txBox="1"/>
            <p:nvPr/>
          </p:nvSpPr>
          <p:spPr>
            <a:xfrm>
              <a:off x="749618" y="4295299"/>
              <a:ext cx="314329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logic_compiler.py ≈ 990 lines, 4 major phases</a:t>
              </a:r>
            </a:p>
          </p:txBody>
        </p:sp>
      </p:grpSp>
      <p:grpSp>
        <p:nvGrpSpPr>
          <p:cNvPr id="44" name="Group 44"/>
          <p:cNvGrpSpPr/>
          <p:nvPr/>
        </p:nvGrpSpPr>
        <p:grpSpPr>
          <a:xfrm>
            <a:off x="6286500" y="1143000"/>
            <a:ext cx="5334000" cy="1123950"/>
            <a:chOff x="6286500" y="1143000"/>
            <a:chExt cx="5334000" cy="1123950"/>
          </a:xfrm>
        </p:grpSpPr>
        <p:sp>
          <p:nvSpPr>
            <p:cNvPr id="36" name="Rectangle 36"/>
            <p:cNvSpPr/>
            <p:nvPr/>
          </p:nvSpPr>
          <p:spPr>
            <a:xfrm>
              <a:off x="6286500" y="1143000"/>
              <a:ext cx="5334000" cy="1123950"/>
            </a:xfrm>
            <a:prstGeom prst="roundRect">
              <a:avLst>
                <a:gd name="adj" fmla="val 8475"/>
              </a:avLst>
            </a:prstGeom>
            <a:solidFill>
              <a:srgbClr val="FFFFFF"/>
            </a:solidFill>
            <a:ln w="9525">
              <a:solidFill>
                <a:srgbClr val="EA4335">
                  <a:alpha val="30000"/>
                </a:srgbClr>
              </a:solidFill>
            </a:ln>
          </p:spPr>
          <p:txBody>
            <a:bodyPr/>
            <a:lstStyle/>
            <a:p>
              <a:endParaRPr lang="zh-CN" altLang="en-US"/>
            </a:p>
          </p:txBody>
        </p:sp>
        <p:sp>
          <p:nvSpPr>
            <p:cNvPr id="37" name="Rectangle 37"/>
            <p:cNvSpPr/>
            <p:nvPr/>
          </p:nvSpPr>
          <p:spPr>
            <a:xfrm>
              <a:off x="6286500" y="1143000"/>
              <a:ext cx="38100" cy="1123950"/>
            </a:xfrm>
            <a:prstGeom prst="roundRect">
              <a:avLst>
                <a:gd name="adj" fmla="val 50000"/>
              </a:avLst>
            </a:prstGeom>
            <a:solidFill>
              <a:srgbClr val="9334E6"/>
            </a:solidFill>
            <a:ln>
              <a:noFill/>
            </a:ln>
          </p:spPr>
          <p:txBody>
            <a:bodyPr/>
            <a:lstStyle/>
            <a:p>
              <a:endParaRPr lang="zh-CN" altLang="en-US"/>
            </a:p>
          </p:txBody>
        </p:sp>
        <p:sp>
          <p:nvSpPr>
            <p:cNvPr id="38" name="Rectangle 38"/>
            <p:cNvSpPr/>
            <p:nvPr/>
          </p:nvSpPr>
          <p:spPr>
            <a:xfrm>
              <a:off x="6477000" y="1314450"/>
              <a:ext cx="381000" cy="381000"/>
            </a:xfrm>
            <a:prstGeom prst="roundRect">
              <a:avLst>
                <a:gd name="adj" fmla="val 20000"/>
              </a:avLst>
            </a:prstGeom>
            <a:solidFill>
              <a:srgbClr val="9334E6">
                <a:alpha val="12000"/>
              </a:srgbClr>
            </a:solidFill>
            <a:ln>
              <a:noFill/>
            </a:ln>
          </p:spPr>
          <p:txBody>
            <a:bodyPr/>
            <a:lstStyle/>
            <a:p>
              <a:endParaRPr lang="zh-CN" altLang="en-US"/>
            </a:p>
          </p:txBody>
        </p:sp>
        <p:sp>
          <p:nvSpPr>
            <p:cNvPr id="39" name="Freeform 39"/>
            <p:cNvSpPr/>
            <p:nvPr/>
          </p:nvSpPr>
          <p:spPr>
            <a:xfrm>
              <a:off x="6572250" y="1428750"/>
              <a:ext cx="190500" cy="161144"/>
            </a:xfrm>
            <a:custGeom>
              <a:avLst/>
              <a:gdLst/>
              <a:ahLst/>
              <a:cxnLst/>
              <a:rect l="l" t="t" r="r" b="b"/>
              <a:pathLst>
                <a:path w="190500" h="161144">
                  <a:moveTo>
                    <a:pt x="95250" y="0"/>
                  </a:moveTo>
                  <a:cubicBezTo>
                    <a:pt x="115552" y="0"/>
                    <a:pt x="132287" y="15919"/>
                    <a:pt x="133302" y="36195"/>
                  </a:cubicBezTo>
                  <a:lnTo>
                    <a:pt x="133350" y="38100"/>
                  </a:lnTo>
                  <a:cubicBezTo>
                    <a:pt x="134760" y="38099"/>
                    <a:pt x="136152" y="38412"/>
                    <a:pt x="137427" y="39014"/>
                  </a:cubicBezTo>
                  <a:lnTo>
                    <a:pt x="166316" y="20555"/>
                  </a:lnTo>
                  <a:cubicBezTo>
                    <a:pt x="169182" y="18627"/>
                    <a:pt x="172868" y="18402"/>
                    <a:pt x="175948" y="19967"/>
                  </a:cubicBezTo>
                  <a:cubicBezTo>
                    <a:pt x="179027" y="21532"/>
                    <a:pt x="181018" y="24642"/>
                    <a:pt x="181150" y="28094"/>
                  </a:cubicBezTo>
                  <a:cubicBezTo>
                    <a:pt x="181282" y="31546"/>
                    <a:pt x="179535" y="34799"/>
                    <a:pt x="176584" y="36595"/>
                  </a:cubicBezTo>
                  <a:lnTo>
                    <a:pt x="147866" y="54988"/>
                  </a:lnTo>
                  <a:cubicBezTo>
                    <a:pt x="150498" y="61772"/>
                    <a:pt x="152028" y="68933"/>
                    <a:pt x="152400" y="76200"/>
                  </a:cubicBezTo>
                  <a:lnTo>
                    <a:pt x="180975" y="76200"/>
                  </a:lnTo>
                  <a:cubicBezTo>
                    <a:pt x="186236" y="76200"/>
                    <a:pt x="190500" y="80465"/>
                    <a:pt x="190500" y="85725"/>
                  </a:cubicBezTo>
                  <a:cubicBezTo>
                    <a:pt x="190500" y="90986"/>
                    <a:pt x="186236" y="95250"/>
                    <a:pt x="180975" y="95250"/>
                  </a:cubicBezTo>
                  <a:lnTo>
                    <a:pt x="152400" y="95250"/>
                  </a:lnTo>
                  <a:lnTo>
                    <a:pt x="152400" y="104775"/>
                  </a:lnTo>
                  <a:cubicBezTo>
                    <a:pt x="152405" y="109676"/>
                    <a:pt x="151781" y="114558"/>
                    <a:pt x="150543" y="119301"/>
                  </a:cubicBezTo>
                  <a:lnTo>
                    <a:pt x="176336" y="134693"/>
                  </a:lnTo>
                  <a:cubicBezTo>
                    <a:pt x="180855" y="137392"/>
                    <a:pt x="182331" y="143243"/>
                    <a:pt x="179632" y="147761"/>
                  </a:cubicBezTo>
                  <a:cubicBezTo>
                    <a:pt x="176933" y="152280"/>
                    <a:pt x="171082" y="153756"/>
                    <a:pt x="166564" y="151057"/>
                  </a:cubicBezTo>
                  <a:lnTo>
                    <a:pt x="142618" y="136760"/>
                  </a:lnTo>
                  <a:cubicBezTo>
                    <a:pt x="133869" y="149722"/>
                    <a:pt x="120193" y="158534"/>
                    <a:pt x="104775" y="161144"/>
                  </a:cubicBezTo>
                  <a:lnTo>
                    <a:pt x="104775" y="104775"/>
                  </a:lnTo>
                  <a:cubicBezTo>
                    <a:pt x="104775" y="99515"/>
                    <a:pt x="100511" y="95250"/>
                    <a:pt x="95250" y="95250"/>
                  </a:cubicBezTo>
                  <a:cubicBezTo>
                    <a:pt x="89989" y="95250"/>
                    <a:pt x="85725" y="99515"/>
                    <a:pt x="85725" y="104775"/>
                  </a:cubicBezTo>
                  <a:lnTo>
                    <a:pt x="85725" y="161134"/>
                  </a:lnTo>
                  <a:cubicBezTo>
                    <a:pt x="70307" y="158524"/>
                    <a:pt x="56631" y="149712"/>
                    <a:pt x="47882" y="136750"/>
                  </a:cubicBezTo>
                  <a:lnTo>
                    <a:pt x="23936" y="151067"/>
                  </a:lnTo>
                  <a:cubicBezTo>
                    <a:pt x="19418" y="153765"/>
                    <a:pt x="13567" y="152290"/>
                    <a:pt x="10868" y="147771"/>
                  </a:cubicBezTo>
                  <a:cubicBezTo>
                    <a:pt x="8169" y="143252"/>
                    <a:pt x="9645" y="137401"/>
                    <a:pt x="14164" y="134703"/>
                  </a:cubicBezTo>
                  <a:lnTo>
                    <a:pt x="39957" y="119310"/>
                  </a:lnTo>
                  <a:cubicBezTo>
                    <a:pt x="38718" y="114565"/>
                    <a:pt x="38094" y="109680"/>
                    <a:pt x="38100" y="104775"/>
                  </a:cubicBezTo>
                  <a:lnTo>
                    <a:pt x="38100" y="95250"/>
                  </a:lnTo>
                  <a:lnTo>
                    <a:pt x="9525" y="95250"/>
                  </a:lnTo>
                  <a:cubicBezTo>
                    <a:pt x="4264" y="95250"/>
                    <a:pt x="0" y="90986"/>
                    <a:pt x="0" y="85725"/>
                  </a:cubicBezTo>
                  <a:cubicBezTo>
                    <a:pt x="0" y="80465"/>
                    <a:pt x="4264" y="76200"/>
                    <a:pt x="9525" y="76200"/>
                  </a:cubicBezTo>
                  <a:lnTo>
                    <a:pt x="38110" y="76200"/>
                  </a:lnTo>
                  <a:lnTo>
                    <a:pt x="38110" y="75676"/>
                  </a:lnTo>
                  <a:cubicBezTo>
                    <a:pt x="38502" y="68580"/>
                    <a:pt x="40026" y="61593"/>
                    <a:pt x="42624" y="54978"/>
                  </a:cubicBezTo>
                  <a:lnTo>
                    <a:pt x="13916" y="36595"/>
                  </a:lnTo>
                  <a:cubicBezTo>
                    <a:pt x="10965" y="34799"/>
                    <a:pt x="9218" y="31546"/>
                    <a:pt x="9350" y="28094"/>
                  </a:cubicBezTo>
                  <a:cubicBezTo>
                    <a:pt x="9482" y="24642"/>
                    <a:pt x="11473" y="21532"/>
                    <a:pt x="14552" y="19967"/>
                  </a:cubicBezTo>
                  <a:cubicBezTo>
                    <a:pt x="17632" y="18402"/>
                    <a:pt x="21318" y="18627"/>
                    <a:pt x="24184" y="20555"/>
                  </a:cubicBezTo>
                  <a:lnTo>
                    <a:pt x="53064" y="39024"/>
                  </a:lnTo>
                  <a:lnTo>
                    <a:pt x="53292" y="38910"/>
                  </a:lnTo>
                  <a:lnTo>
                    <a:pt x="53940" y="38652"/>
                  </a:lnTo>
                  <a:lnTo>
                    <a:pt x="54121" y="38605"/>
                  </a:lnTo>
                  <a:lnTo>
                    <a:pt x="54273" y="38548"/>
                  </a:lnTo>
                  <a:lnTo>
                    <a:pt x="54578" y="38471"/>
                  </a:lnTo>
                  <a:lnTo>
                    <a:pt x="54959" y="38348"/>
                  </a:lnTo>
                  <a:lnTo>
                    <a:pt x="55283" y="38281"/>
                  </a:lnTo>
                  <a:lnTo>
                    <a:pt x="55607" y="38243"/>
                  </a:lnTo>
                  <a:lnTo>
                    <a:pt x="56036" y="38167"/>
                  </a:lnTo>
                  <a:lnTo>
                    <a:pt x="56178" y="38157"/>
                  </a:lnTo>
                  <a:lnTo>
                    <a:pt x="56321" y="38138"/>
                  </a:lnTo>
                  <a:lnTo>
                    <a:pt x="57150" y="38100"/>
                  </a:lnTo>
                  <a:cubicBezTo>
                    <a:pt x="57150" y="17058"/>
                    <a:pt x="74208" y="0"/>
                    <a:pt x="95250" y="0"/>
                  </a:cubicBezTo>
                  <a:close/>
                  <a:moveTo>
                    <a:pt x="95250" y="19050"/>
                  </a:moveTo>
                  <a:cubicBezTo>
                    <a:pt x="84729" y="19050"/>
                    <a:pt x="76200" y="27579"/>
                    <a:pt x="76200" y="38100"/>
                  </a:cubicBezTo>
                  <a:lnTo>
                    <a:pt x="114300" y="38100"/>
                  </a:lnTo>
                  <a:cubicBezTo>
                    <a:pt x="114300" y="27579"/>
                    <a:pt x="105771" y="19050"/>
                    <a:pt x="95250" y="19050"/>
                  </a:cubicBezTo>
                  <a:close/>
                </a:path>
              </a:pathLst>
            </a:custGeom>
            <a:solidFill>
              <a:srgbClr val="9334E6"/>
            </a:solidFill>
            <a:ln>
              <a:noFill/>
            </a:ln>
          </p:spPr>
          <p:txBody>
            <a:bodyPr/>
            <a:lstStyle/>
            <a:p>
              <a:endParaRPr lang="zh-CN" altLang="en-US"/>
            </a:p>
          </p:txBody>
        </p:sp>
        <p:sp>
          <p:nvSpPr>
            <p:cNvPr id="40" name="TextBox 40"/>
            <p:cNvSpPr txBox="1"/>
            <p:nvPr/>
          </p:nvSpPr>
          <p:spPr>
            <a:xfrm>
              <a:off x="6976110" y="1346835"/>
              <a:ext cx="2643607" cy="243840"/>
            </a:xfrm>
            <a:prstGeom prst="rect">
              <a:avLst/>
            </a:prstGeom>
            <a:noFill/>
            <a:ln>
              <a:noFill/>
            </a:ln>
          </p:spPr>
          <p:txBody>
            <a:bodyPr wrap="none" lIns="0" tIns="0" rIns="0" bIns="0" anchor="t" anchorCtr="0">
              <a:spAutoFit/>
            </a:bodyPr>
            <a:lstStyle/>
            <a:p>
              <a:pPr algn="l"/>
              <a:r>
                <a:rPr lang="zh-CN" sz="1200" b="1" dirty="0">
                  <a:solidFill>
                    <a:srgbClr val="9334E6"/>
                  </a:solidFill>
                  <a:latin typeface="Segoe UI"/>
                  <a:ea typeface="Microsoft YaHei"/>
                  <a:cs typeface="Segoe UI"/>
                </a:rPr>
                <a:t>Exponential Verification Cost</a:t>
              </a:r>
            </a:p>
          </p:txBody>
        </p:sp>
        <p:sp>
          <p:nvSpPr>
            <p:cNvPr id="41" name="TextBox 41"/>
            <p:cNvSpPr txBox="1"/>
            <p:nvPr/>
          </p:nvSpPr>
          <p:spPr>
            <a:xfrm>
              <a:off x="6463665" y="1715452"/>
              <a:ext cx="464258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Truth-table enumeration is O(2ⁿ) in the number of variables.</a:t>
              </a:r>
            </a:p>
          </p:txBody>
        </p:sp>
        <p:sp>
          <p:nvSpPr>
            <p:cNvPr id="42" name="TextBox 42"/>
            <p:cNvSpPr txBox="1"/>
            <p:nvPr/>
          </p:nvSpPr>
          <p:spPr>
            <a:xfrm>
              <a:off x="6463665" y="1905952"/>
              <a:ext cx="4236196"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Infeasible for expressions with many distinct variables.</a:t>
              </a:r>
            </a:p>
          </p:txBody>
        </p:sp>
        <p:sp>
          <p:nvSpPr>
            <p:cNvPr id="43" name="TextBox 43"/>
            <p:cNvSpPr txBox="1"/>
            <p:nvPr/>
          </p:nvSpPr>
          <p:spPr>
            <a:xfrm>
              <a:off x="6464618" y="2066449"/>
              <a:ext cx="2865620"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n=10 → 1,024 rows | n=20 → 1,048,576 rows</a:t>
              </a:r>
            </a:p>
          </p:txBody>
        </p:sp>
      </p:grpSp>
      <p:grpSp>
        <p:nvGrpSpPr>
          <p:cNvPr id="53" name="Group 53"/>
          <p:cNvGrpSpPr/>
          <p:nvPr/>
        </p:nvGrpSpPr>
        <p:grpSpPr>
          <a:xfrm>
            <a:off x="6286500" y="2400300"/>
            <a:ext cx="5334000" cy="1007269"/>
            <a:chOff x="6286500" y="2400300"/>
            <a:chExt cx="5334000" cy="1007269"/>
          </a:xfrm>
        </p:grpSpPr>
        <p:sp>
          <p:nvSpPr>
            <p:cNvPr id="45" name="Rectangle 45"/>
            <p:cNvSpPr/>
            <p:nvPr/>
          </p:nvSpPr>
          <p:spPr>
            <a:xfrm>
              <a:off x="6286500" y="2400300"/>
              <a:ext cx="5334000" cy="990600"/>
            </a:xfrm>
            <a:prstGeom prst="roundRect">
              <a:avLst>
                <a:gd name="adj" fmla="val 9615"/>
              </a:avLst>
            </a:prstGeom>
            <a:solidFill>
              <a:srgbClr val="FFFFFF"/>
            </a:solidFill>
            <a:ln w="9525">
              <a:solidFill>
                <a:srgbClr val="EA4335">
                  <a:alpha val="30000"/>
                </a:srgbClr>
              </a:solidFill>
            </a:ln>
          </p:spPr>
          <p:txBody>
            <a:bodyPr/>
            <a:lstStyle/>
            <a:p>
              <a:endParaRPr lang="zh-CN" altLang="en-US"/>
            </a:p>
          </p:txBody>
        </p:sp>
        <p:sp>
          <p:nvSpPr>
            <p:cNvPr id="46" name="Rectangle 46"/>
            <p:cNvSpPr/>
            <p:nvPr/>
          </p:nvSpPr>
          <p:spPr>
            <a:xfrm>
              <a:off x="6286500" y="2400300"/>
              <a:ext cx="38100" cy="990600"/>
            </a:xfrm>
            <a:prstGeom prst="roundRect">
              <a:avLst>
                <a:gd name="adj" fmla="val 50000"/>
              </a:avLst>
            </a:prstGeom>
            <a:solidFill>
              <a:srgbClr val="9334E6"/>
            </a:solidFill>
            <a:ln>
              <a:noFill/>
            </a:ln>
          </p:spPr>
          <p:txBody>
            <a:bodyPr/>
            <a:lstStyle/>
            <a:p>
              <a:endParaRPr lang="zh-CN" altLang="en-US"/>
            </a:p>
          </p:txBody>
        </p:sp>
        <p:sp>
          <p:nvSpPr>
            <p:cNvPr id="47" name="Rectangle 47"/>
            <p:cNvSpPr/>
            <p:nvPr/>
          </p:nvSpPr>
          <p:spPr>
            <a:xfrm>
              <a:off x="6477000" y="2533650"/>
              <a:ext cx="381000" cy="381000"/>
            </a:xfrm>
            <a:prstGeom prst="roundRect">
              <a:avLst>
                <a:gd name="adj" fmla="val 20000"/>
              </a:avLst>
            </a:prstGeom>
            <a:solidFill>
              <a:srgbClr val="9334E6">
                <a:alpha val="12000"/>
              </a:srgbClr>
            </a:solidFill>
            <a:ln>
              <a:noFill/>
            </a:ln>
          </p:spPr>
          <p:txBody>
            <a:bodyPr/>
            <a:lstStyle/>
            <a:p>
              <a:endParaRPr lang="zh-CN" altLang="en-US"/>
            </a:p>
          </p:txBody>
        </p:sp>
        <p:sp>
          <p:nvSpPr>
            <p:cNvPr id="48" name="Freeform 48"/>
            <p:cNvSpPr/>
            <p:nvPr/>
          </p:nvSpPr>
          <p:spPr>
            <a:xfrm>
              <a:off x="6572250" y="2647950"/>
              <a:ext cx="190500" cy="161144"/>
            </a:xfrm>
            <a:custGeom>
              <a:avLst/>
              <a:gdLst/>
              <a:ahLst/>
              <a:cxnLst/>
              <a:rect l="l" t="t" r="r" b="b"/>
              <a:pathLst>
                <a:path w="190500" h="161144">
                  <a:moveTo>
                    <a:pt x="95250" y="0"/>
                  </a:moveTo>
                  <a:cubicBezTo>
                    <a:pt x="115552" y="0"/>
                    <a:pt x="132287" y="15919"/>
                    <a:pt x="133302" y="36195"/>
                  </a:cubicBezTo>
                  <a:lnTo>
                    <a:pt x="133350" y="38100"/>
                  </a:lnTo>
                  <a:cubicBezTo>
                    <a:pt x="134760" y="38099"/>
                    <a:pt x="136152" y="38412"/>
                    <a:pt x="137427" y="39014"/>
                  </a:cubicBezTo>
                  <a:lnTo>
                    <a:pt x="166316" y="20555"/>
                  </a:lnTo>
                  <a:cubicBezTo>
                    <a:pt x="169182" y="18627"/>
                    <a:pt x="172868" y="18402"/>
                    <a:pt x="175948" y="19967"/>
                  </a:cubicBezTo>
                  <a:cubicBezTo>
                    <a:pt x="179027" y="21532"/>
                    <a:pt x="181018" y="24642"/>
                    <a:pt x="181150" y="28094"/>
                  </a:cubicBezTo>
                  <a:cubicBezTo>
                    <a:pt x="181282" y="31546"/>
                    <a:pt x="179535" y="34799"/>
                    <a:pt x="176584" y="36595"/>
                  </a:cubicBezTo>
                  <a:lnTo>
                    <a:pt x="147866" y="54988"/>
                  </a:lnTo>
                  <a:cubicBezTo>
                    <a:pt x="150498" y="61772"/>
                    <a:pt x="152028" y="68933"/>
                    <a:pt x="152400" y="76200"/>
                  </a:cubicBezTo>
                  <a:lnTo>
                    <a:pt x="180975" y="76200"/>
                  </a:lnTo>
                  <a:cubicBezTo>
                    <a:pt x="186236" y="76200"/>
                    <a:pt x="190500" y="80465"/>
                    <a:pt x="190500" y="85725"/>
                  </a:cubicBezTo>
                  <a:cubicBezTo>
                    <a:pt x="190500" y="90986"/>
                    <a:pt x="186236" y="95250"/>
                    <a:pt x="180975" y="95250"/>
                  </a:cubicBezTo>
                  <a:lnTo>
                    <a:pt x="152400" y="95250"/>
                  </a:lnTo>
                  <a:lnTo>
                    <a:pt x="152400" y="104775"/>
                  </a:lnTo>
                  <a:cubicBezTo>
                    <a:pt x="152405" y="109676"/>
                    <a:pt x="151781" y="114558"/>
                    <a:pt x="150543" y="119301"/>
                  </a:cubicBezTo>
                  <a:lnTo>
                    <a:pt x="176336" y="134693"/>
                  </a:lnTo>
                  <a:cubicBezTo>
                    <a:pt x="180855" y="137392"/>
                    <a:pt x="182331" y="143243"/>
                    <a:pt x="179632" y="147761"/>
                  </a:cubicBezTo>
                  <a:cubicBezTo>
                    <a:pt x="176933" y="152280"/>
                    <a:pt x="171082" y="153756"/>
                    <a:pt x="166564" y="151057"/>
                  </a:cubicBezTo>
                  <a:lnTo>
                    <a:pt x="142618" y="136760"/>
                  </a:lnTo>
                  <a:cubicBezTo>
                    <a:pt x="133869" y="149722"/>
                    <a:pt x="120193" y="158534"/>
                    <a:pt x="104775" y="161144"/>
                  </a:cubicBezTo>
                  <a:lnTo>
                    <a:pt x="104775" y="104775"/>
                  </a:lnTo>
                  <a:cubicBezTo>
                    <a:pt x="104775" y="99515"/>
                    <a:pt x="100511" y="95250"/>
                    <a:pt x="95250" y="95250"/>
                  </a:cubicBezTo>
                  <a:cubicBezTo>
                    <a:pt x="89989" y="95250"/>
                    <a:pt x="85725" y="99515"/>
                    <a:pt x="85725" y="104775"/>
                  </a:cubicBezTo>
                  <a:lnTo>
                    <a:pt x="85725" y="161134"/>
                  </a:lnTo>
                  <a:cubicBezTo>
                    <a:pt x="70307" y="158524"/>
                    <a:pt x="56631" y="149712"/>
                    <a:pt x="47882" y="136750"/>
                  </a:cubicBezTo>
                  <a:lnTo>
                    <a:pt x="23936" y="151067"/>
                  </a:lnTo>
                  <a:cubicBezTo>
                    <a:pt x="19418" y="153765"/>
                    <a:pt x="13567" y="152290"/>
                    <a:pt x="10868" y="147771"/>
                  </a:cubicBezTo>
                  <a:cubicBezTo>
                    <a:pt x="8169" y="143252"/>
                    <a:pt x="9645" y="137401"/>
                    <a:pt x="14164" y="134703"/>
                  </a:cubicBezTo>
                  <a:lnTo>
                    <a:pt x="39957" y="119310"/>
                  </a:lnTo>
                  <a:cubicBezTo>
                    <a:pt x="38718" y="114565"/>
                    <a:pt x="38094" y="109680"/>
                    <a:pt x="38100" y="104775"/>
                  </a:cubicBezTo>
                  <a:lnTo>
                    <a:pt x="38100" y="95250"/>
                  </a:lnTo>
                  <a:lnTo>
                    <a:pt x="9525" y="95250"/>
                  </a:lnTo>
                  <a:cubicBezTo>
                    <a:pt x="4264" y="95250"/>
                    <a:pt x="0" y="90986"/>
                    <a:pt x="0" y="85725"/>
                  </a:cubicBezTo>
                  <a:cubicBezTo>
                    <a:pt x="0" y="80465"/>
                    <a:pt x="4264" y="76200"/>
                    <a:pt x="9525" y="76200"/>
                  </a:cubicBezTo>
                  <a:lnTo>
                    <a:pt x="38110" y="76200"/>
                  </a:lnTo>
                  <a:lnTo>
                    <a:pt x="38110" y="75676"/>
                  </a:lnTo>
                  <a:cubicBezTo>
                    <a:pt x="38502" y="68580"/>
                    <a:pt x="40026" y="61593"/>
                    <a:pt x="42624" y="54978"/>
                  </a:cubicBezTo>
                  <a:lnTo>
                    <a:pt x="13916" y="36595"/>
                  </a:lnTo>
                  <a:cubicBezTo>
                    <a:pt x="10965" y="34799"/>
                    <a:pt x="9218" y="31546"/>
                    <a:pt x="9350" y="28094"/>
                  </a:cubicBezTo>
                  <a:cubicBezTo>
                    <a:pt x="9482" y="24642"/>
                    <a:pt x="11473" y="21532"/>
                    <a:pt x="14552" y="19967"/>
                  </a:cubicBezTo>
                  <a:cubicBezTo>
                    <a:pt x="17632" y="18402"/>
                    <a:pt x="21318" y="18627"/>
                    <a:pt x="24184" y="20555"/>
                  </a:cubicBezTo>
                  <a:lnTo>
                    <a:pt x="53064" y="39024"/>
                  </a:lnTo>
                  <a:lnTo>
                    <a:pt x="53292" y="38910"/>
                  </a:lnTo>
                  <a:lnTo>
                    <a:pt x="53940" y="38652"/>
                  </a:lnTo>
                  <a:lnTo>
                    <a:pt x="54121" y="38605"/>
                  </a:lnTo>
                  <a:lnTo>
                    <a:pt x="54273" y="38548"/>
                  </a:lnTo>
                  <a:lnTo>
                    <a:pt x="54578" y="38471"/>
                  </a:lnTo>
                  <a:lnTo>
                    <a:pt x="54959" y="38348"/>
                  </a:lnTo>
                  <a:lnTo>
                    <a:pt x="55283" y="38281"/>
                  </a:lnTo>
                  <a:lnTo>
                    <a:pt x="55607" y="38243"/>
                  </a:lnTo>
                  <a:lnTo>
                    <a:pt x="56036" y="38167"/>
                  </a:lnTo>
                  <a:lnTo>
                    <a:pt x="56178" y="38157"/>
                  </a:lnTo>
                  <a:lnTo>
                    <a:pt x="56321" y="38138"/>
                  </a:lnTo>
                  <a:lnTo>
                    <a:pt x="57150" y="38100"/>
                  </a:lnTo>
                  <a:cubicBezTo>
                    <a:pt x="57150" y="17058"/>
                    <a:pt x="74208" y="0"/>
                    <a:pt x="95250" y="0"/>
                  </a:cubicBezTo>
                  <a:close/>
                  <a:moveTo>
                    <a:pt x="95250" y="19050"/>
                  </a:moveTo>
                  <a:cubicBezTo>
                    <a:pt x="84729" y="19050"/>
                    <a:pt x="76200" y="27579"/>
                    <a:pt x="76200" y="38100"/>
                  </a:cubicBezTo>
                  <a:lnTo>
                    <a:pt x="114300" y="38100"/>
                  </a:lnTo>
                  <a:cubicBezTo>
                    <a:pt x="114300" y="27579"/>
                    <a:pt x="105771" y="19050"/>
                    <a:pt x="95250" y="19050"/>
                  </a:cubicBezTo>
                  <a:close/>
                </a:path>
              </a:pathLst>
            </a:custGeom>
            <a:solidFill>
              <a:srgbClr val="9334E6"/>
            </a:solidFill>
            <a:ln>
              <a:noFill/>
            </a:ln>
          </p:spPr>
          <p:txBody>
            <a:bodyPr/>
            <a:lstStyle/>
            <a:p>
              <a:endParaRPr lang="zh-CN" altLang="en-US"/>
            </a:p>
          </p:txBody>
        </p:sp>
        <p:sp>
          <p:nvSpPr>
            <p:cNvPr id="49" name="TextBox 49"/>
            <p:cNvSpPr txBox="1"/>
            <p:nvPr/>
          </p:nvSpPr>
          <p:spPr>
            <a:xfrm>
              <a:off x="6976110" y="2566035"/>
              <a:ext cx="2616003" cy="243840"/>
            </a:xfrm>
            <a:prstGeom prst="rect">
              <a:avLst/>
            </a:prstGeom>
            <a:noFill/>
            <a:ln>
              <a:noFill/>
            </a:ln>
          </p:spPr>
          <p:txBody>
            <a:bodyPr wrap="none" lIns="0" tIns="0" rIns="0" bIns="0" anchor="t" anchorCtr="0">
              <a:spAutoFit/>
            </a:bodyPr>
            <a:lstStyle/>
            <a:p>
              <a:pPr algn="l"/>
              <a:r>
                <a:rPr lang="zh-CN" sz="1200" b="1" dirty="0">
                  <a:solidFill>
                    <a:srgbClr val="9334E6"/>
                  </a:solidFill>
                  <a:latin typeface="Segoe UI"/>
                  <a:ea typeface="Microsoft YaHei"/>
                  <a:cs typeface="Segoe UI"/>
                </a:rPr>
                <a:t>Limited Error Message Detail</a:t>
              </a:r>
            </a:p>
          </p:txBody>
        </p:sp>
        <p:sp>
          <p:nvSpPr>
            <p:cNvPr id="50" name="TextBox 50"/>
            <p:cNvSpPr txBox="1"/>
            <p:nvPr/>
          </p:nvSpPr>
          <p:spPr>
            <a:xfrm>
              <a:off x="6463665" y="2877502"/>
              <a:ext cx="4458557"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Error output contains phase + line number only. No "did you</a:t>
              </a:r>
            </a:p>
          </p:txBody>
        </p:sp>
        <p:sp>
          <p:nvSpPr>
            <p:cNvPr id="51" name="TextBox 51"/>
            <p:cNvSpPr txBox="1"/>
            <p:nvPr/>
          </p:nvSpPr>
          <p:spPr>
            <a:xfrm>
              <a:off x="6463665" y="3068002"/>
              <a:ext cx="4481560" cy="213360"/>
            </a:xfrm>
            <a:prstGeom prst="rect">
              <a:avLst/>
            </a:prstGeom>
            <a:noFill/>
            <a:ln>
              <a:noFill/>
            </a:ln>
          </p:spPr>
          <p:txBody>
            <a:bodyPr wrap="none" lIns="0" tIns="0" rIns="0" bIns="0" anchor="t" anchorCtr="0">
              <a:spAutoFit/>
            </a:bodyPr>
            <a:lstStyle/>
            <a:p>
              <a:pPr algn="l"/>
              <a:r>
                <a:rPr lang="zh-CN" sz="1050" dirty="0">
                  <a:solidFill>
                    <a:srgbClr val="202124"/>
                  </a:solidFill>
                  <a:latin typeface="Segoe UI"/>
                  <a:ea typeface="Microsoft YaHei"/>
                  <a:cs typeface="Segoe UI"/>
                </a:rPr>
                <a:t>mean?", no multi-error collection, no token-level context.</a:t>
              </a:r>
            </a:p>
          </p:txBody>
        </p:sp>
        <p:sp>
          <p:nvSpPr>
            <p:cNvPr id="52" name="TextBox 52"/>
            <p:cNvSpPr txBox="1"/>
            <p:nvPr/>
          </p:nvSpPr>
          <p:spPr>
            <a:xfrm>
              <a:off x="6464618" y="3209449"/>
              <a:ext cx="267338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Consolas"/>
                  <a:ea typeface="Microsoft YaHei"/>
                  <a:cs typeface="Consolas"/>
                </a:rPr>
                <a:t>{"phase": "phase_1_lexer", "line": 3}</a:t>
              </a:r>
            </a:p>
          </p:txBody>
        </p:sp>
      </p:grpSp>
      <p:grpSp>
        <p:nvGrpSpPr>
          <p:cNvPr id="57" name="Group 57"/>
          <p:cNvGrpSpPr/>
          <p:nvPr/>
        </p:nvGrpSpPr>
        <p:grpSpPr>
          <a:xfrm>
            <a:off x="571500" y="4667250"/>
            <a:ext cx="11049000" cy="571500"/>
            <a:chOff x="571500" y="4667250"/>
            <a:chExt cx="11049000" cy="571500"/>
          </a:xfrm>
        </p:grpSpPr>
        <p:sp>
          <p:nvSpPr>
            <p:cNvPr id="54" name="Rectangle 54"/>
            <p:cNvSpPr/>
            <p:nvPr/>
          </p:nvSpPr>
          <p:spPr>
            <a:xfrm>
              <a:off x="571500" y="4667250"/>
              <a:ext cx="11049000" cy="571500"/>
            </a:xfrm>
            <a:prstGeom prst="roundRect">
              <a:avLst>
                <a:gd name="adj" fmla="val 16667"/>
              </a:avLst>
            </a:prstGeom>
            <a:solidFill>
              <a:srgbClr val="FFFFFF"/>
            </a:solidFill>
            <a:ln w="9525">
              <a:solidFill>
                <a:srgbClr val="DADCE0"/>
              </a:solidFill>
            </a:ln>
          </p:spPr>
          <p:txBody>
            <a:bodyPr/>
            <a:lstStyle/>
            <a:p>
              <a:endParaRPr lang="zh-CN" altLang="en-US"/>
            </a:p>
          </p:txBody>
        </p:sp>
        <p:sp>
          <p:nvSpPr>
            <p:cNvPr id="55" name="TextBox 55"/>
            <p:cNvSpPr txBox="1"/>
            <p:nvPr/>
          </p:nvSpPr>
          <p:spPr>
            <a:xfrm>
              <a:off x="3896817" y="4801552"/>
              <a:ext cx="4398366" cy="213360"/>
            </a:xfrm>
            <a:prstGeom prst="rect">
              <a:avLst/>
            </a:prstGeom>
            <a:noFill/>
            <a:ln>
              <a:noFill/>
            </a:ln>
          </p:spPr>
          <p:txBody>
            <a:bodyPr wrap="none" lIns="0" tIns="0" rIns="0" bIns="0" anchor="t" anchorCtr="0">
              <a:spAutoFit/>
            </a:bodyPr>
            <a:lstStyle/>
            <a:p>
              <a:pPr algn="ctr"/>
              <a:r>
                <a:rPr lang="zh-CN" sz="1050" b="1" dirty="0">
                  <a:solidFill>
                    <a:srgbClr val="202124"/>
                  </a:solidFill>
                  <a:latin typeface="Segoe UI"/>
                  <a:ea typeface="Microsoft YaHei"/>
                  <a:cs typeface="Segoe UI"/>
                </a:rPr>
                <a:t>These limitations are expected within the project scope</a:t>
              </a:r>
            </a:p>
          </p:txBody>
        </p:sp>
        <p:sp>
          <p:nvSpPr>
            <p:cNvPr id="56" name="TextBox 56"/>
            <p:cNvSpPr txBox="1"/>
            <p:nvPr/>
          </p:nvSpPr>
          <p:spPr>
            <a:xfrm>
              <a:off x="2779967" y="5019199"/>
              <a:ext cx="6632067" cy="198120"/>
            </a:xfrm>
            <a:prstGeom prst="rect">
              <a:avLst/>
            </a:prstGeom>
            <a:noFill/>
            <a:ln>
              <a:noFill/>
            </a:ln>
          </p:spPr>
          <p:txBody>
            <a:bodyPr wrap="none" lIns="0" tIns="0" rIns="0" bIns="0" anchor="t" anchorCtr="0">
              <a:spAutoFit/>
            </a:bodyPr>
            <a:lstStyle/>
            <a:p>
              <a:pPr algn="ctr"/>
              <a:r>
                <a:rPr lang="zh-CN" sz="975" dirty="0">
                  <a:solidFill>
                    <a:srgbClr val="5F6368"/>
                  </a:solidFill>
                  <a:latin typeface="Segoe UI"/>
                  <a:ea typeface="Microsoft YaHei"/>
                  <a:cs typeface="Segoe UI"/>
                </a:rPr>
                <a:t>The compiler successfully implements all required pipeline phases and passes the full test suite</a:t>
              </a:r>
            </a:p>
          </p:txBody>
        </p:sp>
      </p:grpSp>
      <p:grpSp>
        <p:nvGrpSpPr>
          <p:cNvPr id="61" name="Group 61"/>
          <p:cNvGrpSpPr/>
          <p:nvPr/>
        </p:nvGrpSpPr>
        <p:grpSpPr>
          <a:xfrm>
            <a:off x="561022" y="6572250"/>
            <a:ext cx="11069956" cy="269081"/>
            <a:chOff x="561022" y="6572250"/>
            <a:chExt cx="11069956" cy="269081"/>
          </a:xfrm>
        </p:grpSpPr>
        <p:sp>
          <p:nvSpPr>
            <p:cNvPr id="58" name="Rectangle 58"/>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59" name="TextBox 59"/>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60" name="TextBox 60"/>
            <p:cNvSpPr txBox="1"/>
            <p:nvPr/>
          </p:nvSpPr>
          <p:spPr>
            <a:xfrm>
              <a:off x="11507605" y="667369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13</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fade">
                                      <p:cBhvr>
                                        <p:cTn id="19" dur="500"/>
                                        <p:tgtEl>
                                          <p:spTgt spid="44"/>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fade">
                                      <p:cBhvr>
                                        <p:cTn id="23" dur="500"/>
                                        <p:tgtEl>
                                          <p:spTgt spid="53"/>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6" grpId="0"/>
      <p:bldP spid="35" grpId="0"/>
      <p:bldP spid="44" grpId="0"/>
      <p:bldP spid="53" grpId="0"/>
      <p:bldP spid="5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grpSp>
        <p:nvGrpSpPr>
          <p:cNvPr id="8" name="Group 8"/>
          <p:cNvGrpSpPr/>
          <p:nvPr/>
        </p:nvGrpSpPr>
        <p:grpSpPr>
          <a:xfrm>
            <a:off x="571500" y="379095"/>
            <a:ext cx="6434970" cy="632936"/>
            <a:chOff x="571500" y="379095"/>
            <a:chExt cx="6434970" cy="632936"/>
          </a:xfrm>
        </p:grpSpPr>
        <p:sp>
          <p:nvSpPr>
            <p:cNvPr id="5" name="Rectangle 5"/>
            <p:cNvSpPr/>
            <p:nvPr/>
          </p:nvSpPr>
          <p:spPr>
            <a:xfrm>
              <a:off x="571500" y="381000"/>
              <a:ext cx="47625" cy="342900"/>
            </a:xfrm>
            <a:prstGeom prst="roundRect">
              <a:avLst>
                <a:gd name="adj" fmla="val 40000"/>
              </a:avLst>
            </a:prstGeom>
            <a:solidFill>
              <a:srgbClr val="4285F4"/>
            </a:solidFill>
            <a:ln>
              <a:noFill/>
            </a:ln>
          </p:spPr>
          <p:txBody>
            <a:bodyPr/>
            <a:lstStyle/>
            <a:p>
              <a:endParaRPr lang="zh-CN" altLang="en-US"/>
            </a:p>
          </p:txBody>
        </p:sp>
        <p:sp>
          <p:nvSpPr>
            <p:cNvPr id="6" name="TextBox 6"/>
            <p:cNvSpPr txBox="1"/>
            <p:nvPr/>
          </p:nvSpPr>
          <p:spPr>
            <a:xfrm>
              <a:off x="693420" y="379095"/>
              <a:ext cx="2269236" cy="487680"/>
            </a:xfrm>
            <a:prstGeom prst="rect">
              <a:avLst/>
            </a:prstGeom>
            <a:noFill/>
            <a:ln>
              <a:noFill/>
            </a:ln>
          </p:spPr>
          <p:txBody>
            <a:bodyPr wrap="none" lIns="0" tIns="0" rIns="0" bIns="0" anchor="t" anchorCtr="0">
              <a:spAutoFit/>
            </a:bodyPr>
            <a:lstStyle/>
            <a:p>
              <a:pPr algn="l"/>
              <a:r>
                <a:rPr lang="zh-CN" sz="2400" b="1" dirty="0">
                  <a:solidFill>
                    <a:srgbClr val="202124"/>
                  </a:solidFill>
                  <a:latin typeface="Segoe UI"/>
                  <a:ea typeface="Microsoft YaHei"/>
                  <a:cs typeface="Segoe UI"/>
                </a:rPr>
                <a:t>Future Work</a:t>
              </a:r>
            </a:p>
          </p:txBody>
        </p:sp>
        <p:sp>
          <p:nvSpPr>
            <p:cNvPr id="7" name="TextBox 7"/>
            <p:cNvSpPr txBox="1"/>
            <p:nvPr/>
          </p:nvSpPr>
          <p:spPr>
            <a:xfrm>
              <a:off x="709612" y="783431"/>
              <a:ext cx="6296858" cy="228600"/>
            </a:xfrm>
            <a:prstGeom prst="rect">
              <a:avLst/>
            </a:prstGeom>
            <a:noFill/>
            <a:ln>
              <a:noFill/>
            </a:ln>
          </p:spPr>
          <p:txBody>
            <a:bodyPr wrap="none" lIns="0" tIns="0" rIns="0" bIns="0" anchor="t" anchorCtr="0">
              <a:spAutoFit/>
            </a:bodyPr>
            <a:lstStyle/>
            <a:p>
              <a:pPr algn="l"/>
              <a:r>
                <a:rPr lang="zh-CN" sz="1125" dirty="0">
                  <a:solidFill>
                    <a:srgbClr val="5F6368"/>
                  </a:solidFill>
                  <a:latin typeface="Segoe UI"/>
                  <a:ea typeface="Microsoft YaHei"/>
                  <a:cs typeface="Segoe UI"/>
                </a:rPr>
                <a:t>Planned improvements to extend correctness, expressiveness, and scalability</a:t>
              </a:r>
            </a:p>
          </p:txBody>
        </p:sp>
      </p:grpSp>
      <p:grpSp>
        <p:nvGrpSpPr>
          <p:cNvPr id="34" name="Group 34"/>
          <p:cNvGrpSpPr/>
          <p:nvPr/>
        </p:nvGrpSpPr>
        <p:grpSpPr>
          <a:xfrm>
            <a:off x="571500" y="1143000"/>
            <a:ext cx="3429000" cy="5143500"/>
            <a:chOff x="571500" y="1143000"/>
            <a:chExt cx="3429000" cy="5143500"/>
          </a:xfrm>
        </p:grpSpPr>
        <p:sp>
          <p:nvSpPr>
            <p:cNvPr id="9" name="Rectangle 9"/>
            <p:cNvSpPr/>
            <p:nvPr/>
          </p:nvSpPr>
          <p:spPr>
            <a:xfrm>
              <a:off x="571500" y="1143000"/>
              <a:ext cx="3429000" cy="5143500"/>
            </a:xfrm>
            <a:prstGeom prst="roundRect">
              <a:avLst>
                <a:gd name="adj" fmla="val 3889"/>
              </a:avLst>
            </a:prstGeom>
            <a:solidFill>
              <a:srgbClr val="FFFFFF"/>
            </a:solidFill>
            <a:ln w="9525">
              <a:solidFill>
                <a:srgbClr val="34A853">
                  <a:alpha val="40000"/>
                </a:srgbClr>
              </a:solidFill>
            </a:ln>
          </p:spPr>
          <p:txBody>
            <a:bodyPr/>
            <a:lstStyle/>
            <a:p>
              <a:endParaRPr lang="zh-CN" altLang="en-US"/>
            </a:p>
          </p:txBody>
        </p:sp>
        <p:sp>
          <p:nvSpPr>
            <p:cNvPr id="10" name="Rectangle 10"/>
            <p:cNvSpPr/>
            <p:nvPr/>
          </p:nvSpPr>
          <p:spPr>
            <a:xfrm>
              <a:off x="571500" y="1143000"/>
              <a:ext cx="3429000" cy="2286000"/>
            </a:xfrm>
            <a:prstGeom prst="roundRect">
              <a:avLst>
                <a:gd name="adj" fmla="val 5833"/>
              </a:avLst>
            </a:prstGeom>
            <a:gradFill>
              <a:gsLst>
                <a:gs pos="0">
                  <a:srgbClr val="34A853">
                    <a:alpha val="6000"/>
                  </a:srgbClr>
                </a:gs>
                <a:gs pos="100000">
                  <a:srgbClr val="34A853">
                    <a:alpha val="0"/>
                  </a:srgbClr>
                </a:gs>
              </a:gsLst>
              <a:path path="circle">
                <a:fillToRect l="50000" t="50000" r="50000" b="50000"/>
              </a:path>
            </a:gradFill>
            <a:ln>
              <a:noFill/>
            </a:ln>
          </p:spPr>
          <p:txBody>
            <a:bodyPr/>
            <a:lstStyle/>
            <a:p>
              <a:endParaRPr lang="zh-CN" altLang="en-US"/>
            </a:p>
          </p:txBody>
        </p:sp>
        <p:sp>
          <p:nvSpPr>
            <p:cNvPr id="11" name="Rectangle 11"/>
            <p:cNvSpPr/>
            <p:nvPr/>
          </p:nvSpPr>
          <p:spPr>
            <a:xfrm>
              <a:off x="571500" y="1143000"/>
              <a:ext cx="3429000" cy="38100"/>
            </a:xfrm>
            <a:prstGeom prst="roundRect">
              <a:avLst>
                <a:gd name="adj" fmla="val 50000"/>
              </a:avLst>
            </a:prstGeom>
            <a:solidFill>
              <a:srgbClr val="34A853"/>
            </a:solidFill>
            <a:ln>
              <a:noFill/>
            </a:ln>
          </p:spPr>
          <p:txBody>
            <a:bodyPr/>
            <a:lstStyle/>
            <a:p>
              <a:endParaRPr lang="zh-CN" altLang="en-US"/>
            </a:p>
          </p:txBody>
        </p:sp>
        <p:sp>
          <p:nvSpPr>
            <p:cNvPr id="12" name="Rectangle 12"/>
            <p:cNvSpPr/>
            <p:nvPr/>
          </p:nvSpPr>
          <p:spPr>
            <a:xfrm>
              <a:off x="1714500" y="1600200"/>
              <a:ext cx="1143000" cy="571500"/>
            </a:xfrm>
            <a:prstGeom prst="roundRect">
              <a:avLst>
                <a:gd name="adj" fmla="val 50000"/>
              </a:avLst>
            </a:prstGeom>
            <a:solidFill>
              <a:srgbClr val="34A853">
                <a:alpha val="10000"/>
              </a:srgbClr>
            </a:solidFill>
            <a:ln>
              <a:noFill/>
            </a:ln>
          </p:spPr>
          <p:txBody>
            <a:bodyPr/>
            <a:lstStyle/>
            <a:p>
              <a:endParaRPr lang="zh-CN" altLang="en-US"/>
            </a:p>
          </p:txBody>
        </p:sp>
        <p:grpSp>
          <p:nvGrpSpPr>
            <p:cNvPr id="16" name="Group 16"/>
            <p:cNvGrpSpPr/>
            <p:nvPr/>
          </p:nvGrpSpPr>
          <p:grpSpPr>
            <a:xfrm>
              <a:off x="2200810" y="1722972"/>
              <a:ext cx="343418" cy="325955"/>
              <a:chOff x="2200810" y="1722972"/>
              <a:chExt cx="343418" cy="325955"/>
            </a:xfrm>
          </p:grpSpPr>
          <p:sp>
            <p:nvSpPr>
              <p:cNvPr id="13" name="Freeform 13"/>
              <p:cNvSpPr/>
              <p:nvPr/>
            </p:nvSpPr>
            <p:spPr>
              <a:xfrm>
                <a:off x="2433638" y="1932522"/>
                <a:ext cx="110590" cy="116405"/>
              </a:xfrm>
              <a:custGeom>
                <a:avLst/>
                <a:gdLst/>
                <a:ahLst/>
                <a:cxnLst/>
                <a:rect l="l" t="t" r="r" b="b"/>
                <a:pathLst>
                  <a:path w="110590" h="116405">
                    <a:moveTo>
                      <a:pt x="17462" y="75665"/>
                    </a:moveTo>
                    <a:cubicBezTo>
                      <a:pt x="7818" y="75665"/>
                      <a:pt x="0" y="67847"/>
                      <a:pt x="0" y="58203"/>
                    </a:cubicBezTo>
                    <a:cubicBezTo>
                      <a:pt x="0" y="48558"/>
                      <a:pt x="7818" y="40740"/>
                      <a:pt x="17462" y="40740"/>
                    </a:cubicBezTo>
                    <a:cubicBezTo>
                      <a:pt x="27107" y="40740"/>
                      <a:pt x="34925" y="32922"/>
                      <a:pt x="34925" y="23278"/>
                    </a:cubicBezTo>
                    <a:cubicBezTo>
                      <a:pt x="34925" y="0"/>
                      <a:pt x="69850" y="0"/>
                      <a:pt x="69850" y="23278"/>
                    </a:cubicBezTo>
                    <a:cubicBezTo>
                      <a:pt x="69850" y="32922"/>
                      <a:pt x="77668" y="40740"/>
                      <a:pt x="87313" y="40740"/>
                    </a:cubicBezTo>
                    <a:cubicBezTo>
                      <a:pt x="110590" y="40740"/>
                      <a:pt x="110590" y="75665"/>
                      <a:pt x="87313" y="75665"/>
                    </a:cubicBezTo>
                    <a:cubicBezTo>
                      <a:pt x="77668" y="75665"/>
                      <a:pt x="69850" y="83483"/>
                      <a:pt x="69850" y="93128"/>
                    </a:cubicBezTo>
                    <a:cubicBezTo>
                      <a:pt x="69850" y="116405"/>
                      <a:pt x="34925" y="116405"/>
                      <a:pt x="34925" y="93128"/>
                    </a:cubicBezTo>
                    <a:cubicBezTo>
                      <a:pt x="34925" y="83483"/>
                      <a:pt x="27107" y="75665"/>
                      <a:pt x="17462" y="75665"/>
                    </a:cubicBezTo>
                  </a:path>
                </a:pathLst>
              </a:custGeom>
              <a:solidFill>
                <a:srgbClr val="34A853"/>
              </a:solidFill>
              <a:ln>
                <a:noFill/>
              </a:ln>
            </p:spPr>
            <p:txBody>
              <a:bodyPr/>
              <a:lstStyle/>
              <a:p>
                <a:endParaRPr lang="zh-CN" altLang="en-US"/>
              </a:p>
            </p:txBody>
          </p:sp>
          <p:sp>
            <p:nvSpPr>
              <p:cNvPr id="14" name="Freeform 14"/>
              <p:cNvSpPr/>
              <p:nvPr/>
            </p:nvSpPr>
            <p:spPr>
              <a:xfrm>
                <a:off x="2200810" y="1757897"/>
                <a:ext cx="256105" cy="250290"/>
              </a:xfrm>
              <a:custGeom>
                <a:avLst/>
                <a:gdLst/>
                <a:ahLst/>
                <a:cxnLst/>
                <a:rect l="l" t="t" r="r" b="b"/>
                <a:pathLst>
                  <a:path w="256105" h="250290">
                    <a:moveTo>
                      <a:pt x="23278" y="110590"/>
                    </a:moveTo>
                    <a:cubicBezTo>
                      <a:pt x="71499" y="110590"/>
                      <a:pt x="110590" y="71499"/>
                      <a:pt x="110590" y="23278"/>
                    </a:cubicBezTo>
                    <a:cubicBezTo>
                      <a:pt x="110590" y="0"/>
                      <a:pt x="145515" y="0"/>
                      <a:pt x="145515" y="23278"/>
                    </a:cubicBezTo>
                    <a:cubicBezTo>
                      <a:pt x="145515" y="71499"/>
                      <a:pt x="184606" y="110590"/>
                      <a:pt x="232828" y="110590"/>
                    </a:cubicBezTo>
                    <a:cubicBezTo>
                      <a:pt x="256105" y="110590"/>
                      <a:pt x="256105" y="145515"/>
                      <a:pt x="232828" y="145515"/>
                    </a:cubicBezTo>
                    <a:cubicBezTo>
                      <a:pt x="184606" y="145515"/>
                      <a:pt x="145515" y="184606"/>
                      <a:pt x="145515" y="232828"/>
                    </a:cubicBezTo>
                    <a:cubicBezTo>
                      <a:pt x="145515" y="242472"/>
                      <a:pt x="137697" y="250290"/>
                      <a:pt x="128053" y="250290"/>
                    </a:cubicBezTo>
                    <a:cubicBezTo>
                      <a:pt x="118408" y="250290"/>
                      <a:pt x="110590" y="242472"/>
                      <a:pt x="110590" y="232828"/>
                    </a:cubicBezTo>
                    <a:cubicBezTo>
                      <a:pt x="110590" y="184606"/>
                      <a:pt x="71499" y="145515"/>
                      <a:pt x="23278" y="145515"/>
                    </a:cubicBezTo>
                    <a:cubicBezTo>
                      <a:pt x="0" y="145515"/>
                      <a:pt x="0" y="110590"/>
                      <a:pt x="23278" y="110590"/>
                    </a:cubicBezTo>
                  </a:path>
                </a:pathLst>
              </a:custGeom>
              <a:solidFill>
                <a:srgbClr val="34A853"/>
              </a:solidFill>
              <a:ln>
                <a:noFill/>
              </a:ln>
            </p:spPr>
            <p:txBody>
              <a:bodyPr/>
              <a:lstStyle/>
              <a:p>
                <a:endParaRPr lang="zh-CN" altLang="en-US"/>
              </a:p>
            </p:txBody>
          </p:sp>
          <p:sp>
            <p:nvSpPr>
              <p:cNvPr id="15" name="Freeform 15"/>
              <p:cNvSpPr/>
              <p:nvPr/>
            </p:nvSpPr>
            <p:spPr>
              <a:xfrm>
                <a:off x="2433638" y="1722972"/>
                <a:ext cx="110590" cy="116405"/>
              </a:xfrm>
              <a:custGeom>
                <a:avLst/>
                <a:gdLst/>
                <a:ahLst/>
                <a:cxnLst/>
                <a:rect l="l" t="t" r="r" b="b"/>
                <a:pathLst>
                  <a:path w="110590" h="116405">
                    <a:moveTo>
                      <a:pt x="17462" y="75665"/>
                    </a:moveTo>
                    <a:cubicBezTo>
                      <a:pt x="7818" y="75665"/>
                      <a:pt x="0" y="67847"/>
                      <a:pt x="0" y="58203"/>
                    </a:cubicBezTo>
                    <a:cubicBezTo>
                      <a:pt x="0" y="48558"/>
                      <a:pt x="7818" y="40740"/>
                      <a:pt x="17462" y="40740"/>
                    </a:cubicBezTo>
                    <a:cubicBezTo>
                      <a:pt x="27107" y="40740"/>
                      <a:pt x="34925" y="32922"/>
                      <a:pt x="34925" y="23278"/>
                    </a:cubicBezTo>
                    <a:cubicBezTo>
                      <a:pt x="34925" y="0"/>
                      <a:pt x="69850" y="0"/>
                      <a:pt x="69850" y="23278"/>
                    </a:cubicBezTo>
                    <a:cubicBezTo>
                      <a:pt x="69850" y="32922"/>
                      <a:pt x="77668" y="40740"/>
                      <a:pt x="87313" y="40740"/>
                    </a:cubicBezTo>
                    <a:cubicBezTo>
                      <a:pt x="110590" y="40740"/>
                      <a:pt x="110590" y="75665"/>
                      <a:pt x="87313" y="75665"/>
                    </a:cubicBezTo>
                    <a:cubicBezTo>
                      <a:pt x="77668" y="75665"/>
                      <a:pt x="69850" y="83483"/>
                      <a:pt x="69850" y="93128"/>
                    </a:cubicBezTo>
                    <a:cubicBezTo>
                      <a:pt x="69850" y="116405"/>
                      <a:pt x="34925" y="116405"/>
                      <a:pt x="34925" y="93128"/>
                    </a:cubicBezTo>
                    <a:cubicBezTo>
                      <a:pt x="34925" y="83483"/>
                      <a:pt x="27107" y="75665"/>
                      <a:pt x="17462" y="75665"/>
                    </a:cubicBezTo>
                  </a:path>
                </a:pathLst>
              </a:custGeom>
              <a:solidFill>
                <a:srgbClr val="34A853"/>
              </a:solidFill>
              <a:ln>
                <a:noFill/>
              </a:ln>
            </p:spPr>
            <p:txBody>
              <a:bodyPr/>
              <a:lstStyle/>
              <a:p>
                <a:endParaRPr lang="zh-CN" altLang="en-US"/>
              </a:p>
            </p:txBody>
          </p:sp>
        </p:grpSp>
        <p:sp>
          <p:nvSpPr>
            <p:cNvPr id="17" name="TextBox 17"/>
            <p:cNvSpPr txBox="1"/>
            <p:nvPr/>
          </p:nvSpPr>
          <p:spPr>
            <a:xfrm>
              <a:off x="1220319" y="2409825"/>
              <a:ext cx="2131362"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Extended Language</a:t>
              </a:r>
            </a:p>
          </p:txBody>
        </p:sp>
        <p:sp>
          <p:nvSpPr>
            <p:cNvPr id="18" name="TextBox 18"/>
            <p:cNvSpPr txBox="1"/>
            <p:nvPr/>
          </p:nvSpPr>
          <p:spPr>
            <a:xfrm>
              <a:off x="1716660" y="2695099"/>
              <a:ext cx="1138679" cy="198120"/>
            </a:xfrm>
            <a:prstGeom prst="rect">
              <a:avLst/>
            </a:prstGeom>
            <a:noFill/>
            <a:ln>
              <a:noFill/>
            </a:ln>
          </p:spPr>
          <p:txBody>
            <a:bodyPr wrap="none" lIns="0" tIns="0" rIns="0" bIns="0" anchor="t" anchorCtr="0">
              <a:spAutoFit/>
            </a:bodyPr>
            <a:lstStyle/>
            <a:p>
              <a:pPr algn="ctr"/>
              <a:r>
                <a:rPr lang="zh-CN" sz="975" b="1" dirty="0">
                  <a:solidFill>
                    <a:srgbClr val="34A853"/>
                  </a:solidFill>
                  <a:latin typeface="Segoe UI"/>
                  <a:ea typeface="Microsoft YaHei"/>
                  <a:cs typeface="Segoe UI"/>
                </a:rPr>
                <a:t>EXPRESSIVENESS</a:t>
              </a:r>
            </a:p>
          </p:txBody>
        </p:sp>
        <p:sp>
          <p:nvSpPr>
            <p:cNvPr id="19" name="Rectangle 19"/>
            <p:cNvSpPr/>
            <p:nvPr/>
          </p:nvSpPr>
          <p:spPr>
            <a:xfrm>
              <a:off x="762000" y="2990850"/>
              <a:ext cx="3048000" cy="9525"/>
            </a:xfrm>
            <a:prstGeom prst="rect">
              <a:avLst/>
            </a:prstGeom>
            <a:solidFill>
              <a:srgbClr val="DADCE0"/>
            </a:solidFill>
            <a:ln>
              <a:noFill/>
            </a:ln>
          </p:spPr>
          <p:txBody>
            <a:bodyPr/>
            <a:lstStyle/>
            <a:p>
              <a:endParaRPr lang="zh-CN" altLang="en-US"/>
            </a:p>
          </p:txBody>
        </p:sp>
        <p:sp>
          <p:nvSpPr>
            <p:cNvPr id="20" name="Ellipse 20"/>
            <p:cNvSpPr/>
            <p:nvPr/>
          </p:nvSpPr>
          <p:spPr>
            <a:xfrm>
              <a:off x="885825" y="3228975"/>
              <a:ext cx="57150" cy="57150"/>
            </a:xfrm>
            <a:prstGeom prst="ellipse">
              <a:avLst/>
            </a:prstGeom>
            <a:solidFill>
              <a:srgbClr val="34A853"/>
            </a:solidFill>
            <a:ln>
              <a:noFill/>
            </a:ln>
          </p:spPr>
          <p:txBody>
            <a:bodyPr/>
            <a:lstStyle/>
            <a:p>
              <a:endParaRPr lang="zh-CN" altLang="en-US"/>
            </a:p>
          </p:txBody>
        </p:sp>
        <p:sp>
          <p:nvSpPr>
            <p:cNvPr id="21" name="TextBox 21"/>
            <p:cNvSpPr txBox="1"/>
            <p:nvPr/>
          </p:nvSpPr>
          <p:spPr>
            <a:xfrm>
              <a:off x="1014412" y="3183731"/>
              <a:ext cx="2012573"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Multi-statement blocks</a:t>
              </a:r>
            </a:p>
          </p:txBody>
        </p:sp>
        <p:sp>
          <p:nvSpPr>
            <p:cNvPr id="22" name="TextBox 22"/>
            <p:cNvSpPr txBox="1"/>
            <p:nvPr/>
          </p:nvSpPr>
          <p:spPr>
            <a:xfrm>
              <a:off x="1016318" y="3390424"/>
              <a:ext cx="206818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if p then { let q = T; print q }</a:t>
              </a:r>
            </a:p>
          </p:txBody>
        </p:sp>
        <p:sp>
          <p:nvSpPr>
            <p:cNvPr id="23" name="Ellipse 23"/>
            <p:cNvSpPr/>
            <p:nvPr/>
          </p:nvSpPr>
          <p:spPr>
            <a:xfrm>
              <a:off x="885825" y="3743325"/>
              <a:ext cx="57150" cy="57150"/>
            </a:xfrm>
            <a:prstGeom prst="ellipse">
              <a:avLst/>
            </a:prstGeom>
            <a:solidFill>
              <a:srgbClr val="34A853"/>
            </a:solidFill>
            <a:ln>
              <a:noFill/>
            </a:ln>
          </p:spPr>
          <p:txBody>
            <a:bodyPr/>
            <a:lstStyle/>
            <a:p>
              <a:endParaRPr lang="zh-CN" altLang="en-US"/>
            </a:p>
          </p:txBody>
        </p:sp>
        <p:sp>
          <p:nvSpPr>
            <p:cNvPr id="24" name="TextBox 24"/>
            <p:cNvSpPr txBox="1"/>
            <p:nvPr/>
          </p:nvSpPr>
          <p:spPr>
            <a:xfrm>
              <a:off x="1014412" y="3698081"/>
              <a:ext cx="1978069"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Variable re-assignment</a:t>
              </a:r>
            </a:p>
          </p:txBody>
        </p:sp>
        <p:sp>
          <p:nvSpPr>
            <p:cNvPr id="25" name="TextBox 25"/>
            <p:cNvSpPr txBox="1"/>
            <p:nvPr/>
          </p:nvSpPr>
          <p:spPr>
            <a:xfrm>
              <a:off x="1016318" y="3904774"/>
              <a:ext cx="2068187"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Overwriting existing bindings</a:t>
              </a:r>
            </a:p>
          </p:txBody>
        </p:sp>
        <p:sp>
          <p:nvSpPr>
            <p:cNvPr id="26" name="Ellipse 26"/>
            <p:cNvSpPr/>
            <p:nvPr/>
          </p:nvSpPr>
          <p:spPr>
            <a:xfrm>
              <a:off x="885825" y="4257675"/>
              <a:ext cx="57150" cy="57150"/>
            </a:xfrm>
            <a:prstGeom prst="ellipse">
              <a:avLst/>
            </a:prstGeom>
            <a:solidFill>
              <a:srgbClr val="34A853"/>
            </a:solidFill>
            <a:ln>
              <a:noFill/>
            </a:ln>
          </p:spPr>
          <p:txBody>
            <a:bodyPr/>
            <a:lstStyle/>
            <a:p>
              <a:endParaRPr lang="zh-CN" altLang="en-US"/>
            </a:p>
          </p:txBody>
        </p:sp>
        <p:sp>
          <p:nvSpPr>
            <p:cNvPr id="27" name="TextBox 27"/>
            <p:cNvSpPr txBox="1"/>
            <p:nvPr/>
          </p:nvSpPr>
          <p:spPr>
            <a:xfrm>
              <a:off x="1014412" y="4212431"/>
              <a:ext cx="1702034"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Negation-as-failure</a:t>
              </a:r>
            </a:p>
          </p:txBody>
        </p:sp>
        <p:sp>
          <p:nvSpPr>
            <p:cNvPr id="28" name="TextBox 28"/>
            <p:cNvSpPr txBox="1"/>
            <p:nvPr/>
          </p:nvSpPr>
          <p:spPr>
            <a:xfrm>
              <a:off x="1016318" y="4419124"/>
              <a:ext cx="2160746"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Default false for unbound vars</a:t>
              </a:r>
            </a:p>
          </p:txBody>
        </p:sp>
        <p:sp>
          <p:nvSpPr>
            <p:cNvPr id="29" name="Ellipse 29"/>
            <p:cNvSpPr/>
            <p:nvPr/>
          </p:nvSpPr>
          <p:spPr>
            <a:xfrm>
              <a:off x="885825" y="4772025"/>
              <a:ext cx="57150" cy="57150"/>
            </a:xfrm>
            <a:prstGeom prst="ellipse">
              <a:avLst/>
            </a:prstGeom>
            <a:solidFill>
              <a:srgbClr val="34A853"/>
            </a:solidFill>
            <a:ln>
              <a:noFill/>
            </a:ln>
          </p:spPr>
          <p:txBody>
            <a:bodyPr/>
            <a:lstStyle/>
            <a:p>
              <a:endParaRPr lang="zh-CN" altLang="en-US"/>
            </a:p>
          </p:txBody>
        </p:sp>
        <p:sp>
          <p:nvSpPr>
            <p:cNvPr id="30" name="TextBox 30"/>
            <p:cNvSpPr txBox="1"/>
            <p:nvPr/>
          </p:nvSpPr>
          <p:spPr>
            <a:xfrm>
              <a:off x="1014412" y="4726781"/>
              <a:ext cx="2210973"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Multi-char variable names</a:t>
              </a:r>
            </a:p>
          </p:txBody>
        </p:sp>
        <p:sp>
          <p:nvSpPr>
            <p:cNvPr id="31" name="TextBox 31"/>
            <p:cNvSpPr txBox="1"/>
            <p:nvPr/>
          </p:nvSpPr>
          <p:spPr>
            <a:xfrm>
              <a:off x="1016318" y="4933474"/>
              <a:ext cx="200410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Extend beyond single letters</a:t>
              </a:r>
            </a:p>
          </p:txBody>
        </p:sp>
        <p:sp>
          <p:nvSpPr>
            <p:cNvPr id="32" name="Rectangle 32"/>
            <p:cNvSpPr/>
            <p:nvPr/>
          </p:nvSpPr>
          <p:spPr>
            <a:xfrm>
              <a:off x="857250" y="5391150"/>
              <a:ext cx="1714500" cy="247650"/>
            </a:xfrm>
            <a:prstGeom prst="roundRect">
              <a:avLst>
                <a:gd name="adj" fmla="val 50000"/>
              </a:avLst>
            </a:prstGeom>
            <a:solidFill>
              <a:srgbClr val="34A853">
                <a:alpha val="12000"/>
              </a:srgbClr>
            </a:solidFill>
            <a:ln w="9525">
              <a:solidFill>
                <a:srgbClr val="34A853">
                  <a:alpha val="40000"/>
                </a:srgbClr>
              </a:solidFill>
            </a:ln>
          </p:spPr>
          <p:txBody>
            <a:bodyPr/>
            <a:lstStyle/>
            <a:p>
              <a:endParaRPr lang="zh-CN" altLang="en-US"/>
            </a:p>
          </p:txBody>
        </p:sp>
        <p:sp>
          <p:nvSpPr>
            <p:cNvPr id="33" name="TextBox 33"/>
            <p:cNvSpPr txBox="1"/>
            <p:nvPr/>
          </p:nvSpPr>
          <p:spPr>
            <a:xfrm>
              <a:off x="1193721" y="5465445"/>
              <a:ext cx="1041559" cy="182880"/>
            </a:xfrm>
            <a:prstGeom prst="rect">
              <a:avLst/>
            </a:prstGeom>
            <a:noFill/>
            <a:ln>
              <a:noFill/>
            </a:ln>
          </p:spPr>
          <p:txBody>
            <a:bodyPr wrap="none" lIns="0" tIns="0" rIns="0" bIns="0" anchor="t" anchorCtr="0">
              <a:spAutoFit/>
            </a:bodyPr>
            <a:lstStyle/>
            <a:p>
              <a:pPr algn="ctr"/>
              <a:r>
                <a:rPr lang="zh-CN" sz="900" dirty="0">
                  <a:solidFill>
                    <a:srgbClr val="34A853"/>
                  </a:solidFill>
                  <a:latin typeface="Segoe UI"/>
                  <a:ea typeface="Microsoft YaHei"/>
                  <a:cs typeface="Segoe UI"/>
                </a:rPr>
                <a:t>Language Design</a:t>
              </a:r>
            </a:p>
          </p:txBody>
        </p:sp>
      </p:grpSp>
      <p:grpSp>
        <p:nvGrpSpPr>
          <p:cNvPr id="57" name="Group 57"/>
          <p:cNvGrpSpPr/>
          <p:nvPr/>
        </p:nvGrpSpPr>
        <p:grpSpPr>
          <a:xfrm>
            <a:off x="4381500" y="1143000"/>
            <a:ext cx="3429000" cy="5143500"/>
            <a:chOff x="4381500" y="1143000"/>
            <a:chExt cx="3429000" cy="5143500"/>
          </a:xfrm>
        </p:grpSpPr>
        <p:sp>
          <p:nvSpPr>
            <p:cNvPr id="35" name="Rectangle 35"/>
            <p:cNvSpPr/>
            <p:nvPr/>
          </p:nvSpPr>
          <p:spPr>
            <a:xfrm>
              <a:off x="4381500" y="1143000"/>
              <a:ext cx="3429000" cy="5143500"/>
            </a:xfrm>
            <a:prstGeom prst="roundRect">
              <a:avLst>
                <a:gd name="adj" fmla="val 3889"/>
              </a:avLst>
            </a:prstGeom>
            <a:solidFill>
              <a:srgbClr val="FFFFFF"/>
            </a:solidFill>
            <a:ln w="9525">
              <a:solidFill>
                <a:srgbClr val="9334E6">
                  <a:alpha val="40000"/>
                </a:srgbClr>
              </a:solidFill>
            </a:ln>
          </p:spPr>
          <p:txBody>
            <a:bodyPr/>
            <a:lstStyle/>
            <a:p>
              <a:endParaRPr lang="zh-CN" altLang="en-US"/>
            </a:p>
          </p:txBody>
        </p:sp>
        <p:sp>
          <p:nvSpPr>
            <p:cNvPr id="36" name="Rectangle 36"/>
            <p:cNvSpPr/>
            <p:nvPr/>
          </p:nvSpPr>
          <p:spPr>
            <a:xfrm>
              <a:off x="4381500" y="1143000"/>
              <a:ext cx="3429000" cy="2286000"/>
            </a:xfrm>
            <a:prstGeom prst="roundRect">
              <a:avLst>
                <a:gd name="adj" fmla="val 5833"/>
              </a:avLst>
            </a:prstGeom>
            <a:gradFill>
              <a:gsLst>
                <a:gs pos="0">
                  <a:srgbClr val="9334E6">
                    <a:alpha val="6000"/>
                  </a:srgbClr>
                </a:gs>
                <a:gs pos="100000">
                  <a:srgbClr val="9334E6">
                    <a:alpha val="0"/>
                  </a:srgbClr>
                </a:gs>
              </a:gsLst>
              <a:path path="circle">
                <a:fillToRect l="50000" t="50000" r="50000" b="50000"/>
              </a:path>
            </a:gradFill>
            <a:ln>
              <a:noFill/>
            </a:ln>
          </p:spPr>
          <p:txBody>
            <a:bodyPr/>
            <a:lstStyle/>
            <a:p>
              <a:endParaRPr lang="zh-CN" altLang="en-US"/>
            </a:p>
          </p:txBody>
        </p:sp>
        <p:sp>
          <p:nvSpPr>
            <p:cNvPr id="37" name="Rectangle 37"/>
            <p:cNvSpPr/>
            <p:nvPr/>
          </p:nvSpPr>
          <p:spPr>
            <a:xfrm>
              <a:off x="4381500" y="1143000"/>
              <a:ext cx="3429000" cy="38100"/>
            </a:xfrm>
            <a:prstGeom prst="roundRect">
              <a:avLst>
                <a:gd name="adj" fmla="val 50000"/>
              </a:avLst>
            </a:prstGeom>
            <a:solidFill>
              <a:srgbClr val="9334E6"/>
            </a:solidFill>
            <a:ln>
              <a:noFill/>
            </a:ln>
          </p:spPr>
          <p:txBody>
            <a:bodyPr/>
            <a:lstStyle/>
            <a:p>
              <a:endParaRPr lang="zh-CN" altLang="en-US"/>
            </a:p>
          </p:txBody>
        </p:sp>
        <p:sp>
          <p:nvSpPr>
            <p:cNvPr id="38" name="Rectangle 38"/>
            <p:cNvSpPr/>
            <p:nvPr/>
          </p:nvSpPr>
          <p:spPr>
            <a:xfrm>
              <a:off x="5524500" y="1600200"/>
              <a:ext cx="1143000" cy="571500"/>
            </a:xfrm>
            <a:prstGeom prst="roundRect">
              <a:avLst>
                <a:gd name="adj" fmla="val 50000"/>
              </a:avLst>
            </a:prstGeom>
            <a:solidFill>
              <a:srgbClr val="9334E6">
                <a:alpha val="10000"/>
              </a:srgbClr>
            </a:solidFill>
            <a:ln>
              <a:noFill/>
            </a:ln>
          </p:spPr>
          <p:txBody>
            <a:bodyPr/>
            <a:lstStyle/>
            <a:p>
              <a:endParaRPr lang="zh-CN" altLang="en-US"/>
            </a:p>
          </p:txBody>
        </p:sp>
        <p:sp>
          <p:nvSpPr>
            <p:cNvPr id="39" name="Freeform 39"/>
            <p:cNvSpPr/>
            <p:nvPr/>
          </p:nvSpPr>
          <p:spPr>
            <a:xfrm>
              <a:off x="6050759" y="1711325"/>
              <a:ext cx="280981" cy="355729"/>
            </a:xfrm>
            <a:custGeom>
              <a:avLst/>
              <a:gdLst/>
              <a:ahLst/>
              <a:cxnLst/>
              <a:rect l="l" t="t" r="r" b="b"/>
              <a:pathLst>
                <a:path w="280981" h="355729">
                  <a:moveTo>
                    <a:pt x="157953" y="0"/>
                  </a:moveTo>
                  <a:lnTo>
                    <a:pt x="158267" y="17"/>
                  </a:lnTo>
                  <a:lnTo>
                    <a:pt x="158547" y="35"/>
                  </a:lnTo>
                  <a:lnTo>
                    <a:pt x="159996" y="122"/>
                  </a:lnTo>
                  <a:lnTo>
                    <a:pt x="160188" y="157"/>
                  </a:lnTo>
                  <a:lnTo>
                    <a:pt x="160380" y="157"/>
                  </a:lnTo>
                  <a:lnTo>
                    <a:pt x="161044" y="314"/>
                  </a:lnTo>
                  <a:lnTo>
                    <a:pt x="161952" y="454"/>
                  </a:lnTo>
                  <a:lnTo>
                    <a:pt x="162231" y="559"/>
                  </a:lnTo>
                  <a:lnTo>
                    <a:pt x="162424" y="576"/>
                  </a:lnTo>
                  <a:lnTo>
                    <a:pt x="162930" y="768"/>
                  </a:lnTo>
                  <a:lnTo>
                    <a:pt x="163838" y="1013"/>
                  </a:lnTo>
                  <a:lnTo>
                    <a:pt x="164170" y="1170"/>
                  </a:lnTo>
                  <a:lnTo>
                    <a:pt x="164432" y="1240"/>
                  </a:lnTo>
                  <a:lnTo>
                    <a:pt x="164921" y="1484"/>
                  </a:lnTo>
                  <a:lnTo>
                    <a:pt x="165619" y="1781"/>
                  </a:lnTo>
                  <a:lnTo>
                    <a:pt x="165986" y="1991"/>
                  </a:lnTo>
                  <a:lnTo>
                    <a:pt x="166370" y="2165"/>
                  </a:lnTo>
                  <a:lnTo>
                    <a:pt x="166772" y="2427"/>
                  </a:lnTo>
                  <a:lnTo>
                    <a:pt x="167313" y="2724"/>
                  </a:lnTo>
                  <a:lnTo>
                    <a:pt x="167907" y="3143"/>
                  </a:lnTo>
                  <a:lnTo>
                    <a:pt x="168221" y="3335"/>
                  </a:lnTo>
                  <a:lnTo>
                    <a:pt x="168448" y="3545"/>
                  </a:lnTo>
                  <a:lnTo>
                    <a:pt x="168867" y="3842"/>
                  </a:lnTo>
                  <a:lnTo>
                    <a:pt x="169531" y="4435"/>
                  </a:lnTo>
                  <a:lnTo>
                    <a:pt x="169915" y="4732"/>
                  </a:lnTo>
                  <a:lnTo>
                    <a:pt x="170055" y="4907"/>
                  </a:lnTo>
                  <a:lnTo>
                    <a:pt x="170299" y="5117"/>
                  </a:lnTo>
                  <a:lnTo>
                    <a:pt x="170928" y="5832"/>
                  </a:lnTo>
                  <a:lnTo>
                    <a:pt x="171382" y="6304"/>
                  </a:lnTo>
                  <a:lnTo>
                    <a:pt x="171487" y="6461"/>
                  </a:lnTo>
                  <a:cubicBezTo>
                    <a:pt x="173582" y="9028"/>
                    <a:pt x="174909" y="12084"/>
                    <a:pt x="175293" y="15419"/>
                  </a:cubicBezTo>
                  <a:lnTo>
                    <a:pt x="175311" y="15629"/>
                  </a:lnTo>
                  <a:lnTo>
                    <a:pt x="175346" y="16345"/>
                  </a:lnTo>
                  <a:lnTo>
                    <a:pt x="175416" y="17463"/>
                  </a:lnTo>
                  <a:lnTo>
                    <a:pt x="175416" y="122238"/>
                  </a:lnTo>
                  <a:lnTo>
                    <a:pt x="262728" y="122238"/>
                  </a:lnTo>
                  <a:cubicBezTo>
                    <a:pt x="268957" y="122236"/>
                    <a:pt x="274715" y="125552"/>
                    <a:pt x="277839" y="130941"/>
                  </a:cubicBezTo>
                  <a:cubicBezTo>
                    <a:pt x="280964" y="136329"/>
                    <a:pt x="280981" y="142974"/>
                    <a:pt x="277886" y="148379"/>
                  </a:cubicBezTo>
                  <a:lnTo>
                    <a:pt x="276838" y="149968"/>
                  </a:lnTo>
                  <a:lnTo>
                    <a:pt x="137138" y="342055"/>
                  </a:lnTo>
                  <a:cubicBezTo>
                    <a:pt x="127219" y="355729"/>
                    <a:pt x="105566" y="348691"/>
                    <a:pt x="105566" y="331788"/>
                  </a:cubicBezTo>
                  <a:lnTo>
                    <a:pt x="105566" y="227013"/>
                  </a:lnTo>
                  <a:lnTo>
                    <a:pt x="18253" y="227013"/>
                  </a:lnTo>
                  <a:cubicBezTo>
                    <a:pt x="12024" y="227014"/>
                    <a:pt x="6266" y="223698"/>
                    <a:pt x="3142" y="218309"/>
                  </a:cubicBezTo>
                  <a:cubicBezTo>
                    <a:pt x="18" y="212921"/>
                    <a:pt x="0" y="206276"/>
                    <a:pt x="3096" y="200871"/>
                  </a:cubicBezTo>
                  <a:lnTo>
                    <a:pt x="4143" y="199282"/>
                  </a:lnTo>
                  <a:lnTo>
                    <a:pt x="143843" y="7195"/>
                  </a:lnTo>
                  <a:lnTo>
                    <a:pt x="144018" y="6968"/>
                  </a:lnTo>
                  <a:lnTo>
                    <a:pt x="144332" y="6548"/>
                  </a:lnTo>
                  <a:lnTo>
                    <a:pt x="144909" y="5885"/>
                  </a:lnTo>
                  <a:lnTo>
                    <a:pt x="145223" y="5501"/>
                  </a:lnTo>
                  <a:lnTo>
                    <a:pt x="145380" y="5361"/>
                  </a:lnTo>
                  <a:lnTo>
                    <a:pt x="145607" y="5117"/>
                  </a:lnTo>
                  <a:lnTo>
                    <a:pt x="146306" y="4488"/>
                  </a:lnTo>
                  <a:lnTo>
                    <a:pt x="146795" y="4034"/>
                  </a:lnTo>
                  <a:lnTo>
                    <a:pt x="146934" y="3929"/>
                  </a:lnTo>
                  <a:cubicBezTo>
                    <a:pt x="148981" y="2254"/>
                    <a:pt x="151381" y="1066"/>
                    <a:pt x="153954" y="454"/>
                  </a:cubicBezTo>
                  <a:lnTo>
                    <a:pt x="154146" y="437"/>
                  </a:lnTo>
                  <a:lnTo>
                    <a:pt x="154618" y="349"/>
                  </a:lnTo>
                  <a:lnTo>
                    <a:pt x="155910" y="122"/>
                  </a:lnTo>
                  <a:lnTo>
                    <a:pt x="156102" y="105"/>
                  </a:lnTo>
                  <a:lnTo>
                    <a:pt x="156818" y="70"/>
                  </a:lnTo>
                  <a:close/>
                </a:path>
              </a:pathLst>
            </a:custGeom>
            <a:solidFill>
              <a:srgbClr val="9334E6"/>
            </a:solidFill>
            <a:ln>
              <a:noFill/>
            </a:ln>
          </p:spPr>
          <p:txBody>
            <a:bodyPr/>
            <a:lstStyle/>
            <a:p>
              <a:endParaRPr lang="zh-CN" altLang="en-US"/>
            </a:p>
          </p:txBody>
        </p:sp>
        <p:sp>
          <p:nvSpPr>
            <p:cNvPr id="40" name="TextBox 40"/>
            <p:cNvSpPr txBox="1"/>
            <p:nvPr/>
          </p:nvSpPr>
          <p:spPr>
            <a:xfrm>
              <a:off x="4800290" y="2409825"/>
              <a:ext cx="2591419"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BDD-Based Verification</a:t>
              </a:r>
            </a:p>
          </p:txBody>
        </p:sp>
        <p:sp>
          <p:nvSpPr>
            <p:cNvPr id="41" name="TextBox 41"/>
            <p:cNvSpPr txBox="1"/>
            <p:nvPr/>
          </p:nvSpPr>
          <p:spPr>
            <a:xfrm>
              <a:off x="5668703" y="2695099"/>
              <a:ext cx="854594" cy="198120"/>
            </a:xfrm>
            <a:prstGeom prst="rect">
              <a:avLst/>
            </a:prstGeom>
            <a:noFill/>
            <a:ln>
              <a:noFill/>
            </a:ln>
          </p:spPr>
          <p:txBody>
            <a:bodyPr wrap="none" lIns="0" tIns="0" rIns="0" bIns="0" anchor="t" anchorCtr="0">
              <a:spAutoFit/>
            </a:bodyPr>
            <a:lstStyle/>
            <a:p>
              <a:pPr algn="ctr"/>
              <a:r>
                <a:rPr lang="zh-CN" sz="975" b="1" dirty="0">
                  <a:solidFill>
                    <a:srgbClr val="9334E6"/>
                  </a:solidFill>
                  <a:latin typeface="Segoe UI"/>
                  <a:ea typeface="Microsoft YaHei"/>
                  <a:cs typeface="Segoe UI"/>
                </a:rPr>
                <a:t>SCALABILITY</a:t>
              </a:r>
            </a:p>
          </p:txBody>
        </p:sp>
        <p:sp>
          <p:nvSpPr>
            <p:cNvPr id="42" name="Rectangle 42"/>
            <p:cNvSpPr/>
            <p:nvPr/>
          </p:nvSpPr>
          <p:spPr>
            <a:xfrm>
              <a:off x="4572000" y="2990850"/>
              <a:ext cx="3048000" cy="9525"/>
            </a:xfrm>
            <a:prstGeom prst="rect">
              <a:avLst/>
            </a:prstGeom>
            <a:solidFill>
              <a:srgbClr val="DADCE0"/>
            </a:solidFill>
            <a:ln>
              <a:noFill/>
            </a:ln>
          </p:spPr>
          <p:txBody>
            <a:bodyPr/>
            <a:lstStyle/>
            <a:p>
              <a:endParaRPr lang="zh-CN" altLang="en-US"/>
            </a:p>
          </p:txBody>
        </p:sp>
        <p:sp>
          <p:nvSpPr>
            <p:cNvPr id="43" name="Ellipse 43"/>
            <p:cNvSpPr/>
            <p:nvPr/>
          </p:nvSpPr>
          <p:spPr>
            <a:xfrm>
              <a:off x="4695825" y="3228975"/>
              <a:ext cx="57150" cy="57150"/>
            </a:xfrm>
            <a:prstGeom prst="ellipse">
              <a:avLst/>
            </a:prstGeom>
            <a:solidFill>
              <a:srgbClr val="9334E6"/>
            </a:solidFill>
            <a:ln>
              <a:noFill/>
            </a:ln>
          </p:spPr>
          <p:txBody>
            <a:bodyPr/>
            <a:lstStyle/>
            <a:p>
              <a:endParaRPr lang="zh-CN" altLang="en-US"/>
            </a:p>
          </p:txBody>
        </p:sp>
        <p:sp>
          <p:nvSpPr>
            <p:cNvPr id="44" name="TextBox 44"/>
            <p:cNvSpPr txBox="1"/>
            <p:nvPr/>
          </p:nvSpPr>
          <p:spPr>
            <a:xfrm>
              <a:off x="4824412" y="3183731"/>
              <a:ext cx="2081582"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Binary Decision Diagrams</a:t>
              </a:r>
            </a:p>
          </p:txBody>
        </p:sp>
        <p:sp>
          <p:nvSpPr>
            <p:cNvPr id="45" name="TextBox 45"/>
            <p:cNvSpPr txBox="1"/>
            <p:nvPr/>
          </p:nvSpPr>
          <p:spPr>
            <a:xfrm>
              <a:off x="4826318" y="3390424"/>
              <a:ext cx="266626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Canonical graph-based representation</a:t>
              </a:r>
            </a:p>
          </p:txBody>
        </p:sp>
        <p:sp>
          <p:nvSpPr>
            <p:cNvPr id="46" name="Ellipse 46"/>
            <p:cNvSpPr/>
            <p:nvPr/>
          </p:nvSpPr>
          <p:spPr>
            <a:xfrm>
              <a:off x="4695825" y="3743325"/>
              <a:ext cx="57150" cy="57150"/>
            </a:xfrm>
            <a:prstGeom prst="ellipse">
              <a:avLst/>
            </a:prstGeom>
            <a:solidFill>
              <a:srgbClr val="9334E6"/>
            </a:solidFill>
            <a:ln>
              <a:noFill/>
            </a:ln>
          </p:spPr>
          <p:txBody>
            <a:bodyPr/>
            <a:lstStyle/>
            <a:p>
              <a:endParaRPr lang="zh-CN" altLang="en-US"/>
            </a:p>
          </p:txBody>
        </p:sp>
        <p:sp>
          <p:nvSpPr>
            <p:cNvPr id="47" name="TextBox 47"/>
            <p:cNvSpPr txBox="1"/>
            <p:nvPr/>
          </p:nvSpPr>
          <p:spPr>
            <a:xfrm>
              <a:off x="4824412" y="3698081"/>
              <a:ext cx="2357616"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Polynomial-time equivalence</a:t>
              </a:r>
            </a:p>
          </p:txBody>
        </p:sp>
        <p:sp>
          <p:nvSpPr>
            <p:cNvPr id="48" name="TextBox 48"/>
            <p:cNvSpPr txBox="1"/>
            <p:nvPr/>
          </p:nvSpPr>
          <p:spPr>
            <a:xfrm>
              <a:off x="4826318" y="3904774"/>
              <a:ext cx="1989868"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Replaces O(2ⁿ) truth tables</a:t>
              </a:r>
            </a:p>
          </p:txBody>
        </p:sp>
        <p:sp>
          <p:nvSpPr>
            <p:cNvPr id="49" name="Ellipse 49"/>
            <p:cNvSpPr/>
            <p:nvPr/>
          </p:nvSpPr>
          <p:spPr>
            <a:xfrm>
              <a:off x="4695825" y="4257675"/>
              <a:ext cx="57150" cy="57150"/>
            </a:xfrm>
            <a:prstGeom prst="ellipse">
              <a:avLst/>
            </a:prstGeom>
            <a:solidFill>
              <a:srgbClr val="9334E6"/>
            </a:solidFill>
            <a:ln>
              <a:noFill/>
            </a:ln>
          </p:spPr>
          <p:txBody>
            <a:bodyPr/>
            <a:lstStyle/>
            <a:p>
              <a:endParaRPr lang="zh-CN" altLang="en-US"/>
            </a:p>
          </p:txBody>
        </p:sp>
        <p:sp>
          <p:nvSpPr>
            <p:cNvPr id="50" name="TextBox 50"/>
            <p:cNvSpPr txBox="1"/>
            <p:nvPr/>
          </p:nvSpPr>
          <p:spPr>
            <a:xfrm>
              <a:off x="4824412" y="4212431"/>
              <a:ext cx="2029825"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Shared sub-expressions</a:t>
              </a:r>
            </a:p>
          </p:txBody>
        </p:sp>
        <p:sp>
          <p:nvSpPr>
            <p:cNvPr id="51" name="TextBox 51"/>
            <p:cNvSpPr txBox="1"/>
            <p:nvPr/>
          </p:nvSpPr>
          <p:spPr>
            <a:xfrm>
              <a:off x="4826318" y="4419124"/>
              <a:ext cx="2445544"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Efficient for large variable counts</a:t>
              </a:r>
            </a:p>
          </p:txBody>
        </p:sp>
        <p:sp>
          <p:nvSpPr>
            <p:cNvPr id="52" name="Ellipse 52"/>
            <p:cNvSpPr/>
            <p:nvPr/>
          </p:nvSpPr>
          <p:spPr>
            <a:xfrm>
              <a:off x="4695825" y="4772025"/>
              <a:ext cx="57150" cy="57150"/>
            </a:xfrm>
            <a:prstGeom prst="ellipse">
              <a:avLst/>
            </a:prstGeom>
            <a:solidFill>
              <a:srgbClr val="9334E6"/>
            </a:solidFill>
            <a:ln>
              <a:noFill/>
            </a:ln>
          </p:spPr>
          <p:txBody>
            <a:bodyPr/>
            <a:lstStyle/>
            <a:p>
              <a:endParaRPr lang="zh-CN" altLang="en-US"/>
            </a:p>
          </p:txBody>
        </p:sp>
        <p:sp>
          <p:nvSpPr>
            <p:cNvPr id="53" name="TextBox 53"/>
            <p:cNvSpPr txBox="1"/>
            <p:nvPr/>
          </p:nvSpPr>
          <p:spPr>
            <a:xfrm>
              <a:off x="4824412" y="4726781"/>
              <a:ext cx="1555391"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Industry standard</a:t>
              </a:r>
            </a:p>
          </p:txBody>
        </p:sp>
        <p:sp>
          <p:nvSpPr>
            <p:cNvPr id="54" name="TextBox 54"/>
            <p:cNvSpPr txBox="1"/>
            <p:nvPr/>
          </p:nvSpPr>
          <p:spPr>
            <a:xfrm>
              <a:off x="4826318" y="4933474"/>
              <a:ext cx="269474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Hardware verification, model checking</a:t>
              </a:r>
            </a:p>
          </p:txBody>
        </p:sp>
        <p:sp>
          <p:nvSpPr>
            <p:cNvPr id="55" name="Rectangle 55"/>
            <p:cNvSpPr/>
            <p:nvPr/>
          </p:nvSpPr>
          <p:spPr>
            <a:xfrm>
              <a:off x="4800600" y="5391150"/>
              <a:ext cx="1905000" cy="247650"/>
            </a:xfrm>
            <a:prstGeom prst="roundRect">
              <a:avLst>
                <a:gd name="adj" fmla="val 50000"/>
              </a:avLst>
            </a:prstGeom>
            <a:solidFill>
              <a:srgbClr val="9334E6">
                <a:alpha val="12000"/>
              </a:srgbClr>
            </a:solidFill>
            <a:ln w="9525">
              <a:solidFill>
                <a:srgbClr val="9334E6">
                  <a:alpha val="40000"/>
                </a:srgbClr>
              </a:solidFill>
            </a:ln>
          </p:spPr>
          <p:txBody>
            <a:bodyPr/>
            <a:lstStyle/>
            <a:p>
              <a:endParaRPr lang="zh-CN" altLang="en-US"/>
            </a:p>
          </p:txBody>
        </p:sp>
        <p:sp>
          <p:nvSpPr>
            <p:cNvPr id="56" name="TextBox 56"/>
            <p:cNvSpPr txBox="1"/>
            <p:nvPr/>
          </p:nvSpPr>
          <p:spPr>
            <a:xfrm>
              <a:off x="5163312" y="5465445"/>
              <a:ext cx="1179576" cy="182880"/>
            </a:xfrm>
            <a:prstGeom prst="rect">
              <a:avLst/>
            </a:prstGeom>
            <a:noFill/>
            <a:ln>
              <a:noFill/>
            </a:ln>
          </p:spPr>
          <p:txBody>
            <a:bodyPr wrap="none" lIns="0" tIns="0" rIns="0" bIns="0" anchor="t" anchorCtr="0">
              <a:spAutoFit/>
            </a:bodyPr>
            <a:lstStyle/>
            <a:p>
              <a:pPr algn="ctr"/>
              <a:r>
                <a:rPr lang="zh-CN" sz="900" dirty="0">
                  <a:solidFill>
                    <a:srgbClr val="9334E6"/>
                  </a:solidFill>
                  <a:latin typeface="Segoe UI"/>
                  <a:ea typeface="Microsoft YaHei"/>
                  <a:cs typeface="Segoe UI"/>
                </a:rPr>
                <a:t>Algorithm Upgrade</a:t>
              </a:r>
            </a:p>
          </p:txBody>
        </p:sp>
      </p:grpSp>
      <p:grpSp>
        <p:nvGrpSpPr>
          <p:cNvPr id="80" name="Group 80"/>
          <p:cNvGrpSpPr/>
          <p:nvPr/>
        </p:nvGrpSpPr>
        <p:grpSpPr>
          <a:xfrm>
            <a:off x="8191500" y="1143000"/>
            <a:ext cx="3429000" cy="5143500"/>
            <a:chOff x="8191500" y="1143000"/>
            <a:chExt cx="3429000" cy="5143500"/>
          </a:xfrm>
        </p:grpSpPr>
        <p:sp>
          <p:nvSpPr>
            <p:cNvPr id="58" name="Rectangle 58"/>
            <p:cNvSpPr/>
            <p:nvPr/>
          </p:nvSpPr>
          <p:spPr>
            <a:xfrm>
              <a:off x="8191500" y="1143000"/>
              <a:ext cx="3429000" cy="5143500"/>
            </a:xfrm>
            <a:prstGeom prst="roundRect">
              <a:avLst>
                <a:gd name="adj" fmla="val 3889"/>
              </a:avLst>
            </a:prstGeom>
            <a:solidFill>
              <a:srgbClr val="FFFFFF"/>
            </a:solidFill>
            <a:ln w="9525">
              <a:solidFill>
                <a:srgbClr val="4285F4">
                  <a:alpha val="40000"/>
                </a:srgbClr>
              </a:solidFill>
            </a:ln>
          </p:spPr>
          <p:txBody>
            <a:bodyPr/>
            <a:lstStyle/>
            <a:p>
              <a:endParaRPr lang="zh-CN" altLang="en-US"/>
            </a:p>
          </p:txBody>
        </p:sp>
        <p:sp>
          <p:nvSpPr>
            <p:cNvPr id="59" name="Rectangle 59"/>
            <p:cNvSpPr/>
            <p:nvPr/>
          </p:nvSpPr>
          <p:spPr>
            <a:xfrm>
              <a:off x="8191500" y="1143000"/>
              <a:ext cx="3429000" cy="2286000"/>
            </a:xfrm>
            <a:prstGeom prst="roundRect">
              <a:avLst>
                <a:gd name="adj" fmla="val 5833"/>
              </a:avLst>
            </a:prstGeom>
            <a:gradFill>
              <a:gsLst>
                <a:gs pos="0">
                  <a:srgbClr val="4285F4">
                    <a:alpha val="6000"/>
                  </a:srgbClr>
                </a:gs>
                <a:gs pos="100000">
                  <a:srgbClr val="4285F4">
                    <a:alpha val="0"/>
                  </a:srgbClr>
                </a:gs>
              </a:gsLst>
              <a:path path="circle">
                <a:fillToRect l="50000" t="50000" r="50000" b="50000"/>
              </a:path>
            </a:gradFill>
            <a:ln>
              <a:noFill/>
            </a:ln>
          </p:spPr>
          <p:txBody>
            <a:bodyPr/>
            <a:lstStyle/>
            <a:p>
              <a:endParaRPr lang="zh-CN" altLang="en-US"/>
            </a:p>
          </p:txBody>
        </p:sp>
        <p:sp>
          <p:nvSpPr>
            <p:cNvPr id="60" name="Rectangle 60"/>
            <p:cNvSpPr/>
            <p:nvPr/>
          </p:nvSpPr>
          <p:spPr>
            <a:xfrm>
              <a:off x="8191500" y="1143000"/>
              <a:ext cx="3429000" cy="38100"/>
            </a:xfrm>
            <a:prstGeom prst="roundRect">
              <a:avLst>
                <a:gd name="adj" fmla="val 50000"/>
              </a:avLst>
            </a:prstGeom>
            <a:solidFill>
              <a:srgbClr val="4285F4"/>
            </a:solidFill>
            <a:ln>
              <a:noFill/>
            </a:ln>
          </p:spPr>
          <p:txBody>
            <a:bodyPr/>
            <a:lstStyle/>
            <a:p>
              <a:endParaRPr lang="zh-CN" altLang="en-US"/>
            </a:p>
          </p:txBody>
        </p:sp>
        <p:sp>
          <p:nvSpPr>
            <p:cNvPr id="61" name="Rectangle 61"/>
            <p:cNvSpPr/>
            <p:nvPr/>
          </p:nvSpPr>
          <p:spPr>
            <a:xfrm>
              <a:off x="9334500" y="1600200"/>
              <a:ext cx="1143000" cy="571500"/>
            </a:xfrm>
            <a:prstGeom prst="roundRect">
              <a:avLst>
                <a:gd name="adj" fmla="val 50000"/>
              </a:avLst>
            </a:prstGeom>
            <a:solidFill>
              <a:srgbClr val="4285F4">
                <a:alpha val="10000"/>
              </a:srgbClr>
            </a:solidFill>
            <a:ln>
              <a:noFill/>
            </a:ln>
          </p:spPr>
          <p:txBody>
            <a:bodyPr/>
            <a:lstStyle/>
            <a:p>
              <a:endParaRPr lang="zh-CN" altLang="en-US"/>
            </a:p>
          </p:txBody>
        </p:sp>
        <p:sp>
          <p:nvSpPr>
            <p:cNvPr id="62" name="Freeform 62"/>
            <p:cNvSpPr/>
            <p:nvPr/>
          </p:nvSpPr>
          <p:spPr>
            <a:xfrm>
              <a:off x="9844088" y="1728788"/>
              <a:ext cx="314325" cy="314325"/>
            </a:xfrm>
            <a:custGeom>
              <a:avLst/>
              <a:gdLst/>
              <a:ahLst/>
              <a:cxnLst/>
              <a:rect l="l" t="t" r="r" b="b"/>
              <a:pathLst>
                <a:path w="314325" h="314325">
                  <a:moveTo>
                    <a:pt x="250290" y="0"/>
                  </a:moveTo>
                  <a:cubicBezTo>
                    <a:pt x="267273" y="0"/>
                    <a:pt x="283561" y="6747"/>
                    <a:pt x="295570" y="18755"/>
                  </a:cubicBezTo>
                  <a:cubicBezTo>
                    <a:pt x="307578" y="30764"/>
                    <a:pt x="314325" y="47052"/>
                    <a:pt x="314325" y="64035"/>
                  </a:cubicBezTo>
                  <a:lnTo>
                    <a:pt x="314325" y="250290"/>
                  </a:lnTo>
                  <a:cubicBezTo>
                    <a:pt x="314325" y="267273"/>
                    <a:pt x="307578" y="283561"/>
                    <a:pt x="295570" y="295570"/>
                  </a:cubicBezTo>
                  <a:cubicBezTo>
                    <a:pt x="283561" y="307578"/>
                    <a:pt x="267273" y="314325"/>
                    <a:pt x="250290" y="314325"/>
                  </a:cubicBezTo>
                  <a:lnTo>
                    <a:pt x="64035" y="314325"/>
                  </a:lnTo>
                  <a:cubicBezTo>
                    <a:pt x="47052" y="314325"/>
                    <a:pt x="30764" y="307578"/>
                    <a:pt x="18755" y="295570"/>
                  </a:cubicBezTo>
                  <a:cubicBezTo>
                    <a:pt x="6747" y="283561"/>
                    <a:pt x="0" y="267273"/>
                    <a:pt x="0" y="250290"/>
                  </a:cubicBezTo>
                  <a:lnTo>
                    <a:pt x="0" y="64035"/>
                  </a:lnTo>
                  <a:cubicBezTo>
                    <a:pt x="0" y="28669"/>
                    <a:pt x="28669" y="0"/>
                    <a:pt x="64035" y="0"/>
                  </a:cubicBezTo>
                  <a:close/>
                  <a:moveTo>
                    <a:pt x="187722" y="52388"/>
                  </a:moveTo>
                  <a:cubicBezTo>
                    <a:pt x="166347" y="52373"/>
                    <a:pt x="148446" y="68574"/>
                    <a:pt x="146336" y="89845"/>
                  </a:cubicBezTo>
                  <a:lnTo>
                    <a:pt x="141359" y="139700"/>
                  </a:lnTo>
                  <a:lnTo>
                    <a:pt x="104775" y="139700"/>
                  </a:lnTo>
                  <a:lnTo>
                    <a:pt x="102732" y="139822"/>
                  </a:lnTo>
                  <a:cubicBezTo>
                    <a:pt x="93557" y="140913"/>
                    <a:pt x="86820" y="148962"/>
                    <a:pt x="87362" y="158186"/>
                  </a:cubicBezTo>
                  <a:cubicBezTo>
                    <a:pt x="87903" y="167409"/>
                    <a:pt x="95536" y="174615"/>
                    <a:pt x="104775" y="174625"/>
                  </a:cubicBezTo>
                  <a:lnTo>
                    <a:pt x="137849" y="174625"/>
                  </a:lnTo>
                  <a:lnTo>
                    <a:pt x="133221" y="221005"/>
                  </a:lnTo>
                  <a:lnTo>
                    <a:pt x="132977" y="222245"/>
                  </a:lnTo>
                  <a:cubicBezTo>
                    <a:pt x="132147" y="225074"/>
                    <a:pt x="129551" y="227015"/>
                    <a:pt x="126603" y="227013"/>
                  </a:cubicBezTo>
                  <a:cubicBezTo>
                    <a:pt x="124192" y="227013"/>
                    <a:pt x="122237" y="225058"/>
                    <a:pt x="122237" y="222647"/>
                  </a:cubicBezTo>
                  <a:lnTo>
                    <a:pt x="122237" y="218281"/>
                  </a:lnTo>
                  <a:lnTo>
                    <a:pt x="122115" y="216238"/>
                  </a:lnTo>
                  <a:cubicBezTo>
                    <a:pt x="121024" y="207064"/>
                    <a:pt x="112975" y="200327"/>
                    <a:pt x="103752" y="200868"/>
                  </a:cubicBezTo>
                  <a:cubicBezTo>
                    <a:pt x="94528" y="201410"/>
                    <a:pt x="87323" y="209042"/>
                    <a:pt x="87313" y="218281"/>
                  </a:cubicBezTo>
                  <a:lnTo>
                    <a:pt x="87313" y="222647"/>
                  </a:lnTo>
                  <a:lnTo>
                    <a:pt x="87400" y="225336"/>
                  </a:lnTo>
                  <a:cubicBezTo>
                    <a:pt x="88814" y="245945"/>
                    <a:pt x="105945" y="261940"/>
                    <a:pt x="126603" y="261938"/>
                  </a:cubicBezTo>
                  <a:cubicBezTo>
                    <a:pt x="147978" y="261952"/>
                    <a:pt x="165879" y="245751"/>
                    <a:pt x="167989" y="224480"/>
                  </a:cubicBezTo>
                  <a:lnTo>
                    <a:pt x="172949" y="174625"/>
                  </a:lnTo>
                  <a:lnTo>
                    <a:pt x="209550" y="174625"/>
                  </a:lnTo>
                  <a:lnTo>
                    <a:pt x="211593" y="174503"/>
                  </a:lnTo>
                  <a:cubicBezTo>
                    <a:pt x="220768" y="173412"/>
                    <a:pt x="227505" y="165363"/>
                    <a:pt x="226963" y="156139"/>
                  </a:cubicBezTo>
                  <a:cubicBezTo>
                    <a:pt x="226422" y="146916"/>
                    <a:pt x="218789" y="139710"/>
                    <a:pt x="209550" y="139700"/>
                  </a:cubicBezTo>
                  <a:lnTo>
                    <a:pt x="176459" y="139700"/>
                  </a:lnTo>
                  <a:lnTo>
                    <a:pt x="181104" y="93320"/>
                  </a:lnTo>
                  <a:lnTo>
                    <a:pt x="181348" y="92080"/>
                  </a:lnTo>
                  <a:cubicBezTo>
                    <a:pt x="182183" y="89255"/>
                    <a:pt x="184776" y="87315"/>
                    <a:pt x="187722" y="87312"/>
                  </a:cubicBezTo>
                  <a:cubicBezTo>
                    <a:pt x="190133" y="87312"/>
                    <a:pt x="192088" y="89267"/>
                    <a:pt x="192088" y="91678"/>
                  </a:cubicBezTo>
                  <a:lnTo>
                    <a:pt x="192088" y="96044"/>
                  </a:lnTo>
                  <a:lnTo>
                    <a:pt x="192210" y="98087"/>
                  </a:lnTo>
                  <a:cubicBezTo>
                    <a:pt x="193301" y="107261"/>
                    <a:pt x="201350" y="113998"/>
                    <a:pt x="210573" y="113457"/>
                  </a:cubicBezTo>
                  <a:cubicBezTo>
                    <a:pt x="219797" y="112915"/>
                    <a:pt x="227002" y="105283"/>
                    <a:pt x="227012" y="96044"/>
                  </a:cubicBezTo>
                  <a:lnTo>
                    <a:pt x="227012" y="91678"/>
                  </a:lnTo>
                  <a:lnTo>
                    <a:pt x="226925" y="88989"/>
                  </a:lnTo>
                  <a:cubicBezTo>
                    <a:pt x="225511" y="68380"/>
                    <a:pt x="208380" y="52385"/>
                    <a:pt x="187722" y="52388"/>
                  </a:cubicBezTo>
                  <a:close/>
                </a:path>
              </a:pathLst>
            </a:custGeom>
            <a:solidFill>
              <a:srgbClr val="4285F4"/>
            </a:solidFill>
            <a:ln>
              <a:noFill/>
            </a:ln>
          </p:spPr>
          <p:txBody>
            <a:bodyPr/>
            <a:lstStyle/>
            <a:p>
              <a:endParaRPr lang="zh-CN" altLang="en-US"/>
            </a:p>
          </p:txBody>
        </p:sp>
        <p:sp>
          <p:nvSpPr>
            <p:cNvPr id="63" name="TextBox 63"/>
            <p:cNvSpPr txBox="1"/>
            <p:nvPr/>
          </p:nvSpPr>
          <p:spPr>
            <a:xfrm>
              <a:off x="8754058" y="2409825"/>
              <a:ext cx="2303883" cy="304800"/>
            </a:xfrm>
            <a:prstGeom prst="rect">
              <a:avLst/>
            </a:prstGeom>
            <a:noFill/>
            <a:ln>
              <a:noFill/>
            </a:ln>
          </p:spPr>
          <p:txBody>
            <a:bodyPr wrap="none" lIns="0" tIns="0" rIns="0" bIns="0" anchor="t" anchorCtr="0">
              <a:spAutoFit/>
            </a:bodyPr>
            <a:lstStyle/>
            <a:p>
              <a:pPr algn="ctr"/>
              <a:r>
                <a:rPr lang="zh-CN" sz="1500" b="1" dirty="0">
                  <a:solidFill>
                    <a:srgbClr val="202124"/>
                  </a:solidFill>
                  <a:latin typeface="Segoe UI"/>
                  <a:ea typeface="Microsoft YaHei"/>
                  <a:cs typeface="Segoe UI"/>
                </a:rPr>
                <a:t>Deeper Optimization</a:t>
              </a:r>
            </a:p>
          </p:txBody>
        </p:sp>
        <p:sp>
          <p:nvSpPr>
            <p:cNvPr id="64" name="TextBox 64"/>
            <p:cNvSpPr txBox="1"/>
            <p:nvPr/>
          </p:nvSpPr>
          <p:spPr>
            <a:xfrm>
              <a:off x="9359088" y="2695099"/>
              <a:ext cx="1093824" cy="198120"/>
            </a:xfrm>
            <a:prstGeom prst="rect">
              <a:avLst/>
            </a:prstGeom>
            <a:noFill/>
            <a:ln>
              <a:noFill/>
            </a:ln>
          </p:spPr>
          <p:txBody>
            <a:bodyPr wrap="none" lIns="0" tIns="0" rIns="0" bIns="0" anchor="t" anchorCtr="0">
              <a:spAutoFit/>
            </a:bodyPr>
            <a:lstStyle/>
            <a:p>
              <a:pPr algn="ctr"/>
              <a:r>
                <a:rPr lang="zh-CN" sz="975" b="1" dirty="0">
                  <a:solidFill>
                    <a:srgbClr val="4285F4"/>
                  </a:solidFill>
                  <a:latin typeface="Segoe UI"/>
                  <a:ea typeface="Microsoft YaHei"/>
                  <a:cs typeface="Segoe UI"/>
                </a:rPr>
                <a:t>NORMAL FORMS</a:t>
              </a:r>
            </a:p>
          </p:txBody>
        </p:sp>
        <p:sp>
          <p:nvSpPr>
            <p:cNvPr id="65" name="Rectangle 65"/>
            <p:cNvSpPr/>
            <p:nvPr/>
          </p:nvSpPr>
          <p:spPr>
            <a:xfrm>
              <a:off x="8382000" y="2990850"/>
              <a:ext cx="3048000" cy="9525"/>
            </a:xfrm>
            <a:prstGeom prst="rect">
              <a:avLst/>
            </a:prstGeom>
            <a:solidFill>
              <a:srgbClr val="DADCE0"/>
            </a:solidFill>
            <a:ln>
              <a:noFill/>
            </a:ln>
          </p:spPr>
          <p:txBody>
            <a:bodyPr/>
            <a:lstStyle/>
            <a:p>
              <a:endParaRPr lang="zh-CN" altLang="en-US"/>
            </a:p>
          </p:txBody>
        </p:sp>
        <p:sp>
          <p:nvSpPr>
            <p:cNvPr id="66" name="Ellipse 66"/>
            <p:cNvSpPr/>
            <p:nvPr/>
          </p:nvSpPr>
          <p:spPr>
            <a:xfrm>
              <a:off x="8505825" y="3228975"/>
              <a:ext cx="57150" cy="57150"/>
            </a:xfrm>
            <a:prstGeom prst="ellipse">
              <a:avLst/>
            </a:prstGeom>
            <a:solidFill>
              <a:srgbClr val="4285F4"/>
            </a:solidFill>
            <a:ln>
              <a:noFill/>
            </a:ln>
          </p:spPr>
          <p:txBody>
            <a:bodyPr/>
            <a:lstStyle/>
            <a:p>
              <a:endParaRPr lang="zh-CN" altLang="en-US"/>
            </a:p>
          </p:txBody>
        </p:sp>
        <p:sp>
          <p:nvSpPr>
            <p:cNvPr id="67" name="TextBox 67"/>
            <p:cNvSpPr txBox="1"/>
            <p:nvPr/>
          </p:nvSpPr>
          <p:spPr>
            <a:xfrm>
              <a:off x="8634412" y="3183731"/>
              <a:ext cx="2228225"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Distributive law expansion</a:t>
              </a:r>
            </a:p>
          </p:txBody>
        </p:sp>
        <p:sp>
          <p:nvSpPr>
            <p:cNvPr id="68" name="TextBox 68"/>
            <p:cNvSpPr txBox="1"/>
            <p:nvPr/>
          </p:nvSpPr>
          <p:spPr>
            <a:xfrm>
              <a:off x="8637270" y="3398520"/>
              <a:ext cx="2500598" cy="182880"/>
            </a:xfrm>
            <a:prstGeom prst="rect">
              <a:avLst/>
            </a:prstGeom>
            <a:noFill/>
            <a:ln>
              <a:noFill/>
            </a:ln>
          </p:spPr>
          <p:txBody>
            <a:bodyPr wrap="none" lIns="0" tIns="0" rIns="0" bIns="0" anchor="t" anchorCtr="0">
              <a:spAutoFit/>
            </a:bodyPr>
            <a:lstStyle/>
            <a:p>
              <a:pPr algn="l"/>
              <a:r>
                <a:rPr lang="zh-CN" sz="900" dirty="0">
                  <a:solidFill>
                    <a:srgbClr val="5F6368"/>
                  </a:solidFill>
                  <a:latin typeface="Consolas"/>
                  <a:ea typeface="Microsoft YaHei"/>
                  <a:cs typeface="Consolas"/>
                </a:rPr>
                <a:t>A AND (B OR C) → (A AND B) OR (A AND C)</a:t>
              </a:r>
            </a:p>
          </p:txBody>
        </p:sp>
        <p:sp>
          <p:nvSpPr>
            <p:cNvPr id="69" name="Ellipse 69"/>
            <p:cNvSpPr/>
            <p:nvPr/>
          </p:nvSpPr>
          <p:spPr>
            <a:xfrm>
              <a:off x="8505825" y="3762375"/>
              <a:ext cx="57150" cy="57150"/>
            </a:xfrm>
            <a:prstGeom prst="ellipse">
              <a:avLst/>
            </a:prstGeom>
            <a:solidFill>
              <a:srgbClr val="4285F4"/>
            </a:solidFill>
            <a:ln>
              <a:noFill/>
            </a:ln>
          </p:spPr>
          <p:txBody>
            <a:bodyPr/>
            <a:lstStyle/>
            <a:p>
              <a:endParaRPr lang="zh-CN" altLang="en-US"/>
            </a:p>
          </p:txBody>
        </p:sp>
        <p:sp>
          <p:nvSpPr>
            <p:cNvPr id="70" name="TextBox 70"/>
            <p:cNvSpPr txBox="1"/>
            <p:nvPr/>
          </p:nvSpPr>
          <p:spPr>
            <a:xfrm>
              <a:off x="8634412" y="3717131"/>
              <a:ext cx="1138132" cy="173124"/>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CNF conversion</a:t>
              </a:r>
              <a:r>
                <a:rPr lang="zh-CN" altLang="en-US" sz="1125" b="1" dirty="0">
                  <a:solidFill>
                    <a:srgbClr val="202124"/>
                  </a:solidFill>
                  <a:latin typeface="Segoe UI"/>
                  <a:ea typeface="Microsoft YaHei"/>
                  <a:cs typeface="Segoe UI"/>
                </a:rPr>
                <a:t> </a:t>
              </a:r>
              <a:endParaRPr lang="zh-CN" sz="1125" b="1" dirty="0">
                <a:solidFill>
                  <a:srgbClr val="202124"/>
                </a:solidFill>
                <a:latin typeface="Segoe UI"/>
                <a:ea typeface="Microsoft YaHei"/>
                <a:cs typeface="Segoe UI"/>
              </a:endParaRPr>
            </a:p>
          </p:txBody>
        </p:sp>
        <p:sp>
          <p:nvSpPr>
            <p:cNvPr id="71" name="TextBox 71"/>
            <p:cNvSpPr txBox="1"/>
            <p:nvPr/>
          </p:nvSpPr>
          <p:spPr>
            <a:xfrm>
              <a:off x="8636318" y="3923824"/>
              <a:ext cx="2687622"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Conjunctive Normal Form normalization</a:t>
              </a:r>
            </a:p>
          </p:txBody>
        </p:sp>
        <p:sp>
          <p:nvSpPr>
            <p:cNvPr id="72" name="Ellipse 72"/>
            <p:cNvSpPr/>
            <p:nvPr/>
          </p:nvSpPr>
          <p:spPr>
            <a:xfrm>
              <a:off x="8505825" y="4276725"/>
              <a:ext cx="57150" cy="57150"/>
            </a:xfrm>
            <a:prstGeom prst="ellipse">
              <a:avLst/>
            </a:prstGeom>
            <a:solidFill>
              <a:srgbClr val="4285F4"/>
            </a:solidFill>
            <a:ln>
              <a:noFill/>
            </a:ln>
          </p:spPr>
          <p:txBody>
            <a:bodyPr/>
            <a:lstStyle/>
            <a:p>
              <a:endParaRPr lang="zh-CN" altLang="en-US"/>
            </a:p>
          </p:txBody>
        </p:sp>
        <p:sp>
          <p:nvSpPr>
            <p:cNvPr id="73" name="TextBox 73"/>
            <p:cNvSpPr txBox="1"/>
            <p:nvPr/>
          </p:nvSpPr>
          <p:spPr>
            <a:xfrm>
              <a:off x="8634412" y="4231481"/>
              <a:ext cx="1270730"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DNF conversion</a:t>
              </a:r>
            </a:p>
          </p:txBody>
        </p:sp>
        <p:sp>
          <p:nvSpPr>
            <p:cNvPr id="74" name="TextBox 74"/>
            <p:cNvSpPr txBox="1"/>
            <p:nvPr/>
          </p:nvSpPr>
          <p:spPr>
            <a:xfrm>
              <a:off x="8636318" y="4438174"/>
              <a:ext cx="2381464"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Disjunctive Normal Form reduction</a:t>
              </a:r>
            </a:p>
          </p:txBody>
        </p:sp>
        <p:sp>
          <p:nvSpPr>
            <p:cNvPr id="75" name="Ellipse 75"/>
            <p:cNvSpPr/>
            <p:nvPr/>
          </p:nvSpPr>
          <p:spPr>
            <a:xfrm>
              <a:off x="8505825" y="4791075"/>
              <a:ext cx="57150" cy="57150"/>
            </a:xfrm>
            <a:prstGeom prst="ellipse">
              <a:avLst/>
            </a:prstGeom>
            <a:solidFill>
              <a:srgbClr val="4285F4"/>
            </a:solidFill>
            <a:ln>
              <a:noFill/>
            </a:ln>
          </p:spPr>
          <p:txBody>
            <a:bodyPr/>
            <a:lstStyle/>
            <a:p>
              <a:endParaRPr lang="zh-CN" altLang="en-US"/>
            </a:p>
          </p:txBody>
        </p:sp>
        <p:sp>
          <p:nvSpPr>
            <p:cNvPr id="76" name="TextBox 76"/>
            <p:cNvSpPr txBox="1"/>
            <p:nvPr/>
          </p:nvSpPr>
          <p:spPr>
            <a:xfrm>
              <a:off x="8634412" y="4745831"/>
              <a:ext cx="2090208" cy="228600"/>
            </a:xfrm>
            <a:prstGeom prst="rect">
              <a:avLst/>
            </a:prstGeom>
            <a:noFill/>
            <a:ln>
              <a:noFill/>
            </a:ln>
          </p:spPr>
          <p:txBody>
            <a:bodyPr wrap="none" lIns="0" tIns="0" rIns="0" bIns="0" anchor="t" anchorCtr="0">
              <a:spAutoFit/>
            </a:bodyPr>
            <a:lstStyle/>
            <a:p>
              <a:pPr algn="l"/>
              <a:r>
                <a:rPr lang="zh-CN" sz="1125" b="1" dirty="0">
                  <a:solidFill>
                    <a:srgbClr val="202124"/>
                  </a:solidFill>
                  <a:latin typeface="Segoe UI"/>
                  <a:ea typeface="Microsoft YaHei"/>
                  <a:cs typeface="Segoe UI"/>
                </a:rPr>
                <a:t>Quine-McCluskey method</a:t>
              </a:r>
            </a:p>
          </p:txBody>
        </p:sp>
        <p:sp>
          <p:nvSpPr>
            <p:cNvPr id="77" name="TextBox 77"/>
            <p:cNvSpPr txBox="1"/>
            <p:nvPr/>
          </p:nvSpPr>
          <p:spPr>
            <a:xfrm>
              <a:off x="8636318" y="4952524"/>
              <a:ext cx="2153626" cy="198120"/>
            </a:xfrm>
            <a:prstGeom prst="rect">
              <a:avLst/>
            </a:prstGeom>
            <a:noFill/>
            <a:ln>
              <a:noFill/>
            </a:ln>
          </p:spPr>
          <p:txBody>
            <a:bodyPr wrap="none" lIns="0" tIns="0" rIns="0" bIns="0" anchor="t" anchorCtr="0">
              <a:spAutoFit/>
            </a:bodyPr>
            <a:lstStyle/>
            <a:p>
              <a:pPr algn="l"/>
              <a:r>
                <a:rPr lang="zh-CN" sz="975" dirty="0">
                  <a:solidFill>
                    <a:srgbClr val="5F6368"/>
                  </a:solidFill>
                  <a:latin typeface="Segoe UI"/>
                  <a:ea typeface="Microsoft YaHei"/>
                  <a:cs typeface="Segoe UI"/>
                </a:rPr>
                <a:t>Minimal sum-of-products form</a:t>
              </a:r>
            </a:p>
          </p:txBody>
        </p:sp>
        <p:sp>
          <p:nvSpPr>
            <p:cNvPr id="78" name="Rectangle 78"/>
            <p:cNvSpPr/>
            <p:nvPr/>
          </p:nvSpPr>
          <p:spPr>
            <a:xfrm>
              <a:off x="8553450" y="5391150"/>
              <a:ext cx="1905000" cy="247650"/>
            </a:xfrm>
            <a:prstGeom prst="roundRect">
              <a:avLst>
                <a:gd name="adj" fmla="val 50000"/>
              </a:avLst>
            </a:prstGeom>
            <a:solidFill>
              <a:srgbClr val="4285F4">
                <a:alpha val="12000"/>
              </a:srgbClr>
            </a:solidFill>
            <a:ln w="9525">
              <a:solidFill>
                <a:srgbClr val="4285F4">
                  <a:alpha val="40000"/>
                </a:srgbClr>
              </a:solidFill>
            </a:ln>
          </p:spPr>
          <p:txBody>
            <a:bodyPr/>
            <a:lstStyle/>
            <a:p>
              <a:endParaRPr lang="zh-CN" altLang="en-US"/>
            </a:p>
          </p:txBody>
        </p:sp>
        <p:sp>
          <p:nvSpPr>
            <p:cNvPr id="79" name="TextBox 79"/>
            <p:cNvSpPr txBox="1"/>
            <p:nvPr/>
          </p:nvSpPr>
          <p:spPr>
            <a:xfrm>
              <a:off x="8870156" y="5465445"/>
              <a:ext cx="1271587" cy="182880"/>
            </a:xfrm>
            <a:prstGeom prst="rect">
              <a:avLst/>
            </a:prstGeom>
            <a:noFill/>
            <a:ln>
              <a:noFill/>
            </a:ln>
          </p:spPr>
          <p:txBody>
            <a:bodyPr wrap="none" lIns="0" tIns="0" rIns="0" bIns="0" anchor="t" anchorCtr="0">
              <a:spAutoFit/>
            </a:bodyPr>
            <a:lstStyle/>
            <a:p>
              <a:pPr algn="ctr"/>
              <a:r>
                <a:rPr lang="zh-CN" sz="900" dirty="0">
                  <a:solidFill>
                    <a:srgbClr val="4285F4"/>
                  </a:solidFill>
                  <a:latin typeface="Segoe UI"/>
                  <a:ea typeface="Microsoft YaHei"/>
                  <a:cs typeface="Segoe UI"/>
                </a:rPr>
                <a:t>Optimization Power</a:t>
              </a:r>
            </a:p>
          </p:txBody>
        </p:sp>
      </p:grpSp>
      <p:grpSp>
        <p:nvGrpSpPr>
          <p:cNvPr id="84" name="Group 84"/>
          <p:cNvGrpSpPr/>
          <p:nvPr/>
        </p:nvGrpSpPr>
        <p:grpSpPr>
          <a:xfrm>
            <a:off x="561022" y="6572250"/>
            <a:ext cx="11069956" cy="269081"/>
            <a:chOff x="561022" y="6572250"/>
            <a:chExt cx="11069956" cy="269081"/>
          </a:xfrm>
        </p:grpSpPr>
        <p:sp>
          <p:nvSpPr>
            <p:cNvPr id="81" name="Rectangle 81"/>
            <p:cNvSpPr/>
            <p:nvPr/>
          </p:nvSpPr>
          <p:spPr>
            <a:xfrm>
              <a:off x="571500" y="6572250"/>
              <a:ext cx="11049000" cy="9525"/>
            </a:xfrm>
            <a:prstGeom prst="rect">
              <a:avLst/>
            </a:prstGeom>
            <a:solidFill>
              <a:srgbClr val="DADCE0"/>
            </a:solidFill>
            <a:ln>
              <a:noFill/>
            </a:ln>
          </p:spPr>
          <p:txBody>
            <a:bodyPr/>
            <a:lstStyle/>
            <a:p>
              <a:endParaRPr lang="zh-CN" altLang="en-US"/>
            </a:p>
          </p:txBody>
        </p:sp>
        <p:sp>
          <p:nvSpPr>
            <p:cNvPr id="82" name="TextBox 82"/>
            <p:cNvSpPr txBox="1"/>
            <p:nvPr/>
          </p:nvSpPr>
          <p:spPr>
            <a:xfrm>
              <a:off x="561022" y="6673691"/>
              <a:ext cx="2515124" cy="167640"/>
            </a:xfrm>
            <a:prstGeom prst="rect">
              <a:avLst/>
            </a:prstGeom>
            <a:noFill/>
            <a:ln>
              <a:noFill/>
            </a:ln>
          </p:spPr>
          <p:txBody>
            <a:bodyPr wrap="none" lIns="0" tIns="0" rIns="0" bIns="0" anchor="t" anchorCtr="0">
              <a:spAutoFit/>
            </a:bodyPr>
            <a:lstStyle/>
            <a:p>
              <a:pPr algn="l"/>
              <a:r>
                <a:rPr lang="zh-CN" sz="825" dirty="0">
                  <a:solidFill>
                    <a:srgbClr val="80868B"/>
                  </a:solidFill>
                  <a:latin typeface="Segoe UI"/>
                  <a:ea typeface="Microsoft YaHei"/>
                  <a:cs typeface="Segoe UI"/>
                </a:rPr>
                <a:t>LogicScript Optimizing Compiler · UFUG2106</a:t>
              </a:r>
            </a:p>
          </p:txBody>
        </p:sp>
        <p:sp>
          <p:nvSpPr>
            <p:cNvPr id="83" name="TextBox 83"/>
            <p:cNvSpPr txBox="1"/>
            <p:nvPr/>
          </p:nvSpPr>
          <p:spPr>
            <a:xfrm>
              <a:off x="11507605" y="667369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14</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fade">
                                      <p:cBhvr>
                                        <p:cTn id="11" dur="500"/>
                                        <p:tgtEl>
                                          <p:spTgt spid="57"/>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80"/>
                                        </p:tgtEl>
                                        <p:attrNameLst>
                                          <p:attrName>style.visibility</p:attrName>
                                        </p:attrNameLst>
                                      </p:cBhvr>
                                      <p:to>
                                        <p:strVal val="visible"/>
                                      </p:to>
                                    </p:set>
                                    <p:animEffect transition="in" filter="fade">
                                      <p:cBhvr>
                                        <p:cTn id="15"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57" grpId="0"/>
      <p:bldP spid="8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Group 23"/>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gradFill>
              <a:gsLst>
                <a:gs pos="0">
                  <a:srgbClr val="E8F0FE"/>
                </a:gs>
                <a:gs pos="50000">
                  <a:srgbClr val="FFFFFF"/>
                </a:gs>
                <a:gs pos="100000">
                  <a:srgbClr val="E8F5E9"/>
                </a:gs>
              </a:gsLst>
              <a:lin ang="2700000" scaled="1"/>
            </a:gradFill>
            <a:ln>
              <a:noFill/>
            </a:ln>
          </p:spPr>
          <p:txBody>
            <a:bodyPr/>
            <a:lstStyle/>
            <a:p>
              <a:endParaRPr lang="zh-CN" altLang="en-US"/>
            </a:p>
          </p:txBody>
        </p:sp>
        <p:sp>
          <p:nvSpPr>
            <p:cNvPr id="3" name="Rectangle 3"/>
            <p:cNvSpPr/>
            <p:nvPr/>
          </p:nvSpPr>
          <p:spPr>
            <a:xfrm>
              <a:off x="0" y="0"/>
              <a:ext cx="12192000" cy="6858000"/>
            </a:xfrm>
            <a:prstGeom prst="rect">
              <a:avLst/>
            </a:prstGeom>
            <a:gradFill>
              <a:gsLst>
                <a:gs pos="0">
                  <a:srgbClr val="4285F4">
                    <a:alpha val="6000"/>
                  </a:srgbClr>
                </a:gs>
                <a:gs pos="100000">
                  <a:srgbClr val="4285F4">
                    <a:alpha val="0"/>
                  </a:srgbClr>
                </a:gs>
              </a:gsLst>
              <a:path path="circle">
                <a:fillToRect l="50000" t="50000" r="50000" b="50000"/>
              </a:path>
            </a:gradFill>
            <a:ln>
              <a:noFill/>
            </a:ln>
          </p:spPr>
          <p:txBody>
            <a:bodyPr/>
            <a:lstStyle/>
            <a:p>
              <a:endParaRPr lang="zh-CN" altLang="en-US"/>
            </a:p>
          </p:txBody>
        </p:sp>
        <p:sp>
          <p:nvSpPr>
            <p:cNvPr id="4" name="Rectangle 4"/>
            <p:cNvSpPr/>
            <p:nvPr/>
          </p:nvSpPr>
          <p:spPr>
            <a:xfrm>
              <a:off x="0" y="0"/>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sp>
          <p:nvSpPr>
            <p:cNvPr id="5" name="Rectangle 5"/>
            <p:cNvSpPr/>
            <p:nvPr/>
          </p:nvSpPr>
          <p:spPr>
            <a:xfrm>
              <a:off x="0" y="6829425"/>
              <a:ext cx="12192000" cy="28575"/>
            </a:xfrm>
            <a:prstGeom prst="rect">
              <a:avLst/>
            </a:prstGeom>
            <a:gradFill>
              <a:gsLst>
                <a:gs pos="0">
                  <a:srgbClr val="4285F4"/>
                </a:gs>
                <a:gs pos="100000">
                  <a:srgbClr val="9334E6"/>
                </a:gs>
              </a:gsLst>
              <a:lin ang="0" scaled="1"/>
            </a:gradFill>
            <a:ln>
              <a:noFill/>
            </a:ln>
          </p:spPr>
          <p:txBody>
            <a:bodyPr/>
            <a:lstStyle/>
            <a:p>
              <a:endParaRPr lang="zh-CN" altLang="en-US"/>
            </a:p>
          </p:txBody>
        </p:sp>
        <p:grpSp>
          <p:nvGrpSpPr>
            <p:cNvPr id="22" name="Group 22"/>
            <p:cNvGrpSpPr/>
            <p:nvPr/>
          </p:nvGrpSpPr>
          <p:grpSpPr>
            <a:xfrm>
              <a:off x="747712" y="747712"/>
              <a:ext cx="10696575" cy="5362575"/>
              <a:chOff x="747712" y="747712"/>
              <a:chExt cx="10696575" cy="5362575"/>
            </a:xfrm>
          </p:grpSpPr>
          <p:sp>
            <p:nvSpPr>
              <p:cNvPr id="6" name="Ellipse 6"/>
              <p:cNvSpPr/>
              <p:nvPr/>
            </p:nvSpPr>
            <p:spPr>
              <a:xfrm>
                <a:off x="747712" y="747712"/>
                <a:ext cx="28575" cy="28575"/>
              </a:xfrm>
              <a:prstGeom prst="ellipse">
                <a:avLst/>
              </a:prstGeom>
              <a:solidFill>
                <a:srgbClr val="DADCE0"/>
              </a:solidFill>
              <a:ln>
                <a:noFill/>
              </a:ln>
            </p:spPr>
            <p:txBody>
              <a:bodyPr/>
              <a:lstStyle/>
              <a:p>
                <a:endParaRPr lang="zh-CN" altLang="en-US"/>
              </a:p>
            </p:txBody>
          </p:sp>
          <p:sp>
            <p:nvSpPr>
              <p:cNvPr id="7" name="Ellipse 7"/>
              <p:cNvSpPr/>
              <p:nvPr/>
            </p:nvSpPr>
            <p:spPr>
              <a:xfrm>
                <a:off x="2271712" y="747712"/>
                <a:ext cx="28575" cy="28575"/>
              </a:xfrm>
              <a:prstGeom prst="ellipse">
                <a:avLst/>
              </a:prstGeom>
              <a:solidFill>
                <a:srgbClr val="DADCE0"/>
              </a:solidFill>
              <a:ln>
                <a:noFill/>
              </a:ln>
            </p:spPr>
            <p:txBody>
              <a:bodyPr/>
              <a:lstStyle/>
              <a:p>
                <a:endParaRPr lang="zh-CN" altLang="en-US"/>
              </a:p>
            </p:txBody>
          </p:sp>
          <p:sp>
            <p:nvSpPr>
              <p:cNvPr id="8" name="Ellipse 8"/>
              <p:cNvSpPr/>
              <p:nvPr/>
            </p:nvSpPr>
            <p:spPr>
              <a:xfrm>
                <a:off x="3795712" y="747712"/>
                <a:ext cx="28575" cy="28575"/>
              </a:xfrm>
              <a:prstGeom prst="ellipse">
                <a:avLst/>
              </a:prstGeom>
              <a:solidFill>
                <a:srgbClr val="DADCE0"/>
              </a:solidFill>
              <a:ln>
                <a:noFill/>
              </a:ln>
            </p:spPr>
            <p:txBody>
              <a:bodyPr/>
              <a:lstStyle/>
              <a:p>
                <a:endParaRPr lang="zh-CN" altLang="en-US"/>
              </a:p>
            </p:txBody>
          </p:sp>
          <p:sp>
            <p:nvSpPr>
              <p:cNvPr id="9" name="Ellipse 9"/>
              <p:cNvSpPr/>
              <p:nvPr/>
            </p:nvSpPr>
            <p:spPr>
              <a:xfrm>
                <a:off x="5319712" y="747712"/>
                <a:ext cx="28575" cy="28575"/>
              </a:xfrm>
              <a:prstGeom prst="ellipse">
                <a:avLst/>
              </a:prstGeom>
              <a:solidFill>
                <a:srgbClr val="DADCE0"/>
              </a:solidFill>
              <a:ln>
                <a:noFill/>
              </a:ln>
            </p:spPr>
            <p:txBody>
              <a:bodyPr/>
              <a:lstStyle/>
              <a:p>
                <a:endParaRPr lang="zh-CN" altLang="en-US"/>
              </a:p>
            </p:txBody>
          </p:sp>
          <p:sp>
            <p:nvSpPr>
              <p:cNvPr id="10" name="Ellipse 10"/>
              <p:cNvSpPr/>
              <p:nvPr/>
            </p:nvSpPr>
            <p:spPr>
              <a:xfrm>
                <a:off x="6843712" y="747712"/>
                <a:ext cx="28575" cy="28575"/>
              </a:xfrm>
              <a:prstGeom prst="ellipse">
                <a:avLst/>
              </a:prstGeom>
              <a:solidFill>
                <a:srgbClr val="DADCE0"/>
              </a:solidFill>
              <a:ln>
                <a:noFill/>
              </a:ln>
            </p:spPr>
            <p:txBody>
              <a:bodyPr/>
              <a:lstStyle/>
              <a:p>
                <a:endParaRPr lang="zh-CN" altLang="en-US"/>
              </a:p>
            </p:txBody>
          </p:sp>
          <p:sp>
            <p:nvSpPr>
              <p:cNvPr id="11" name="Ellipse 11"/>
              <p:cNvSpPr/>
              <p:nvPr/>
            </p:nvSpPr>
            <p:spPr>
              <a:xfrm>
                <a:off x="8367712" y="747712"/>
                <a:ext cx="28575" cy="28575"/>
              </a:xfrm>
              <a:prstGeom prst="ellipse">
                <a:avLst/>
              </a:prstGeom>
              <a:solidFill>
                <a:srgbClr val="DADCE0"/>
              </a:solidFill>
              <a:ln>
                <a:noFill/>
              </a:ln>
            </p:spPr>
            <p:txBody>
              <a:bodyPr/>
              <a:lstStyle/>
              <a:p>
                <a:endParaRPr lang="zh-CN" altLang="en-US"/>
              </a:p>
            </p:txBody>
          </p:sp>
          <p:sp>
            <p:nvSpPr>
              <p:cNvPr id="12" name="Ellipse 12"/>
              <p:cNvSpPr/>
              <p:nvPr/>
            </p:nvSpPr>
            <p:spPr>
              <a:xfrm>
                <a:off x="9891712" y="747712"/>
                <a:ext cx="28575" cy="28575"/>
              </a:xfrm>
              <a:prstGeom prst="ellipse">
                <a:avLst/>
              </a:prstGeom>
              <a:solidFill>
                <a:srgbClr val="DADCE0"/>
              </a:solidFill>
              <a:ln>
                <a:noFill/>
              </a:ln>
            </p:spPr>
            <p:txBody>
              <a:bodyPr/>
              <a:lstStyle/>
              <a:p>
                <a:endParaRPr lang="zh-CN" altLang="en-US"/>
              </a:p>
            </p:txBody>
          </p:sp>
          <p:sp>
            <p:nvSpPr>
              <p:cNvPr id="13" name="Ellipse 13"/>
              <p:cNvSpPr/>
              <p:nvPr/>
            </p:nvSpPr>
            <p:spPr>
              <a:xfrm>
                <a:off x="11415712" y="747712"/>
                <a:ext cx="28575" cy="28575"/>
              </a:xfrm>
              <a:prstGeom prst="ellipse">
                <a:avLst/>
              </a:prstGeom>
              <a:solidFill>
                <a:srgbClr val="DADCE0"/>
              </a:solidFill>
              <a:ln>
                <a:noFill/>
              </a:ln>
            </p:spPr>
            <p:txBody>
              <a:bodyPr/>
              <a:lstStyle/>
              <a:p>
                <a:endParaRPr lang="zh-CN" altLang="en-US"/>
              </a:p>
            </p:txBody>
          </p:sp>
          <p:sp>
            <p:nvSpPr>
              <p:cNvPr id="14" name="Ellipse 14"/>
              <p:cNvSpPr/>
              <p:nvPr/>
            </p:nvSpPr>
            <p:spPr>
              <a:xfrm>
                <a:off x="747712" y="6081712"/>
                <a:ext cx="28575" cy="28575"/>
              </a:xfrm>
              <a:prstGeom prst="ellipse">
                <a:avLst/>
              </a:prstGeom>
              <a:solidFill>
                <a:srgbClr val="DADCE0"/>
              </a:solidFill>
              <a:ln>
                <a:noFill/>
              </a:ln>
            </p:spPr>
            <p:txBody>
              <a:bodyPr/>
              <a:lstStyle/>
              <a:p>
                <a:endParaRPr lang="zh-CN" altLang="en-US"/>
              </a:p>
            </p:txBody>
          </p:sp>
          <p:sp>
            <p:nvSpPr>
              <p:cNvPr id="15" name="Ellipse 15"/>
              <p:cNvSpPr/>
              <p:nvPr/>
            </p:nvSpPr>
            <p:spPr>
              <a:xfrm>
                <a:off x="2271712" y="6081712"/>
                <a:ext cx="28575" cy="28575"/>
              </a:xfrm>
              <a:prstGeom prst="ellipse">
                <a:avLst/>
              </a:prstGeom>
              <a:solidFill>
                <a:srgbClr val="DADCE0"/>
              </a:solidFill>
              <a:ln>
                <a:noFill/>
              </a:ln>
            </p:spPr>
            <p:txBody>
              <a:bodyPr/>
              <a:lstStyle/>
              <a:p>
                <a:endParaRPr lang="zh-CN" altLang="en-US"/>
              </a:p>
            </p:txBody>
          </p:sp>
          <p:sp>
            <p:nvSpPr>
              <p:cNvPr id="16" name="Ellipse 16"/>
              <p:cNvSpPr/>
              <p:nvPr/>
            </p:nvSpPr>
            <p:spPr>
              <a:xfrm>
                <a:off x="3795712" y="6081712"/>
                <a:ext cx="28575" cy="28575"/>
              </a:xfrm>
              <a:prstGeom prst="ellipse">
                <a:avLst/>
              </a:prstGeom>
              <a:solidFill>
                <a:srgbClr val="DADCE0"/>
              </a:solidFill>
              <a:ln>
                <a:noFill/>
              </a:ln>
            </p:spPr>
            <p:txBody>
              <a:bodyPr/>
              <a:lstStyle/>
              <a:p>
                <a:endParaRPr lang="zh-CN" altLang="en-US"/>
              </a:p>
            </p:txBody>
          </p:sp>
          <p:sp>
            <p:nvSpPr>
              <p:cNvPr id="17" name="Ellipse 17"/>
              <p:cNvSpPr/>
              <p:nvPr/>
            </p:nvSpPr>
            <p:spPr>
              <a:xfrm>
                <a:off x="5319712" y="6081712"/>
                <a:ext cx="28575" cy="28575"/>
              </a:xfrm>
              <a:prstGeom prst="ellipse">
                <a:avLst/>
              </a:prstGeom>
              <a:solidFill>
                <a:srgbClr val="DADCE0"/>
              </a:solidFill>
              <a:ln>
                <a:noFill/>
              </a:ln>
            </p:spPr>
            <p:txBody>
              <a:bodyPr/>
              <a:lstStyle/>
              <a:p>
                <a:endParaRPr lang="zh-CN" altLang="en-US"/>
              </a:p>
            </p:txBody>
          </p:sp>
          <p:sp>
            <p:nvSpPr>
              <p:cNvPr id="18" name="Ellipse 18"/>
              <p:cNvSpPr/>
              <p:nvPr/>
            </p:nvSpPr>
            <p:spPr>
              <a:xfrm>
                <a:off x="6843712" y="6081712"/>
                <a:ext cx="28575" cy="28575"/>
              </a:xfrm>
              <a:prstGeom prst="ellipse">
                <a:avLst/>
              </a:prstGeom>
              <a:solidFill>
                <a:srgbClr val="DADCE0"/>
              </a:solidFill>
              <a:ln>
                <a:noFill/>
              </a:ln>
            </p:spPr>
            <p:txBody>
              <a:bodyPr/>
              <a:lstStyle/>
              <a:p>
                <a:endParaRPr lang="zh-CN" altLang="en-US"/>
              </a:p>
            </p:txBody>
          </p:sp>
          <p:sp>
            <p:nvSpPr>
              <p:cNvPr id="19" name="Ellipse 19"/>
              <p:cNvSpPr/>
              <p:nvPr/>
            </p:nvSpPr>
            <p:spPr>
              <a:xfrm>
                <a:off x="8367712" y="6081712"/>
                <a:ext cx="28575" cy="28575"/>
              </a:xfrm>
              <a:prstGeom prst="ellipse">
                <a:avLst/>
              </a:prstGeom>
              <a:solidFill>
                <a:srgbClr val="DADCE0"/>
              </a:solidFill>
              <a:ln>
                <a:noFill/>
              </a:ln>
            </p:spPr>
            <p:txBody>
              <a:bodyPr/>
              <a:lstStyle/>
              <a:p>
                <a:endParaRPr lang="zh-CN" altLang="en-US"/>
              </a:p>
            </p:txBody>
          </p:sp>
          <p:sp>
            <p:nvSpPr>
              <p:cNvPr id="20" name="Ellipse 20"/>
              <p:cNvSpPr/>
              <p:nvPr/>
            </p:nvSpPr>
            <p:spPr>
              <a:xfrm>
                <a:off x="9891712" y="6081712"/>
                <a:ext cx="28575" cy="28575"/>
              </a:xfrm>
              <a:prstGeom prst="ellipse">
                <a:avLst/>
              </a:prstGeom>
              <a:solidFill>
                <a:srgbClr val="DADCE0"/>
              </a:solidFill>
              <a:ln>
                <a:noFill/>
              </a:ln>
            </p:spPr>
            <p:txBody>
              <a:bodyPr/>
              <a:lstStyle/>
              <a:p>
                <a:endParaRPr lang="zh-CN" altLang="en-US"/>
              </a:p>
            </p:txBody>
          </p:sp>
          <p:sp>
            <p:nvSpPr>
              <p:cNvPr id="21" name="Ellipse 21"/>
              <p:cNvSpPr/>
              <p:nvPr/>
            </p:nvSpPr>
            <p:spPr>
              <a:xfrm>
                <a:off x="11415712" y="6081712"/>
                <a:ext cx="28575" cy="28575"/>
              </a:xfrm>
              <a:prstGeom prst="ellipse">
                <a:avLst/>
              </a:prstGeom>
              <a:solidFill>
                <a:srgbClr val="DADCE0"/>
              </a:solidFill>
              <a:ln>
                <a:noFill/>
              </a:ln>
            </p:spPr>
            <p:txBody>
              <a:bodyPr/>
              <a:lstStyle/>
              <a:p>
                <a:endParaRPr lang="zh-CN" altLang="en-US"/>
              </a:p>
            </p:txBody>
          </p:sp>
        </p:grpSp>
      </p:grpSp>
      <p:sp>
        <p:nvSpPr>
          <p:cNvPr id="24" name="Rectangle 24"/>
          <p:cNvSpPr/>
          <p:nvPr/>
        </p:nvSpPr>
        <p:spPr>
          <a:xfrm>
            <a:off x="5143500" y="2266950"/>
            <a:ext cx="1905000" cy="19050"/>
          </a:xfrm>
          <a:prstGeom prst="rect">
            <a:avLst/>
          </a:prstGeom>
          <a:gradFill>
            <a:gsLst>
              <a:gs pos="0">
                <a:srgbClr val="4285F4"/>
              </a:gs>
              <a:gs pos="100000">
                <a:srgbClr val="9334E6"/>
              </a:gs>
            </a:gsLst>
            <a:lin ang="0" scaled="1"/>
          </a:gradFill>
          <a:ln>
            <a:noFill/>
          </a:ln>
        </p:spPr>
        <p:txBody>
          <a:bodyPr/>
          <a:lstStyle/>
          <a:p>
            <a:endParaRPr lang="zh-CN" altLang="en-US"/>
          </a:p>
        </p:txBody>
      </p:sp>
      <p:grpSp>
        <p:nvGrpSpPr>
          <p:cNvPr id="40" name="Group 40"/>
          <p:cNvGrpSpPr/>
          <p:nvPr/>
        </p:nvGrpSpPr>
        <p:grpSpPr>
          <a:xfrm>
            <a:off x="3352800" y="2774945"/>
            <a:ext cx="5486400" cy="1626870"/>
            <a:chOff x="3352800" y="3107055"/>
            <a:chExt cx="5486400" cy="1626870"/>
          </a:xfrm>
        </p:grpSpPr>
        <p:sp>
          <p:nvSpPr>
            <p:cNvPr id="27" name="TextBox 27"/>
            <p:cNvSpPr txBox="1"/>
            <p:nvPr/>
          </p:nvSpPr>
          <p:spPr>
            <a:xfrm>
              <a:off x="4492708" y="3107055"/>
              <a:ext cx="3206583" cy="784830"/>
            </a:xfrm>
            <a:prstGeom prst="rect">
              <a:avLst/>
            </a:prstGeom>
            <a:noFill/>
            <a:ln>
              <a:noFill/>
            </a:ln>
          </p:spPr>
          <p:txBody>
            <a:bodyPr wrap="none" lIns="0" tIns="0" rIns="0" bIns="0" anchor="t" anchorCtr="0">
              <a:spAutoFit/>
            </a:bodyPr>
            <a:lstStyle/>
            <a:p>
              <a:pPr algn="ctr"/>
              <a:r>
                <a:rPr lang="zh-CN" sz="5100" b="1" dirty="0">
                  <a:solidFill>
                    <a:schemeClr val="tx2"/>
                  </a:solidFill>
                  <a:effectLst>
                    <a:glow rad="95250">
                      <a:srgbClr val="4285F4">
                        <a:alpha val="30000"/>
                      </a:srgbClr>
                    </a:glow>
                  </a:effectLst>
                  <a:latin typeface="Segoe UI"/>
                  <a:ea typeface="Microsoft YaHei"/>
                  <a:cs typeface="Segoe UI"/>
                </a:rPr>
                <a:t>Thank You</a:t>
              </a:r>
            </a:p>
          </p:txBody>
        </p:sp>
        <p:sp>
          <p:nvSpPr>
            <p:cNvPr id="28" name="TextBox 28"/>
            <p:cNvSpPr txBox="1"/>
            <p:nvPr/>
          </p:nvSpPr>
          <p:spPr>
            <a:xfrm>
              <a:off x="4743617" y="3936682"/>
              <a:ext cx="2704767" cy="335280"/>
            </a:xfrm>
            <a:prstGeom prst="rect">
              <a:avLst/>
            </a:prstGeom>
            <a:noFill/>
            <a:ln>
              <a:noFill/>
            </a:ln>
          </p:spPr>
          <p:txBody>
            <a:bodyPr wrap="none" lIns="0" tIns="0" rIns="0" bIns="0" anchor="t" anchorCtr="0">
              <a:spAutoFit/>
            </a:bodyPr>
            <a:lstStyle/>
            <a:p>
              <a:pPr algn="ctr"/>
              <a:r>
                <a:rPr lang="zh-CN" sz="1650" dirty="0">
                  <a:solidFill>
                    <a:srgbClr val="5F6368"/>
                  </a:solidFill>
                  <a:latin typeface="Segoe UI"/>
                  <a:ea typeface="Microsoft YaHei"/>
                  <a:cs typeface="Segoe UI"/>
                </a:rPr>
                <a:t>Questions &amp; Discussion</a:t>
              </a:r>
            </a:p>
          </p:txBody>
        </p:sp>
        <p:sp>
          <p:nvSpPr>
            <p:cNvPr id="29" name="Rectangle 29"/>
            <p:cNvSpPr/>
            <p:nvPr/>
          </p:nvSpPr>
          <p:spPr>
            <a:xfrm>
              <a:off x="4762500" y="4305300"/>
              <a:ext cx="2667000" cy="9525"/>
            </a:xfrm>
            <a:prstGeom prst="rect">
              <a:avLst/>
            </a:prstGeom>
            <a:solidFill>
              <a:srgbClr val="DADCE0"/>
            </a:solidFill>
            <a:ln>
              <a:noFill/>
            </a:ln>
          </p:spPr>
          <p:txBody>
            <a:bodyPr/>
            <a:lstStyle/>
            <a:p>
              <a:endParaRPr lang="zh-CN" altLang="en-US"/>
            </a:p>
          </p:txBody>
        </p:sp>
        <p:sp>
          <p:nvSpPr>
            <p:cNvPr id="30" name="Rectangle 30"/>
            <p:cNvSpPr/>
            <p:nvPr/>
          </p:nvSpPr>
          <p:spPr>
            <a:xfrm>
              <a:off x="3352800" y="4476750"/>
              <a:ext cx="857250" cy="247650"/>
            </a:xfrm>
            <a:prstGeom prst="roundRect">
              <a:avLst>
                <a:gd name="adj" fmla="val 50000"/>
              </a:avLst>
            </a:prstGeom>
            <a:solidFill>
              <a:srgbClr val="4285F4">
                <a:alpha val="12000"/>
              </a:srgbClr>
            </a:solidFill>
            <a:ln w="9525">
              <a:solidFill>
                <a:srgbClr val="4285F4">
                  <a:alpha val="40000"/>
                </a:srgbClr>
              </a:solidFill>
            </a:ln>
          </p:spPr>
          <p:txBody>
            <a:bodyPr/>
            <a:lstStyle/>
            <a:p>
              <a:endParaRPr lang="zh-CN" altLang="en-US"/>
            </a:p>
          </p:txBody>
        </p:sp>
        <p:sp>
          <p:nvSpPr>
            <p:cNvPr id="31" name="TextBox 31"/>
            <p:cNvSpPr txBox="1"/>
            <p:nvPr/>
          </p:nvSpPr>
          <p:spPr>
            <a:xfrm>
              <a:off x="3589258" y="4551045"/>
              <a:ext cx="384334" cy="182880"/>
            </a:xfrm>
            <a:prstGeom prst="rect">
              <a:avLst/>
            </a:prstGeom>
            <a:noFill/>
            <a:ln>
              <a:noFill/>
            </a:ln>
          </p:spPr>
          <p:txBody>
            <a:bodyPr wrap="none" lIns="0" tIns="0" rIns="0" bIns="0" anchor="t" anchorCtr="0">
              <a:spAutoFit/>
            </a:bodyPr>
            <a:lstStyle/>
            <a:p>
              <a:pPr algn="ctr"/>
              <a:r>
                <a:rPr lang="zh-CN" sz="900" dirty="0">
                  <a:solidFill>
                    <a:srgbClr val="4285F4"/>
                  </a:solidFill>
                  <a:latin typeface="Segoe UI"/>
                  <a:ea typeface="Microsoft YaHei"/>
                  <a:cs typeface="Segoe UI"/>
                </a:rPr>
                <a:t>Lexer</a:t>
              </a:r>
            </a:p>
          </p:txBody>
        </p:sp>
        <p:sp>
          <p:nvSpPr>
            <p:cNvPr id="32" name="Rectangle 32"/>
            <p:cNvSpPr/>
            <p:nvPr/>
          </p:nvSpPr>
          <p:spPr>
            <a:xfrm>
              <a:off x="4362450" y="4476750"/>
              <a:ext cx="857250" cy="247650"/>
            </a:xfrm>
            <a:prstGeom prst="roundRect">
              <a:avLst>
                <a:gd name="adj" fmla="val 50000"/>
              </a:avLst>
            </a:prstGeom>
            <a:solidFill>
              <a:srgbClr val="34A853">
                <a:alpha val="12000"/>
              </a:srgbClr>
            </a:solidFill>
            <a:ln w="9525">
              <a:solidFill>
                <a:srgbClr val="34A853">
                  <a:alpha val="40000"/>
                </a:srgbClr>
              </a:solidFill>
            </a:ln>
          </p:spPr>
          <p:txBody>
            <a:bodyPr/>
            <a:lstStyle/>
            <a:p>
              <a:endParaRPr lang="zh-CN" altLang="en-US"/>
            </a:p>
          </p:txBody>
        </p:sp>
        <p:sp>
          <p:nvSpPr>
            <p:cNvPr id="33" name="TextBox 33"/>
            <p:cNvSpPr txBox="1"/>
            <p:nvPr/>
          </p:nvSpPr>
          <p:spPr>
            <a:xfrm>
              <a:off x="4562761" y="4551045"/>
              <a:ext cx="456628" cy="182880"/>
            </a:xfrm>
            <a:prstGeom prst="rect">
              <a:avLst/>
            </a:prstGeom>
            <a:noFill/>
            <a:ln>
              <a:noFill/>
            </a:ln>
          </p:spPr>
          <p:txBody>
            <a:bodyPr wrap="none" lIns="0" tIns="0" rIns="0" bIns="0" anchor="t" anchorCtr="0">
              <a:spAutoFit/>
            </a:bodyPr>
            <a:lstStyle/>
            <a:p>
              <a:pPr algn="ctr"/>
              <a:r>
                <a:rPr lang="zh-CN" sz="900" dirty="0">
                  <a:solidFill>
                    <a:srgbClr val="34A853"/>
                  </a:solidFill>
                  <a:latin typeface="Segoe UI"/>
                  <a:ea typeface="Microsoft YaHei"/>
                  <a:cs typeface="Segoe UI"/>
                </a:rPr>
                <a:t>Parser</a:t>
              </a:r>
            </a:p>
          </p:txBody>
        </p:sp>
        <p:sp>
          <p:nvSpPr>
            <p:cNvPr id="34" name="Rectangle 34"/>
            <p:cNvSpPr/>
            <p:nvPr/>
          </p:nvSpPr>
          <p:spPr>
            <a:xfrm>
              <a:off x="5372100" y="4476750"/>
              <a:ext cx="1047750" cy="247650"/>
            </a:xfrm>
            <a:prstGeom prst="roundRect">
              <a:avLst>
                <a:gd name="adj" fmla="val 50000"/>
              </a:avLst>
            </a:prstGeom>
            <a:solidFill>
              <a:srgbClr val="9334E6">
                <a:alpha val="12000"/>
              </a:srgbClr>
            </a:solidFill>
            <a:ln w="9525">
              <a:solidFill>
                <a:srgbClr val="9334E6">
                  <a:alpha val="40000"/>
                </a:srgbClr>
              </a:solidFill>
            </a:ln>
          </p:spPr>
          <p:txBody>
            <a:bodyPr/>
            <a:lstStyle/>
            <a:p>
              <a:endParaRPr lang="zh-CN" altLang="en-US"/>
            </a:p>
          </p:txBody>
        </p:sp>
        <p:sp>
          <p:nvSpPr>
            <p:cNvPr id="35" name="TextBox 35"/>
            <p:cNvSpPr txBox="1"/>
            <p:nvPr/>
          </p:nvSpPr>
          <p:spPr>
            <a:xfrm>
              <a:off x="5565791" y="4551045"/>
              <a:ext cx="660368" cy="182880"/>
            </a:xfrm>
            <a:prstGeom prst="rect">
              <a:avLst/>
            </a:prstGeom>
            <a:noFill/>
            <a:ln>
              <a:noFill/>
            </a:ln>
          </p:spPr>
          <p:txBody>
            <a:bodyPr wrap="none" lIns="0" tIns="0" rIns="0" bIns="0" anchor="t" anchorCtr="0">
              <a:spAutoFit/>
            </a:bodyPr>
            <a:lstStyle/>
            <a:p>
              <a:pPr algn="ctr"/>
              <a:r>
                <a:rPr lang="zh-CN" sz="900" dirty="0">
                  <a:solidFill>
                    <a:srgbClr val="9334E6"/>
                  </a:solidFill>
                  <a:latin typeface="Segoe UI"/>
                  <a:ea typeface="Microsoft YaHei"/>
                  <a:cs typeface="Segoe UI"/>
                </a:rPr>
                <a:t>Optimizer</a:t>
              </a:r>
            </a:p>
          </p:txBody>
        </p:sp>
        <p:sp>
          <p:nvSpPr>
            <p:cNvPr id="36" name="Rectangle 36"/>
            <p:cNvSpPr/>
            <p:nvPr/>
          </p:nvSpPr>
          <p:spPr>
            <a:xfrm>
              <a:off x="6572250" y="4476750"/>
              <a:ext cx="1047750" cy="247650"/>
            </a:xfrm>
            <a:prstGeom prst="roundRect">
              <a:avLst>
                <a:gd name="adj" fmla="val 50000"/>
              </a:avLst>
            </a:prstGeom>
            <a:solidFill>
              <a:srgbClr val="1E8E3E">
                <a:alpha val="12000"/>
              </a:srgbClr>
            </a:solidFill>
            <a:ln w="9525">
              <a:solidFill>
                <a:srgbClr val="1E8E3E">
                  <a:alpha val="40000"/>
                </a:srgbClr>
              </a:solidFill>
            </a:ln>
          </p:spPr>
          <p:txBody>
            <a:bodyPr/>
            <a:lstStyle/>
            <a:p>
              <a:endParaRPr lang="zh-CN" altLang="en-US"/>
            </a:p>
          </p:txBody>
        </p:sp>
        <p:sp>
          <p:nvSpPr>
            <p:cNvPr id="37" name="TextBox 37"/>
            <p:cNvSpPr txBox="1"/>
            <p:nvPr/>
          </p:nvSpPr>
          <p:spPr>
            <a:xfrm>
              <a:off x="6775799" y="4551045"/>
              <a:ext cx="640652" cy="182880"/>
            </a:xfrm>
            <a:prstGeom prst="rect">
              <a:avLst/>
            </a:prstGeom>
            <a:noFill/>
            <a:ln>
              <a:noFill/>
            </a:ln>
          </p:spPr>
          <p:txBody>
            <a:bodyPr wrap="none" lIns="0" tIns="0" rIns="0" bIns="0" anchor="t" anchorCtr="0">
              <a:spAutoFit/>
            </a:bodyPr>
            <a:lstStyle/>
            <a:p>
              <a:pPr algn="ctr"/>
              <a:r>
                <a:rPr lang="zh-CN" sz="900" dirty="0">
                  <a:solidFill>
                    <a:srgbClr val="1E8E3E"/>
                  </a:solidFill>
                  <a:latin typeface="Segoe UI"/>
                  <a:ea typeface="Microsoft YaHei"/>
                  <a:cs typeface="Segoe UI"/>
                </a:rPr>
                <a:t>Execution</a:t>
              </a:r>
            </a:p>
          </p:txBody>
        </p:sp>
        <p:sp>
          <p:nvSpPr>
            <p:cNvPr id="38" name="Rectangle 38"/>
            <p:cNvSpPr/>
            <p:nvPr/>
          </p:nvSpPr>
          <p:spPr>
            <a:xfrm>
              <a:off x="7772400" y="4476750"/>
              <a:ext cx="1066800" cy="247650"/>
            </a:xfrm>
            <a:prstGeom prst="roundRect">
              <a:avLst>
                <a:gd name="adj" fmla="val 50000"/>
              </a:avLst>
            </a:prstGeom>
            <a:solidFill>
              <a:srgbClr val="4285F4">
                <a:alpha val="12000"/>
              </a:srgbClr>
            </a:solidFill>
            <a:ln w="9525">
              <a:solidFill>
                <a:srgbClr val="4285F4">
                  <a:alpha val="40000"/>
                </a:srgbClr>
              </a:solidFill>
            </a:ln>
          </p:spPr>
          <p:txBody>
            <a:bodyPr/>
            <a:lstStyle/>
            <a:p>
              <a:endParaRPr lang="zh-CN" altLang="en-US"/>
            </a:p>
          </p:txBody>
        </p:sp>
        <p:sp>
          <p:nvSpPr>
            <p:cNvPr id="39" name="TextBox 39"/>
            <p:cNvSpPr txBox="1"/>
            <p:nvPr/>
          </p:nvSpPr>
          <p:spPr>
            <a:xfrm>
              <a:off x="7909893" y="4551045"/>
              <a:ext cx="791813" cy="182880"/>
            </a:xfrm>
            <a:prstGeom prst="rect">
              <a:avLst/>
            </a:prstGeom>
            <a:noFill/>
            <a:ln>
              <a:noFill/>
            </a:ln>
          </p:spPr>
          <p:txBody>
            <a:bodyPr wrap="none" lIns="0" tIns="0" rIns="0" bIns="0" anchor="t" anchorCtr="0">
              <a:spAutoFit/>
            </a:bodyPr>
            <a:lstStyle/>
            <a:p>
              <a:pPr algn="ctr"/>
              <a:r>
                <a:rPr lang="zh-CN" sz="900" dirty="0">
                  <a:solidFill>
                    <a:srgbClr val="4285F4"/>
                  </a:solidFill>
                  <a:latin typeface="Segoe UI"/>
                  <a:ea typeface="Microsoft YaHei"/>
                  <a:cs typeface="Segoe UI"/>
                </a:rPr>
                <a:t>Verification</a:t>
              </a:r>
            </a:p>
          </p:txBody>
        </p:sp>
      </p:grpSp>
      <p:grpSp>
        <p:nvGrpSpPr>
          <p:cNvPr id="43" name="Group 43"/>
          <p:cNvGrpSpPr/>
          <p:nvPr/>
        </p:nvGrpSpPr>
        <p:grpSpPr>
          <a:xfrm>
            <a:off x="3976116" y="5106352"/>
            <a:ext cx="4239768" cy="415767"/>
            <a:chOff x="3976116" y="5106352"/>
            <a:chExt cx="4239768" cy="415767"/>
          </a:xfrm>
        </p:grpSpPr>
        <p:sp>
          <p:nvSpPr>
            <p:cNvPr id="41" name="TextBox 41"/>
            <p:cNvSpPr txBox="1"/>
            <p:nvPr/>
          </p:nvSpPr>
          <p:spPr>
            <a:xfrm>
              <a:off x="4790670" y="5106352"/>
              <a:ext cx="2610660" cy="213360"/>
            </a:xfrm>
            <a:prstGeom prst="rect">
              <a:avLst/>
            </a:prstGeom>
            <a:noFill/>
            <a:ln>
              <a:noFill/>
            </a:ln>
          </p:spPr>
          <p:txBody>
            <a:bodyPr wrap="none" lIns="0" tIns="0" rIns="0" bIns="0" anchor="t" anchorCtr="0">
              <a:spAutoFit/>
            </a:bodyPr>
            <a:lstStyle/>
            <a:p>
              <a:pPr algn="ctr"/>
              <a:r>
                <a:rPr lang="zh-CN" sz="1050" dirty="0">
                  <a:solidFill>
                    <a:srgbClr val="5F6368"/>
                  </a:solidFill>
                  <a:latin typeface="Segoe UI"/>
                  <a:ea typeface="Microsoft YaHei"/>
                  <a:cs typeface="Segoe UI"/>
                </a:rPr>
                <a:t>Shiyuan Lin · Ruikai Li · Fanqiao Lin</a:t>
              </a:r>
            </a:p>
          </p:txBody>
        </p:sp>
        <p:sp>
          <p:nvSpPr>
            <p:cNvPr id="42" name="TextBox 42"/>
            <p:cNvSpPr txBox="1"/>
            <p:nvPr/>
          </p:nvSpPr>
          <p:spPr>
            <a:xfrm>
              <a:off x="3976116" y="5323999"/>
              <a:ext cx="4239768" cy="198120"/>
            </a:xfrm>
            <a:prstGeom prst="rect">
              <a:avLst/>
            </a:prstGeom>
            <a:noFill/>
            <a:ln>
              <a:noFill/>
            </a:ln>
          </p:spPr>
          <p:txBody>
            <a:bodyPr wrap="none" lIns="0" tIns="0" rIns="0" bIns="0" anchor="t" anchorCtr="0">
              <a:spAutoFit/>
            </a:bodyPr>
            <a:lstStyle/>
            <a:p>
              <a:pPr algn="ctr"/>
              <a:r>
                <a:rPr lang="zh-CN" sz="975" dirty="0">
                  <a:solidFill>
                    <a:srgbClr val="80868B"/>
                  </a:solidFill>
                  <a:latin typeface="Segoe UI"/>
                  <a:ea typeface="Microsoft YaHei"/>
                  <a:cs typeface="Segoe UI"/>
                </a:rPr>
                <a:t>LogicScript Optimizing Compiler · UFUG2106 · HKUST-GZ · 2026</a:t>
              </a:r>
            </a:p>
          </p:txBody>
        </p:sp>
      </p:grpSp>
      <p:sp>
        <p:nvSpPr>
          <p:cNvPr id="44" name="TextBox 44"/>
          <p:cNvSpPr txBox="1"/>
          <p:nvPr/>
        </p:nvSpPr>
        <p:spPr>
          <a:xfrm>
            <a:off x="11507605" y="6578441"/>
            <a:ext cx="123373" cy="167640"/>
          </a:xfrm>
          <a:prstGeom prst="rect">
            <a:avLst/>
          </a:prstGeom>
          <a:noFill/>
          <a:ln>
            <a:noFill/>
          </a:ln>
        </p:spPr>
        <p:txBody>
          <a:bodyPr wrap="none" lIns="0" tIns="0" rIns="0" bIns="0" anchor="t" anchorCtr="0">
            <a:spAutoFit/>
          </a:bodyPr>
          <a:lstStyle/>
          <a:p>
            <a:pPr algn="r"/>
            <a:r>
              <a:rPr lang="zh-CN" sz="825" dirty="0">
                <a:solidFill>
                  <a:srgbClr val="80868B"/>
                </a:solidFill>
                <a:latin typeface="Segoe UI"/>
                <a:ea typeface="Microsoft YaHei"/>
                <a:cs typeface="Segoe UI"/>
              </a:rPr>
              <a:t>16</a:t>
            </a:r>
          </a:p>
        </p:txBody>
      </p:sp>
      <p:pic>
        <p:nvPicPr>
          <p:cNvPr id="45" name="图片 44">
            <a:extLst>
              <a:ext uri="{FF2B5EF4-FFF2-40B4-BE49-F238E27FC236}">
                <a16:creationId xmlns:a16="http://schemas.microsoft.com/office/drawing/2014/main" id="{2D165C12-CBF2-5B61-D635-51D73782259F}"/>
              </a:ext>
            </a:extLst>
          </p:cNvPr>
          <p:cNvPicPr>
            <a:picLocks noChangeAspect="1"/>
          </p:cNvPicPr>
          <p:nvPr/>
        </p:nvPicPr>
        <p:blipFill>
          <a:blip r:embed="rId3"/>
          <a:stretch>
            <a:fillRect/>
          </a:stretch>
        </p:blipFill>
        <p:spPr>
          <a:xfrm>
            <a:off x="113983" y="-49218"/>
            <a:ext cx="3327400" cy="133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5011</Words>
  <Application>Microsoft Macintosh PowerPoint</Application>
  <PresentationFormat>宽屏</PresentationFormat>
  <Paragraphs>700</Paragraphs>
  <Slides>16</Slides>
  <Notes>16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16</vt:i4>
      </vt:variant>
    </vt:vector>
  </HeadingPairs>
  <TitlesOfParts>
    <vt:vector size="21" baseType="lpstr">
      <vt:lpstr>Arial</vt:lpstr>
      <vt:lpstr>Calibri</vt:lpstr>
      <vt:lpstr>Consolas</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睿铠 李</cp:lastModifiedBy>
  <cp:revision>3</cp:revision>
  <dcterms:created xsi:type="dcterms:W3CDTF">2013-01-27T09:14:16Z</dcterms:created>
  <dcterms:modified xsi:type="dcterms:W3CDTF">2026-05-07T06:33:42Z</dcterms:modified>
  <cp:category/>
</cp:coreProperties>
</file>