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3692EA-EA15-F944-BB63-711F177C2703}" v="508" dt="2026-05-07T13:24:11.335"/>
    <p1510:client id="{C8999BB5-3585-6F70-FCF3-58E6B9630885}" v="3" dt="2026-05-07T12:45:21.575"/>
    <p1510:client id="{DD79C4C6-9A45-1B09-52DC-9189D50DEFEE}" v="3" dt="2026-05-07T12:25:27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7fca8293-0779-40a4-9f7b-6b19075c5b31::" providerId="AD" clId="Web-{C8999BB5-3585-6F70-FCF3-58E6B9630885}"/>
    <pc:docChg chg="modSld">
      <pc:chgData name="Guest User" userId="S::urn:spo:tenantanon#7fca8293-0779-40a4-9f7b-6b19075c5b31::" providerId="AD" clId="Web-{C8999BB5-3585-6F70-FCF3-58E6B9630885}" dt="2026-05-07T13:14:57.420" v="31"/>
      <pc:docMkLst>
        <pc:docMk/>
      </pc:docMkLst>
      <pc:sldChg chg="modSp">
        <pc:chgData name="Guest User" userId="S::urn:spo:tenantanon#7fca8293-0779-40a4-9f7b-6b19075c5b31::" providerId="AD" clId="Web-{C8999BB5-3585-6F70-FCF3-58E6B9630885}" dt="2026-05-07T12:12:09.509" v="0" actId="1076"/>
        <pc:sldMkLst>
          <pc:docMk/>
          <pc:sldMk cId="0" sldId="256"/>
        </pc:sldMkLst>
        <pc:spChg chg="mod">
          <ac:chgData name="Guest User" userId="S::urn:spo:tenantanon#7fca8293-0779-40a4-9f7b-6b19075c5b31::" providerId="AD" clId="Web-{C8999BB5-3585-6F70-FCF3-58E6B9630885}" dt="2026-05-07T12:12:09.509" v="0" actId="1076"/>
          <ac:spMkLst>
            <pc:docMk/>
            <pc:sldMk cId="0" sldId="256"/>
            <ac:spMk id="87" creationId="{00000000-0000-0000-0000-000000000000}"/>
          </ac:spMkLst>
        </pc:spChg>
      </pc:sldChg>
      <pc:sldChg chg="modNotes">
        <pc:chgData name="Guest User" userId="S::urn:spo:tenantanon#7fca8293-0779-40a4-9f7b-6b19075c5b31::" providerId="AD" clId="Web-{C8999BB5-3585-6F70-FCF3-58E6B9630885}" dt="2026-05-07T13:14:57.420" v="31"/>
        <pc:sldMkLst>
          <pc:docMk/>
          <pc:sldMk cId="0" sldId="267"/>
        </pc:sldMkLst>
      </pc:sldChg>
      <pc:sldChg chg="modNotes">
        <pc:chgData name="Guest User" userId="S::urn:spo:tenantanon#7fca8293-0779-40a4-9f7b-6b19075c5b31::" providerId="AD" clId="Web-{C8999BB5-3585-6F70-FCF3-58E6B9630885}" dt="2026-05-07T12:43:58.090" v="25"/>
        <pc:sldMkLst>
          <pc:docMk/>
          <pc:sldMk cId="0" sldId="268"/>
        </pc:sldMkLst>
      </pc:sldChg>
      <pc:sldChg chg="modNotes">
        <pc:chgData name="Guest User" userId="S::urn:spo:tenantanon#7fca8293-0779-40a4-9f7b-6b19075c5b31::" providerId="AD" clId="Web-{C8999BB5-3585-6F70-FCF3-58E6B9630885}" dt="2026-05-07T12:40:42.870" v="16"/>
        <pc:sldMkLst>
          <pc:docMk/>
          <pc:sldMk cId="0" sldId="269"/>
        </pc:sldMkLst>
      </pc:sldChg>
      <pc:sldChg chg="modNotes">
        <pc:chgData name="Guest User" userId="S::urn:spo:tenantanon#7fca8293-0779-40a4-9f7b-6b19075c5b31::" providerId="AD" clId="Web-{C8999BB5-3585-6F70-FCF3-58E6B9630885}" dt="2026-05-07T12:47:12.888" v="26"/>
        <pc:sldMkLst>
          <pc:docMk/>
          <pc:sldMk cId="0" sldId="271"/>
        </pc:sldMkLst>
      </pc:sldChg>
    </pc:docChg>
  </pc:docChgLst>
  <pc:docChgLst>
    <pc:chgData name="Ruikai LI" userId="d99744ea-4cbe-45ef-bc39-9a3ff27cc1d3" providerId="ADAL" clId="{C8DAABF5-2A45-5CEE-8D6A-4EAEFE77B813}"/>
    <pc:docChg chg="undo custSel modSld">
      <pc:chgData name="Ruikai LI" userId="d99744ea-4cbe-45ef-bc39-9a3ff27cc1d3" providerId="ADAL" clId="{C8DAABF5-2A45-5CEE-8D6A-4EAEFE77B813}" dt="2026-05-07T13:24:11.335" v="671" actId="20577"/>
      <pc:docMkLst>
        <pc:docMk/>
      </pc:docMkLst>
      <pc:sldChg chg="modSp mod modAnim modNotesTx">
        <pc:chgData name="Ruikai LI" userId="d99744ea-4cbe-45ef-bc39-9a3ff27cc1d3" providerId="ADAL" clId="{C8DAABF5-2A45-5CEE-8D6A-4EAEFE77B813}" dt="2026-05-07T13:24:11.335" v="671" actId="20577"/>
        <pc:sldMkLst>
          <pc:docMk/>
          <pc:sldMk cId="0" sldId="256"/>
        </pc:sldMkLst>
        <pc:spChg chg="mod">
          <ac:chgData name="Ruikai LI" userId="d99744ea-4cbe-45ef-bc39-9a3ff27cc1d3" providerId="ADAL" clId="{C8DAABF5-2A45-5CEE-8D6A-4EAEFE77B813}" dt="2026-05-07T13:05:26.010" v="654" actId="1076"/>
          <ac:spMkLst>
            <pc:docMk/>
            <pc:sldMk cId="0" sldId="256"/>
            <ac:spMk id="87" creationId="{00000000-0000-0000-0000-000000000000}"/>
          </ac:spMkLst>
        </pc:spChg>
        <pc:grpChg chg="mod">
          <ac:chgData name="Ruikai LI" userId="d99744ea-4cbe-45ef-bc39-9a3ff27cc1d3" providerId="ADAL" clId="{C8DAABF5-2A45-5CEE-8D6A-4EAEFE77B813}" dt="2026-05-07T13:03:30.667" v="653" actId="1076"/>
          <ac:grpSpMkLst>
            <pc:docMk/>
            <pc:sldMk cId="0" sldId="256"/>
            <ac:grpSpMk id="73" creationId="{00000000-0000-0000-0000-000000000000}"/>
          </ac:grpSpMkLst>
        </pc:grpChg>
      </pc:sldChg>
      <pc:sldChg chg="modAnim">
        <pc:chgData name="Ruikai LI" userId="d99744ea-4cbe-45ef-bc39-9a3ff27cc1d3" providerId="ADAL" clId="{C8DAABF5-2A45-5CEE-8D6A-4EAEFE77B813}" dt="2026-05-07T06:28:34.376" v="72"/>
        <pc:sldMkLst>
          <pc:docMk/>
          <pc:sldMk cId="0" sldId="257"/>
        </pc:sldMkLst>
      </pc:sldChg>
      <pc:sldChg chg="modAnim">
        <pc:chgData name="Ruikai LI" userId="d99744ea-4cbe-45ef-bc39-9a3ff27cc1d3" providerId="ADAL" clId="{C8DAABF5-2A45-5CEE-8D6A-4EAEFE77B813}" dt="2026-05-07T06:28:40.073" v="73"/>
        <pc:sldMkLst>
          <pc:docMk/>
          <pc:sldMk cId="0" sldId="258"/>
        </pc:sldMkLst>
      </pc:sldChg>
      <pc:sldChg chg="modAnim">
        <pc:chgData name="Ruikai LI" userId="d99744ea-4cbe-45ef-bc39-9a3ff27cc1d3" providerId="ADAL" clId="{C8DAABF5-2A45-5CEE-8D6A-4EAEFE77B813}" dt="2026-05-07T06:28:50.845" v="74"/>
        <pc:sldMkLst>
          <pc:docMk/>
          <pc:sldMk cId="0" sldId="259"/>
        </pc:sldMkLst>
      </pc:sldChg>
      <pc:sldChg chg="addSp delSp modSp mod delAnim modAnim modNotesTx">
        <pc:chgData name="Ruikai LI" userId="d99744ea-4cbe-45ef-bc39-9a3ff27cc1d3" providerId="ADAL" clId="{C8DAABF5-2A45-5CEE-8D6A-4EAEFE77B813}" dt="2026-05-07T08:32:59.075" v="124" actId="14100"/>
        <pc:sldMkLst>
          <pc:docMk/>
          <pc:sldMk cId="0" sldId="260"/>
        </pc:sldMkLst>
        <pc:spChg chg="mod topLvl">
          <ac:chgData name="Ruikai LI" userId="d99744ea-4cbe-45ef-bc39-9a3ff27cc1d3" providerId="ADAL" clId="{C8DAABF5-2A45-5CEE-8D6A-4EAEFE77B813}" dt="2026-05-07T06:31:02.485" v="89" actId="14100"/>
          <ac:spMkLst>
            <pc:docMk/>
            <pc:sldMk cId="0" sldId="260"/>
            <ac:spMk id="51" creationId="{00000000-0000-0000-0000-000000000000}"/>
          </ac:spMkLst>
        </pc:spChg>
        <pc:spChg chg="del mod topLvl">
          <ac:chgData name="Ruikai LI" userId="d99744ea-4cbe-45ef-bc39-9a3ff27cc1d3" providerId="ADAL" clId="{C8DAABF5-2A45-5CEE-8D6A-4EAEFE77B813}" dt="2026-05-07T06:30:48.022" v="88" actId="478"/>
          <ac:spMkLst>
            <pc:docMk/>
            <pc:sldMk cId="0" sldId="260"/>
            <ac:spMk id="52" creationId="{00000000-0000-0000-0000-000000000000}"/>
          </ac:spMkLst>
        </pc:spChg>
        <pc:spChg chg="del">
          <ac:chgData name="Ruikai LI" userId="d99744ea-4cbe-45ef-bc39-9a3ff27cc1d3" providerId="ADAL" clId="{C8DAABF5-2A45-5CEE-8D6A-4EAEFE77B813}" dt="2026-05-07T06:31:14.316" v="92" actId="478"/>
          <ac:spMkLst>
            <pc:docMk/>
            <pc:sldMk cId="0" sldId="260"/>
            <ac:spMk id="73" creationId="{00000000-0000-0000-0000-000000000000}"/>
          </ac:spMkLst>
        </pc:spChg>
        <pc:grpChg chg="mod">
          <ac:chgData name="Ruikai LI" userId="d99744ea-4cbe-45ef-bc39-9a3ff27cc1d3" providerId="ADAL" clId="{C8DAABF5-2A45-5CEE-8D6A-4EAEFE77B813}" dt="2026-05-07T06:31:04.622" v="91" actId="1076"/>
          <ac:grpSpMkLst>
            <pc:docMk/>
            <pc:sldMk cId="0" sldId="260"/>
            <ac:grpSpMk id="4" creationId="{00000000-0000-0000-0000-000000000000}"/>
          </ac:grpSpMkLst>
        </pc:grpChg>
        <pc:grpChg chg="del">
          <ac:chgData name="Ruikai LI" userId="d99744ea-4cbe-45ef-bc39-9a3ff27cc1d3" providerId="ADAL" clId="{C8DAABF5-2A45-5CEE-8D6A-4EAEFE77B813}" dt="2026-05-07T06:30:48.022" v="88" actId="478"/>
          <ac:grpSpMkLst>
            <pc:docMk/>
            <pc:sldMk cId="0" sldId="260"/>
            <ac:grpSpMk id="53" creationId="{00000000-0000-0000-0000-000000000000}"/>
          </ac:grpSpMkLst>
        </pc:grpChg>
        <pc:grpChg chg="mod">
          <ac:chgData name="Ruikai LI" userId="d99744ea-4cbe-45ef-bc39-9a3ff27cc1d3" providerId="ADAL" clId="{C8DAABF5-2A45-5CEE-8D6A-4EAEFE77B813}" dt="2026-05-07T08:32:59.075" v="124" actId="14100"/>
          <ac:grpSpMkLst>
            <pc:docMk/>
            <pc:sldMk cId="0" sldId="260"/>
            <ac:grpSpMk id="92" creationId="{00000000-0000-0000-0000-000000000000}"/>
          </ac:grpSpMkLst>
        </pc:grpChg>
        <pc:picChg chg="add del mod">
          <ac:chgData name="Ruikai LI" userId="d99744ea-4cbe-45ef-bc39-9a3ff27cc1d3" providerId="ADAL" clId="{C8DAABF5-2A45-5CEE-8D6A-4EAEFE77B813}" dt="2026-05-07T08:32:53.446" v="123" actId="478"/>
          <ac:picMkLst>
            <pc:docMk/>
            <pc:sldMk cId="0" sldId="260"/>
            <ac:picMk id="97" creationId="{A4A2D9D5-96C2-36F7-0365-32DA3035C356}"/>
          </ac:picMkLst>
        </pc:picChg>
      </pc:sldChg>
      <pc:sldChg chg="modAnim modNotesTx">
        <pc:chgData name="Ruikai LI" userId="d99744ea-4cbe-45ef-bc39-9a3ff27cc1d3" providerId="ADAL" clId="{C8DAABF5-2A45-5CEE-8D6A-4EAEFE77B813}" dt="2026-05-07T12:52:41.058" v="651" actId="20577"/>
        <pc:sldMkLst>
          <pc:docMk/>
          <pc:sldMk cId="0" sldId="261"/>
        </pc:sldMkLst>
      </pc:sldChg>
      <pc:sldChg chg="addSp delSp modSp mod modAnim modNotesTx">
        <pc:chgData name="Ruikai LI" userId="d99744ea-4cbe-45ef-bc39-9a3ff27cc1d3" providerId="ADAL" clId="{C8DAABF5-2A45-5CEE-8D6A-4EAEFE77B813}" dt="2026-05-07T12:41:31.393" v="467" actId="20577"/>
        <pc:sldMkLst>
          <pc:docMk/>
          <pc:sldMk cId="0" sldId="262"/>
        </pc:sldMkLst>
        <pc:spChg chg="mod">
          <ac:chgData name="Ruikai LI" userId="d99744ea-4cbe-45ef-bc39-9a3ff27cc1d3" providerId="ADAL" clId="{C8DAABF5-2A45-5CEE-8D6A-4EAEFE77B813}" dt="2026-05-07T09:26:47.885" v="159" actId="20577"/>
          <ac:spMkLst>
            <pc:docMk/>
            <pc:sldMk cId="0" sldId="262"/>
            <ac:spMk id="39" creationId="{00000000-0000-0000-0000-000000000000}"/>
          </ac:spMkLst>
        </pc:spChg>
        <pc:spChg chg="mod">
          <ac:chgData name="Ruikai LI" userId="d99744ea-4cbe-45ef-bc39-9a3ff27cc1d3" providerId="ADAL" clId="{C8DAABF5-2A45-5CEE-8D6A-4EAEFE77B813}" dt="2026-05-07T09:26:31.386" v="155" actId="20577"/>
          <ac:spMkLst>
            <pc:docMk/>
            <pc:sldMk cId="0" sldId="262"/>
            <ac:spMk id="41" creationId="{00000000-0000-0000-0000-000000000000}"/>
          </ac:spMkLst>
        </pc:spChg>
        <pc:spChg chg="mod">
          <ac:chgData name="Ruikai LI" userId="d99744ea-4cbe-45ef-bc39-9a3ff27cc1d3" providerId="ADAL" clId="{C8DAABF5-2A45-5CEE-8D6A-4EAEFE77B813}" dt="2026-05-07T09:26:54.743" v="161" actId="20577"/>
          <ac:spMkLst>
            <pc:docMk/>
            <pc:sldMk cId="0" sldId="262"/>
            <ac:spMk id="43" creationId="{00000000-0000-0000-0000-000000000000}"/>
          </ac:spMkLst>
        </pc:spChg>
        <pc:spChg chg="add mod">
          <ac:chgData name="Ruikai LI" userId="d99744ea-4cbe-45ef-bc39-9a3ff27cc1d3" providerId="ADAL" clId="{C8DAABF5-2A45-5CEE-8D6A-4EAEFE77B813}" dt="2026-05-07T09:19:59.856" v="147" actId="17032"/>
          <ac:spMkLst>
            <pc:docMk/>
            <pc:sldMk cId="0" sldId="262"/>
            <ac:spMk id="60" creationId="{0D7CE225-C592-7683-9E4F-6E04A233E8A7}"/>
          </ac:spMkLst>
        </pc:spChg>
        <pc:spChg chg="mod">
          <ac:chgData name="Ruikai LI" userId="d99744ea-4cbe-45ef-bc39-9a3ff27cc1d3" providerId="ADAL" clId="{C8DAABF5-2A45-5CEE-8D6A-4EAEFE77B813}" dt="2026-05-07T12:25:35.028" v="271" actId="20577"/>
          <ac:spMkLst>
            <pc:docMk/>
            <pc:sldMk cId="0" sldId="262"/>
            <ac:spMk id="80" creationId="{00000000-0000-0000-0000-000000000000}"/>
          </ac:spMkLst>
        </pc:spChg>
        <pc:spChg chg="mod">
          <ac:chgData name="Ruikai LI" userId="d99744ea-4cbe-45ef-bc39-9a3ff27cc1d3" providerId="ADAL" clId="{C8DAABF5-2A45-5CEE-8D6A-4EAEFE77B813}" dt="2026-05-07T09:06:31.877" v="133" actId="207"/>
          <ac:spMkLst>
            <pc:docMk/>
            <pc:sldMk cId="0" sldId="262"/>
            <ac:spMk id="86" creationId="{00000000-0000-0000-0000-000000000000}"/>
          </ac:spMkLst>
        </pc:spChg>
        <pc:spChg chg="mod">
          <ac:chgData name="Ruikai LI" userId="d99744ea-4cbe-45ef-bc39-9a3ff27cc1d3" providerId="ADAL" clId="{C8DAABF5-2A45-5CEE-8D6A-4EAEFE77B813}" dt="2026-05-07T09:07:13.429" v="139" actId="207"/>
          <ac:spMkLst>
            <pc:docMk/>
            <pc:sldMk cId="0" sldId="262"/>
            <ac:spMk id="87" creationId="{00000000-0000-0000-0000-000000000000}"/>
          </ac:spMkLst>
        </pc:spChg>
        <pc:spChg chg="mod">
          <ac:chgData name="Ruikai LI" userId="d99744ea-4cbe-45ef-bc39-9a3ff27cc1d3" providerId="ADAL" clId="{C8DAABF5-2A45-5CEE-8D6A-4EAEFE77B813}" dt="2026-05-07T09:20:12.255" v="149"/>
          <ac:spMkLst>
            <pc:docMk/>
            <pc:sldMk cId="0" sldId="262"/>
            <ac:spMk id="111" creationId="{DDBA48B4-BC91-7025-F95F-C29B63E0CA37}"/>
          </ac:spMkLst>
        </pc:spChg>
        <pc:cxnChg chg="add mod">
          <ac:chgData name="Ruikai LI" userId="d99744ea-4cbe-45ef-bc39-9a3ff27cc1d3" providerId="ADAL" clId="{C8DAABF5-2A45-5CEE-8D6A-4EAEFE77B813}" dt="2026-05-07T09:05:32.695" v="128" actId="1582"/>
          <ac:cxnSpMkLst>
            <pc:docMk/>
            <pc:sldMk cId="0" sldId="262"/>
            <ac:cxnSpMk id="59" creationId="{A5D0F46C-62B0-DA64-713B-5EEC639ACC38}"/>
          </ac:cxnSpMkLst>
        </pc:cxnChg>
        <pc:cxnChg chg="add del">
          <ac:chgData name="Ruikai LI" userId="d99744ea-4cbe-45ef-bc39-9a3ff27cc1d3" providerId="ADAL" clId="{C8DAABF5-2A45-5CEE-8D6A-4EAEFE77B813}" dt="2026-05-07T09:19:47.507" v="146" actId="11529"/>
          <ac:cxnSpMkLst>
            <pc:docMk/>
            <pc:sldMk cId="0" sldId="262"/>
            <ac:cxnSpMk id="62" creationId="{E4584BC2-1803-8D95-8DD1-8B88609149AE}"/>
          </ac:cxnSpMkLst>
        </pc:cxnChg>
      </pc:sldChg>
      <pc:sldChg chg="modAnim modNotesTx">
        <pc:chgData name="Ruikai LI" userId="d99744ea-4cbe-45ef-bc39-9a3ff27cc1d3" providerId="ADAL" clId="{C8DAABF5-2A45-5CEE-8D6A-4EAEFE77B813}" dt="2026-05-07T12:42:26.087" v="480" actId="20577"/>
        <pc:sldMkLst>
          <pc:docMk/>
          <pc:sldMk cId="0" sldId="263"/>
        </pc:sldMkLst>
      </pc:sldChg>
      <pc:sldChg chg="modSp mod modAnim modNotesTx">
        <pc:chgData name="Ruikai LI" userId="d99744ea-4cbe-45ef-bc39-9a3ff27cc1d3" providerId="ADAL" clId="{C8DAABF5-2A45-5CEE-8D6A-4EAEFE77B813}" dt="2026-05-07T13:12:42.588" v="668" actId="20577"/>
        <pc:sldMkLst>
          <pc:docMk/>
          <pc:sldMk cId="0" sldId="264"/>
        </pc:sldMkLst>
        <pc:spChg chg="mod">
          <ac:chgData name="Ruikai LI" userId="d99744ea-4cbe-45ef-bc39-9a3ff27cc1d3" providerId="ADAL" clId="{C8DAABF5-2A45-5CEE-8D6A-4EAEFE77B813}" dt="2026-05-07T09:30:41.057" v="187" actId="20577"/>
          <ac:spMkLst>
            <pc:docMk/>
            <pc:sldMk cId="0" sldId="264"/>
            <ac:spMk id="34" creationId="{00000000-0000-0000-0000-000000000000}"/>
          </ac:spMkLst>
        </pc:spChg>
      </pc:sldChg>
      <pc:sldChg chg="modAnim modNotesTx">
        <pc:chgData name="Ruikai LI" userId="d99744ea-4cbe-45ef-bc39-9a3ff27cc1d3" providerId="ADAL" clId="{C8DAABF5-2A45-5CEE-8D6A-4EAEFE77B813}" dt="2026-05-07T13:12:23.626" v="667" actId="20577"/>
        <pc:sldMkLst>
          <pc:docMk/>
          <pc:sldMk cId="0" sldId="265"/>
        </pc:sldMkLst>
      </pc:sldChg>
      <pc:sldChg chg="modAnim modNotesTx">
        <pc:chgData name="Ruikai LI" userId="d99744ea-4cbe-45ef-bc39-9a3ff27cc1d3" providerId="ADAL" clId="{C8DAABF5-2A45-5CEE-8D6A-4EAEFE77B813}" dt="2026-05-07T12:48:45.402" v="579" actId="20577"/>
        <pc:sldMkLst>
          <pc:docMk/>
          <pc:sldMk cId="0" sldId="266"/>
        </pc:sldMkLst>
      </pc:sldChg>
      <pc:sldChg chg="modAnim">
        <pc:chgData name="Ruikai LI" userId="d99744ea-4cbe-45ef-bc39-9a3ff27cc1d3" providerId="ADAL" clId="{C8DAABF5-2A45-5CEE-8D6A-4EAEFE77B813}" dt="2026-05-07T06:29:43.990" v="82"/>
        <pc:sldMkLst>
          <pc:docMk/>
          <pc:sldMk cId="0" sldId="267"/>
        </pc:sldMkLst>
      </pc:sldChg>
      <pc:sldChg chg="delSp mod modAnim">
        <pc:chgData name="Ruikai LI" userId="d99744ea-4cbe-45ef-bc39-9a3ff27cc1d3" providerId="ADAL" clId="{C8DAABF5-2A45-5CEE-8D6A-4EAEFE77B813}" dt="2026-05-07T12:42:48.923" v="485" actId="478"/>
        <pc:sldMkLst>
          <pc:docMk/>
          <pc:sldMk cId="0" sldId="268"/>
        </pc:sldMkLst>
        <pc:spChg chg="del">
          <ac:chgData name="Ruikai LI" userId="d99744ea-4cbe-45ef-bc39-9a3ff27cc1d3" providerId="ADAL" clId="{C8DAABF5-2A45-5CEE-8D6A-4EAEFE77B813}" dt="2026-05-07T12:42:44.227" v="483" actId="478"/>
          <ac:spMkLst>
            <pc:docMk/>
            <pc:sldMk cId="0" sldId="268"/>
            <ac:spMk id="16" creationId="{00000000-0000-0000-0000-000000000000}"/>
          </ac:spMkLst>
        </pc:spChg>
        <pc:spChg chg="del">
          <ac:chgData name="Ruikai LI" userId="d99744ea-4cbe-45ef-bc39-9a3ff27cc1d3" providerId="ADAL" clId="{C8DAABF5-2A45-5CEE-8D6A-4EAEFE77B813}" dt="2026-05-07T12:42:41.974" v="482" actId="478"/>
          <ac:spMkLst>
            <pc:docMk/>
            <pc:sldMk cId="0" sldId="268"/>
            <ac:spMk id="25" creationId="{00000000-0000-0000-0000-000000000000}"/>
          </ac:spMkLst>
        </pc:spChg>
        <pc:spChg chg="del">
          <ac:chgData name="Ruikai LI" userId="d99744ea-4cbe-45ef-bc39-9a3ff27cc1d3" providerId="ADAL" clId="{C8DAABF5-2A45-5CEE-8D6A-4EAEFE77B813}" dt="2026-05-07T12:42:39.346" v="481" actId="478"/>
          <ac:spMkLst>
            <pc:docMk/>
            <pc:sldMk cId="0" sldId="268"/>
            <ac:spMk id="34" creationId="{00000000-0000-0000-0000-000000000000}"/>
          </ac:spMkLst>
        </pc:spChg>
        <pc:spChg chg="del">
          <ac:chgData name="Ruikai LI" userId="d99744ea-4cbe-45ef-bc39-9a3ff27cc1d3" providerId="ADAL" clId="{C8DAABF5-2A45-5CEE-8D6A-4EAEFE77B813}" dt="2026-05-07T12:42:46.325" v="484" actId="478"/>
          <ac:spMkLst>
            <pc:docMk/>
            <pc:sldMk cId="0" sldId="268"/>
            <ac:spMk id="43" creationId="{00000000-0000-0000-0000-000000000000}"/>
          </ac:spMkLst>
        </pc:spChg>
        <pc:spChg chg="del">
          <ac:chgData name="Ruikai LI" userId="d99744ea-4cbe-45ef-bc39-9a3ff27cc1d3" providerId="ADAL" clId="{C8DAABF5-2A45-5CEE-8D6A-4EAEFE77B813}" dt="2026-05-07T12:42:48.923" v="485" actId="478"/>
          <ac:spMkLst>
            <pc:docMk/>
            <pc:sldMk cId="0" sldId="268"/>
            <ac:spMk id="52" creationId="{00000000-0000-0000-0000-000000000000}"/>
          </ac:spMkLst>
        </pc:spChg>
      </pc:sldChg>
      <pc:sldChg chg="modSp mod modAnim">
        <pc:chgData name="Ruikai LI" userId="d99744ea-4cbe-45ef-bc39-9a3ff27cc1d3" providerId="ADAL" clId="{C8DAABF5-2A45-5CEE-8D6A-4EAEFE77B813}" dt="2026-05-07T06:30:00.606" v="84"/>
        <pc:sldMkLst>
          <pc:docMk/>
          <pc:sldMk cId="0" sldId="269"/>
        </pc:sldMkLst>
        <pc:spChg chg="mod">
          <ac:chgData name="Ruikai LI" userId="d99744ea-4cbe-45ef-bc39-9a3ff27cc1d3" providerId="ADAL" clId="{C8DAABF5-2A45-5CEE-8D6A-4EAEFE77B813}" dt="2026-05-06T08:55:37.452" v="18" actId="20577"/>
          <ac:spMkLst>
            <pc:docMk/>
            <pc:sldMk cId="0" sldId="269"/>
            <ac:spMk id="70" creationId="{00000000-0000-0000-0000-000000000000}"/>
          </ac:spMkLst>
        </pc:spChg>
      </pc:sldChg>
      <pc:sldChg chg="modAnim">
        <pc:chgData name="Ruikai LI" userId="d99744ea-4cbe-45ef-bc39-9a3ff27cc1d3" providerId="ADAL" clId="{C8DAABF5-2A45-5CEE-8D6A-4EAEFE77B813}" dt="2026-05-07T06:28:28.489" v="71"/>
        <pc:sldMkLst>
          <pc:docMk/>
          <pc:sldMk cId="0" sldId="270"/>
        </pc:sldMkLst>
      </pc:sldChg>
    </pc:docChg>
  </pc:docChgLst>
  <pc:docChgLst>
    <pc:chgData name="Guest User" userId="S::urn:spo:tenantanon#7fca8293-0779-40a4-9f7b-6b19075c5b31::" providerId="AD" clId="Web-{DD79C4C6-9A45-1B09-52DC-9189D50DEFEE}"/>
    <pc:docChg chg="modSld sldOrd">
      <pc:chgData name="Guest User" userId="S::urn:spo:tenantanon#7fca8293-0779-40a4-9f7b-6b19075c5b31::" providerId="AD" clId="Web-{DD79C4C6-9A45-1B09-52DC-9189D50DEFEE}" dt="2026-05-07T12:32:17.660" v="34"/>
      <pc:docMkLst>
        <pc:docMk/>
      </pc:docMkLst>
      <pc:sldChg chg="modNotes">
        <pc:chgData name="Guest User" userId="S::urn:spo:tenantanon#7fca8293-0779-40a4-9f7b-6b19075c5b31::" providerId="AD" clId="Web-{DD79C4C6-9A45-1B09-52DC-9189D50DEFEE}" dt="2026-05-07T12:21:27.178" v="4"/>
        <pc:sldMkLst>
          <pc:docMk/>
          <pc:sldMk cId="0" sldId="256"/>
        </pc:sldMkLst>
      </pc:sldChg>
      <pc:sldChg chg="modNotes">
        <pc:chgData name="Guest User" userId="S::urn:spo:tenantanon#7fca8293-0779-40a4-9f7b-6b19075c5b31::" providerId="AD" clId="Web-{DD79C4C6-9A45-1B09-52DC-9189D50DEFEE}" dt="2026-05-07T12:21:57.572" v="9"/>
        <pc:sldMkLst>
          <pc:docMk/>
          <pc:sldMk cId="0" sldId="257"/>
        </pc:sldMkLst>
      </pc:sldChg>
      <pc:sldChg chg="modNotes">
        <pc:chgData name="Guest User" userId="S::urn:spo:tenantanon#7fca8293-0779-40a4-9f7b-6b19075c5b31::" providerId="AD" clId="Web-{DD79C4C6-9A45-1B09-52DC-9189D50DEFEE}" dt="2026-05-07T12:26:38.183" v="31"/>
        <pc:sldMkLst>
          <pc:docMk/>
          <pc:sldMk cId="0" sldId="258"/>
        </pc:sldMkLst>
      </pc:sldChg>
      <pc:sldChg chg="modNotes">
        <pc:chgData name="Guest User" userId="S::urn:spo:tenantanon#7fca8293-0779-40a4-9f7b-6b19075c5b31::" providerId="AD" clId="Web-{DD79C4C6-9A45-1B09-52DC-9189D50DEFEE}" dt="2026-05-07T12:23:24.954" v="16"/>
        <pc:sldMkLst>
          <pc:docMk/>
          <pc:sldMk cId="0" sldId="259"/>
        </pc:sldMkLst>
      </pc:sldChg>
      <pc:sldChg chg="ord modNotes">
        <pc:chgData name="Guest User" userId="S::urn:spo:tenantanon#7fca8293-0779-40a4-9f7b-6b19075c5b31::" providerId="AD" clId="Web-{DD79C4C6-9A45-1B09-52DC-9189D50DEFEE}" dt="2026-05-07T12:32:17.660" v="34"/>
        <pc:sldMkLst>
          <pc:docMk/>
          <pc:sldMk cId="0" sldId="260"/>
        </pc:sldMkLst>
      </pc:sldChg>
      <pc:sldChg chg="modNotes">
        <pc:chgData name="Guest User" userId="S::urn:spo:tenantanon#7fca8293-0779-40a4-9f7b-6b19075c5b31::" providerId="AD" clId="Web-{DD79C4C6-9A45-1B09-52DC-9189D50DEFEE}" dt="2026-05-07T12:21:42.008" v="7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362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等线"/>
              </a:rPr>
              <a:t>Go</a:t>
            </a:r>
            <a:r>
              <a:rPr lang="zh-CN">
                <a:ea typeface="等线"/>
              </a:rPr>
              <a:t>o</a:t>
            </a:r>
            <a:r>
              <a:rPr lang="en-US" altLang="zh-CN">
                <a:ea typeface="等线"/>
              </a:rPr>
              <a:t>d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m</a:t>
            </a:r>
            <a:r>
              <a:rPr lang="en-US" altLang="zh-CN" err="1">
                <a:ea typeface="等线"/>
              </a:rPr>
              <a:t>orning</a:t>
            </a:r>
            <a:r>
              <a:rPr lang="en-US" altLang="zh-CN">
                <a:ea typeface="等线"/>
              </a:rPr>
              <a:t>,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prof</a:t>
            </a:r>
            <a:r>
              <a:rPr lang="zh-CN">
                <a:ea typeface="等线"/>
              </a:rPr>
              <a:t>e</a:t>
            </a:r>
            <a:r>
              <a:rPr lang="en-US" altLang="zh-CN">
                <a:ea typeface="等线"/>
              </a:rPr>
              <a:t>ss</a:t>
            </a:r>
            <a:r>
              <a:rPr lang="zh-CN">
                <a:ea typeface="等线"/>
              </a:rPr>
              <a:t>o</a:t>
            </a:r>
            <a:r>
              <a:rPr lang="en-US" altLang="zh-CN" err="1">
                <a:ea typeface="等线"/>
              </a:rPr>
              <a:t>rs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</a:t>
            </a:r>
            <a:r>
              <a:rPr lang="zh-CN">
                <a:ea typeface="等线"/>
              </a:rPr>
              <a:t>n</a:t>
            </a:r>
            <a:r>
              <a:rPr lang="en-US" altLang="zh-CN">
                <a:ea typeface="等线"/>
              </a:rPr>
              <a:t>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fellow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stud</a:t>
            </a:r>
            <a:r>
              <a:rPr lang="zh-CN">
                <a:ea typeface="等线"/>
              </a:rPr>
              <a:t>e</a:t>
            </a:r>
            <a:r>
              <a:rPr lang="en-US" altLang="zh-CN" err="1">
                <a:ea typeface="等线"/>
              </a:rPr>
              <a:t>nts</a:t>
            </a:r>
            <a:r>
              <a:rPr lang="zh-CN">
                <a:ea typeface="等线"/>
              </a:rPr>
              <a:t>.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Today we</a:t>
            </a:r>
            <a:r>
              <a:rPr lang="zh-CN" altLang="en-US">
                <a:ea typeface="等线"/>
              </a:rPr>
              <a:t>’</a:t>
            </a:r>
            <a:r>
              <a:rPr lang="en-US" altLang="zh-CN">
                <a:ea typeface="等线"/>
              </a:rPr>
              <a:t>re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he</a:t>
            </a:r>
            <a:r>
              <a:rPr lang="zh-CN">
                <a:ea typeface="等线"/>
              </a:rPr>
              <a:t>re </a:t>
            </a:r>
            <a:r>
              <a:rPr lang="en-US" altLang="zh-CN">
                <a:ea typeface="等线"/>
              </a:rPr>
              <a:t>to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present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our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projec</a:t>
            </a:r>
            <a:r>
              <a:rPr lang="zh-CN">
                <a:ea typeface="等线"/>
              </a:rPr>
              <a:t>t</a:t>
            </a:r>
            <a:r>
              <a:rPr lang="en-US" altLang="zh-CN">
                <a:ea typeface="等线"/>
              </a:rPr>
              <a:t>:</a:t>
            </a:r>
            <a:r>
              <a:rPr lang="zh-CN" altLang="en-US">
                <a:ea typeface="等线"/>
              </a:rPr>
              <a:t> </a:t>
            </a:r>
            <a:r>
              <a:rPr lang="en-US" altLang="zh-CN" i="1">
                <a:ea typeface="等线"/>
              </a:rPr>
              <a:t>T</a:t>
            </a:r>
            <a:r>
              <a:rPr lang="zh-CN" i="1">
                <a:ea typeface="等线"/>
              </a:rPr>
              <a:t>he LogicScript Optimizing Compiler</a:t>
            </a:r>
            <a:r>
              <a:rPr lang="en-US" altLang="zh-CN" i="1">
                <a:ea typeface="等线"/>
              </a:rPr>
              <a:t>:</a:t>
            </a:r>
            <a:r>
              <a:rPr lang="zh-CN" altLang="en-US" i="1">
                <a:ea typeface="等线"/>
              </a:rPr>
              <a:t> </a:t>
            </a:r>
            <a:r>
              <a:rPr lang="en-US" altLang="zh-CN" i="1">
                <a:ea typeface="等线"/>
              </a:rPr>
              <a:t>A</a:t>
            </a:r>
            <a:r>
              <a:rPr lang="zh-CN" altLang="en-US" i="1">
                <a:ea typeface="等线"/>
              </a:rPr>
              <a:t> </a:t>
            </a:r>
            <a:r>
              <a:rPr lang="en-US" altLang="zh-CN" i="1">
                <a:ea typeface="等线"/>
              </a:rPr>
              <a:t>F</a:t>
            </a:r>
            <a:r>
              <a:rPr lang="zh-CN" i="1">
                <a:ea typeface="等线"/>
              </a:rPr>
              <a:t>our-</a:t>
            </a:r>
            <a:r>
              <a:rPr lang="en-US" altLang="zh-CN" i="1">
                <a:ea typeface="等线"/>
              </a:rPr>
              <a:t>P</a:t>
            </a:r>
            <a:r>
              <a:rPr lang="zh-CN" i="1">
                <a:ea typeface="等线"/>
              </a:rPr>
              <a:t>hase Boolean </a:t>
            </a:r>
            <a:r>
              <a:rPr lang="en-US" altLang="zh-CN" i="1">
                <a:ea typeface="等线"/>
              </a:rPr>
              <a:t>L</a:t>
            </a:r>
            <a:r>
              <a:rPr lang="zh-CN" i="1">
                <a:ea typeface="等线"/>
              </a:rPr>
              <a:t>ogic </a:t>
            </a:r>
            <a:r>
              <a:rPr lang="en-US" altLang="zh-CN" i="1">
                <a:ea typeface="等线"/>
              </a:rPr>
              <a:t>C</a:t>
            </a:r>
            <a:r>
              <a:rPr lang="zh-CN" i="1">
                <a:ea typeface="等线"/>
              </a:rPr>
              <a:t>ompiler </a:t>
            </a:r>
            <a:r>
              <a:rPr lang="en-US" altLang="zh-CN" i="1">
                <a:ea typeface="等线"/>
              </a:rPr>
              <a:t>Pi</a:t>
            </a:r>
            <a:r>
              <a:rPr lang="zh-CN" i="1">
                <a:ea typeface="等线"/>
              </a:rPr>
              <a:t>peline.</a:t>
            </a:r>
            <a:endParaRPr lang="zh-CN" altLang="en-US" i="1">
              <a:ea typeface="等线"/>
            </a:endParaRPr>
          </a:p>
          <a:p>
            <a:endParaRPr lang="zh-CN">
              <a:ea typeface="等线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等线"/>
              </a:rPr>
              <a:t>First,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here</a:t>
            </a:r>
            <a:r>
              <a:rPr lang="zh-CN" altLang="en-US">
                <a:ea typeface="等线"/>
              </a:rPr>
              <a:t>’</a:t>
            </a:r>
            <a:r>
              <a:rPr lang="en-US" altLang="zh-CN">
                <a:ea typeface="等线"/>
              </a:rPr>
              <a:t>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our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team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work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split: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three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of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us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are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respectively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in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charge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of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Phase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2,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3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and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4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of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compiler</a:t>
            </a:r>
            <a:r>
              <a:rPr lang="zh-CN" altLang="en-US">
                <a:ea typeface="等线"/>
              </a:rPr>
              <a:t>’</a:t>
            </a:r>
            <a:r>
              <a:rPr lang="en-US" altLang="zh-CN">
                <a:ea typeface="等线"/>
              </a:rPr>
              <a:t>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implementation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steps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—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Parser,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Optimizer,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and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Execution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&amp;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Verification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modules.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All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of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us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also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worked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together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on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full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codebase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review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and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technical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brief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writing.</a:t>
            </a:r>
            <a:endParaRPr lang="zh-CN" altLang="en-US">
              <a:ea typeface="等线"/>
            </a:endParaRPr>
          </a:p>
          <a:p>
            <a:endParaRPr lang="zh-CN">
              <a:ea typeface="等线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Here’s the full outline of our presentation, with 7 chapters in total.</a:t>
            </a:r>
            <a:endParaRPr lang="zh-CN" altLang="en-US"/>
          </a:p>
          <a:p>
            <a:endParaRPr lang="en-US" altLang="zh-CN" i="1">
              <a:ea typeface="等线"/>
            </a:endParaRPr>
          </a:p>
          <a:p>
            <a:endParaRPr lang="zh-CN">
              <a:ea typeface="等线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put it simply: </a:t>
            </a:r>
            <a:r>
              <a:rPr lang="en-US" err="1"/>
              <a:t>LogicScript</a:t>
            </a:r>
            <a:r>
              <a:rPr lang="en-US"/>
              <a:t> is a custom micro-language we built for Boolean logic, paired with a four-phase optimizing compiler with built-in formal verification. The whole pipeline runs in strict sequential order: Lexer, Parser, Optimizer, and Execution &amp; Verification, with each phase’s output directly feeding into the next, making the entire process fully traceable and verifiable.</a:t>
            </a:r>
            <a:endParaRPr lang="zh-CN" altLang="en-US"/>
          </a:p>
          <a:p>
            <a:endParaRPr lang="en-US" altLang="zh-CN">
              <a:ea typeface="等线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等线"/>
              </a:rPr>
              <a:t>Here</a:t>
            </a:r>
            <a:r>
              <a:rPr lang="zh-CN" altLang="en-US">
                <a:ea typeface="等线"/>
              </a:rPr>
              <a:t>’</a:t>
            </a:r>
            <a:r>
              <a:rPr lang="en-US" altLang="zh-CN">
                <a:ea typeface="等线"/>
              </a:rPr>
              <a:t>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our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end-to-end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pipeline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demo.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Left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is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input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code,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we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simplify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and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verify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expression,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right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is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final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output.</a:t>
            </a:r>
            <a:endParaRPr lang="zh-CN" altLang="en-US">
              <a:ea typeface="等线"/>
            </a:endParaRPr>
          </a:p>
          <a:p>
            <a:endParaRPr lang="zh-CN">
              <a:ea typeface="等线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等线"/>
              </a:rPr>
              <a:t>That</a:t>
            </a:r>
            <a:r>
              <a:rPr lang="zh-CN" altLang="en-US">
                <a:ea typeface="等线"/>
              </a:rPr>
              <a:t>’</a:t>
            </a:r>
            <a:r>
              <a:rPr lang="en-US" altLang="zh-CN">
                <a:ea typeface="等线"/>
              </a:rPr>
              <a:t>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all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for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my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opening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section.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Now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my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teammates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will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walk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you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through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rest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of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presentation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in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detail.</a:t>
            </a:r>
            <a:endParaRPr lang="zh-CN" altLang="en-US">
              <a:ea typeface="等线"/>
            </a:endParaRPr>
          </a:p>
          <a:p>
            <a:endParaRPr lang="zh-CN">
              <a:ea typeface="等线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briefly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introduce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detailed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implementation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phases.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one is the </a:t>
            </a:r>
            <a:r>
              <a:rPr lang="en" altLang="zh-CN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lexer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scans each line and produces named tokens using a buffer-based strategy: characters accumulate in a buffer and flush once encountering a parenthesis. Reserved words hit a dictionary lookup; single-lowercase-letter variables become VAR_P, VAR_Q, and so on. Any unrecognized sequence raises a </a:t>
            </a:r>
            <a:r>
              <a:rPr lang="en" altLang="zh-CN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LexicalError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the line number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two is a recursive descent parser whose structure mirrors the grammar directly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_statement dispatches to the let, if, or print handler; expressions recurse through </a:t>
            </a:r>
            <a:r>
              <a:rPr lang="en" altLang="zh-CN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parse_expression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" altLang="zh-CN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parse_parenthesized_expression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</a:t>
            </a:r>
            <a:r>
              <a:rPr lang="en" altLang="zh-CN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ParseError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raised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line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encountering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syntax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error.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Abstract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Syntax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tree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 usable by the optimizer.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three applies eleven Boolean rewrite rules in a bottom-up fixed-point loop. Children are simplified before parents, so sub-expressions are already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optimized.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Rules run in priority order: implication elimination goes first, converting IMPLIES to OR-NOT and unlocking later rules; De Morgan and double negation follow; the remaining eight run until a full pass produces no change — the fixed-point condition. A cap of sixty-four iterations guards against cycles.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optimization.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consensus theorem goes further: in any OR expression where two AND-terms share a complementary 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term,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third term is redundant and removed. The dual form handles AND expressions.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four starts with equivalence verification. For each optimized line, the verifier enumerates all 2-to-the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-power-of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-n truth assignments over the combined variable set, evaluates both ASTs on each row, and marks the result </a:t>
            </a:r>
            <a:r>
              <a:rPr lang="en" altLang="zh-CN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is_equivalent</a:t>
            </a: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TRUE only if every row matches — a bug in the optimizer would surface here.</a:t>
            </a:r>
          </a:p>
          <a:p>
            <a:endParaRPr 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 then processes optimized statements line by line: LET stores results in a state dictionary, IF evaluates its condition and recurses if TRUE, PRINT looks up and records the variable's value.</a:t>
            </a:r>
            <a:endParaRPr 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等线"/>
              </a:rPr>
              <a:t>Next, I</a:t>
            </a:r>
            <a:r>
              <a:rPr lang="zh-CN" altLang="en-US">
                <a:ea typeface="等线"/>
              </a:rPr>
              <a:t>’</a:t>
            </a:r>
            <a:r>
              <a:rPr lang="zh-CN">
                <a:ea typeface="等线"/>
              </a:rPr>
              <a:t>ll briefly </a:t>
            </a:r>
            <a:r>
              <a:rPr lang="en-US" altLang="zh-CN" err="1">
                <a:ea typeface="等线"/>
              </a:rPr>
              <a:t>introdu</a:t>
            </a:r>
            <a:r>
              <a:rPr lang="zh-CN">
                <a:ea typeface="等线"/>
              </a:rPr>
              <a:t>ce our testing suite</a:t>
            </a:r>
            <a:r>
              <a:rPr lang="en-US" altLang="zh-CN">
                <a:ea typeface="等线"/>
              </a:rPr>
              <a:t>.</a:t>
            </a:r>
            <a:br>
              <a:rPr lang="zh-CN" altLang="en-US">
                <a:cs typeface="+mn-lt"/>
              </a:rPr>
            </a:br>
            <a:r>
              <a:rPr lang="en-US" altLang="zh-CN">
                <a:ea typeface="等线"/>
              </a:rPr>
              <a:t>We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b</a:t>
            </a:r>
            <a:r>
              <a:rPr lang="zh-CN">
                <a:ea typeface="等线"/>
              </a:rPr>
              <a:t>ui</a:t>
            </a:r>
            <a:r>
              <a:rPr lang="en-US" altLang="zh-CN">
                <a:ea typeface="等线"/>
              </a:rPr>
              <a:t>l</a:t>
            </a:r>
            <a:r>
              <a:rPr lang="zh-CN">
                <a:ea typeface="等线"/>
              </a:rPr>
              <a:t>t tests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f</a:t>
            </a:r>
            <a:r>
              <a:rPr lang="zh-CN">
                <a:ea typeface="等线"/>
              </a:rPr>
              <a:t>or</a:t>
            </a:r>
            <a:r>
              <a:rPr lang="zh-CN" altLang="en-US">
                <a:ea typeface="等线"/>
              </a:rPr>
              <a:t> </a:t>
            </a:r>
            <a:r>
              <a:rPr lang="en-US" altLang="en-US">
                <a:ea typeface="等线"/>
              </a:rPr>
              <a:t>the</a:t>
            </a:r>
            <a:r>
              <a:rPr lang="zh-CN">
                <a:ea typeface="等线"/>
              </a:rPr>
              <a:t> four phases o</a:t>
            </a:r>
            <a:r>
              <a:rPr lang="en-US" altLang="zh-CN">
                <a:ea typeface="等线"/>
              </a:rPr>
              <a:t>f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th</a:t>
            </a:r>
            <a:r>
              <a:rPr lang="en-US" altLang="zh-CN">
                <a:ea typeface="等线"/>
              </a:rPr>
              <a:t>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pipe</a:t>
            </a:r>
            <a:r>
              <a:rPr lang="zh-CN">
                <a:ea typeface="等线"/>
              </a:rPr>
              <a:t>lin</a:t>
            </a:r>
            <a:r>
              <a:rPr lang="en-US" altLang="zh-CN">
                <a:ea typeface="等线"/>
              </a:rPr>
              <a:t>e</a:t>
            </a:r>
            <a:r>
              <a:rPr lang="zh-CN">
                <a:ea typeface="等线"/>
              </a:rPr>
              <a:t>. Phase </a:t>
            </a:r>
            <a:r>
              <a:rPr lang="en-US" altLang="zh-CN">
                <a:ea typeface="等线"/>
              </a:rPr>
              <a:t>1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ch</a:t>
            </a:r>
            <a:r>
              <a:rPr lang="zh-CN">
                <a:ea typeface="等线"/>
              </a:rPr>
              <a:t>e</a:t>
            </a:r>
            <a:r>
              <a:rPr lang="en-US" altLang="zh-CN">
                <a:ea typeface="等线"/>
              </a:rPr>
              <a:t>ck</a:t>
            </a:r>
            <a:r>
              <a:rPr lang="zh-CN">
                <a:ea typeface="等线"/>
              </a:rPr>
              <a:t>s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corr</a:t>
            </a:r>
            <a:r>
              <a:rPr lang="zh-CN">
                <a:ea typeface="等线"/>
              </a:rPr>
              <a:t>e</a:t>
            </a:r>
            <a:r>
              <a:rPr lang="en-US" altLang="zh-CN">
                <a:ea typeface="等线"/>
              </a:rPr>
              <a:t>c</a:t>
            </a:r>
            <a:r>
              <a:rPr lang="zh-CN">
                <a:ea typeface="等线"/>
              </a:rPr>
              <a:t>t tokenization and lexical errors. Phase </a:t>
            </a:r>
            <a:r>
              <a:rPr lang="en-US" altLang="zh-CN">
                <a:ea typeface="等线"/>
              </a:rPr>
              <a:t>2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ch</a:t>
            </a:r>
            <a:r>
              <a:rPr lang="zh-CN">
                <a:ea typeface="等线"/>
              </a:rPr>
              <a:t>e</a:t>
            </a:r>
            <a:r>
              <a:rPr lang="en-US" altLang="zh-CN">
                <a:ea typeface="等线"/>
              </a:rPr>
              <a:t>ck</a:t>
            </a:r>
            <a:r>
              <a:rPr lang="zh-CN">
                <a:ea typeface="等线"/>
              </a:rPr>
              <a:t>s AST </a:t>
            </a:r>
            <a:r>
              <a:rPr lang="en-US" altLang="zh-CN">
                <a:ea typeface="等线"/>
              </a:rPr>
              <a:t>g</a:t>
            </a:r>
            <a:r>
              <a:rPr lang="zh-CN">
                <a:ea typeface="等线"/>
              </a:rPr>
              <a:t>e</a:t>
            </a:r>
            <a:r>
              <a:rPr lang="en-US" altLang="zh-CN">
                <a:ea typeface="等线"/>
              </a:rPr>
              <a:t>n</a:t>
            </a:r>
            <a:r>
              <a:rPr lang="zh-CN">
                <a:ea typeface="等线"/>
              </a:rPr>
              <a:t>eratio</a:t>
            </a:r>
            <a:r>
              <a:rPr lang="en-US" altLang="zh-CN">
                <a:ea typeface="等线"/>
              </a:rPr>
              <a:t>n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and </a:t>
            </a:r>
            <a:r>
              <a:rPr lang="en-US" altLang="zh-CN">
                <a:ea typeface="等线"/>
              </a:rPr>
              <a:t>syn</a:t>
            </a:r>
            <a:r>
              <a:rPr lang="zh-CN">
                <a:ea typeface="等线"/>
              </a:rPr>
              <a:t>t</a:t>
            </a:r>
            <a:r>
              <a:rPr lang="en-US" altLang="zh-CN">
                <a:ea typeface="等线"/>
              </a:rPr>
              <a:t>ax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errors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suc</a:t>
            </a:r>
            <a:r>
              <a:rPr lang="zh-CN">
                <a:ea typeface="等线"/>
              </a:rPr>
              <a:t>h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miss</a:t>
            </a:r>
            <a:r>
              <a:rPr lang="zh-CN">
                <a:ea typeface="等线"/>
              </a:rPr>
              <a:t>in</a:t>
            </a:r>
            <a:r>
              <a:rPr lang="en-US" altLang="zh-CN">
                <a:ea typeface="等线"/>
              </a:rPr>
              <a:t>g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THEN,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m</a:t>
            </a:r>
            <a:r>
              <a:rPr lang="zh-CN">
                <a:ea typeface="等线"/>
              </a:rPr>
              <a:t>iss</a:t>
            </a:r>
            <a:r>
              <a:rPr lang="en-US" altLang="zh-CN" err="1">
                <a:ea typeface="等线"/>
              </a:rPr>
              <a:t>ing</a:t>
            </a:r>
            <a:r>
              <a:rPr lang="zh-CN">
                <a:ea typeface="等线"/>
              </a:rPr>
              <a:t> o</a:t>
            </a:r>
            <a:r>
              <a:rPr lang="en-US" altLang="zh-CN">
                <a:ea typeface="等线"/>
              </a:rPr>
              <a:t>p</a:t>
            </a:r>
            <a:r>
              <a:rPr lang="zh-CN">
                <a:ea typeface="等线"/>
              </a:rPr>
              <a:t>era</a:t>
            </a:r>
            <a:r>
              <a:rPr lang="en-US" altLang="zh-CN" err="1">
                <a:ea typeface="等线"/>
              </a:rPr>
              <a:t>nd</a:t>
            </a:r>
            <a:r>
              <a:rPr lang="zh-CN">
                <a:ea typeface="等线"/>
              </a:rPr>
              <a:t>s</a:t>
            </a:r>
            <a:r>
              <a:rPr lang="en-US" altLang="zh-CN">
                <a:ea typeface="等线"/>
              </a:rPr>
              <a:t>,</a:t>
            </a:r>
            <a:r>
              <a:rPr lang="zh-CN">
                <a:ea typeface="等线"/>
              </a:rPr>
              <a:t> an</a:t>
            </a:r>
            <a:r>
              <a:rPr lang="en-US" altLang="zh-CN">
                <a:ea typeface="等线"/>
              </a:rPr>
              <a:t>d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ext</a:t>
            </a:r>
            <a:r>
              <a:rPr lang="zh-CN">
                <a:ea typeface="等线"/>
              </a:rPr>
              <a:t>ra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</a:t>
            </a:r>
            <a:r>
              <a:rPr lang="zh-CN">
                <a:ea typeface="等线"/>
              </a:rPr>
              <a:t>o</a:t>
            </a:r>
            <a:r>
              <a:rPr lang="en-US" altLang="zh-CN">
                <a:ea typeface="等线"/>
              </a:rPr>
              <a:t>k</a:t>
            </a:r>
            <a:r>
              <a:rPr lang="zh-CN">
                <a:ea typeface="等线"/>
              </a:rPr>
              <a:t>e</a:t>
            </a:r>
            <a:r>
              <a:rPr lang="en-US" altLang="zh-CN">
                <a:ea typeface="等线"/>
              </a:rPr>
              <a:t>ns</a:t>
            </a:r>
            <a:r>
              <a:rPr lang="zh-CN">
                <a:ea typeface="等线"/>
              </a:rPr>
              <a:t>. Phase </a:t>
            </a:r>
            <a:r>
              <a:rPr lang="en-US" altLang="zh-CN">
                <a:ea typeface="等线"/>
              </a:rPr>
              <a:t>3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checks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the mai</a:t>
            </a:r>
            <a:r>
              <a:rPr lang="en-US" altLang="zh-CN">
                <a:ea typeface="等线"/>
              </a:rPr>
              <a:t>n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re</a:t>
            </a:r>
            <a:r>
              <a:rPr lang="en-US" altLang="zh-CN">
                <a:ea typeface="等线"/>
              </a:rPr>
              <a:t>w</a:t>
            </a:r>
            <a:r>
              <a:rPr lang="zh-CN">
                <a:ea typeface="等线"/>
              </a:rPr>
              <a:t>rite rules and fixed-point op</a:t>
            </a:r>
            <a:r>
              <a:rPr lang="en-US" altLang="zh-CN" err="1">
                <a:ea typeface="等线"/>
              </a:rPr>
              <a:t>timizati</a:t>
            </a:r>
            <a:r>
              <a:rPr lang="zh-CN">
                <a:ea typeface="等线"/>
              </a:rPr>
              <a:t>on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beha</a:t>
            </a:r>
            <a:r>
              <a:rPr lang="zh-CN">
                <a:ea typeface="等线"/>
              </a:rPr>
              <a:t>v</a:t>
            </a:r>
            <a:r>
              <a:rPr lang="en-US" altLang="zh-CN">
                <a:ea typeface="等线"/>
              </a:rPr>
              <a:t>io</a:t>
            </a:r>
            <a:r>
              <a:rPr lang="zh-CN">
                <a:ea typeface="等线"/>
              </a:rPr>
              <a:t>r. Phase </a:t>
            </a:r>
            <a:r>
              <a:rPr lang="en-US" altLang="zh-CN">
                <a:ea typeface="等线"/>
              </a:rPr>
              <a:t>4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c</a:t>
            </a:r>
            <a:r>
              <a:rPr lang="zh-CN">
                <a:ea typeface="等线"/>
              </a:rPr>
              <a:t>h</a:t>
            </a:r>
            <a:r>
              <a:rPr lang="en-US" altLang="zh-CN" err="1">
                <a:ea typeface="等线"/>
              </a:rPr>
              <a:t>eck</a:t>
            </a:r>
            <a:r>
              <a:rPr lang="zh-CN">
                <a:ea typeface="等线"/>
              </a:rPr>
              <a:t>s </a:t>
            </a:r>
            <a:r>
              <a:rPr lang="en-US" altLang="zh-CN" err="1">
                <a:ea typeface="等线"/>
              </a:rPr>
              <a:t>bo</a:t>
            </a:r>
            <a:r>
              <a:rPr lang="zh-CN">
                <a:ea typeface="等线"/>
              </a:rPr>
              <a:t>th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tr</a:t>
            </a:r>
            <a:r>
              <a:rPr lang="en-US" altLang="zh-CN">
                <a:ea typeface="等线"/>
              </a:rPr>
              <a:t>u</a:t>
            </a:r>
            <a:r>
              <a:rPr lang="zh-CN">
                <a:ea typeface="等线"/>
              </a:rPr>
              <a:t>th</a:t>
            </a:r>
            <a:r>
              <a:rPr lang="en-US" altLang="zh-CN">
                <a:ea typeface="等线"/>
              </a:rPr>
              <a:t>-</a:t>
            </a:r>
            <a:r>
              <a:rPr lang="en-US" altLang="zh-CN" err="1">
                <a:ea typeface="等线"/>
              </a:rPr>
              <a:t>tabl</a:t>
            </a:r>
            <a:r>
              <a:rPr lang="zh-CN">
                <a:ea typeface="等线"/>
              </a:rPr>
              <a:t>e verification </a:t>
            </a:r>
            <a:r>
              <a:rPr lang="en-US" altLang="zh-CN">
                <a:ea typeface="等线"/>
              </a:rPr>
              <a:t>and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ru</a:t>
            </a:r>
            <a:r>
              <a:rPr lang="en-US" altLang="zh-CN">
                <a:ea typeface="等线"/>
              </a:rPr>
              <a:t>n</a:t>
            </a:r>
            <a:r>
              <a:rPr lang="zh-CN">
                <a:ea typeface="等线"/>
              </a:rPr>
              <a:t>t</a:t>
            </a:r>
            <a:r>
              <a:rPr lang="en-US" altLang="zh-CN" err="1">
                <a:ea typeface="等线"/>
              </a:rPr>
              <a:t>im</a:t>
            </a:r>
            <a:r>
              <a:rPr lang="zh-CN">
                <a:ea typeface="等线"/>
              </a:rPr>
              <a:t>e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e</a:t>
            </a:r>
            <a:r>
              <a:rPr lang="en-US" altLang="zh-CN">
                <a:ea typeface="等线"/>
              </a:rPr>
              <a:t>x</a:t>
            </a:r>
            <a:r>
              <a:rPr lang="zh-CN">
                <a:ea typeface="等线"/>
              </a:rPr>
              <a:t>e</a:t>
            </a:r>
            <a:r>
              <a:rPr lang="en-US" altLang="zh-CN">
                <a:ea typeface="等线"/>
              </a:rPr>
              <a:t>cu</a:t>
            </a:r>
            <a:r>
              <a:rPr lang="zh-CN">
                <a:ea typeface="等线"/>
              </a:rPr>
              <a:t>ti</a:t>
            </a:r>
            <a:r>
              <a:rPr lang="en-US" altLang="zh-CN">
                <a:ea typeface="等线"/>
              </a:rPr>
              <a:t>o</a:t>
            </a:r>
            <a:r>
              <a:rPr lang="zh-CN">
                <a:ea typeface="等线"/>
              </a:rPr>
              <a:t>n, includi</a:t>
            </a:r>
            <a:r>
              <a:rPr lang="en-US" altLang="zh-CN">
                <a:ea typeface="等线"/>
              </a:rPr>
              <a:t>ng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n</a:t>
            </a:r>
            <a:r>
              <a:rPr lang="zh-CN">
                <a:ea typeface="等线"/>
              </a:rPr>
              <a:t>e</a:t>
            </a:r>
            <a:r>
              <a:rPr lang="en-US" altLang="zh-CN">
                <a:ea typeface="等线"/>
              </a:rPr>
              <a:t>g</a:t>
            </a:r>
            <a:r>
              <a:rPr lang="zh-CN">
                <a:ea typeface="等线"/>
              </a:rPr>
              <a:t>ative cases</a:t>
            </a:r>
            <a:r>
              <a:rPr lang="en-US" altLang="zh-CN">
                <a:ea typeface="等线"/>
              </a:rPr>
              <a:t>.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Ov</a:t>
            </a:r>
            <a:r>
              <a:rPr lang="zh-CN">
                <a:ea typeface="等线"/>
              </a:rPr>
              <a:t>er</a:t>
            </a:r>
            <a:r>
              <a:rPr lang="en-US" altLang="zh-CN">
                <a:ea typeface="等线"/>
              </a:rPr>
              <a:t>all,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the </a:t>
            </a:r>
            <a:r>
              <a:rPr lang="en-US" altLang="zh-CN">
                <a:ea typeface="等线"/>
              </a:rPr>
              <a:t>goal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was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to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v</a:t>
            </a:r>
            <a:r>
              <a:rPr lang="en-US" altLang="zh-CN">
                <a:ea typeface="等线"/>
              </a:rPr>
              <a:t>al</a:t>
            </a:r>
            <a:r>
              <a:rPr lang="zh-CN">
                <a:ea typeface="等线"/>
              </a:rPr>
              <a:t>i</a:t>
            </a:r>
            <a:r>
              <a:rPr lang="en-US" altLang="zh-CN" err="1">
                <a:ea typeface="等线"/>
              </a:rPr>
              <a:t>dat</a:t>
            </a:r>
            <a:r>
              <a:rPr lang="zh-CN">
                <a:ea typeface="等线"/>
              </a:rPr>
              <a:t>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both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correct</a:t>
            </a:r>
            <a:r>
              <a:rPr lang="en-US" altLang="zh-CN">
                <a:ea typeface="等线"/>
              </a:rPr>
              <a:t>ness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and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graceful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fai</a:t>
            </a:r>
            <a:r>
              <a:rPr lang="zh-CN">
                <a:ea typeface="等线"/>
              </a:rPr>
              <a:t>l</a:t>
            </a:r>
            <a:r>
              <a:rPr lang="en-US" altLang="zh-CN">
                <a:ea typeface="等线"/>
              </a:rPr>
              <a:t>u</a:t>
            </a:r>
            <a:r>
              <a:rPr lang="zh-CN">
                <a:ea typeface="等线"/>
              </a:rPr>
              <a:t>re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acr</a:t>
            </a:r>
            <a:r>
              <a:rPr lang="zh-CN">
                <a:ea typeface="等线"/>
              </a:rPr>
              <a:t>os</a:t>
            </a:r>
            <a:r>
              <a:rPr lang="en-US" altLang="zh-CN">
                <a:ea typeface="等线"/>
              </a:rPr>
              <a:t>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full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compiler</a:t>
            </a:r>
            <a:r>
              <a:rPr lang="zh-CN">
                <a:ea typeface="等线"/>
              </a:rPr>
              <a:t>.</a:t>
            </a:r>
            <a:r>
              <a:rPr lang="zh-CN" altLang="en-US">
                <a:ea typeface="等线"/>
              </a:rPr>
              <a:t> </a:t>
            </a:r>
            <a:endParaRPr 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等线"/>
              </a:rPr>
              <a:t>At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th</a:t>
            </a:r>
            <a:r>
              <a:rPr lang="zh-CN">
                <a:ea typeface="等线"/>
              </a:rPr>
              <a:t>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same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t</a:t>
            </a:r>
            <a:r>
              <a:rPr lang="en-US" altLang="zh-CN" err="1">
                <a:ea typeface="等线"/>
              </a:rPr>
              <a:t>ime</a:t>
            </a:r>
            <a:r>
              <a:rPr lang="en-US" altLang="zh-CN">
                <a:ea typeface="等线"/>
              </a:rPr>
              <a:t>,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the </a:t>
            </a:r>
            <a:r>
              <a:rPr lang="en-US" altLang="zh-CN">
                <a:ea typeface="等线"/>
              </a:rPr>
              <a:t>cur</a:t>
            </a:r>
            <a:r>
              <a:rPr lang="zh-CN">
                <a:ea typeface="等线"/>
              </a:rPr>
              <a:t>re</a:t>
            </a:r>
            <a:r>
              <a:rPr lang="en-US" altLang="zh-CN">
                <a:ea typeface="等线"/>
              </a:rPr>
              <a:t>n</a:t>
            </a:r>
            <a:r>
              <a:rPr lang="zh-CN">
                <a:ea typeface="等线"/>
              </a:rPr>
              <a:t>t </a:t>
            </a:r>
            <a:r>
              <a:rPr lang="en-US" altLang="zh-CN">
                <a:ea typeface="等线"/>
              </a:rPr>
              <a:t>system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s</a:t>
            </a:r>
            <a:r>
              <a:rPr lang="zh-CN">
                <a:ea typeface="等线"/>
              </a:rPr>
              <a:t>t</a:t>
            </a:r>
            <a:r>
              <a:rPr lang="en-US" altLang="zh-CN">
                <a:ea typeface="等线"/>
              </a:rPr>
              <a:t>ill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ha</a:t>
            </a:r>
            <a:r>
              <a:rPr lang="en-US" altLang="zh-CN">
                <a:ea typeface="等线"/>
              </a:rPr>
              <a:t>s</a:t>
            </a:r>
            <a:r>
              <a:rPr lang="zh-CN">
                <a:ea typeface="等线"/>
              </a:rPr>
              <a:t> </a:t>
            </a:r>
            <a:r>
              <a:rPr lang="en-US" altLang="zh-CN">
                <a:ea typeface="等线"/>
              </a:rPr>
              <a:t>s</a:t>
            </a:r>
            <a:r>
              <a:rPr lang="zh-CN">
                <a:ea typeface="等线"/>
              </a:rPr>
              <a:t>eve</a:t>
            </a:r>
            <a:r>
              <a:rPr lang="en-US" altLang="zh-CN" err="1">
                <a:ea typeface="等线"/>
              </a:rPr>
              <a:t>ral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limitations.</a:t>
            </a:r>
            <a:r>
              <a:rPr lang="zh-CN" altLang="en-US">
                <a:ea typeface="等线"/>
              </a:rPr>
              <a:t> </a:t>
            </a:r>
            <a:endParaRPr lang="zh-CN">
              <a:ea typeface="等线"/>
            </a:endParaRPr>
          </a:p>
          <a:p>
            <a:r>
              <a:rPr lang="en-US" altLang="zh-CN">
                <a:ea typeface="等线"/>
              </a:rPr>
              <a:t>F</a:t>
            </a:r>
            <a:r>
              <a:rPr lang="zh-CN">
                <a:ea typeface="等线"/>
              </a:rPr>
              <a:t>i</a:t>
            </a:r>
            <a:r>
              <a:rPr lang="en-US" altLang="zh-CN">
                <a:ea typeface="等线"/>
              </a:rPr>
              <a:t>r</a:t>
            </a:r>
            <a:r>
              <a:rPr lang="zh-CN">
                <a:ea typeface="等线"/>
              </a:rPr>
              <a:t>st</a:t>
            </a:r>
            <a:r>
              <a:rPr lang="en-US" altLang="zh-CN">
                <a:ea typeface="等线"/>
              </a:rPr>
              <a:t>,</a:t>
            </a:r>
            <a:r>
              <a:rPr lang="zh-CN">
                <a:ea typeface="等线"/>
              </a:rPr>
              <a:t> the optimizer </a:t>
            </a:r>
            <a:r>
              <a:rPr lang="en-US" altLang="zh-CN">
                <a:ea typeface="等线"/>
              </a:rPr>
              <a:t>is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rule-based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and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does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not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guara</a:t>
            </a:r>
            <a:r>
              <a:rPr lang="zh-CN">
                <a:ea typeface="等线"/>
              </a:rPr>
              <a:t>nte</a:t>
            </a:r>
            <a:r>
              <a:rPr lang="en-US" altLang="zh-CN">
                <a:ea typeface="等线"/>
              </a:rPr>
              <a:t>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s</a:t>
            </a:r>
            <a:r>
              <a:rPr lang="zh-CN">
                <a:ea typeface="等线"/>
              </a:rPr>
              <a:t>m</a:t>
            </a:r>
            <a:r>
              <a:rPr lang="en-US" altLang="zh-CN">
                <a:ea typeface="等线"/>
              </a:rPr>
              <a:t>all</a:t>
            </a:r>
            <a:r>
              <a:rPr lang="zh-CN">
                <a:ea typeface="等线"/>
              </a:rPr>
              <a:t>est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poss</a:t>
            </a:r>
            <a:r>
              <a:rPr lang="zh-CN">
                <a:ea typeface="等线"/>
              </a:rPr>
              <a:t>ib</a:t>
            </a:r>
            <a:r>
              <a:rPr lang="en-US" altLang="zh-CN">
                <a:ea typeface="等线"/>
              </a:rPr>
              <a:t>le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eq</a:t>
            </a:r>
            <a:r>
              <a:rPr lang="zh-CN">
                <a:ea typeface="等线"/>
              </a:rPr>
              <a:t>uiva</a:t>
            </a:r>
            <a:r>
              <a:rPr lang="en-US" altLang="zh-CN">
                <a:ea typeface="等线"/>
              </a:rPr>
              <a:t>l</a:t>
            </a:r>
            <a:r>
              <a:rPr lang="zh-CN">
                <a:ea typeface="等线"/>
              </a:rPr>
              <a:t>en</a:t>
            </a:r>
            <a:r>
              <a:rPr lang="en-US" altLang="zh-CN">
                <a:ea typeface="等线"/>
              </a:rPr>
              <a:t>t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f</a:t>
            </a:r>
            <a:r>
              <a:rPr lang="zh-CN">
                <a:ea typeface="等线"/>
              </a:rPr>
              <a:t>o</a:t>
            </a:r>
            <a:r>
              <a:rPr lang="en-US" altLang="zh-CN">
                <a:ea typeface="等线"/>
              </a:rPr>
              <a:t>rm</a:t>
            </a:r>
            <a:r>
              <a:rPr lang="zh-CN">
                <a:ea typeface="等线"/>
              </a:rPr>
              <a:t>, </a:t>
            </a:r>
            <a:r>
              <a:rPr lang="en-US" altLang="zh-CN">
                <a:ea typeface="等线"/>
              </a:rPr>
              <a:t>e</a:t>
            </a:r>
            <a:r>
              <a:rPr lang="zh-CN">
                <a:ea typeface="等线"/>
              </a:rPr>
              <a:t>s</a:t>
            </a:r>
            <a:r>
              <a:rPr lang="en-US" altLang="zh-CN">
                <a:ea typeface="等线"/>
              </a:rPr>
              <a:t>p</a:t>
            </a:r>
            <a:r>
              <a:rPr lang="zh-CN">
                <a:ea typeface="等线"/>
              </a:rPr>
              <a:t>ec</a:t>
            </a:r>
            <a:r>
              <a:rPr lang="en-US" altLang="zh-CN" err="1">
                <a:ea typeface="等线"/>
              </a:rPr>
              <a:t>ially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f</a:t>
            </a:r>
            <a:r>
              <a:rPr lang="zh-CN">
                <a:ea typeface="等线"/>
              </a:rPr>
              <a:t>o</a:t>
            </a:r>
            <a:r>
              <a:rPr lang="en-US" altLang="zh-CN">
                <a:ea typeface="等线"/>
              </a:rPr>
              <a:t>r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expressions </a:t>
            </a:r>
            <a:r>
              <a:rPr lang="en-US" altLang="zh-CN" err="1">
                <a:ea typeface="等线"/>
              </a:rPr>
              <a:t>th</a:t>
            </a:r>
            <a:r>
              <a:rPr lang="zh-CN">
                <a:ea typeface="等线"/>
              </a:rPr>
              <a:t>at </a:t>
            </a:r>
            <a:r>
              <a:rPr lang="en-US" altLang="zh-CN">
                <a:ea typeface="等线"/>
              </a:rPr>
              <a:t>would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n</a:t>
            </a:r>
            <a:r>
              <a:rPr lang="zh-CN">
                <a:ea typeface="等线"/>
              </a:rPr>
              <a:t>eed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d</a:t>
            </a:r>
            <a:r>
              <a:rPr lang="en-US" altLang="zh-CN">
                <a:ea typeface="等线"/>
              </a:rPr>
              <a:t>is</a:t>
            </a:r>
            <a:r>
              <a:rPr lang="zh-CN">
                <a:ea typeface="等线"/>
              </a:rPr>
              <a:t>t</a:t>
            </a:r>
            <a:r>
              <a:rPr lang="en-US" altLang="zh-CN" err="1">
                <a:ea typeface="等线"/>
              </a:rPr>
              <a:t>ribu</a:t>
            </a:r>
            <a:r>
              <a:rPr lang="zh-CN">
                <a:ea typeface="等线"/>
              </a:rPr>
              <a:t>ti</a:t>
            </a:r>
            <a:r>
              <a:rPr lang="en-US" altLang="zh-CN" err="1">
                <a:ea typeface="等线"/>
              </a:rPr>
              <a:t>ve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rew</a:t>
            </a:r>
            <a:r>
              <a:rPr lang="zh-CN">
                <a:ea typeface="等线"/>
              </a:rPr>
              <a:t>ri</a:t>
            </a:r>
            <a:r>
              <a:rPr lang="en-US" altLang="zh-CN">
                <a:ea typeface="等线"/>
              </a:rPr>
              <a:t>t</a:t>
            </a:r>
            <a:r>
              <a:rPr lang="zh-CN">
                <a:ea typeface="等线"/>
              </a:rPr>
              <a:t>es</a:t>
            </a:r>
            <a:r>
              <a:rPr lang="en-US" altLang="zh-CN">
                <a:ea typeface="等线"/>
              </a:rPr>
              <a:t>.</a:t>
            </a:r>
            <a:endParaRPr lang="zh-CN" altLang="en-US">
              <a:ea typeface="等线"/>
            </a:endParaRPr>
          </a:p>
          <a:p>
            <a:r>
              <a:rPr lang="en-US" altLang="zh-CN">
                <a:ea typeface="等线"/>
              </a:rPr>
              <a:t>Second,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the language is intentionally minimal</a:t>
            </a:r>
            <a:r>
              <a:rPr lang="en-US" altLang="zh-CN">
                <a:ea typeface="等线"/>
              </a:rPr>
              <a:t>,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with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only</a:t>
            </a:r>
            <a:r>
              <a:rPr lang="zh-CN">
                <a:ea typeface="等线"/>
              </a:rPr>
              <a:t> single-letter variables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</a:t>
            </a:r>
            <a:r>
              <a:rPr lang="zh-CN">
                <a:ea typeface="等线"/>
              </a:rPr>
              <a:t>n</a:t>
            </a:r>
            <a:r>
              <a:rPr lang="en-US" altLang="zh-CN">
                <a:ea typeface="等线"/>
              </a:rPr>
              <a:t>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smal</a:t>
            </a:r>
            <a:r>
              <a:rPr lang="zh-CN">
                <a:ea typeface="等线"/>
              </a:rPr>
              <a:t>l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set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o</a:t>
            </a:r>
            <a:r>
              <a:rPr lang="en-US" altLang="zh-CN">
                <a:ea typeface="等线"/>
              </a:rPr>
              <a:t>f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B</a:t>
            </a:r>
            <a:r>
              <a:rPr lang="zh-CN">
                <a:ea typeface="等线"/>
              </a:rPr>
              <a:t>oo</a:t>
            </a:r>
            <a:r>
              <a:rPr lang="en-US" altLang="zh-CN">
                <a:ea typeface="等线"/>
              </a:rPr>
              <a:t>l</a:t>
            </a:r>
            <a:r>
              <a:rPr lang="zh-CN">
                <a:ea typeface="等线"/>
              </a:rPr>
              <a:t>ea</a:t>
            </a:r>
            <a:r>
              <a:rPr lang="en-US" altLang="zh-CN">
                <a:ea typeface="等线"/>
              </a:rPr>
              <a:t>n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s</a:t>
            </a:r>
            <a:r>
              <a:rPr lang="en-US" altLang="zh-CN" err="1">
                <a:ea typeface="等线"/>
              </a:rPr>
              <a:t>tate</a:t>
            </a:r>
            <a:r>
              <a:rPr lang="zh-CN">
                <a:ea typeface="等线"/>
              </a:rPr>
              <a:t>ment</a:t>
            </a:r>
            <a:r>
              <a:rPr lang="en-US" altLang="zh-CN">
                <a:ea typeface="等线"/>
              </a:rPr>
              <a:t>s</a:t>
            </a:r>
            <a:r>
              <a:rPr lang="zh-CN">
                <a:ea typeface="等线"/>
              </a:rPr>
              <a:t>.</a:t>
            </a:r>
            <a:endParaRPr lang="zh-CN" altLang="en-US">
              <a:ea typeface="等线"/>
            </a:endParaRPr>
          </a:p>
          <a:p>
            <a:r>
              <a:rPr lang="en-US" altLang="zh-CN">
                <a:ea typeface="等线"/>
              </a:rPr>
              <a:t>Third,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c</a:t>
            </a:r>
            <a:r>
              <a:rPr lang="zh-CN">
                <a:ea typeface="等线"/>
              </a:rPr>
              <a:t>ur</a:t>
            </a:r>
            <a:r>
              <a:rPr lang="en-US" altLang="zh-CN">
                <a:ea typeface="等线"/>
              </a:rPr>
              <a:t>r</a:t>
            </a:r>
            <a:r>
              <a:rPr lang="zh-CN">
                <a:ea typeface="等线"/>
              </a:rPr>
              <a:t>e</a:t>
            </a:r>
            <a:r>
              <a:rPr lang="en-US" altLang="zh-CN" err="1">
                <a:ea typeface="等线"/>
              </a:rPr>
              <a:t>nt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sin</a:t>
            </a:r>
            <a:r>
              <a:rPr lang="en-US" altLang="zh-CN" err="1">
                <a:ea typeface="等线"/>
              </a:rPr>
              <a:t>gl</a:t>
            </a:r>
            <a:r>
              <a:rPr lang="zh-CN">
                <a:ea typeface="等线"/>
              </a:rPr>
              <a:t>e</a:t>
            </a:r>
            <a:r>
              <a:rPr lang="en-US" altLang="zh-CN">
                <a:ea typeface="等线"/>
              </a:rPr>
              <a:t>-</a:t>
            </a:r>
            <a:r>
              <a:rPr lang="zh-CN">
                <a:ea typeface="等线"/>
              </a:rPr>
              <a:t>file i</a:t>
            </a:r>
            <a:r>
              <a:rPr lang="en-US" altLang="zh-CN" err="1">
                <a:ea typeface="等线"/>
              </a:rPr>
              <a:t>mp</a:t>
            </a:r>
            <a:r>
              <a:rPr lang="zh-CN">
                <a:ea typeface="等线"/>
              </a:rPr>
              <a:t>l</a:t>
            </a:r>
            <a:r>
              <a:rPr lang="en-US" altLang="zh-CN">
                <a:ea typeface="等线"/>
              </a:rPr>
              <a:t>e</a:t>
            </a:r>
            <a:r>
              <a:rPr lang="zh-CN">
                <a:ea typeface="等线"/>
              </a:rPr>
              <a:t>m</a:t>
            </a:r>
            <a:r>
              <a:rPr lang="en-US" altLang="zh-CN">
                <a:ea typeface="等线"/>
              </a:rPr>
              <a:t>e</a:t>
            </a:r>
            <a:r>
              <a:rPr lang="zh-CN">
                <a:ea typeface="等线"/>
              </a:rPr>
              <a:t>nta</a:t>
            </a:r>
            <a:r>
              <a:rPr lang="en-US" altLang="zh-CN">
                <a:ea typeface="等线"/>
              </a:rPr>
              <a:t>t</a:t>
            </a:r>
            <a:r>
              <a:rPr lang="zh-CN">
                <a:ea typeface="等线"/>
              </a:rPr>
              <a:t>i</a:t>
            </a:r>
            <a:r>
              <a:rPr lang="en-US" altLang="zh-CN">
                <a:ea typeface="等线"/>
              </a:rPr>
              <a:t>o</a:t>
            </a:r>
            <a:r>
              <a:rPr lang="zh-CN">
                <a:ea typeface="等线"/>
              </a:rPr>
              <a:t>n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is </a:t>
            </a:r>
            <a:r>
              <a:rPr lang="en-US" altLang="zh-CN">
                <a:ea typeface="等线"/>
              </a:rPr>
              <a:t>c</a:t>
            </a:r>
            <a:r>
              <a:rPr lang="zh-CN">
                <a:ea typeface="等线"/>
              </a:rPr>
              <a:t>on</a:t>
            </a:r>
            <a:r>
              <a:rPr lang="en-US" altLang="zh-CN">
                <a:ea typeface="等线"/>
              </a:rPr>
              <a:t>v</a:t>
            </a:r>
            <a:r>
              <a:rPr lang="zh-CN">
                <a:ea typeface="等线"/>
              </a:rPr>
              <a:t>enie</a:t>
            </a:r>
            <a:r>
              <a:rPr lang="en-US" altLang="zh-CN" err="1">
                <a:ea typeface="等线"/>
              </a:rPr>
              <a:t>nt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fo</a:t>
            </a:r>
            <a:r>
              <a:rPr lang="zh-CN">
                <a:ea typeface="等线"/>
              </a:rPr>
              <a:t>r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subm</a:t>
            </a:r>
            <a:r>
              <a:rPr lang="zh-CN">
                <a:ea typeface="等线"/>
              </a:rPr>
              <a:t>i</a:t>
            </a:r>
            <a:r>
              <a:rPr lang="en-US" altLang="zh-CN">
                <a:ea typeface="等线"/>
              </a:rPr>
              <a:t>ss</a:t>
            </a:r>
            <a:r>
              <a:rPr lang="zh-CN">
                <a:ea typeface="等线"/>
              </a:rPr>
              <a:t>ion</a:t>
            </a:r>
            <a:r>
              <a:rPr lang="en-US" altLang="zh-CN">
                <a:ea typeface="等线"/>
              </a:rPr>
              <a:t>,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bu</a:t>
            </a:r>
            <a:r>
              <a:rPr lang="zh-CN">
                <a:ea typeface="等线"/>
              </a:rPr>
              <a:t>t </a:t>
            </a:r>
            <a:r>
              <a:rPr lang="en-US" altLang="zh-CN">
                <a:ea typeface="等线"/>
              </a:rPr>
              <a:t>l</a:t>
            </a:r>
            <a:r>
              <a:rPr lang="zh-CN">
                <a:ea typeface="等线"/>
              </a:rPr>
              <a:t>es</a:t>
            </a:r>
            <a:r>
              <a:rPr lang="en-US" altLang="zh-CN">
                <a:ea typeface="等线"/>
              </a:rPr>
              <a:t>s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modul</a:t>
            </a:r>
            <a:r>
              <a:rPr lang="zh-CN">
                <a:ea typeface="等线"/>
              </a:rPr>
              <a:t>ar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for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lon</a:t>
            </a:r>
            <a:r>
              <a:rPr lang="en-US" altLang="zh-CN">
                <a:ea typeface="等线"/>
              </a:rPr>
              <a:t>g-</a:t>
            </a:r>
            <a:r>
              <a:rPr lang="zh-CN">
                <a:ea typeface="等线"/>
              </a:rPr>
              <a:t>t</a:t>
            </a:r>
            <a:r>
              <a:rPr lang="en-US" altLang="zh-CN">
                <a:ea typeface="等线"/>
              </a:rPr>
              <a:t>e</a:t>
            </a:r>
            <a:r>
              <a:rPr lang="zh-CN">
                <a:ea typeface="等线"/>
              </a:rPr>
              <a:t>r</a:t>
            </a:r>
            <a:r>
              <a:rPr lang="en-US" altLang="zh-CN">
                <a:ea typeface="等线"/>
              </a:rPr>
              <a:t>m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m</a:t>
            </a:r>
            <a:r>
              <a:rPr lang="zh-CN">
                <a:ea typeface="等线"/>
              </a:rPr>
              <a:t>aintena</a:t>
            </a:r>
            <a:r>
              <a:rPr lang="en-US" altLang="zh-CN" err="1">
                <a:ea typeface="等线"/>
              </a:rPr>
              <a:t>nce</a:t>
            </a:r>
            <a:r>
              <a:rPr lang="en-US" altLang="zh-CN">
                <a:ea typeface="等线"/>
              </a:rPr>
              <a:t>.</a:t>
            </a:r>
            <a:endParaRPr lang="zh-CN" altLang="en-US">
              <a:ea typeface="等线"/>
            </a:endParaRPr>
          </a:p>
          <a:p>
            <a:r>
              <a:rPr lang="en-US" altLang="zh-CN">
                <a:ea typeface="等线"/>
              </a:rPr>
              <a:t>F</a:t>
            </a:r>
            <a:r>
              <a:rPr lang="zh-CN">
                <a:ea typeface="等线"/>
              </a:rPr>
              <a:t>i</a:t>
            </a:r>
            <a:r>
              <a:rPr lang="en-US" altLang="zh-CN">
                <a:ea typeface="等线"/>
              </a:rPr>
              <a:t>n</a:t>
            </a:r>
            <a:r>
              <a:rPr lang="zh-CN">
                <a:ea typeface="等线"/>
              </a:rPr>
              <a:t>al</a:t>
            </a:r>
            <a:r>
              <a:rPr lang="en-US" altLang="zh-CN" err="1">
                <a:ea typeface="等线"/>
              </a:rPr>
              <a:t>ly</a:t>
            </a:r>
            <a:r>
              <a:rPr lang="en-US" altLang="zh-CN">
                <a:ea typeface="等线"/>
              </a:rPr>
              <a:t>,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the </a:t>
            </a:r>
            <a:r>
              <a:rPr lang="en-US" altLang="zh-CN">
                <a:ea typeface="等线"/>
              </a:rPr>
              <a:t>v</a:t>
            </a:r>
            <a:r>
              <a:rPr lang="zh-CN">
                <a:ea typeface="等线"/>
              </a:rPr>
              <a:t>eri</a:t>
            </a:r>
            <a:r>
              <a:rPr lang="en-US" altLang="zh-CN">
                <a:ea typeface="等线"/>
              </a:rPr>
              <a:t>fi</a:t>
            </a:r>
            <a:r>
              <a:rPr lang="zh-CN">
                <a:ea typeface="等线"/>
              </a:rPr>
              <a:t>cati</a:t>
            </a:r>
            <a:r>
              <a:rPr lang="en-US" altLang="zh-CN">
                <a:ea typeface="等线"/>
              </a:rPr>
              <a:t>on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phase </a:t>
            </a:r>
            <a:r>
              <a:rPr lang="en-US" altLang="zh-CN">
                <a:ea typeface="等线"/>
              </a:rPr>
              <a:t>re</a:t>
            </a:r>
            <a:r>
              <a:rPr lang="zh-CN">
                <a:ea typeface="等线"/>
              </a:rPr>
              <a:t>lie</a:t>
            </a:r>
            <a:r>
              <a:rPr lang="en-US" altLang="zh-CN">
                <a:ea typeface="等线"/>
              </a:rPr>
              <a:t>s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on co</a:t>
            </a:r>
            <a:r>
              <a:rPr lang="en-US" altLang="zh-CN" err="1">
                <a:ea typeface="等线"/>
              </a:rPr>
              <a:t>mple</a:t>
            </a:r>
            <a:r>
              <a:rPr lang="zh-CN">
                <a:ea typeface="等线"/>
              </a:rPr>
              <a:t>te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t</a:t>
            </a:r>
            <a:r>
              <a:rPr lang="en-US" altLang="zh-CN">
                <a:ea typeface="等线"/>
              </a:rPr>
              <a:t>r</a:t>
            </a:r>
            <a:r>
              <a:rPr lang="zh-CN">
                <a:ea typeface="等线"/>
              </a:rPr>
              <a:t>u</a:t>
            </a:r>
            <a:r>
              <a:rPr lang="en-US" altLang="zh-CN" err="1">
                <a:ea typeface="等线"/>
              </a:rPr>
              <a:t>th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</a:t>
            </a:r>
            <a:r>
              <a:rPr lang="zh-CN">
                <a:ea typeface="等线"/>
              </a:rPr>
              <a:t>a</a:t>
            </a:r>
            <a:r>
              <a:rPr lang="en-US" altLang="zh-CN">
                <a:ea typeface="等线"/>
              </a:rPr>
              <a:t>b</a:t>
            </a:r>
            <a:r>
              <a:rPr lang="zh-CN">
                <a:ea typeface="等线"/>
              </a:rPr>
              <a:t>l</a:t>
            </a:r>
            <a:r>
              <a:rPr lang="en-US" altLang="zh-CN">
                <a:ea typeface="等线"/>
              </a:rPr>
              <a:t>es,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so</a:t>
            </a:r>
            <a:r>
              <a:rPr lang="zh-CN">
                <a:ea typeface="等线"/>
              </a:rPr>
              <a:t> its </a:t>
            </a:r>
            <a:r>
              <a:rPr lang="en-US" altLang="zh-CN">
                <a:ea typeface="等线"/>
              </a:rPr>
              <a:t>cost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grows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e</a:t>
            </a:r>
            <a:r>
              <a:rPr lang="en-US" altLang="zh-CN" err="1">
                <a:ea typeface="等线"/>
              </a:rPr>
              <a:t>xp</a:t>
            </a:r>
            <a:r>
              <a:rPr lang="zh-CN">
                <a:ea typeface="等线"/>
              </a:rPr>
              <a:t>o</a:t>
            </a:r>
            <a:r>
              <a:rPr lang="en-US" altLang="zh-CN">
                <a:ea typeface="等线"/>
              </a:rPr>
              <a:t>n</a:t>
            </a:r>
            <a:r>
              <a:rPr lang="zh-CN">
                <a:ea typeface="等线"/>
              </a:rPr>
              <a:t>e</a:t>
            </a:r>
            <a:r>
              <a:rPr lang="en-US" altLang="zh-CN" err="1">
                <a:ea typeface="等线"/>
              </a:rPr>
              <a:t>nti</a:t>
            </a:r>
            <a:r>
              <a:rPr lang="zh-CN">
                <a:ea typeface="等线"/>
              </a:rPr>
              <a:t>all</a:t>
            </a:r>
            <a:r>
              <a:rPr lang="en-US" altLang="zh-CN">
                <a:ea typeface="等线"/>
              </a:rPr>
              <a:t>y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wi</a:t>
            </a:r>
            <a:r>
              <a:rPr lang="zh-CN">
                <a:ea typeface="等线"/>
              </a:rPr>
              <a:t>t</a:t>
            </a:r>
            <a:r>
              <a:rPr lang="en-US" altLang="zh-CN">
                <a:ea typeface="等线"/>
              </a:rPr>
              <a:t>h</a:t>
            </a:r>
            <a:r>
              <a:rPr lang="zh-CN">
                <a:ea typeface="等线"/>
              </a:rPr>
              <a:t> t</a:t>
            </a:r>
            <a:r>
              <a:rPr lang="en-US" altLang="zh-CN">
                <a:ea typeface="等线"/>
              </a:rPr>
              <a:t>h</a:t>
            </a:r>
            <a:r>
              <a:rPr lang="zh-CN">
                <a:ea typeface="等线"/>
              </a:rPr>
              <a:t>e </a:t>
            </a:r>
            <a:r>
              <a:rPr lang="en-US" altLang="zh-CN">
                <a:ea typeface="等线"/>
              </a:rPr>
              <a:t>numb</a:t>
            </a:r>
            <a:r>
              <a:rPr lang="zh-CN">
                <a:ea typeface="等线"/>
              </a:rPr>
              <a:t>er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o</a:t>
            </a:r>
            <a:r>
              <a:rPr lang="en-US" altLang="zh-CN">
                <a:ea typeface="等线"/>
              </a:rPr>
              <a:t>f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va</a:t>
            </a:r>
            <a:r>
              <a:rPr lang="zh-CN">
                <a:ea typeface="等线"/>
              </a:rPr>
              <a:t>ria</a:t>
            </a:r>
            <a:r>
              <a:rPr lang="en-US" altLang="zh-CN" err="1">
                <a:ea typeface="等线"/>
              </a:rPr>
              <a:t>ble</a:t>
            </a:r>
            <a:r>
              <a:rPr lang="zh-CN">
                <a:ea typeface="等线"/>
              </a:rPr>
              <a:t>s.</a:t>
            </a:r>
          </a:p>
          <a:p>
            <a:endParaRPr lang="zh-CN">
              <a:ea typeface="等线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等线"/>
              </a:rPr>
              <a:t>F</a:t>
            </a:r>
            <a:r>
              <a:rPr lang="zh-CN">
                <a:ea typeface="等线"/>
              </a:rPr>
              <a:t>or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futu</a:t>
            </a:r>
            <a:r>
              <a:rPr lang="zh-CN">
                <a:ea typeface="等线"/>
              </a:rPr>
              <a:t>re </a:t>
            </a:r>
            <a:r>
              <a:rPr lang="en-US" altLang="zh-CN">
                <a:ea typeface="等线"/>
              </a:rPr>
              <a:t>wo</a:t>
            </a:r>
            <a:r>
              <a:rPr lang="zh-CN">
                <a:ea typeface="等线"/>
              </a:rPr>
              <a:t>r</a:t>
            </a:r>
            <a:r>
              <a:rPr lang="en-US" altLang="zh-CN">
                <a:ea typeface="等线"/>
              </a:rPr>
              <a:t>k,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w</a:t>
            </a:r>
            <a:r>
              <a:rPr lang="zh-CN">
                <a:ea typeface="等线"/>
              </a:rPr>
              <a:t>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wo</a:t>
            </a:r>
            <a:r>
              <a:rPr lang="zh-CN">
                <a:ea typeface="等线"/>
              </a:rPr>
              <a:t>uld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l</a:t>
            </a:r>
            <a:r>
              <a:rPr lang="zh-CN">
                <a:ea typeface="等线"/>
              </a:rPr>
              <a:t>i</a:t>
            </a:r>
            <a:r>
              <a:rPr lang="en-US" altLang="zh-CN">
                <a:ea typeface="等线"/>
              </a:rPr>
              <a:t>k</a:t>
            </a:r>
            <a:r>
              <a:rPr lang="zh-CN">
                <a:ea typeface="等线"/>
              </a:rPr>
              <a:t>e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to extend the language</a:t>
            </a:r>
            <a:r>
              <a:rPr lang="en-US" altLang="zh-CN">
                <a:ea typeface="等线"/>
              </a:rPr>
              <a:t>,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im</a:t>
            </a:r>
            <a:r>
              <a:rPr lang="en-US" altLang="zh-CN">
                <a:ea typeface="等线"/>
              </a:rPr>
              <a:t>prov</a:t>
            </a:r>
            <a:r>
              <a:rPr lang="zh-CN">
                <a:ea typeface="等线"/>
              </a:rPr>
              <a:t>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s</a:t>
            </a:r>
            <a:r>
              <a:rPr lang="zh-CN">
                <a:ea typeface="等线"/>
              </a:rPr>
              <a:t>calabili</a:t>
            </a:r>
            <a:r>
              <a:rPr lang="en-US" altLang="zh-CN">
                <a:ea typeface="等线"/>
              </a:rPr>
              <a:t>ty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with more a</a:t>
            </a:r>
            <a:r>
              <a:rPr lang="en-US" altLang="zh-CN">
                <a:ea typeface="等线"/>
              </a:rPr>
              <a:t>d</a:t>
            </a:r>
            <a:r>
              <a:rPr lang="zh-CN">
                <a:ea typeface="等线"/>
              </a:rPr>
              <a:t>van</a:t>
            </a:r>
            <a:r>
              <a:rPr lang="en-US" altLang="zh-CN">
                <a:ea typeface="等线"/>
              </a:rPr>
              <a:t>c</a:t>
            </a:r>
            <a:r>
              <a:rPr lang="zh-CN">
                <a:ea typeface="等线"/>
              </a:rPr>
              <a:t>e</a:t>
            </a:r>
            <a:r>
              <a:rPr lang="en-US" altLang="zh-CN">
                <a:ea typeface="等线"/>
              </a:rPr>
              <a:t>d</a:t>
            </a:r>
            <a:r>
              <a:rPr lang="zh-CN">
                <a:ea typeface="等线"/>
              </a:rPr>
              <a:t> equivalence checking </a:t>
            </a:r>
            <a:r>
              <a:rPr lang="en-US" altLang="zh-CN">
                <a:ea typeface="等线"/>
              </a:rPr>
              <a:t>such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as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BDD</a:t>
            </a:r>
            <a:r>
              <a:rPr lang="zh-CN">
                <a:ea typeface="等线"/>
              </a:rPr>
              <a:t>s</a:t>
            </a:r>
            <a:r>
              <a:rPr lang="en-US" altLang="zh-CN">
                <a:ea typeface="等线"/>
              </a:rPr>
              <a:t>,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and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suppo</a:t>
            </a:r>
            <a:r>
              <a:rPr lang="zh-CN">
                <a:ea typeface="等线"/>
              </a:rPr>
              <a:t>r</a:t>
            </a:r>
            <a:r>
              <a:rPr lang="en-US" altLang="zh-CN">
                <a:ea typeface="等线"/>
              </a:rPr>
              <a:t>t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dee</a:t>
            </a:r>
            <a:r>
              <a:rPr lang="en-US" altLang="zh-CN">
                <a:ea typeface="等线"/>
              </a:rPr>
              <a:t>pe</a:t>
            </a:r>
            <a:r>
              <a:rPr lang="zh-CN">
                <a:ea typeface="等线"/>
              </a:rPr>
              <a:t>r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opt</a:t>
            </a:r>
            <a:r>
              <a:rPr lang="zh-CN">
                <a:ea typeface="等线"/>
              </a:rPr>
              <a:t>i</a:t>
            </a:r>
            <a:r>
              <a:rPr lang="en-US" altLang="zh-CN">
                <a:ea typeface="等线"/>
              </a:rPr>
              <a:t>m</a:t>
            </a:r>
            <a:r>
              <a:rPr lang="zh-CN">
                <a:ea typeface="等线"/>
              </a:rPr>
              <a:t>i</a:t>
            </a:r>
            <a:r>
              <a:rPr lang="en-US" altLang="zh-CN">
                <a:ea typeface="等线"/>
              </a:rPr>
              <a:t>z</a:t>
            </a:r>
            <a:r>
              <a:rPr lang="zh-CN">
                <a:ea typeface="等线"/>
              </a:rPr>
              <a:t>ation </a:t>
            </a:r>
            <a:r>
              <a:rPr lang="en-US" altLang="zh-CN" err="1">
                <a:ea typeface="等线"/>
              </a:rPr>
              <a:t>suc</a:t>
            </a:r>
            <a:r>
              <a:rPr lang="zh-CN">
                <a:ea typeface="等线"/>
              </a:rPr>
              <a:t>h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</a:t>
            </a:r>
            <a:r>
              <a:rPr lang="zh-CN">
                <a:ea typeface="等线"/>
              </a:rPr>
              <a:t>s </a:t>
            </a:r>
            <a:r>
              <a:rPr lang="en-US" altLang="zh-CN">
                <a:ea typeface="等线"/>
              </a:rPr>
              <a:t>n</a:t>
            </a:r>
            <a:r>
              <a:rPr lang="zh-CN">
                <a:ea typeface="等线"/>
              </a:rPr>
              <a:t>o</a:t>
            </a:r>
            <a:r>
              <a:rPr lang="en-US" altLang="zh-CN">
                <a:ea typeface="等线"/>
              </a:rPr>
              <a:t>r</a:t>
            </a:r>
            <a:r>
              <a:rPr lang="zh-CN">
                <a:ea typeface="等线"/>
              </a:rPr>
              <a:t>ma</a:t>
            </a:r>
            <a:r>
              <a:rPr lang="en-US" altLang="zh-CN">
                <a:ea typeface="等线"/>
              </a:rPr>
              <a:t>l-form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c</a:t>
            </a:r>
            <a:r>
              <a:rPr lang="zh-CN">
                <a:ea typeface="等线"/>
              </a:rPr>
              <a:t>on</a:t>
            </a:r>
            <a:r>
              <a:rPr lang="en-US" altLang="zh-CN">
                <a:ea typeface="等线"/>
              </a:rPr>
              <a:t>v</a:t>
            </a:r>
            <a:r>
              <a:rPr lang="zh-CN">
                <a:ea typeface="等线"/>
              </a:rPr>
              <a:t>e</a:t>
            </a:r>
            <a:r>
              <a:rPr lang="en-US" altLang="zh-CN" err="1">
                <a:ea typeface="等线"/>
              </a:rPr>
              <a:t>rs</a:t>
            </a:r>
            <a:r>
              <a:rPr lang="zh-CN">
                <a:ea typeface="等线"/>
              </a:rPr>
              <a:t>ion.</a:t>
            </a:r>
            <a:endParaRPr lang="zh-CN" altLang="en-US">
              <a:ea typeface="等线"/>
            </a:endParaRPr>
          </a:p>
          <a:p>
            <a:r>
              <a:rPr lang="zh-CN" altLang="en-US">
                <a:ea typeface="等线"/>
              </a:rPr>
              <a:t> </a:t>
            </a:r>
          </a:p>
          <a:p>
            <a:r>
              <a:rPr lang="zh-CN">
                <a:ea typeface="等线"/>
              </a:rPr>
              <a:t>Th</a:t>
            </a:r>
            <a:r>
              <a:rPr lang="en-US" altLang="zh-CN">
                <a:ea typeface="等线"/>
              </a:rPr>
              <a:t>ese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i</a:t>
            </a:r>
            <a:r>
              <a:rPr lang="en-US" altLang="zh-CN" err="1">
                <a:ea typeface="等线"/>
              </a:rPr>
              <a:t>mp</a:t>
            </a:r>
            <a:r>
              <a:rPr lang="zh-CN">
                <a:ea typeface="等线"/>
              </a:rPr>
              <a:t>r</a:t>
            </a:r>
            <a:r>
              <a:rPr lang="en-US" altLang="zh-CN">
                <a:ea typeface="等线"/>
              </a:rPr>
              <a:t>o</a:t>
            </a:r>
            <a:r>
              <a:rPr lang="zh-CN">
                <a:ea typeface="等线"/>
              </a:rPr>
              <a:t>ve</a:t>
            </a:r>
            <a:r>
              <a:rPr lang="en-US" altLang="zh-CN">
                <a:ea typeface="等线"/>
              </a:rPr>
              <a:t>m</a:t>
            </a:r>
            <a:r>
              <a:rPr lang="zh-CN">
                <a:ea typeface="等线"/>
              </a:rPr>
              <a:t>ent</a:t>
            </a:r>
            <a:r>
              <a:rPr lang="en-US" altLang="zh-CN">
                <a:ea typeface="等线"/>
              </a:rPr>
              <a:t>s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would </a:t>
            </a:r>
            <a:r>
              <a:rPr lang="en-US" altLang="zh-CN" err="1">
                <a:ea typeface="等线"/>
              </a:rPr>
              <a:t>mak</a:t>
            </a:r>
            <a:r>
              <a:rPr lang="zh-CN">
                <a:ea typeface="等线"/>
              </a:rPr>
              <a:t>e the </a:t>
            </a:r>
            <a:r>
              <a:rPr lang="en-US" altLang="zh-CN">
                <a:ea typeface="等线"/>
              </a:rPr>
              <a:t>c</a:t>
            </a:r>
            <a:r>
              <a:rPr lang="zh-CN">
                <a:ea typeface="等线"/>
              </a:rPr>
              <a:t>om</a:t>
            </a:r>
            <a:r>
              <a:rPr lang="en-US" altLang="zh-CN">
                <a:ea typeface="等线"/>
              </a:rPr>
              <a:t>p</a:t>
            </a:r>
            <a:r>
              <a:rPr lang="zh-CN">
                <a:ea typeface="等线"/>
              </a:rPr>
              <a:t>i</a:t>
            </a:r>
            <a:r>
              <a:rPr lang="en-US" altLang="zh-CN">
                <a:ea typeface="等线"/>
              </a:rPr>
              <a:t>l</a:t>
            </a:r>
            <a:r>
              <a:rPr lang="zh-CN">
                <a:ea typeface="等线"/>
              </a:rPr>
              <a:t>er more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e</a:t>
            </a:r>
            <a:r>
              <a:rPr lang="zh-CN">
                <a:ea typeface="等线"/>
              </a:rPr>
              <a:t>xpressi</a:t>
            </a:r>
            <a:r>
              <a:rPr lang="en-US" altLang="zh-CN" err="1">
                <a:ea typeface="等线"/>
              </a:rPr>
              <a:t>ve</a:t>
            </a:r>
            <a:r>
              <a:rPr lang="en-US" altLang="zh-CN">
                <a:ea typeface="等线"/>
              </a:rPr>
              <a:t>,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eff</a:t>
            </a:r>
            <a:r>
              <a:rPr lang="zh-CN">
                <a:ea typeface="等线"/>
              </a:rPr>
              <a:t>ic</a:t>
            </a:r>
            <a:r>
              <a:rPr lang="en-US" altLang="zh-CN" err="1">
                <a:ea typeface="等线"/>
              </a:rPr>
              <a:t>i</a:t>
            </a:r>
            <a:r>
              <a:rPr lang="zh-CN">
                <a:ea typeface="等线"/>
              </a:rPr>
              <a:t>ent</a:t>
            </a:r>
            <a:r>
              <a:rPr lang="en-US" altLang="zh-CN">
                <a:ea typeface="等线"/>
              </a:rPr>
              <a:t>,</a:t>
            </a:r>
            <a:r>
              <a:rPr lang="zh-CN" altLang="en-US">
                <a:ea typeface="等线"/>
              </a:rPr>
              <a:t> </a:t>
            </a:r>
            <a:r>
              <a:rPr lang="zh-CN">
                <a:ea typeface="等线"/>
              </a:rPr>
              <a:t>an</a:t>
            </a:r>
            <a:r>
              <a:rPr lang="en-US" altLang="zh-CN">
                <a:ea typeface="等线"/>
              </a:rPr>
              <a:t>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ex</a:t>
            </a:r>
            <a:r>
              <a:rPr lang="zh-CN">
                <a:ea typeface="等线"/>
              </a:rPr>
              <a:t>t</a:t>
            </a:r>
            <a:r>
              <a:rPr lang="en-US" altLang="zh-CN" err="1">
                <a:ea typeface="等线"/>
              </a:rPr>
              <a:t>en</a:t>
            </a:r>
            <a:r>
              <a:rPr lang="zh-CN">
                <a:ea typeface="等线"/>
              </a:rPr>
              <a:t>si</a:t>
            </a:r>
            <a:r>
              <a:rPr lang="en-US" altLang="zh-CN">
                <a:ea typeface="等线"/>
              </a:rPr>
              <a:t>b</a:t>
            </a:r>
            <a:r>
              <a:rPr lang="zh-CN">
                <a:ea typeface="等线"/>
              </a:rPr>
              <a:t>l</a:t>
            </a:r>
            <a:r>
              <a:rPr lang="en-US" altLang="zh-CN">
                <a:ea typeface="等线"/>
              </a:rPr>
              <a:t>e.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Th</a:t>
            </a:r>
            <a:r>
              <a:rPr lang="zh-CN">
                <a:ea typeface="等线"/>
              </a:rPr>
              <a:t>an</a:t>
            </a:r>
            <a:r>
              <a:rPr lang="en-US" altLang="zh-CN">
                <a:ea typeface="等线"/>
              </a:rPr>
              <a:t>k</a:t>
            </a:r>
            <a:r>
              <a:rPr lang="zh-CN" altLang="en-US">
                <a:ea typeface="等线"/>
              </a:rPr>
              <a:t> </a:t>
            </a:r>
            <a:r>
              <a:rPr lang="en-US" altLang="zh-CN" err="1">
                <a:ea typeface="等线"/>
              </a:rPr>
              <a:t>yo</a:t>
            </a:r>
            <a:r>
              <a:rPr lang="zh-CN">
                <a:ea typeface="等线"/>
              </a:rPr>
              <a:t>u.</a:t>
            </a:r>
          </a:p>
          <a:p>
            <a:endParaRPr lang="zh-CN">
              <a:ea typeface="等线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等线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285F4">
                    <a:alpha val="8000"/>
                  </a:srgbClr>
                </a:gs>
                <a:gs pos="100000">
                  <a:srgbClr val="4285F4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34A853">
                    <a:alpha val="7000"/>
                  </a:srgbClr>
                </a:gs>
                <a:gs pos="100000">
                  <a:srgbClr val="34A853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747712" y="747712"/>
              <a:ext cx="10696575" cy="5362575"/>
              <a:chOff x="747712" y="747712"/>
              <a:chExt cx="10696575" cy="5362575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747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Ellipse 6"/>
              <p:cNvSpPr/>
              <p:nvPr/>
            </p:nvSpPr>
            <p:spPr>
              <a:xfrm>
                <a:off x="1509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Ellipse 7"/>
              <p:cNvSpPr/>
              <p:nvPr/>
            </p:nvSpPr>
            <p:spPr>
              <a:xfrm>
                <a:off x="2271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Ellipse 8"/>
              <p:cNvSpPr/>
              <p:nvPr/>
            </p:nvSpPr>
            <p:spPr>
              <a:xfrm>
                <a:off x="3033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Ellipse 9"/>
              <p:cNvSpPr/>
              <p:nvPr/>
            </p:nvSpPr>
            <p:spPr>
              <a:xfrm>
                <a:off x="3795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4557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5319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6081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6843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7605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8367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129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9891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10653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11415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747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1509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2271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3033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3795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4557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5319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6081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6843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605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8367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9129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9891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10653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11415712" y="150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47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1509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2271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3033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3795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4557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5319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6081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6843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7605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8367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129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891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0653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11415712" y="5319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747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1509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2271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3033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3795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4557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5319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Ellipse 57"/>
              <p:cNvSpPr/>
              <p:nvPr/>
            </p:nvSpPr>
            <p:spPr>
              <a:xfrm>
                <a:off x="6081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Ellipse 58"/>
              <p:cNvSpPr/>
              <p:nvPr/>
            </p:nvSpPr>
            <p:spPr>
              <a:xfrm>
                <a:off x="6843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7605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8367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Ellipse 61"/>
              <p:cNvSpPr/>
              <p:nvPr/>
            </p:nvSpPr>
            <p:spPr>
              <a:xfrm>
                <a:off x="9129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Ellipse 62"/>
              <p:cNvSpPr/>
              <p:nvPr/>
            </p:nvSpPr>
            <p:spPr>
              <a:xfrm>
                <a:off x="9891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Ellipse 63"/>
              <p:cNvSpPr/>
              <p:nvPr/>
            </p:nvSpPr>
            <p:spPr>
              <a:xfrm>
                <a:off x="10653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Ellipse 64"/>
              <p:cNvSpPr/>
              <p:nvPr/>
            </p:nvSpPr>
            <p:spPr>
              <a:xfrm>
                <a:off x="11415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6" name="Rectangle 66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Rectangle 67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71500" y="1905000"/>
              <a:ext cx="28575" cy="3048000"/>
            </a:xfrm>
            <a:prstGeom prst="rect">
              <a:avLst/>
            </a:prstGeom>
            <a:gradFill>
              <a:gsLst>
                <a:gs pos="0">
                  <a:srgbClr val="4285F4">
                    <a:alpha val="40000"/>
                  </a:srgbClr>
                </a:gs>
                <a:gs pos="100000">
                  <a:srgbClr val="9334E6">
                    <a:alpha val="40000"/>
                  </a:srgb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750618" y="12282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DADCE0"/>
                  </a:solidFill>
                  <a:latin typeface="Consolas"/>
                  <a:ea typeface="Microsoft YaHei"/>
                  <a:cs typeface="Consolas"/>
                </a:rPr>
                <a:t>let p = T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50618" y="14187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DADCE0"/>
                  </a:solidFill>
                  <a:latin typeface="Consolas"/>
                  <a:ea typeface="Microsoft YaHei"/>
                  <a:cs typeface="Consolas"/>
                </a:rPr>
                <a:t>let q = F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750618" y="1609249"/>
              <a:ext cx="2068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DADCE0"/>
                  </a:solidFill>
                  <a:latin typeface="Consolas"/>
                  <a:ea typeface="Microsoft YaHei"/>
                  <a:cs typeface="Consolas"/>
                </a:rPr>
                <a:t>let r = (NOT ((NOT p) AND q))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750618" y="179974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DADCE0"/>
                  </a:solidFill>
                  <a:latin typeface="Consolas"/>
                  <a:ea typeface="Microsoft YaHei"/>
                  <a:cs typeface="Consolas"/>
                </a:rPr>
                <a:t>if r then print p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3733800" y="2095500"/>
            <a:ext cx="5181600" cy="250031"/>
            <a:chOff x="3733800" y="2095500"/>
            <a:chExt cx="5181600" cy="250031"/>
          </a:xfrm>
        </p:grpSpPr>
        <p:sp>
          <p:nvSpPr>
            <p:cNvPr id="74" name="Rectangle 74"/>
            <p:cNvSpPr/>
            <p:nvPr/>
          </p:nvSpPr>
          <p:spPr>
            <a:xfrm>
              <a:off x="3733800" y="20955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4285F4">
                <a:alpha val="12000"/>
              </a:srgbClr>
            </a:solidFill>
            <a:ln w="9525">
              <a:solidFill>
                <a:srgbClr val="4285F4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129147" y="2177891"/>
              <a:ext cx="3523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LEXER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048250" y="20955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34A853">
                <a:alpha val="12000"/>
              </a:srgbClr>
            </a:solidFill>
            <a:ln w="9525">
              <a:solidFill>
                <a:srgbClr val="34A853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410462" y="2177891"/>
              <a:ext cx="4185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>
                  <a:solidFill>
                    <a:srgbClr val="34A853"/>
                  </a:solidFill>
                  <a:latin typeface="Segoe UI"/>
                  <a:ea typeface="Microsoft YaHei"/>
                  <a:cs typeface="Segoe UI"/>
                </a:rPr>
                <a:t>PARSER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362700" y="20955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9334E6">
                <a:alpha val="12000"/>
              </a:srgbClr>
            </a:solidFill>
            <a:ln w="9525">
              <a:solidFill>
                <a:srgbClr val="9334E6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31531" y="2177891"/>
              <a:ext cx="6053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OPTIMIZER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677150" y="2095500"/>
              <a:ext cx="1238250" cy="247650"/>
            </a:xfrm>
            <a:prstGeom prst="roundRect">
              <a:avLst>
                <a:gd name="adj" fmla="val 50000"/>
              </a:avLst>
            </a:prstGeom>
            <a:solidFill>
              <a:srgbClr val="1E8E3E">
                <a:alpha val="12000"/>
              </a:srgbClr>
            </a:solidFill>
            <a:ln w="9525">
              <a:solidFill>
                <a:srgbClr val="1E8E3E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990594" y="2177891"/>
              <a:ext cx="6113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EXECUTION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4972050" y="2200275"/>
              <a:ext cx="38100" cy="38100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Ellipse 83"/>
            <p:cNvSpPr/>
            <p:nvPr/>
          </p:nvSpPr>
          <p:spPr>
            <a:xfrm>
              <a:off x="6286500" y="2200275"/>
              <a:ext cx="38100" cy="38100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Ellipse 84"/>
            <p:cNvSpPr/>
            <p:nvPr/>
          </p:nvSpPr>
          <p:spPr>
            <a:xfrm>
              <a:off x="7600950" y="2200275"/>
              <a:ext cx="38100" cy="38100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2253238" y="2720340"/>
            <a:ext cx="7151599" cy="1606227"/>
            <a:chOff x="2253238" y="2720340"/>
            <a:chExt cx="7151599" cy="1606227"/>
          </a:xfrm>
        </p:grpSpPr>
        <p:sp>
          <p:nvSpPr>
            <p:cNvPr id="86" name="TextBox 86"/>
            <p:cNvSpPr txBox="1"/>
            <p:nvPr/>
          </p:nvSpPr>
          <p:spPr>
            <a:xfrm>
              <a:off x="3866607" y="2720340"/>
              <a:ext cx="4458785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>
                  <a:solidFill>
                    <a:schemeClr val="tx2"/>
                  </a:solidFill>
                  <a:effectLst>
                    <a:glow rad="76200">
                      <a:srgbClr val="4285F4">
                        <a:alpha val="35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The LogicScript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253238" y="3351207"/>
              <a:ext cx="7151599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Optimizing Compiler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3732848" y="4314825"/>
            <a:ext cx="4726305" cy="342900"/>
            <a:chOff x="3732848" y="4314825"/>
            <a:chExt cx="4726305" cy="342900"/>
          </a:xfrm>
        </p:grpSpPr>
        <p:sp>
          <p:nvSpPr>
            <p:cNvPr id="89" name="TextBox 89"/>
            <p:cNvSpPr txBox="1"/>
            <p:nvPr/>
          </p:nvSpPr>
          <p:spPr>
            <a:xfrm>
              <a:off x="3732848" y="4314825"/>
              <a:ext cx="47263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A Four-Phase Boolean Logic Compiler Pipeline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762500" y="4648200"/>
              <a:ext cx="2667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697432" y="4831556"/>
            <a:ext cx="2797135" cy="450056"/>
            <a:chOff x="4697432" y="4831556"/>
            <a:chExt cx="2797135" cy="450056"/>
          </a:xfrm>
        </p:grpSpPr>
        <p:sp>
          <p:nvSpPr>
            <p:cNvPr id="92" name="TextBox 92"/>
            <p:cNvSpPr txBox="1"/>
            <p:nvPr/>
          </p:nvSpPr>
          <p:spPr>
            <a:xfrm>
              <a:off x="4697432" y="4831556"/>
              <a:ext cx="27971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Shiyuan Lin · Ruikai Li · Fanqiao Lin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082040" y="5068252"/>
              <a:ext cx="2027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HKUST-GZ · UFUG2106 · 2026</a:t>
              </a:r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11507605" y="657844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>
                <a:solidFill>
                  <a:srgbClr val="80868B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pic>
        <p:nvPicPr>
          <p:cNvPr id="100" name="图片 99">
            <a:extLst>
              <a:ext uri="{FF2B5EF4-FFF2-40B4-BE49-F238E27FC236}">
                <a16:creationId xmlns:a16="http://schemas.microsoft.com/office/drawing/2014/main" id="{F6577C15-96FE-37FF-773B-17C3A19CC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83" y="-49218"/>
            <a:ext cx="3327400" cy="133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8" grpId="0"/>
      <p:bldP spid="91" grpId="0"/>
      <p:bldP spid="9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44597" y="394335"/>
            <a:ext cx="5302806" cy="760571"/>
            <a:chOff x="3444597" y="394335"/>
            <a:chExt cx="5302806" cy="760571"/>
          </a:xfrm>
        </p:grpSpPr>
        <p:sp>
          <p:nvSpPr>
            <p:cNvPr id="5" name="TextBox 5"/>
            <p:cNvSpPr txBox="1"/>
            <p:nvPr/>
          </p:nvSpPr>
          <p:spPr>
            <a:xfrm>
              <a:off x="5564848" y="394335"/>
              <a:ext cx="106230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Team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524500" y="781050"/>
              <a:ext cx="1143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444597" y="926306"/>
              <a:ext cx="53028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Division of labor and shared understanding across the full pipeline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238250"/>
            <a:ext cx="3429000" cy="3810000"/>
            <a:chOff x="571500" y="1238250"/>
            <a:chExt cx="3429000" cy="3810000"/>
          </a:xfrm>
        </p:grpSpPr>
        <p:sp>
          <p:nvSpPr>
            <p:cNvPr id="9" name="Rectangle 9"/>
            <p:cNvSpPr/>
            <p:nvPr/>
          </p:nvSpPr>
          <p:spPr>
            <a:xfrm>
              <a:off x="571500" y="1238250"/>
              <a:ext cx="3429000" cy="38100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4285F4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238250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Ellipse 11"/>
            <p:cNvSpPr/>
            <p:nvPr/>
          </p:nvSpPr>
          <p:spPr>
            <a:xfrm>
              <a:off x="1771650" y="1562100"/>
              <a:ext cx="1028700" cy="1028700"/>
            </a:xfrm>
            <a:prstGeom prst="ellipse">
              <a:avLst/>
            </a:prstGeom>
            <a:solidFill>
              <a:srgbClr val="4285F4">
                <a:alpha val="10000"/>
              </a:srgbClr>
            </a:solidFill>
            <a:ln w="14288">
              <a:solidFill>
                <a:srgbClr val="4285F4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2152650" y="1885950"/>
              <a:ext cx="266700" cy="381000"/>
              <a:chOff x="2152650" y="1885950"/>
              <a:chExt cx="266700" cy="381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190750" y="18859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47855" y="0"/>
                      <a:pt x="190500" y="42645"/>
                      <a:pt x="190500" y="95250"/>
                    </a:cubicBezTo>
                    <a:cubicBezTo>
                      <a:pt x="190500" y="147855"/>
                      <a:pt x="147855" y="190500"/>
                      <a:pt x="95250" y="190500"/>
                    </a:cubicBezTo>
                    <a:cubicBezTo>
                      <a:pt x="42645" y="190500"/>
                      <a:pt x="0" y="147855"/>
                      <a:pt x="0" y="95250"/>
                    </a:cubicBezTo>
                    <a:lnTo>
                      <a:pt x="95" y="91116"/>
                    </a:lnTo>
                    <a:cubicBezTo>
                      <a:pt x="2308" y="40169"/>
                      <a:pt x="44255" y="3"/>
                      <a:pt x="95250" y="0"/>
                    </a:cubicBez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2152650" y="21145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171450" y="0"/>
                    </a:moveTo>
                    <a:cubicBezTo>
                      <a:pt x="224055" y="0"/>
                      <a:pt x="266700" y="42645"/>
                      <a:pt x="266700" y="95250"/>
                    </a:cubicBezTo>
                    <a:lnTo>
                      <a:pt x="266700" y="114300"/>
                    </a:lnTo>
                    <a:cubicBezTo>
                      <a:pt x="266700" y="135342"/>
                      <a:pt x="249642" y="152400"/>
                      <a:pt x="2286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lnTo>
                      <a:pt x="171450" y="0"/>
                    </a:ln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657374" y="2657475"/>
              <a:ext cx="1257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Shiyuan Lin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95305" y="2931795"/>
              <a:ext cx="19813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slin954@connect.hkust-gz.edu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52500" y="3200400"/>
              <a:ext cx="2667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52500" y="3333750"/>
              <a:ext cx="2667000" cy="304800"/>
            </a:xfrm>
            <a:prstGeom prst="roundRect">
              <a:avLst>
                <a:gd name="adj" fmla="val 18750"/>
              </a:avLst>
            </a:prstGeom>
            <a:solidFill>
              <a:srgbClr val="4285F4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3921" y="3420428"/>
              <a:ext cx="15241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Pipeline Framework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52500" y="3733800"/>
              <a:ext cx="2667000" cy="304800"/>
            </a:xfrm>
            <a:prstGeom prst="roundRect">
              <a:avLst>
                <a:gd name="adj" fmla="val 18750"/>
              </a:avLst>
            </a:prstGeom>
            <a:solidFill>
              <a:srgbClr val="4285F4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48712" y="3820478"/>
              <a:ext cx="12745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Phase 2: Parser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66146" y="4295299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Overall pipeline architecture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05627" y="446674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Recursive descent + AST design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9546" y="4638199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Error hierarchy framework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381500" y="1238250"/>
            <a:ext cx="3429000" cy="3810000"/>
            <a:chOff x="4381500" y="1238250"/>
            <a:chExt cx="3429000" cy="3810000"/>
          </a:xfrm>
        </p:grpSpPr>
        <p:sp>
          <p:nvSpPr>
            <p:cNvPr id="26" name="Rectangle 26"/>
            <p:cNvSpPr/>
            <p:nvPr/>
          </p:nvSpPr>
          <p:spPr>
            <a:xfrm>
              <a:off x="4381500" y="1238250"/>
              <a:ext cx="3429000" cy="38100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34A853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81500" y="1238250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Ellipse 28"/>
            <p:cNvSpPr/>
            <p:nvPr/>
          </p:nvSpPr>
          <p:spPr>
            <a:xfrm>
              <a:off x="5581650" y="1562100"/>
              <a:ext cx="1028700" cy="1028700"/>
            </a:xfrm>
            <a:prstGeom prst="ellipse">
              <a:avLst/>
            </a:prstGeom>
            <a:solidFill>
              <a:srgbClr val="34A853">
                <a:alpha val="10000"/>
              </a:srgbClr>
            </a:solidFill>
            <a:ln w="14288">
              <a:solidFill>
                <a:srgbClr val="34A853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5962650" y="1885950"/>
              <a:ext cx="266700" cy="381000"/>
              <a:chOff x="5962650" y="1885950"/>
              <a:chExt cx="266700" cy="381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000750" y="18859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47855" y="0"/>
                      <a:pt x="190500" y="42645"/>
                      <a:pt x="190500" y="95250"/>
                    </a:cubicBezTo>
                    <a:cubicBezTo>
                      <a:pt x="190500" y="147855"/>
                      <a:pt x="147855" y="190500"/>
                      <a:pt x="95250" y="190500"/>
                    </a:cubicBezTo>
                    <a:cubicBezTo>
                      <a:pt x="42645" y="190500"/>
                      <a:pt x="0" y="147855"/>
                      <a:pt x="0" y="95250"/>
                    </a:cubicBezTo>
                    <a:lnTo>
                      <a:pt x="95" y="91116"/>
                    </a:lnTo>
                    <a:cubicBezTo>
                      <a:pt x="2308" y="40169"/>
                      <a:pt x="44255" y="3"/>
                      <a:pt x="95250" y="0"/>
                    </a:cubicBez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5962650" y="21145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171450" y="0"/>
                    </a:moveTo>
                    <a:cubicBezTo>
                      <a:pt x="224055" y="0"/>
                      <a:pt x="266700" y="42645"/>
                      <a:pt x="266700" y="95250"/>
                    </a:cubicBezTo>
                    <a:lnTo>
                      <a:pt x="266700" y="114300"/>
                    </a:lnTo>
                    <a:cubicBezTo>
                      <a:pt x="266700" y="135342"/>
                      <a:pt x="249642" y="152400"/>
                      <a:pt x="2286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lnTo>
                      <a:pt x="171450" y="0"/>
                    </a:ln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5622643" y="2657475"/>
              <a:ext cx="9467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Ruikai Li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49441" y="2931795"/>
              <a:ext cx="20931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rli321@connect.hkust-gz.edu.cn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762500" y="3200400"/>
              <a:ext cx="2667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762500" y="3333750"/>
              <a:ext cx="2667000" cy="304800"/>
            </a:xfrm>
            <a:prstGeom prst="roundRect">
              <a:avLst>
                <a:gd name="adj" fmla="val 18750"/>
              </a:avLst>
            </a:prstGeom>
            <a:solidFill>
              <a:srgbClr val="34A853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23120" y="3420428"/>
              <a:ext cx="114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34A853"/>
                  </a:solidFill>
                  <a:latin typeface="Segoe UI"/>
                  <a:ea typeface="Microsoft YaHei"/>
                  <a:cs typeface="Segoe UI"/>
                </a:rPr>
                <a:t>Phase 1: Lexer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762500" y="3733800"/>
              <a:ext cx="2667000" cy="304800"/>
            </a:xfrm>
            <a:prstGeom prst="roundRect">
              <a:avLst>
                <a:gd name="adj" fmla="val 18750"/>
              </a:avLst>
            </a:prstGeom>
            <a:solidFill>
              <a:srgbClr val="34A853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33921" y="3820478"/>
              <a:ext cx="15241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34A853"/>
                  </a:solidFill>
                  <a:latin typeface="Segoe UI"/>
                  <a:ea typeface="Microsoft YaHei"/>
                  <a:cs typeface="Segoe UI"/>
                </a:rPr>
                <a:t>Phase 3: Optimizer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58026" y="42952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Buffer-based tokenization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05589" y="4466749"/>
              <a:ext cx="25808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11 rewrite rules + consensus theorem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76146" y="4638199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Fixed-point optimization loop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191500" y="1238250"/>
            <a:ext cx="3429000" cy="3810000"/>
            <a:chOff x="8191500" y="1238250"/>
            <a:chExt cx="3429000" cy="3810000"/>
          </a:xfrm>
        </p:grpSpPr>
        <p:sp>
          <p:nvSpPr>
            <p:cNvPr id="43" name="Rectangle 43"/>
            <p:cNvSpPr/>
            <p:nvPr/>
          </p:nvSpPr>
          <p:spPr>
            <a:xfrm>
              <a:off x="8191500" y="1238250"/>
              <a:ext cx="3429000" cy="38100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9334E6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0" y="1238250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Ellipse 45"/>
            <p:cNvSpPr/>
            <p:nvPr/>
          </p:nvSpPr>
          <p:spPr>
            <a:xfrm>
              <a:off x="9391650" y="1562100"/>
              <a:ext cx="1028700" cy="1028700"/>
            </a:xfrm>
            <a:prstGeom prst="ellipse">
              <a:avLst/>
            </a:prstGeom>
            <a:solidFill>
              <a:srgbClr val="9334E6">
                <a:alpha val="10000"/>
              </a:srgbClr>
            </a:solidFill>
            <a:ln w="14288">
              <a:solidFill>
                <a:srgbClr val="9334E6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9772650" y="1885950"/>
              <a:ext cx="266700" cy="381000"/>
              <a:chOff x="9772650" y="1885950"/>
              <a:chExt cx="266700" cy="3810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810750" y="18859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47855" y="0"/>
                      <a:pt x="190500" y="42645"/>
                      <a:pt x="190500" y="95250"/>
                    </a:cubicBezTo>
                    <a:cubicBezTo>
                      <a:pt x="190500" y="147855"/>
                      <a:pt x="147855" y="190500"/>
                      <a:pt x="95250" y="190500"/>
                    </a:cubicBezTo>
                    <a:cubicBezTo>
                      <a:pt x="42645" y="190500"/>
                      <a:pt x="0" y="147855"/>
                      <a:pt x="0" y="95250"/>
                    </a:cubicBezTo>
                    <a:lnTo>
                      <a:pt x="95" y="91116"/>
                    </a:lnTo>
                    <a:cubicBezTo>
                      <a:pt x="2308" y="40169"/>
                      <a:pt x="44255" y="3"/>
                      <a:pt x="95250" y="0"/>
                    </a:cubicBezTo>
                    <a:close/>
                  </a:path>
                </a:pathLst>
              </a:custGeom>
              <a:solidFill>
                <a:srgbClr val="9334E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9772650" y="21145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171450" y="0"/>
                    </a:moveTo>
                    <a:cubicBezTo>
                      <a:pt x="224055" y="0"/>
                      <a:pt x="266700" y="42645"/>
                      <a:pt x="266700" y="95250"/>
                    </a:cubicBezTo>
                    <a:lnTo>
                      <a:pt x="266700" y="114300"/>
                    </a:lnTo>
                    <a:cubicBezTo>
                      <a:pt x="266700" y="135342"/>
                      <a:pt x="249642" y="152400"/>
                      <a:pt x="2286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lnTo>
                      <a:pt x="171450" y="0"/>
                    </a:lnTo>
                    <a:close/>
                  </a:path>
                </a:pathLst>
              </a:custGeom>
              <a:solidFill>
                <a:srgbClr val="9334E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9277374" y="2657475"/>
              <a:ext cx="1257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Fanqiao Lin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06863" y="2931795"/>
              <a:ext cx="2198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flin752@connect.hkust-gz.edu.cn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72500" y="3200400"/>
              <a:ext cx="2667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572500" y="3333750"/>
              <a:ext cx="2667000" cy="304800"/>
            </a:xfrm>
            <a:prstGeom prst="roundRect">
              <a:avLst>
                <a:gd name="adj" fmla="val 18750"/>
              </a:avLst>
            </a:prstGeom>
            <a:solidFill>
              <a:srgbClr val="9334E6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55998" y="3420428"/>
              <a:ext cx="15000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Phase 4: Execution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572500" y="3733800"/>
              <a:ext cx="2667000" cy="304800"/>
            </a:xfrm>
            <a:prstGeom prst="roundRect">
              <a:avLst>
                <a:gd name="adj" fmla="val 18750"/>
              </a:avLst>
            </a:prstGeom>
            <a:solidFill>
              <a:srgbClr val="9334E6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51972" y="3820478"/>
              <a:ext cx="1508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Verification Engine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65107" y="4295299"/>
              <a:ext cx="22817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Truth table equivalence checking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32426" y="4466749"/>
              <a:ext cx="19471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Statement execution engine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35344" y="4638199"/>
              <a:ext cx="15413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JSON output assembly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5219700"/>
            <a:ext cx="11049000" cy="571500"/>
            <a:chOff x="571500" y="5219700"/>
            <a:chExt cx="11049000" cy="571500"/>
          </a:xfrm>
        </p:grpSpPr>
        <p:sp>
          <p:nvSpPr>
            <p:cNvPr id="60" name="Rectangle 60"/>
            <p:cNvSpPr/>
            <p:nvPr/>
          </p:nvSpPr>
          <p:spPr>
            <a:xfrm>
              <a:off x="571500" y="5219700"/>
              <a:ext cx="1104900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71500" y="5219700"/>
              <a:ext cx="38100" cy="5715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148073" y="5344478"/>
              <a:ext cx="5895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All members contributed to the joint code review of the complete codebase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726918" y="5581174"/>
              <a:ext cx="47381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and the writing of the technical brief — HKUST(GZ) · UFUG2106 · 2026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1022" y="6572250"/>
            <a:ext cx="11069956" cy="269081"/>
            <a:chOff x="561022" y="6572250"/>
            <a:chExt cx="11069956" cy="269081"/>
          </a:xfrm>
        </p:grpSpPr>
        <p:sp>
          <p:nvSpPr>
            <p:cNvPr id="65" name="Rectangle 65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7605" y="66736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2" grpId="0"/>
      <p:bldP spid="59" grpId="0"/>
      <p:bldP spid="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28575" cy="6858000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7210" y="394335"/>
            <a:ext cx="11093767" cy="6351746"/>
            <a:chOff x="537210" y="394335"/>
            <a:chExt cx="11093767" cy="6351746"/>
          </a:xfrm>
        </p:grpSpPr>
        <p:sp>
          <p:nvSpPr>
            <p:cNvPr id="6" name="TextBox 6"/>
            <p:cNvSpPr txBox="1"/>
            <p:nvPr/>
          </p:nvSpPr>
          <p:spPr>
            <a:xfrm>
              <a:off x="537210" y="394335"/>
              <a:ext cx="2847767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7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Table</a:t>
              </a:r>
              <a:r>
                <a:rPr lang="zh-CN" altLang="en-US" sz="27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en-US" altLang="zh-CN" sz="27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of</a:t>
              </a:r>
              <a:r>
                <a:rPr lang="zh-CN" altLang="en-US" sz="27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en-US" altLang="zh-CN" sz="27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Contents</a:t>
              </a:r>
              <a:endParaRPr lang="zh-CN" sz="2700" b="1">
                <a:solidFill>
                  <a:srgbClr val="202124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499" y="809625"/>
              <a:ext cx="2591705" cy="45719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477482" y="65784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02970" y="1312545"/>
            <a:ext cx="4431030" cy="4440555"/>
            <a:chOff x="902970" y="1312545"/>
            <a:chExt cx="4431030" cy="4440555"/>
          </a:xfrm>
        </p:grpSpPr>
        <p:grpSp>
          <p:nvGrpSpPr>
            <p:cNvPr id="15" name="Group 15"/>
            <p:cNvGrpSpPr/>
            <p:nvPr/>
          </p:nvGrpSpPr>
          <p:grpSpPr>
            <a:xfrm>
              <a:off x="902970" y="1312545"/>
              <a:ext cx="4431030" cy="1011555"/>
              <a:chOff x="902970" y="1312545"/>
              <a:chExt cx="4431030" cy="101155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902970" y="1312545"/>
                <a:ext cx="607424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900" b="1">
                    <a:solidFill>
                      <a:srgbClr val="4285F4">
                        <a:alpha val="1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01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952500" y="1771650"/>
                <a:ext cx="4381500" cy="552450"/>
              </a:xfrm>
              <a:prstGeom prst="roundRect">
                <a:avLst>
                  <a:gd name="adj" fmla="val 13793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952500" y="1771650"/>
                <a:ext cx="38100" cy="552450"/>
              </a:xfrm>
              <a:prstGeom prst="roundRect">
                <a:avLst>
                  <a:gd name="adj" fmla="val 50000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26808" y="1862614"/>
                <a:ext cx="168456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Project Overview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0618" y="2095024"/>
                <a:ext cx="14416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What is LogicScript?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02970" y="2455545"/>
              <a:ext cx="4431030" cy="1011555"/>
              <a:chOff x="902970" y="2455545"/>
              <a:chExt cx="4431030" cy="1011555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2970" y="2455545"/>
                <a:ext cx="756942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900" b="1">
                    <a:solidFill>
                      <a:srgbClr val="34A853">
                        <a:alpha val="1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02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952500" y="2914650"/>
                <a:ext cx="4381500" cy="552450"/>
              </a:xfrm>
              <a:prstGeom prst="roundRect">
                <a:avLst>
                  <a:gd name="adj" fmla="val 13793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952500" y="2914650"/>
                <a:ext cx="38100" cy="552450"/>
              </a:xfrm>
              <a:prstGeom prst="roundRect">
                <a:avLst>
                  <a:gd name="adj" fmla="val 50000"/>
                </a:avLst>
              </a:pr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26808" y="3005614"/>
                <a:ext cx="213427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Compiler Architecture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30618" y="3238024"/>
                <a:ext cx="203258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Four-phase pipeline overview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902970" y="3598545"/>
              <a:ext cx="4431030" cy="1011555"/>
              <a:chOff x="902970" y="3598545"/>
              <a:chExt cx="4431030" cy="1011555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902970" y="3598545"/>
                <a:ext cx="756942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900" b="1">
                    <a:solidFill>
                      <a:srgbClr val="9334E6">
                        <a:alpha val="1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03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952500" y="4057650"/>
                <a:ext cx="4381500" cy="552450"/>
              </a:xfrm>
              <a:prstGeom prst="roundRect">
                <a:avLst>
                  <a:gd name="adj" fmla="val 13793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952500" y="4057650"/>
                <a:ext cx="38100" cy="552450"/>
              </a:xfrm>
              <a:prstGeom prst="roundRect">
                <a:avLst>
                  <a:gd name="adj" fmla="val 50000"/>
                </a:avLst>
              </a:prstGeom>
              <a:solidFill>
                <a:srgbClr val="9334E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126808" y="4148614"/>
                <a:ext cx="233957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Example: Input → Output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30618" y="4381024"/>
                <a:ext cx="15484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Concrete walkthrough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02970" y="4741545"/>
              <a:ext cx="4431030" cy="1011555"/>
              <a:chOff x="902970" y="4741545"/>
              <a:chExt cx="4431030" cy="1011555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902970" y="4741545"/>
                <a:ext cx="756942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900" b="1">
                    <a:solidFill>
                      <a:srgbClr val="1E8E3E">
                        <a:alpha val="1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04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952500" y="5200650"/>
                <a:ext cx="4381500" cy="552450"/>
              </a:xfrm>
              <a:prstGeom prst="roundRect">
                <a:avLst>
                  <a:gd name="adj" fmla="val 13793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952500" y="5200650"/>
                <a:ext cx="38100" cy="552450"/>
              </a:xfrm>
              <a:prstGeom prst="roundRect">
                <a:avLst>
                  <a:gd name="adj" fmla="val 50000"/>
                </a:avLst>
              </a:prstGeom>
              <a:solidFill>
                <a:srgbClr val="1E8E3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6808" y="5291614"/>
                <a:ext cx="198762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Four Phase Deep Dive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30618" y="5524024"/>
                <a:ext cx="273746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Lexer · Parser · Optimizer · Execution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6617970" y="2455545"/>
            <a:ext cx="4431030" cy="3297555"/>
            <a:chOff x="6617970" y="2455545"/>
            <a:chExt cx="4431030" cy="3297555"/>
          </a:xfrm>
        </p:grpSpPr>
        <p:grpSp>
          <p:nvGrpSpPr>
            <p:cNvPr id="40" name="Group 40"/>
            <p:cNvGrpSpPr/>
            <p:nvPr/>
          </p:nvGrpSpPr>
          <p:grpSpPr>
            <a:xfrm>
              <a:off x="6617970" y="2455545"/>
              <a:ext cx="4431030" cy="1011555"/>
              <a:chOff x="6617970" y="2455545"/>
              <a:chExt cx="4431030" cy="1011555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6617970" y="2455545"/>
                <a:ext cx="756942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900" b="1">
                    <a:solidFill>
                      <a:srgbClr val="EA4335">
                        <a:alpha val="1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05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667500" y="2914650"/>
                <a:ext cx="4381500" cy="552450"/>
              </a:xfrm>
              <a:prstGeom prst="roundRect">
                <a:avLst>
                  <a:gd name="adj" fmla="val 13793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667500" y="2914650"/>
                <a:ext cx="38100" cy="552450"/>
              </a:xfrm>
              <a:prstGeom prst="roundRect">
                <a:avLst>
                  <a:gd name="adj" fmla="val 50000"/>
                </a:avLst>
              </a:prstGeom>
              <a:solidFill>
                <a:srgbClr val="EA4335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841808" y="3005614"/>
                <a:ext cx="12837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Testing Suite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845618" y="3238024"/>
                <a:ext cx="17549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Per-phase test coverage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617970" y="3598545"/>
              <a:ext cx="4431030" cy="1011555"/>
              <a:chOff x="6617970" y="3598545"/>
              <a:chExt cx="4431030" cy="1011555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6617970" y="3598545"/>
                <a:ext cx="756942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900" b="1">
                    <a:solidFill>
                      <a:srgbClr val="4285F4">
                        <a:alpha val="1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06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6667500" y="4057650"/>
                <a:ext cx="4381500" cy="552450"/>
              </a:xfrm>
              <a:prstGeom prst="roundRect">
                <a:avLst>
                  <a:gd name="adj" fmla="val 13793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667500" y="4057650"/>
                <a:ext cx="38100" cy="552450"/>
              </a:xfrm>
              <a:prstGeom prst="roundRect">
                <a:avLst>
                  <a:gd name="adj" fmla="val 50000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841808" y="4148614"/>
                <a:ext cx="250576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Limitations &amp; Future Work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845618" y="4381024"/>
                <a:ext cx="21821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Current constraints &amp; roadmap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6617970" y="4741545"/>
              <a:ext cx="4431030" cy="1011555"/>
              <a:chOff x="6617970" y="4741545"/>
              <a:chExt cx="4431030" cy="1011555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6617970" y="4741545"/>
                <a:ext cx="756942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900" b="1">
                    <a:solidFill>
                      <a:srgbClr val="34A853">
                        <a:alpha val="1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07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6667500" y="5200650"/>
                <a:ext cx="4381500" cy="552450"/>
              </a:xfrm>
              <a:prstGeom prst="roundRect">
                <a:avLst>
                  <a:gd name="adj" fmla="val 13793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6667500" y="5200650"/>
                <a:ext cx="38100" cy="552450"/>
              </a:xfrm>
              <a:prstGeom prst="roundRect">
                <a:avLst>
                  <a:gd name="adj" fmla="val 50000"/>
                </a:avLst>
              </a:pr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841808" y="5291614"/>
                <a:ext cx="50164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Team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845618" y="5524024"/>
                <a:ext cx="20468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Collaboration &amp; contributions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61022" y="6572250"/>
            <a:ext cx="11069955" cy="269081"/>
            <a:chOff x="561022" y="6572250"/>
            <a:chExt cx="11069955" cy="269081"/>
          </a:xfrm>
        </p:grpSpPr>
        <p:sp>
          <p:nvSpPr>
            <p:cNvPr id="54" name="Rectangle 54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77482" y="667369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379095"/>
            <a:ext cx="5227320" cy="632936"/>
            <a:chOff x="571500" y="379095"/>
            <a:chExt cx="5227320" cy="632936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93420" y="379095"/>
              <a:ext cx="372301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What is LogicScript?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9612" y="783431"/>
              <a:ext cx="50892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A custom micro-language with a four-phase optimizing compiler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1238250"/>
            <a:ext cx="3429000" cy="4762500"/>
            <a:chOff x="571500" y="1238250"/>
            <a:chExt cx="3429000" cy="4762500"/>
          </a:xfrm>
          <a:effectLst>
            <a:glow rad="76200">
              <a:srgbClr val="4285F4">
                <a:alpha val="8000"/>
              </a:srgbClr>
            </a:glow>
          </a:effectLst>
        </p:grpSpPr>
        <p:sp>
          <p:nvSpPr>
            <p:cNvPr id="9" name="Rectangle 9"/>
            <p:cNvSpPr/>
            <p:nvPr/>
          </p:nvSpPr>
          <p:spPr>
            <a:xfrm>
              <a:off x="571500" y="1238250"/>
              <a:ext cx="3429000" cy="4762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4285F4">
                  <a:alpha val="30000"/>
                </a:srgbClr>
              </a:solidFill>
            </a:ln>
            <a:effectLst>
              <a:glow rad="76200">
                <a:srgbClr val="4285F4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238250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4285F4"/>
            </a:solidFill>
            <a:ln>
              <a:noFill/>
            </a:ln>
            <a:effectLst>
              <a:glow rad="76200">
                <a:srgbClr val="4285F4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1695450"/>
              <a:ext cx="1905000" cy="571500"/>
            </a:xfrm>
            <a:prstGeom prst="roundRect">
              <a:avLst>
                <a:gd name="adj" fmla="val 50000"/>
              </a:avLst>
            </a:prstGeom>
            <a:solidFill>
              <a:srgbClr val="4285F4">
                <a:alpha val="10000"/>
              </a:srgbClr>
            </a:solidFill>
            <a:ln>
              <a:noFill/>
            </a:ln>
            <a:effectLst>
              <a:glow rad="76200">
                <a:srgbClr val="4285F4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016123" y="1798753"/>
              <a:ext cx="367706" cy="369140"/>
            </a:xfrm>
            <a:custGeom>
              <a:avLst/>
              <a:gdLst/>
              <a:ahLst/>
              <a:cxnLst/>
              <a:rect l="l" t="t" r="r" b="b"/>
              <a:pathLst>
                <a:path w="367706" h="369140">
                  <a:moveTo>
                    <a:pt x="261940" y="31222"/>
                  </a:moveTo>
                  <a:cubicBezTo>
                    <a:pt x="335331" y="73594"/>
                    <a:pt x="367706" y="162544"/>
                    <a:pt x="338720" y="242178"/>
                  </a:cubicBezTo>
                  <a:cubicBezTo>
                    <a:pt x="309735" y="321812"/>
                    <a:pt x="227758" y="369140"/>
                    <a:pt x="144301" y="354423"/>
                  </a:cubicBezTo>
                  <a:cubicBezTo>
                    <a:pt x="60844" y="339706"/>
                    <a:pt x="0" y="267192"/>
                    <a:pt x="2" y="182447"/>
                  </a:cubicBezTo>
                  <a:lnTo>
                    <a:pt x="89" y="176789"/>
                  </a:lnTo>
                  <a:cubicBezTo>
                    <a:pt x="2079" y="115443"/>
                    <a:pt x="36129" y="59646"/>
                    <a:pt x="89775" y="29823"/>
                  </a:cubicBezTo>
                  <a:cubicBezTo>
                    <a:pt x="143421" y="0"/>
                    <a:pt x="208785" y="531"/>
                    <a:pt x="261940" y="31222"/>
                  </a:cubicBezTo>
                  <a:moveTo>
                    <a:pt x="152048" y="135176"/>
                  </a:moveTo>
                  <a:cubicBezTo>
                    <a:pt x="145229" y="128359"/>
                    <a:pt x="134175" y="128359"/>
                    <a:pt x="127356" y="135176"/>
                  </a:cubicBezTo>
                  <a:lnTo>
                    <a:pt x="92431" y="170101"/>
                  </a:lnTo>
                  <a:cubicBezTo>
                    <a:pt x="85614" y="176920"/>
                    <a:pt x="85614" y="187974"/>
                    <a:pt x="92431" y="194793"/>
                  </a:cubicBezTo>
                  <a:lnTo>
                    <a:pt x="127356" y="229718"/>
                  </a:lnTo>
                  <a:cubicBezTo>
                    <a:pt x="134175" y="236535"/>
                    <a:pt x="145229" y="236535"/>
                    <a:pt x="152048" y="229718"/>
                  </a:cubicBezTo>
                  <a:lnTo>
                    <a:pt x="153498" y="228077"/>
                  </a:lnTo>
                  <a:cubicBezTo>
                    <a:pt x="158890" y="221125"/>
                    <a:pt x="158269" y="211247"/>
                    <a:pt x="152048" y="205026"/>
                  </a:cubicBezTo>
                  <a:lnTo>
                    <a:pt x="129487" y="182447"/>
                  </a:lnTo>
                  <a:lnTo>
                    <a:pt x="152048" y="159868"/>
                  </a:lnTo>
                  <a:cubicBezTo>
                    <a:pt x="158865" y="153049"/>
                    <a:pt x="158865" y="141995"/>
                    <a:pt x="152048" y="135176"/>
                  </a:cubicBezTo>
                  <a:moveTo>
                    <a:pt x="221898" y="135176"/>
                  </a:moveTo>
                  <a:cubicBezTo>
                    <a:pt x="215079" y="128359"/>
                    <a:pt x="204025" y="128359"/>
                    <a:pt x="197206" y="135176"/>
                  </a:cubicBezTo>
                  <a:lnTo>
                    <a:pt x="195757" y="136818"/>
                  </a:lnTo>
                  <a:cubicBezTo>
                    <a:pt x="190364" y="143769"/>
                    <a:pt x="190985" y="153647"/>
                    <a:pt x="197206" y="159868"/>
                  </a:cubicBezTo>
                  <a:lnTo>
                    <a:pt x="219768" y="182447"/>
                  </a:lnTo>
                  <a:lnTo>
                    <a:pt x="197206" y="205026"/>
                  </a:lnTo>
                  <a:cubicBezTo>
                    <a:pt x="190588" y="211878"/>
                    <a:pt x="190683" y="222770"/>
                    <a:pt x="197419" y="229505"/>
                  </a:cubicBezTo>
                  <a:cubicBezTo>
                    <a:pt x="204155" y="236241"/>
                    <a:pt x="215046" y="236336"/>
                    <a:pt x="221898" y="229718"/>
                  </a:cubicBezTo>
                  <a:lnTo>
                    <a:pt x="256823" y="194793"/>
                  </a:lnTo>
                  <a:cubicBezTo>
                    <a:pt x="263640" y="187974"/>
                    <a:pt x="263640" y="176920"/>
                    <a:pt x="256823" y="170101"/>
                  </a:cubicBez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  <a:effectLst>
              <a:glow rad="76200">
                <a:srgbClr val="4285F4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6452" y="1352550"/>
              <a:ext cx="934498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000" b="1">
                  <a:solidFill>
                    <a:srgbClr val="4285F4">
                      <a:alpha val="5000"/>
                    </a:srgbClr>
                  </a:solidFill>
                  <a:effectLst>
                    <a:glow rad="76200">
                      <a:srgbClr val="4285F4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0035" y="2486025"/>
              <a:ext cx="26719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202124"/>
                  </a:solidFill>
                  <a:effectLst>
                    <a:glow rad="76200">
                      <a:srgbClr val="4285F4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Custom Micro-Language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43204" y="2779395"/>
              <a:ext cx="1085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>
                  <a:solidFill>
                    <a:srgbClr val="4285F4"/>
                  </a:solidFill>
                  <a:effectLst>
                    <a:glow rad="76200">
                      <a:srgbClr val="4285F4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LOGICSCRIPT DSL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52500" y="3028950"/>
              <a:ext cx="2667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  <a:effectLst>
              <a:glow rad="76200">
                <a:srgbClr val="4285F4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Ellipse 17"/>
            <p:cNvSpPr/>
            <p:nvPr/>
          </p:nvSpPr>
          <p:spPr>
            <a:xfrm>
              <a:off x="876300" y="3267075"/>
              <a:ext cx="57150" cy="5715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  <a:effectLst>
              <a:glow rad="76200">
                <a:srgbClr val="4285F4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14412" y="3221831"/>
              <a:ext cx="16552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effectLst>
                    <a:glow rad="76200">
                      <a:srgbClr val="4285F4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Boolean assignments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6318" y="3438049"/>
              <a:ext cx="12778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effectLst>
                    <a:glow rad="76200">
                      <a:srgbClr val="4285F4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let p = T | let q = F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76300" y="3810000"/>
              <a:ext cx="57150" cy="5715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  <a:effectLst>
              <a:glow rad="76200">
                <a:srgbClr val="4285F4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4412" y="3764756"/>
              <a:ext cx="17209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effectLst>
                    <a:glow rad="76200">
                      <a:srgbClr val="4285F4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Conditional execution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6318" y="3980974"/>
              <a:ext cx="1555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effectLst>
                    <a:glow rad="76200">
                      <a:srgbClr val="4285F4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if &lt;expr&gt; then &lt;stmt&gt;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76300" y="4352925"/>
              <a:ext cx="57150" cy="5715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  <a:effectLst>
              <a:glow rad="76200">
                <a:srgbClr val="4285F4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4412" y="4307681"/>
              <a:ext cx="13019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effectLst>
                    <a:glow rad="76200">
                      <a:srgbClr val="4285F4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Logic operators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6318" y="4523899"/>
              <a:ext cx="1705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effectLst>
                    <a:glow rad="76200">
                      <a:srgbClr val="4285F4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AND · OR · NOT · IMPLIES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76300" y="4895850"/>
              <a:ext cx="57150" cy="5715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  <a:effectLst>
              <a:glow rad="76200">
                <a:srgbClr val="4285F4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4412" y="4850606"/>
              <a:ext cx="1030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effectLst>
                    <a:glow rad="76200">
                      <a:srgbClr val="4285F4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Print output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6318" y="5066824"/>
              <a:ext cx="11354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effectLst>
                    <a:glow rad="76200">
                      <a:srgbClr val="4285F4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print &lt;variable&gt;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52500" y="5619750"/>
              <a:ext cx="1143000" cy="228600"/>
            </a:xfrm>
            <a:prstGeom prst="roundRect">
              <a:avLst>
                <a:gd name="adj" fmla="val 50000"/>
              </a:avLst>
            </a:prstGeom>
            <a:solidFill>
              <a:srgbClr val="4285F4">
                <a:alpha val="15000"/>
              </a:srgbClr>
            </a:solidFill>
            <a:ln w="9525">
              <a:solidFill>
                <a:srgbClr val="4285F4">
                  <a:alpha val="40000"/>
                </a:srgbClr>
              </a:solidFill>
            </a:ln>
            <a:effectLst>
              <a:glow rad="76200">
                <a:srgbClr val="4285F4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6648" y="5684520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4285F4"/>
                  </a:solidFill>
                  <a:effectLst>
                    <a:glow rad="76200">
                      <a:srgbClr val="4285F4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Single-file input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381500" y="1238250"/>
            <a:ext cx="3429000" cy="4762500"/>
            <a:chOff x="4381500" y="1238250"/>
            <a:chExt cx="3429000" cy="4762500"/>
          </a:xfrm>
          <a:effectLst>
            <a:glow rad="76200">
              <a:srgbClr val="34A853">
                <a:alpha val="8000"/>
              </a:srgbClr>
            </a:glow>
          </a:effectLst>
        </p:grpSpPr>
        <p:sp>
          <p:nvSpPr>
            <p:cNvPr id="32" name="Rectangle 32"/>
            <p:cNvSpPr/>
            <p:nvPr/>
          </p:nvSpPr>
          <p:spPr>
            <a:xfrm>
              <a:off x="4381500" y="1238250"/>
              <a:ext cx="3429000" cy="4762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34A853">
                  <a:alpha val="30000"/>
                </a:srgbClr>
              </a:solidFill>
            </a:ln>
            <a:effectLst>
              <a:glow rad="76200">
                <a:srgbClr val="34A853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381500" y="1238250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34A853"/>
            </a:solidFill>
            <a:ln>
              <a:noFill/>
            </a:ln>
            <a:effectLst>
              <a:glow rad="76200">
                <a:srgbClr val="34A853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143500" y="1695450"/>
              <a:ext cx="1905000" cy="571500"/>
            </a:xfrm>
            <a:prstGeom prst="roundRect">
              <a:avLst>
                <a:gd name="adj" fmla="val 50000"/>
              </a:avLst>
            </a:prstGeom>
            <a:solidFill>
              <a:srgbClr val="34A853">
                <a:alpha val="10000"/>
              </a:srgbClr>
            </a:solidFill>
            <a:ln>
              <a:noFill/>
            </a:ln>
            <a:effectLst>
              <a:glow rad="76200">
                <a:srgbClr val="34A853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5826125" y="1804874"/>
              <a:ext cx="349876" cy="352653"/>
              <a:chOff x="5826125" y="1804874"/>
              <a:chExt cx="349876" cy="35265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035675" y="2016125"/>
                <a:ext cx="140326" cy="140932"/>
              </a:xfrm>
              <a:custGeom>
                <a:avLst/>
                <a:gdLst/>
                <a:ahLst/>
                <a:cxnLst/>
                <a:rect l="l" t="t" r="r" b="b"/>
                <a:pathLst>
                  <a:path w="140326" h="140932">
                    <a:moveTo>
                      <a:pt x="69850" y="0"/>
                    </a:moveTo>
                    <a:cubicBezTo>
                      <a:pt x="107973" y="0"/>
                      <a:pt x="139055" y="30568"/>
                      <a:pt x="139690" y="68685"/>
                    </a:cubicBezTo>
                    <a:cubicBezTo>
                      <a:pt x="140326" y="106803"/>
                      <a:pt x="110281" y="138390"/>
                      <a:pt x="72179" y="139661"/>
                    </a:cubicBezTo>
                    <a:cubicBezTo>
                      <a:pt x="34077" y="140932"/>
                      <a:pt x="1993" y="111418"/>
                      <a:pt x="87" y="73343"/>
                    </a:cubicBezTo>
                    <a:lnTo>
                      <a:pt x="0" y="69850"/>
                    </a:lnTo>
                    <a:lnTo>
                      <a:pt x="87" y="66358"/>
                    </a:lnTo>
                    <a:cubicBezTo>
                      <a:pt x="1948" y="29184"/>
                      <a:pt x="32630" y="0"/>
                      <a:pt x="69850" y="0"/>
                    </a:cubicBez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  <a:effectLst>
                <a:glow rad="76200">
                  <a:srgbClr val="34A853">
                    <a:alpha val="8000"/>
                  </a:srgbClr>
                </a:glo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5999989" y="1804874"/>
                <a:ext cx="175386" cy="176818"/>
              </a:xfrm>
              <a:custGeom>
                <a:avLst/>
                <a:gdLst/>
                <a:ahLst/>
                <a:cxnLst/>
                <a:rect l="l" t="t" r="r" b="b"/>
                <a:pathLst>
                  <a:path w="175386" h="176818">
                    <a:moveTo>
                      <a:pt x="82957" y="6817"/>
                    </a:moveTo>
                    <a:cubicBezTo>
                      <a:pt x="89178" y="13038"/>
                      <a:pt x="89799" y="22916"/>
                      <a:pt x="84406" y="29868"/>
                    </a:cubicBezTo>
                    <a:lnTo>
                      <a:pt x="82957" y="31509"/>
                    </a:lnTo>
                    <a:lnTo>
                      <a:pt x="60378" y="54088"/>
                    </a:lnTo>
                    <a:lnTo>
                      <a:pt x="122999" y="54088"/>
                    </a:lnTo>
                    <a:cubicBezTo>
                      <a:pt x="150739" y="54086"/>
                      <a:pt x="173671" y="75710"/>
                      <a:pt x="175299" y="103402"/>
                    </a:cubicBezTo>
                    <a:lnTo>
                      <a:pt x="175386" y="106476"/>
                    </a:lnTo>
                    <a:lnTo>
                      <a:pt x="175386" y="158863"/>
                    </a:lnTo>
                    <a:cubicBezTo>
                      <a:pt x="175376" y="168102"/>
                      <a:pt x="168170" y="175735"/>
                      <a:pt x="158947" y="176276"/>
                    </a:cubicBezTo>
                    <a:cubicBezTo>
                      <a:pt x="149724" y="176818"/>
                      <a:pt x="141675" y="170081"/>
                      <a:pt x="140583" y="160906"/>
                    </a:cubicBezTo>
                    <a:lnTo>
                      <a:pt x="140461" y="158863"/>
                    </a:lnTo>
                    <a:lnTo>
                      <a:pt x="140461" y="106476"/>
                    </a:lnTo>
                    <a:cubicBezTo>
                      <a:pt x="140460" y="97622"/>
                      <a:pt x="133834" y="90171"/>
                      <a:pt x="125042" y="89135"/>
                    </a:cubicBezTo>
                    <a:lnTo>
                      <a:pt x="122999" y="89013"/>
                    </a:lnTo>
                    <a:lnTo>
                      <a:pt x="60395" y="89013"/>
                    </a:lnTo>
                    <a:lnTo>
                      <a:pt x="82957" y="111592"/>
                    </a:lnTo>
                    <a:cubicBezTo>
                      <a:pt x="89457" y="118114"/>
                      <a:pt x="89776" y="128562"/>
                      <a:pt x="83686" y="135468"/>
                    </a:cubicBezTo>
                    <a:cubicBezTo>
                      <a:pt x="77596" y="142374"/>
                      <a:pt x="67191" y="143366"/>
                      <a:pt x="59907" y="137733"/>
                    </a:cubicBezTo>
                    <a:lnTo>
                      <a:pt x="58265" y="136284"/>
                    </a:lnTo>
                    <a:lnTo>
                      <a:pt x="5878" y="83897"/>
                    </a:lnTo>
                    <a:cubicBezTo>
                      <a:pt x="1830" y="79941"/>
                      <a:pt x="0" y="74241"/>
                      <a:pt x="988" y="68669"/>
                    </a:cubicBezTo>
                    <a:lnTo>
                      <a:pt x="1617" y="66120"/>
                    </a:lnTo>
                    <a:lnTo>
                      <a:pt x="2315" y="64304"/>
                    </a:lnTo>
                    <a:cubicBezTo>
                      <a:pt x="3328" y="62103"/>
                      <a:pt x="4760" y="60113"/>
                      <a:pt x="6594" y="58471"/>
                    </a:cubicBezTo>
                    <a:lnTo>
                      <a:pt x="58265" y="6817"/>
                    </a:lnTo>
                    <a:cubicBezTo>
                      <a:pt x="65084" y="0"/>
                      <a:pt x="76138" y="0"/>
                      <a:pt x="82957" y="6817"/>
                    </a:cubicBez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  <a:effectLst>
                <a:glow rad="76200">
                  <a:srgbClr val="34A853">
                    <a:alpha val="8000"/>
                  </a:srgbClr>
                </a:glo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5826125" y="1981200"/>
                <a:ext cx="175386" cy="176327"/>
              </a:xfrm>
              <a:custGeom>
                <a:avLst/>
                <a:gdLst/>
                <a:ahLst/>
                <a:cxnLst/>
                <a:rect l="l" t="t" r="r" b="b"/>
                <a:pathLst>
                  <a:path w="175386" h="176327">
                    <a:moveTo>
                      <a:pt x="17463" y="0"/>
                    </a:moveTo>
                    <a:cubicBezTo>
                      <a:pt x="26316" y="1"/>
                      <a:pt x="33767" y="6627"/>
                      <a:pt x="34803" y="15419"/>
                    </a:cubicBezTo>
                    <a:lnTo>
                      <a:pt x="34925" y="17463"/>
                    </a:lnTo>
                    <a:lnTo>
                      <a:pt x="34925" y="69850"/>
                    </a:lnTo>
                    <a:cubicBezTo>
                      <a:pt x="34926" y="78703"/>
                      <a:pt x="41552" y="86154"/>
                      <a:pt x="50344" y="87190"/>
                    </a:cubicBezTo>
                    <a:lnTo>
                      <a:pt x="52388" y="87312"/>
                    </a:lnTo>
                    <a:lnTo>
                      <a:pt x="114991" y="87312"/>
                    </a:lnTo>
                    <a:lnTo>
                      <a:pt x="92429" y="64733"/>
                    </a:lnTo>
                    <a:cubicBezTo>
                      <a:pt x="86208" y="58512"/>
                      <a:pt x="85587" y="48635"/>
                      <a:pt x="90980" y="41683"/>
                    </a:cubicBezTo>
                    <a:lnTo>
                      <a:pt x="92429" y="40042"/>
                    </a:lnTo>
                    <a:cubicBezTo>
                      <a:pt x="98650" y="33821"/>
                      <a:pt x="108528" y="33200"/>
                      <a:pt x="115480" y="38592"/>
                    </a:cubicBezTo>
                    <a:lnTo>
                      <a:pt x="117121" y="40042"/>
                    </a:lnTo>
                    <a:lnTo>
                      <a:pt x="169508" y="92429"/>
                    </a:lnTo>
                    <a:cubicBezTo>
                      <a:pt x="173556" y="96384"/>
                      <a:pt x="175386" y="102084"/>
                      <a:pt x="174398" y="107656"/>
                    </a:cubicBezTo>
                    <a:lnTo>
                      <a:pt x="173769" y="110206"/>
                    </a:lnTo>
                    <a:lnTo>
                      <a:pt x="173071" y="112022"/>
                    </a:lnTo>
                    <a:cubicBezTo>
                      <a:pt x="172059" y="114238"/>
                      <a:pt x="170603" y="116223"/>
                      <a:pt x="168793" y="117854"/>
                    </a:cubicBezTo>
                    <a:lnTo>
                      <a:pt x="117121" y="169508"/>
                    </a:lnTo>
                    <a:cubicBezTo>
                      <a:pt x="110599" y="176008"/>
                      <a:pt x="100151" y="176327"/>
                      <a:pt x="93245" y="170238"/>
                    </a:cubicBezTo>
                    <a:cubicBezTo>
                      <a:pt x="86339" y="164148"/>
                      <a:pt x="85347" y="153742"/>
                      <a:pt x="90980" y="146458"/>
                    </a:cubicBezTo>
                    <a:lnTo>
                      <a:pt x="92429" y="144817"/>
                    </a:lnTo>
                    <a:lnTo>
                      <a:pt x="114973" y="122237"/>
                    </a:lnTo>
                    <a:lnTo>
                      <a:pt x="52388" y="122237"/>
                    </a:lnTo>
                    <a:cubicBezTo>
                      <a:pt x="24647" y="122239"/>
                      <a:pt x="1715" y="100616"/>
                      <a:pt x="87" y="72923"/>
                    </a:cubicBezTo>
                    <a:lnTo>
                      <a:pt x="0" y="69850"/>
                    </a:lnTo>
                    <a:lnTo>
                      <a:pt x="0" y="17463"/>
                    </a:lnTo>
                    <a:cubicBezTo>
                      <a:pt x="0" y="7818"/>
                      <a:pt x="7818" y="0"/>
                      <a:pt x="17463" y="0"/>
                    </a:cubicBez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  <a:effectLst>
                <a:glow rad="76200">
                  <a:srgbClr val="34A853">
                    <a:alpha val="8000"/>
                  </a:srgbClr>
                </a:glo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5826125" y="1806575"/>
                <a:ext cx="140326" cy="140932"/>
              </a:xfrm>
              <a:custGeom>
                <a:avLst/>
                <a:gdLst/>
                <a:ahLst/>
                <a:cxnLst/>
                <a:rect l="l" t="t" r="r" b="b"/>
                <a:pathLst>
                  <a:path w="140326" h="140932">
                    <a:moveTo>
                      <a:pt x="69850" y="0"/>
                    </a:moveTo>
                    <a:cubicBezTo>
                      <a:pt x="107973" y="0"/>
                      <a:pt x="139055" y="30568"/>
                      <a:pt x="139690" y="68685"/>
                    </a:cubicBezTo>
                    <a:cubicBezTo>
                      <a:pt x="140326" y="106803"/>
                      <a:pt x="110281" y="138390"/>
                      <a:pt x="72179" y="139661"/>
                    </a:cubicBezTo>
                    <a:cubicBezTo>
                      <a:pt x="34077" y="140932"/>
                      <a:pt x="1993" y="111418"/>
                      <a:pt x="87" y="73343"/>
                    </a:cubicBezTo>
                    <a:lnTo>
                      <a:pt x="0" y="69850"/>
                    </a:lnTo>
                    <a:lnTo>
                      <a:pt x="87" y="66358"/>
                    </a:lnTo>
                    <a:cubicBezTo>
                      <a:pt x="1948" y="29184"/>
                      <a:pt x="32630" y="0"/>
                      <a:pt x="69850" y="0"/>
                    </a:cubicBez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  <a:effectLst>
                <a:glow rad="76200">
                  <a:srgbClr val="34A853">
                    <a:alpha val="8000"/>
                  </a:srgbClr>
                </a:glo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6436424" y="1352550"/>
              <a:ext cx="116452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000" b="1">
                  <a:solidFill>
                    <a:srgbClr val="34A853">
                      <a:alpha val="5000"/>
                    </a:srgbClr>
                  </a:solidFill>
                  <a:effectLst>
                    <a:glow rad="76200">
                      <a:srgbClr val="34A853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78563" y="2486025"/>
              <a:ext cx="22348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202124"/>
                  </a:solidFill>
                  <a:effectLst>
                    <a:glow rad="76200">
                      <a:srgbClr val="34A853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Optimizing Compiler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29051" y="2779395"/>
              <a:ext cx="1133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>
                  <a:solidFill>
                    <a:srgbClr val="34A853"/>
                  </a:solidFill>
                  <a:effectLst>
                    <a:glow rad="76200">
                      <a:srgbClr val="34A853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4-PHASE PIPELINE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762500" y="3028950"/>
              <a:ext cx="2667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  <a:effectLst>
              <a:glow rad="76200">
                <a:srgbClr val="34A853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667250" y="3190875"/>
              <a:ext cx="2857500" cy="323850"/>
            </a:xfrm>
            <a:prstGeom prst="roundRect">
              <a:avLst>
                <a:gd name="adj" fmla="val 17647"/>
              </a:avLst>
            </a:prstGeom>
            <a:solidFill>
              <a:srgbClr val="F8F9FA"/>
            </a:solidFill>
            <a:ln>
              <a:noFill/>
            </a:ln>
            <a:effectLst>
              <a:glow rad="76200">
                <a:srgbClr val="34A853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54868" y="3295174"/>
              <a:ext cx="501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4285F4"/>
                  </a:solidFill>
                  <a:effectLst>
                    <a:glow rad="76200">
                      <a:srgbClr val="34A853">
                        <a:alpha val="8000"/>
                      </a:srgbClr>
                    </a:glow>
                  </a:effectLst>
                  <a:latin typeface="Consolas"/>
                  <a:ea typeface="Microsoft YaHei"/>
                  <a:cs typeface="Consolas"/>
                </a:rPr>
                <a:t>Phase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07368" y="3295174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effectLst>
                    <a:glow rad="76200">
                      <a:srgbClr val="34A853">
                        <a:alpha val="8000"/>
                      </a:srgbClr>
                    </a:glow>
                  </a:effectLst>
                  <a:latin typeface="Consolas"/>
                  <a:ea typeface="Microsoft YaHei"/>
                  <a:cs typeface="Consolas"/>
                </a:rPr>
                <a:t>→ Lexer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667250" y="3619500"/>
              <a:ext cx="2857500" cy="323850"/>
            </a:xfrm>
            <a:prstGeom prst="roundRect">
              <a:avLst>
                <a:gd name="adj" fmla="val 17647"/>
              </a:avLst>
            </a:prstGeom>
            <a:solidFill>
              <a:srgbClr val="F8F9FA"/>
            </a:solidFill>
            <a:ln>
              <a:noFill/>
            </a:ln>
            <a:effectLst>
              <a:glow rad="76200">
                <a:srgbClr val="34A853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54868" y="3723799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34A853"/>
                  </a:solidFill>
                  <a:effectLst>
                    <a:glow rad="76200">
                      <a:srgbClr val="34A853">
                        <a:alpha val="8000"/>
                      </a:srgbClr>
                    </a:glow>
                  </a:effectLst>
                  <a:latin typeface="Consolas"/>
                  <a:ea typeface="Microsoft YaHei"/>
                  <a:cs typeface="Consolas"/>
                </a:rPr>
                <a:t>Phase 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07368" y="372379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effectLst>
                    <a:glow rad="76200">
                      <a:srgbClr val="34A853">
                        <a:alpha val="8000"/>
                      </a:srgbClr>
                    </a:glow>
                  </a:effectLst>
                  <a:latin typeface="Consolas"/>
                  <a:ea typeface="Microsoft YaHei"/>
                  <a:cs typeface="Consolas"/>
                </a:rPr>
                <a:t>→ Parser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67250" y="4048125"/>
              <a:ext cx="2857500" cy="323850"/>
            </a:xfrm>
            <a:prstGeom prst="roundRect">
              <a:avLst>
                <a:gd name="adj" fmla="val 17647"/>
              </a:avLst>
            </a:prstGeom>
            <a:solidFill>
              <a:srgbClr val="F8F9FA"/>
            </a:solidFill>
            <a:ln>
              <a:noFill/>
            </a:ln>
            <a:effectLst>
              <a:glow rad="76200">
                <a:srgbClr val="34A853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654868" y="4152424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9334E6"/>
                  </a:solidFill>
                  <a:effectLst>
                    <a:glow rad="76200">
                      <a:srgbClr val="34A853">
                        <a:alpha val="8000"/>
                      </a:srgbClr>
                    </a:glow>
                  </a:effectLst>
                  <a:latin typeface="Consolas"/>
                  <a:ea typeface="Microsoft YaHei"/>
                  <a:cs typeface="Consolas"/>
                </a:rPr>
                <a:t>Phase 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607368" y="4152424"/>
              <a:ext cx="836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effectLst>
                    <a:glow rad="76200">
                      <a:srgbClr val="34A853">
                        <a:alpha val="8000"/>
                      </a:srgbClr>
                    </a:glow>
                  </a:effectLst>
                  <a:latin typeface="Consolas"/>
                  <a:ea typeface="Microsoft YaHei"/>
                  <a:cs typeface="Consolas"/>
                </a:rPr>
                <a:t>→ Optimizer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667250" y="4476750"/>
              <a:ext cx="2857500" cy="323850"/>
            </a:xfrm>
            <a:prstGeom prst="roundRect">
              <a:avLst>
                <a:gd name="adj" fmla="val 17647"/>
              </a:avLst>
            </a:prstGeom>
            <a:solidFill>
              <a:srgbClr val="F8F9FA"/>
            </a:solidFill>
            <a:ln>
              <a:noFill/>
            </a:ln>
            <a:effectLst>
              <a:glow rad="76200">
                <a:srgbClr val="34A853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654868" y="4581049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1E8E3E"/>
                  </a:solidFill>
                  <a:effectLst>
                    <a:glow rad="76200">
                      <a:srgbClr val="34A853">
                        <a:alpha val="8000"/>
                      </a:srgbClr>
                    </a:glow>
                  </a:effectLst>
                  <a:latin typeface="Consolas"/>
                  <a:ea typeface="Microsoft YaHei"/>
                  <a:cs typeface="Consolas"/>
                </a:rPr>
                <a:t>Phase 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07368" y="4581049"/>
              <a:ext cx="8150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effectLst>
                    <a:glow rad="76200">
                      <a:srgbClr val="34A853">
                        <a:alpha val="8000"/>
                      </a:srgbClr>
                    </a:glow>
                  </a:effectLst>
                  <a:latin typeface="Consolas"/>
                  <a:ea typeface="Microsoft YaHei"/>
                  <a:cs typeface="Consolas"/>
                </a:rPr>
                <a:t>→ Execution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439263" y="5038249"/>
              <a:ext cx="1313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effectLst>
                    <a:glow rad="76200">
                      <a:srgbClr val="34A853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JSON trace output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762500" y="5619750"/>
              <a:ext cx="1333500" cy="228600"/>
            </a:xfrm>
            <a:prstGeom prst="roundRect">
              <a:avLst>
                <a:gd name="adj" fmla="val 50000"/>
              </a:avLst>
            </a:prstGeom>
            <a:solidFill>
              <a:srgbClr val="34A853">
                <a:alpha val="15000"/>
              </a:srgbClr>
            </a:solidFill>
            <a:ln w="9525">
              <a:solidFill>
                <a:srgbClr val="34A853">
                  <a:alpha val="40000"/>
                </a:srgbClr>
              </a:solidFill>
            </a:ln>
            <a:effectLst>
              <a:glow rad="76200">
                <a:srgbClr val="34A853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39462" y="5684520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34A853"/>
                  </a:solidFill>
                  <a:effectLst>
                    <a:glow rad="76200">
                      <a:srgbClr val="34A853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Boolean semantics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191500" y="1238250"/>
            <a:ext cx="3429000" cy="4762500"/>
            <a:chOff x="8191500" y="1238250"/>
            <a:chExt cx="3429000" cy="4762500"/>
          </a:xfrm>
          <a:effectLst>
            <a:glow rad="76200">
              <a:srgbClr val="9334E6">
                <a:alpha val="8000"/>
              </a:srgbClr>
            </a:glow>
          </a:effectLst>
        </p:grpSpPr>
        <p:sp>
          <p:nvSpPr>
            <p:cNvPr id="60" name="Rectangle 60"/>
            <p:cNvSpPr/>
            <p:nvPr/>
          </p:nvSpPr>
          <p:spPr>
            <a:xfrm>
              <a:off x="8191500" y="1238250"/>
              <a:ext cx="3429000" cy="4762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9334E6">
                  <a:alpha val="30000"/>
                </a:srgbClr>
              </a:solidFill>
            </a:ln>
            <a:effectLst>
              <a:glow rad="76200">
                <a:srgbClr val="9334E6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191500" y="1238250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9334E6"/>
            </a:solidFill>
            <a:ln>
              <a:noFill/>
            </a:ln>
            <a:effectLst>
              <a:glow rad="76200">
                <a:srgbClr val="9334E6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953500" y="1695450"/>
              <a:ext cx="1905000" cy="571500"/>
            </a:xfrm>
            <a:prstGeom prst="roundRect">
              <a:avLst>
                <a:gd name="adj" fmla="val 50000"/>
              </a:avLst>
            </a:prstGeom>
            <a:solidFill>
              <a:srgbClr val="9334E6">
                <a:alpha val="10000"/>
              </a:srgbClr>
            </a:solidFill>
            <a:ln>
              <a:noFill/>
            </a:ln>
            <a:effectLst>
              <a:glow rad="76200">
                <a:srgbClr val="9334E6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63"/>
            <p:cNvSpPr/>
            <p:nvPr/>
          </p:nvSpPr>
          <p:spPr>
            <a:xfrm>
              <a:off x="9636125" y="1798753"/>
              <a:ext cx="367237" cy="367838"/>
            </a:xfrm>
            <a:custGeom>
              <a:avLst/>
              <a:gdLst/>
              <a:ahLst/>
              <a:cxnLst/>
              <a:rect l="l" t="t" r="r" b="b"/>
              <a:pathLst>
                <a:path w="367237" h="367838">
                  <a:moveTo>
                    <a:pt x="261938" y="31222"/>
                  </a:moveTo>
                  <a:cubicBezTo>
                    <a:pt x="334711" y="73240"/>
                    <a:pt x="367237" y="161132"/>
                    <a:pt x="339349" y="240402"/>
                  </a:cubicBezTo>
                  <a:cubicBezTo>
                    <a:pt x="311461" y="319672"/>
                    <a:pt x="231068" y="367838"/>
                    <a:pt x="148016" y="355036"/>
                  </a:cubicBezTo>
                  <a:cubicBezTo>
                    <a:pt x="64965" y="342233"/>
                    <a:pt x="2809" y="272094"/>
                    <a:pt x="87" y="188105"/>
                  </a:cubicBezTo>
                  <a:lnTo>
                    <a:pt x="0" y="182447"/>
                  </a:lnTo>
                  <a:lnTo>
                    <a:pt x="87" y="176789"/>
                  </a:lnTo>
                  <a:cubicBezTo>
                    <a:pt x="2077" y="115443"/>
                    <a:pt x="36127" y="59646"/>
                    <a:pt x="89773" y="29823"/>
                  </a:cubicBezTo>
                  <a:cubicBezTo>
                    <a:pt x="143419" y="0"/>
                    <a:pt x="208783" y="531"/>
                    <a:pt x="261937" y="31222"/>
                  </a:cubicBezTo>
                  <a:close/>
                  <a:moveTo>
                    <a:pt x="239358" y="135176"/>
                  </a:moveTo>
                  <a:cubicBezTo>
                    <a:pt x="233137" y="128955"/>
                    <a:pt x="223260" y="128334"/>
                    <a:pt x="216308" y="133727"/>
                  </a:cubicBezTo>
                  <a:lnTo>
                    <a:pt x="214667" y="135176"/>
                  </a:lnTo>
                  <a:lnTo>
                    <a:pt x="157163" y="192663"/>
                  </a:lnTo>
                  <a:lnTo>
                    <a:pt x="134583" y="170101"/>
                  </a:lnTo>
                  <a:lnTo>
                    <a:pt x="132942" y="168652"/>
                  </a:lnTo>
                  <a:cubicBezTo>
                    <a:pt x="125990" y="163263"/>
                    <a:pt x="116116" y="163886"/>
                    <a:pt x="109896" y="170106"/>
                  </a:cubicBezTo>
                  <a:cubicBezTo>
                    <a:pt x="103677" y="176325"/>
                    <a:pt x="103054" y="186200"/>
                    <a:pt x="108442" y="193152"/>
                  </a:cubicBezTo>
                  <a:lnTo>
                    <a:pt x="109892" y="194793"/>
                  </a:lnTo>
                  <a:lnTo>
                    <a:pt x="144817" y="229718"/>
                  </a:lnTo>
                  <a:lnTo>
                    <a:pt x="146458" y="231168"/>
                  </a:lnTo>
                  <a:cubicBezTo>
                    <a:pt x="152757" y="236055"/>
                    <a:pt x="161568" y="236055"/>
                    <a:pt x="167867" y="231168"/>
                  </a:cubicBezTo>
                  <a:lnTo>
                    <a:pt x="169508" y="229718"/>
                  </a:lnTo>
                  <a:lnTo>
                    <a:pt x="239358" y="159868"/>
                  </a:lnTo>
                  <a:lnTo>
                    <a:pt x="240808" y="158227"/>
                  </a:lnTo>
                  <a:cubicBezTo>
                    <a:pt x="246200" y="151275"/>
                    <a:pt x="245579" y="141397"/>
                    <a:pt x="239358" y="135176"/>
                  </a:cubicBezTo>
                  <a:close/>
                </a:path>
              </a:pathLst>
            </a:custGeom>
            <a:solidFill>
              <a:srgbClr val="9334E6"/>
            </a:solidFill>
            <a:ln>
              <a:noFill/>
            </a:ln>
            <a:effectLst>
              <a:glow rad="76200">
                <a:srgbClr val="9334E6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46424" y="1352550"/>
              <a:ext cx="116452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000" b="1">
                  <a:solidFill>
                    <a:srgbClr val="9334E6">
                      <a:alpha val="5000"/>
                    </a:srgbClr>
                  </a:solidFill>
                  <a:effectLst>
                    <a:glow rad="76200">
                      <a:srgbClr val="9334E6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805815" y="2486025"/>
              <a:ext cx="22003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202124"/>
                  </a:solidFill>
                  <a:effectLst>
                    <a:glow rad="76200">
                      <a:srgbClr val="9334E6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Formal Verification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73430" y="2779395"/>
              <a:ext cx="14651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>
                  <a:solidFill>
                    <a:srgbClr val="9334E6"/>
                  </a:solidFill>
                  <a:effectLst>
                    <a:glow rad="76200">
                      <a:srgbClr val="9334E6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EQUIVALENCE CHECKING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572500" y="3028950"/>
              <a:ext cx="2667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  <a:effectLst>
              <a:glow rad="76200">
                <a:srgbClr val="9334E6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Ellipse 68"/>
            <p:cNvSpPr/>
            <p:nvPr/>
          </p:nvSpPr>
          <p:spPr>
            <a:xfrm>
              <a:off x="8496300" y="3267075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  <a:effectLst>
              <a:glow rad="76200">
                <a:srgbClr val="9334E6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34412" y="3221831"/>
              <a:ext cx="1975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effectLst>
                    <a:glow rad="76200">
                      <a:srgbClr val="9334E6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Post-optimization check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36318" y="3438049"/>
              <a:ext cx="1996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effectLst>
                    <a:glow rad="76200">
                      <a:srgbClr val="9334E6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Every optimized AST verified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8496300" y="3810000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  <a:effectLst>
              <a:glow rad="76200">
                <a:srgbClr val="9334E6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634412" y="3764756"/>
              <a:ext cx="1975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effectLst>
                    <a:glow rad="76200">
                      <a:srgbClr val="9334E6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Truth table enumeration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636318" y="3980974"/>
              <a:ext cx="17905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effectLst>
                    <a:glow rad="76200">
                      <a:srgbClr val="9334E6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Exhaustive 2ⁿ comparison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8496300" y="4352925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  <a:effectLst>
              <a:glow rad="76200">
                <a:srgbClr val="9334E6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634412" y="4307681"/>
              <a:ext cx="17044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effectLst>
                    <a:glow rad="76200">
                      <a:srgbClr val="9334E6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Semantic equivalence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636318" y="4523899"/>
              <a:ext cx="1883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effectLst>
                    <a:glow rad="76200">
                      <a:srgbClr val="9334E6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original = optimized output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8496300" y="4895850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  <a:effectLst>
              <a:glow rad="76200">
                <a:srgbClr val="9334E6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634412" y="4850606"/>
              <a:ext cx="19016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effectLst>
                    <a:glow rad="76200">
                      <a:srgbClr val="9334E6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Graceful error handling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636318" y="5066824"/>
              <a:ext cx="18545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effectLst>
                    <a:glow rad="76200">
                      <a:srgbClr val="9334E6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Phase + line in every error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572500" y="5619750"/>
              <a:ext cx="1333500" cy="228600"/>
            </a:xfrm>
            <a:prstGeom prst="roundRect">
              <a:avLst>
                <a:gd name="adj" fmla="val 50000"/>
              </a:avLst>
            </a:prstGeom>
            <a:solidFill>
              <a:srgbClr val="9334E6">
                <a:alpha val="15000"/>
              </a:srgbClr>
            </a:solidFill>
            <a:ln w="9525">
              <a:solidFill>
                <a:srgbClr val="9334E6">
                  <a:alpha val="40000"/>
                </a:srgbClr>
              </a:solidFill>
            </a:ln>
            <a:effectLst>
              <a:glow rad="76200">
                <a:srgbClr val="9334E6">
                  <a:alpha val="8000"/>
                </a:srgbClr>
              </a:glo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629745" y="5684520"/>
              <a:ext cx="1219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9334E6"/>
                  </a:solidFill>
                  <a:effectLst>
                    <a:glow rad="76200">
                      <a:srgbClr val="9334E6">
                        <a:alpha val="8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Correctness proof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61022" y="6572250"/>
            <a:ext cx="11069955" cy="269081"/>
            <a:chOff x="561022" y="6572250"/>
            <a:chExt cx="11069955" cy="269081"/>
          </a:xfrm>
        </p:grpSpPr>
        <p:sp>
          <p:nvSpPr>
            <p:cNvPr id="83" name="Rectangle 83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477482" y="667369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59" grpId="0"/>
      <p:bldP spid="8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379095"/>
            <a:ext cx="4120972" cy="632936"/>
            <a:chOff x="571500" y="379095"/>
            <a:chExt cx="4120972" cy="632936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93420" y="379095"/>
              <a:ext cx="399905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Concrete Walkthrough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9612" y="783431"/>
              <a:ext cx="38158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Four source lines through the complete pipeline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71500" y="1143000"/>
            <a:ext cx="4953000" cy="5143500"/>
            <a:chOff x="571500" y="1143000"/>
            <a:chExt cx="4953000" cy="5143500"/>
          </a:xfrm>
        </p:grpSpPr>
        <p:sp>
          <p:nvSpPr>
            <p:cNvPr id="9" name="Rectangle 9"/>
            <p:cNvSpPr/>
            <p:nvPr/>
          </p:nvSpPr>
          <p:spPr>
            <a:xfrm>
              <a:off x="571500" y="1143000"/>
              <a:ext cx="4953000" cy="5143500"/>
            </a:xfrm>
            <a:prstGeom prst="roundRect">
              <a:avLst>
                <a:gd name="adj" fmla="val 1923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143000"/>
              <a:ext cx="4953000" cy="438150"/>
            </a:xfrm>
            <a:prstGeom prst="roundRect">
              <a:avLst>
                <a:gd name="adj" fmla="val 21739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1428750"/>
              <a:ext cx="4953000" cy="152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Ellipse 12"/>
            <p:cNvSpPr/>
            <p:nvPr/>
          </p:nvSpPr>
          <p:spPr>
            <a:xfrm>
              <a:off x="800100" y="1304925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Ellipse 13"/>
            <p:cNvSpPr/>
            <p:nvPr/>
          </p:nvSpPr>
          <p:spPr>
            <a:xfrm>
              <a:off x="990600" y="1304925"/>
              <a:ext cx="114300" cy="114300"/>
            </a:xfrm>
            <a:prstGeom prst="ellipse">
              <a:avLst/>
            </a:prstGeom>
            <a:solidFill>
              <a:srgbClr val="5F63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Ellipse 14"/>
            <p:cNvSpPr/>
            <p:nvPr/>
          </p:nvSpPr>
          <p:spPr>
            <a:xfrm>
              <a:off x="1181100" y="1304925"/>
              <a:ext cx="114300" cy="114300"/>
            </a:xfrm>
            <a:prstGeom prst="ellipse">
              <a:avLst/>
            </a:prstGeom>
            <a:solidFill>
              <a:srgbClr val="1E8E3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10480" y="1313974"/>
              <a:ext cx="6940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input.txt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962" y="1859756"/>
              <a:ext cx="778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8712" y="1859756"/>
              <a:ext cx="258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let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81138" y="1859756"/>
              <a:ext cx="258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p =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1212" y="18597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2962" y="22026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8712" y="2202656"/>
              <a:ext cx="258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let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81138" y="2202656"/>
              <a:ext cx="258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q =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81212" y="22026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EA4335"/>
                  </a:solidFill>
                  <a:latin typeface="Consolas"/>
                  <a:ea typeface="Microsoft YaHei"/>
                  <a:cs typeface="Consolas"/>
                </a:rPr>
                <a:t>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2962" y="25455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8712" y="2545556"/>
              <a:ext cx="258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let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81138" y="2545556"/>
              <a:ext cx="258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r =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52638" y="25455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(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85988" y="2545556"/>
              <a:ext cx="3325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NOT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33662" y="254555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((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09888" y="2545556"/>
              <a:ext cx="3325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NOT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57562" y="254555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p)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8712" y="2774156"/>
              <a:ext cx="299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AND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52612" y="2774156"/>
              <a:ext cx="299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q))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2962" y="31551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8712" y="315515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if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04938" y="31551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90688" y="3155156"/>
              <a:ext cx="390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then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76462" y="3155156"/>
              <a:ext cx="4393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print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00362" y="31551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p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3524250"/>
              <a:ext cx="4572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4868" y="3704749"/>
              <a:ext cx="31504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After Phase 3 optimization, line 3 simplifies: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4868" y="399049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NOT ((NOT p) AND q)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01165" y="4230052"/>
              <a:ext cx="2234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↓ De Morgan + Double Negation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4868" y="448579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(p OR (NOT q))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57250" y="4819650"/>
              <a:ext cx="1714500" cy="266700"/>
            </a:xfrm>
            <a:prstGeom prst="roundRect">
              <a:avLst>
                <a:gd name="adj" fmla="val 50000"/>
              </a:avLst>
            </a:prstGeom>
            <a:solidFill>
              <a:srgbClr val="1E8E3E">
                <a:alpha val="15000"/>
              </a:srgbClr>
            </a:solidFill>
            <a:ln w="9525">
              <a:solidFill>
                <a:srgbClr val="1E8E3E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2096" y="4895374"/>
              <a:ext cx="15648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✓ is_equivalent: TRUE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4868" y="5323999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r = (T OR (NOT F)) = (T OR T) =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11868" y="532399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TRUE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4868" y="5533549"/>
              <a:ext cx="23245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condition TRUE → executes print p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642085" y="3428999"/>
            <a:ext cx="330451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sz="2100">
                <a:solidFill>
                  <a:srgbClr val="4285F4"/>
                </a:solidFill>
                <a:latin typeface="Segoe UI"/>
                <a:ea typeface="Microsoft YaHei"/>
                <a:cs typeface="Segoe UI"/>
              </a:rPr>
              <a:t>→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6096000" y="1143000"/>
            <a:ext cx="5534977" cy="5143500"/>
            <a:chOff x="6096000" y="1143000"/>
            <a:chExt cx="5524500" cy="5143500"/>
          </a:xfrm>
        </p:grpSpPr>
        <p:sp>
          <p:nvSpPr>
            <p:cNvPr id="54" name="Rectangle 54"/>
            <p:cNvSpPr/>
            <p:nvPr/>
          </p:nvSpPr>
          <p:spPr>
            <a:xfrm>
              <a:off x="6096000" y="1143000"/>
              <a:ext cx="5524500" cy="5143500"/>
            </a:xfrm>
            <a:prstGeom prst="roundRect">
              <a:avLst>
                <a:gd name="adj" fmla="val 1852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96000" y="1143000"/>
              <a:ext cx="5524500" cy="438150"/>
            </a:xfrm>
            <a:prstGeom prst="roundRect">
              <a:avLst>
                <a:gd name="adj" fmla="val 21739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096000" y="1428750"/>
              <a:ext cx="5524500" cy="152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Ellipse 57"/>
            <p:cNvSpPr/>
            <p:nvPr/>
          </p:nvSpPr>
          <p:spPr>
            <a:xfrm>
              <a:off x="6324600" y="1304925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Ellipse 58"/>
            <p:cNvSpPr/>
            <p:nvPr/>
          </p:nvSpPr>
          <p:spPr>
            <a:xfrm>
              <a:off x="6515100" y="1304925"/>
              <a:ext cx="114300" cy="114300"/>
            </a:xfrm>
            <a:prstGeom prst="ellipse">
              <a:avLst/>
            </a:prstGeom>
            <a:solidFill>
              <a:srgbClr val="5F63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Ellipse 59"/>
            <p:cNvSpPr/>
            <p:nvPr/>
          </p:nvSpPr>
          <p:spPr>
            <a:xfrm>
              <a:off x="6705600" y="1304925"/>
              <a:ext cx="114300" cy="114300"/>
            </a:xfrm>
            <a:prstGeom prst="ellipse">
              <a:avLst/>
            </a:prstGeom>
            <a:solidFill>
              <a:srgbClr val="1E8E3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31102" y="1313974"/>
              <a:ext cx="1654300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output.json</a:t>
              </a:r>
              <a:r>
                <a:rPr lang="zh-CN" altLang="en-US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en-US" alt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(Simplified)</a:t>
              </a:r>
              <a:endParaRPr lang="zh-CN" sz="975">
                <a:solidFill>
                  <a:srgbClr val="5F636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69368" y="17997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{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59868" y="2009299"/>
              <a:ext cx="1128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"phase_1_lexer"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93368" y="20092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: [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51320" y="2207895"/>
              <a:ext cx="30263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{line:1, token:["LET","VAR_P","EQ","TRUE"]}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51320" y="2379345"/>
              <a:ext cx="36901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{line:4, token:["IF","VAR_R","THEN","PRINT","VAR_P"]}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59868" y="25426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],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59868" y="2790349"/>
              <a:ext cx="12778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"phase_2_parser"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50518" y="279034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: [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51320" y="2988945"/>
              <a:ext cx="24940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{line:1, ast:["LET","VAR_P","TRUE"]}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751320" y="3160395"/>
              <a:ext cx="31841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{line:4, ast:["IF","VAR_R",["PRINT","VAR_P"]]}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559868" y="33237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],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86500" y="3562350"/>
              <a:ext cx="51435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59868" y="3799999"/>
              <a:ext cx="14772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"phase_4_execution"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93418" y="37999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: {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751320" y="4036695"/>
              <a:ext cx="11927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"verifications": [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941820" y="4208145"/>
              <a:ext cx="1488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{line:3, is_equivalent: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46820" y="42081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"TRUE"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304020" y="420814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751320" y="43795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],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751320" y="4589145"/>
              <a:ext cx="9692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"final_state":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894320" y="458914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{VAR_P: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437245" y="45891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"TRUE"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894445" y="45891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},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751320" y="4798695"/>
              <a:ext cx="13307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"printed_output": [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941820" y="4989195"/>
              <a:ext cx="1080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{line:4, output: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275320" y="498919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"TRUE"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732520" y="49891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751320" y="51796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]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559868" y="53620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369368" y="55525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561022" y="6572250"/>
            <a:ext cx="11069955" cy="269081"/>
            <a:chOff x="561022" y="6572250"/>
            <a:chExt cx="11069955" cy="269081"/>
          </a:xfrm>
        </p:grpSpPr>
        <p:sp>
          <p:nvSpPr>
            <p:cNvPr id="93" name="Rectangle 93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477482" y="667369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05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9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379095"/>
            <a:ext cx="6204942" cy="632936"/>
            <a:chOff x="571500" y="379095"/>
            <a:chExt cx="6204942" cy="632936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93420" y="379095"/>
              <a:ext cx="515839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Four-Phase Compiler Pipeline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9612" y="783431"/>
              <a:ext cx="60668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Each phase output is the next phase's input — sequential, typed, verifiable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626" y="1381125"/>
            <a:ext cx="1422765" cy="4095750"/>
            <a:chOff x="120626" y="1381125"/>
            <a:chExt cx="1422765" cy="4095750"/>
          </a:xfrm>
        </p:grpSpPr>
        <p:sp>
          <p:nvSpPr>
            <p:cNvPr id="9" name="Rectangle 9"/>
            <p:cNvSpPr/>
            <p:nvPr/>
          </p:nvSpPr>
          <p:spPr>
            <a:xfrm>
              <a:off x="333375" y="1381125"/>
              <a:ext cx="1000125" cy="409575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 rot="-5400000">
              <a:off x="120626" y="3425190"/>
              <a:ext cx="14227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SOURCE FILE (.txt)</a:t>
              </a:r>
            </a:p>
          </p:txBody>
        </p:sp>
      </p:grpSp>
      <p:sp>
        <p:nvSpPr>
          <p:cNvPr id="12" name="Line 12"/>
          <p:cNvSpPr/>
          <p:nvPr/>
        </p:nvSpPr>
        <p:spPr>
          <a:xfrm>
            <a:off x="1333500" y="3429000"/>
            <a:ext cx="266700" cy="1"/>
          </a:xfrm>
          <a:prstGeom prst="line">
            <a:avLst/>
          </a:prstGeom>
          <a:noFill/>
          <a:ln w="19050">
            <a:solidFill>
              <a:srgbClr val="DADCE0"/>
            </a:solidFill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6" name="Group 36"/>
          <p:cNvGrpSpPr/>
          <p:nvPr/>
        </p:nvGrpSpPr>
        <p:grpSpPr>
          <a:xfrm>
            <a:off x="1619250" y="1238250"/>
            <a:ext cx="2190750" cy="4381500"/>
            <a:chOff x="1619250" y="1238250"/>
            <a:chExt cx="2190750" cy="4381500"/>
          </a:xfrm>
        </p:grpSpPr>
        <p:sp>
          <p:nvSpPr>
            <p:cNvPr id="13" name="Rectangle 13"/>
            <p:cNvSpPr/>
            <p:nvPr/>
          </p:nvSpPr>
          <p:spPr>
            <a:xfrm>
              <a:off x="1619250" y="1238250"/>
              <a:ext cx="2190750" cy="438150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4288">
              <a:solidFill>
                <a:srgbClr val="4285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619250" y="1238250"/>
              <a:ext cx="2190750" cy="571500"/>
            </a:xfrm>
            <a:custGeom>
              <a:avLst/>
              <a:gdLst/>
              <a:ahLst/>
              <a:cxnLst/>
              <a:rect l="l" t="t" r="r" b="b"/>
              <a:pathLst>
                <a:path w="2190750" h="57150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2095500" y="0"/>
                  </a:lnTo>
                  <a:cubicBezTo>
                    <a:pt x="2148105" y="0"/>
                    <a:pt x="2190750" y="42645"/>
                    <a:pt x="2190750" y="95250"/>
                  </a:cubicBezTo>
                  <a:lnTo>
                    <a:pt x="219075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762125" y="1333500"/>
              <a:ext cx="323850" cy="323850"/>
            </a:xfrm>
            <a:prstGeom prst="roundRect">
              <a:avLst>
                <a:gd name="adj" fmla="val 17647"/>
              </a:avLst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24760" y="1414939"/>
              <a:ext cx="1985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72652" y="1351121"/>
              <a:ext cx="6371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Lexer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3376612" y="1395412"/>
              <a:ext cx="257180" cy="272185"/>
            </a:xfrm>
            <a:custGeom>
              <a:avLst/>
              <a:gdLst/>
              <a:ahLst/>
              <a:cxnLst/>
              <a:rect l="l" t="t" r="r" b="b"/>
              <a:pathLst>
                <a:path w="257180" h="272185">
                  <a:moveTo>
                    <a:pt x="242888" y="0"/>
                  </a:moveTo>
                  <a:lnTo>
                    <a:pt x="14288" y="0"/>
                  </a:lnTo>
                  <a:cubicBezTo>
                    <a:pt x="6397" y="0"/>
                    <a:pt x="0" y="6397"/>
                    <a:pt x="0" y="14288"/>
                  </a:cubicBezTo>
                  <a:lnTo>
                    <a:pt x="0" y="46106"/>
                  </a:lnTo>
                  <a:lnTo>
                    <a:pt x="114" y="49292"/>
                  </a:lnTo>
                  <a:cubicBezTo>
                    <a:pt x="826" y="58832"/>
                    <a:pt x="4709" y="67860"/>
                    <a:pt x="11144" y="74938"/>
                  </a:cubicBezTo>
                  <a:lnTo>
                    <a:pt x="71438" y="141246"/>
                  </a:lnTo>
                  <a:lnTo>
                    <a:pt x="71438" y="257175"/>
                  </a:lnTo>
                  <a:cubicBezTo>
                    <a:pt x="71436" y="261768"/>
                    <a:pt x="73643" y="266081"/>
                    <a:pt x="77368" y="268767"/>
                  </a:cubicBezTo>
                  <a:cubicBezTo>
                    <a:pt x="81093" y="271453"/>
                    <a:pt x="85883" y="272185"/>
                    <a:pt x="90240" y="270734"/>
                  </a:cubicBezTo>
                  <a:lnTo>
                    <a:pt x="175965" y="242159"/>
                  </a:lnTo>
                  <a:lnTo>
                    <a:pt x="177508" y="241544"/>
                  </a:lnTo>
                  <a:cubicBezTo>
                    <a:pt x="182531" y="239193"/>
                    <a:pt x="185739" y="234146"/>
                    <a:pt x="185738" y="228600"/>
                  </a:cubicBezTo>
                  <a:lnTo>
                    <a:pt x="185738" y="134503"/>
                  </a:lnTo>
                  <a:lnTo>
                    <a:pt x="244616" y="75638"/>
                  </a:lnTo>
                  <a:cubicBezTo>
                    <a:pt x="252662" y="67595"/>
                    <a:pt x="257180" y="56682"/>
                    <a:pt x="257175" y="45306"/>
                  </a:cubicBezTo>
                  <a:lnTo>
                    <a:pt x="257175" y="14288"/>
                  </a:lnTo>
                  <a:cubicBezTo>
                    <a:pt x="257175" y="6397"/>
                    <a:pt x="250778" y="0"/>
                    <a:pt x="242888" y="0"/>
                  </a:cubicBezTo>
                  <a:close/>
                </a:path>
              </a:pathLst>
            </a:custGeom>
            <a:solidFill>
              <a:srgbClr val="20212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19250" y="1809750"/>
              <a:ext cx="2190750" cy="304800"/>
            </a:xfrm>
            <a:prstGeom prst="rect">
              <a:avLst/>
            </a:prstGeom>
            <a:solidFill>
              <a:srgbClr val="4285F4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82242" y="1912620"/>
              <a:ext cx="8647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Tokenization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1781175" y="2428875"/>
              <a:ext cx="57150" cy="5715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10715" y="2391728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Buffer-based scan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12620" y="2569845"/>
              <a:ext cx="1587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Handles attached parens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1781175" y="2886075"/>
              <a:ext cx="57150" cy="5715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10715" y="2848928"/>
              <a:ext cx="11921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TOKEN_MAP dict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12620" y="3027045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13 reserved words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1781175" y="3343275"/>
              <a:ext cx="57150" cy="5715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10715" y="3306128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Variable rule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12620" y="3484245"/>
              <a:ext cx="15147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Single lowercase letter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619250" y="4210050"/>
              <a:ext cx="219075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790700" y="4343400"/>
              <a:ext cx="1847850" cy="1047750"/>
            </a:xfrm>
            <a:prstGeom prst="roundRect">
              <a:avLst>
                <a:gd name="adj" fmla="val 5455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82745" y="4435316"/>
              <a:ext cx="4637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OUTPUT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37982" y="4665345"/>
              <a:ext cx="11532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[{line, token[]}]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75472" y="4882991"/>
              <a:ext cx="10812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LET VAR_P EQ TRUE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75472" y="5054441"/>
              <a:ext cx="11716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LET VAR_Q EQ FALSE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10000" y="3429000"/>
            <a:ext cx="285750" cy="9525"/>
            <a:chOff x="3810000" y="3429000"/>
            <a:chExt cx="285750" cy="9525"/>
          </a:xfrm>
        </p:grpSpPr>
        <p:sp>
          <p:nvSpPr>
            <p:cNvPr id="37" name="Freeform 37"/>
            <p:cNvSpPr/>
            <p:nvPr/>
          </p:nvSpPr>
          <p:spPr>
            <a:xfrm>
              <a:off x="3810000" y="3429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4285F4">
                  <a:alpha val="60000"/>
                </a:srgbClr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114800" y="1238250"/>
            <a:ext cx="2190750" cy="4381500"/>
            <a:chOff x="4114800" y="1238250"/>
            <a:chExt cx="2190750" cy="4381500"/>
          </a:xfrm>
        </p:grpSpPr>
        <p:sp>
          <p:nvSpPr>
            <p:cNvPr id="39" name="Rectangle 39"/>
            <p:cNvSpPr/>
            <p:nvPr/>
          </p:nvSpPr>
          <p:spPr>
            <a:xfrm>
              <a:off x="4114800" y="1238250"/>
              <a:ext cx="2190750" cy="438150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4288">
              <a:solidFill>
                <a:srgbClr val="34A85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4114800" y="1238250"/>
              <a:ext cx="2190750" cy="571500"/>
            </a:xfrm>
            <a:custGeom>
              <a:avLst/>
              <a:gdLst/>
              <a:ahLst/>
              <a:cxnLst/>
              <a:rect l="l" t="t" r="r" b="b"/>
              <a:pathLst>
                <a:path w="2190750" h="57150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2095500" y="0"/>
                  </a:lnTo>
                  <a:cubicBezTo>
                    <a:pt x="2148105" y="0"/>
                    <a:pt x="2190750" y="42645"/>
                    <a:pt x="2190750" y="95250"/>
                  </a:cubicBezTo>
                  <a:lnTo>
                    <a:pt x="219075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257675" y="1333500"/>
              <a:ext cx="323850" cy="323850"/>
            </a:xfrm>
            <a:prstGeom prst="roundRect">
              <a:avLst>
                <a:gd name="adj" fmla="val 17647"/>
              </a:avLst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95869" y="1414939"/>
              <a:ext cx="2474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68202" y="1351121"/>
              <a:ext cx="75733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Parser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5857875" y="1379734"/>
              <a:ext cx="286262" cy="288534"/>
              <a:chOff x="5857875" y="1379734"/>
              <a:chExt cx="286262" cy="28853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029325" y="1552575"/>
                <a:ext cx="114812" cy="115308"/>
              </a:xfrm>
              <a:custGeom>
                <a:avLst/>
                <a:gdLst/>
                <a:ahLst/>
                <a:cxnLst/>
                <a:rect l="l" t="t" r="r" b="b"/>
                <a:pathLst>
                  <a:path w="114812" h="115308">
                    <a:moveTo>
                      <a:pt x="57150" y="0"/>
                    </a:moveTo>
                    <a:cubicBezTo>
                      <a:pt x="88342" y="0"/>
                      <a:pt x="113772" y="25010"/>
                      <a:pt x="114292" y="56197"/>
                    </a:cubicBezTo>
                    <a:cubicBezTo>
                      <a:pt x="114812" y="87384"/>
                      <a:pt x="90230" y="113228"/>
                      <a:pt x="59055" y="114268"/>
                    </a:cubicBezTo>
                    <a:cubicBezTo>
                      <a:pt x="27881" y="115308"/>
                      <a:pt x="1631" y="91160"/>
                      <a:pt x="71" y="60008"/>
                    </a:cubicBezTo>
                    <a:lnTo>
                      <a:pt x="0" y="57150"/>
                    </a:lnTo>
                    <a:lnTo>
                      <a:pt x="71" y="54293"/>
                    </a:lnTo>
                    <a:cubicBezTo>
                      <a:pt x="1594" y="23878"/>
                      <a:pt x="26698" y="0"/>
                      <a:pt x="57150" y="0"/>
                    </a:cubicBezTo>
                    <a:close/>
                  </a:path>
                </a:pathLst>
              </a:custGeom>
              <a:solidFill>
                <a:srgbClr val="20212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6000127" y="1379734"/>
                <a:ext cx="143498" cy="144669"/>
              </a:xfrm>
              <a:custGeom>
                <a:avLst/>
                <a:gdLst/>
                <a:ahLst/>
                <a:cxnLst/>
                <a:rect l="l" t="t" r="r" b="b"/>
                <a:pathLst>
                  <a:path w="143498" h="144669">
                    <a:moveTo>
                      <a:pt x="67874" y="5578"/>
                    </a:moveTo>
                    <a:cubicBezTo>
                      <a:pt x="72964" y="10668"/>
                      <a:pt x="73472" y="18749"/>
                      <a:pt x="69060" y="24437"/>
                    </a:cubicBezTo>
                    <a:lnTo>
                      <a:pt x="67874" y="25780"/>
                    </a:lnTo>
                    <a:lnTo>
                      <a:pt x="49400" y="44254"/>
                    </a:lnTo>
                    <a:lnTo>
                      <a:pt x="100635" y="44254"/>
                    </a:lnTo>
                    <a:cubicBezTo>
                      <a:pt x="123332" y="44253"/>
                      <a:pt x="142095" y="61944"/>
                      <a:pt x="143426" y="84602"/>
                    </a:cubicBezTo>
                    <a:lnTo>
                      <a:pt x="143498" y="87116"/>
                    </a:lnTo>
                    <a:lnTo>
                      <a:pt x="143498" y="129979"/>
                    </a:lnTo>
                    <a:cubicBezTo>
                      <a:pt x="143489" y="137538"/>
                      <a:pt x="137594" y="143783"/>
                      <a:pt x="130047" y="144226"/>
                    </a:cubicBezTo>
                    <a:cubicBezTo>
                      <a:pt x="122501" y="144669"/>
                      <a:pt x="115916" y="139157"/>
                      <a:pt x="115023" y="131650"/>
                    </a:cubicBezTo>
                    <a:lnTo>
                      <a:pt x="114923" y="129979"/>
                    </a:lnTo>
                    <a:lnTo>
                      <a:pt x="114923" y="87116"/>
                    </a:lnTo>
                    <a:cubicBezTo>
                      <a:pt x="114922" y="79873"/>
                      <a:pt x="109500" y="73776"/>
                      <a:pt x="102307" y="72929"/>
                    </a:cubicBezTo>
                    <a:lnTo>
                      <a:pt x="100635" y="72829"/>
                    </a:lnTo>
                    <a:lnTo>
                      <a:pt x="49414" y="72829"/>
                    </a:lnTo>
                    <a:lnTo>
                      <a:pt x="67874" y="91303"/>
                    </a:lnTo>
                    <a:cubicBezTo>
                      <a:pt x="73192" y="96639"/>
                      <a:pt x="73453" y="105187"/>
                      <a:pt x="68470" y="110838"/>
                    </a:cubicBezTo>
                    <a:cubicBezTo>
                      <a:pt x="63488" y="116488"/>
                      <a:pt x="54974" y="117299"/>
                      <a:pt x="49014" y="112691"/>
                    </a:cubicBezTo>
                    <a:lnTo>
                      <a:pt x="47671" y="111505"/>
                    </a:lnTo>
                    <a:lnTo>
                      <a:pt x="4809" y="68643"/>
                    </a:lnTo>
                    <a:cubicBezTo>
                      <a:pt x="1498" y="65407"/>
                      <a:pt x="0" y="60743"/>
                      <a:pt x="808" y="56184"/>
                    </a:cubicBezTo>
                    <a:lnTo>
                      <a:pt x="1323" y="54098"/>
                    </a:lnTo>
                    <a:lnTo>
                      <a:pt x="1894" y="52612"/>
                    </a:lnTo>
                    <a:cubicBezTo>
                      <a:pt x="2723" y="50812"/>
                      <a:pt x="3895" y="49183"/>
                      <a:pt x="5395" y="47840"/>
                    </a:cubicBezTo>
                    <a:lnTo>
                      <a:pt x="47671" y="5578"/>
                    </a:lnTo>
                    <a:cubicBezTo>
                      <a:pt x="53251" y="0"/>
                      <a:pt x="62295" y="0"/>
                      <a:pt x="67874" y="5578"/>
                    </a:cubicBezTo>
                    <a:close/>
                  </a:path>
                </a:pathLst>
              </a:custGeom>
              <a:solidFill>
                <a:srgbClr val="20212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5857875" y="1524000"/>
                <a:ext cx="143498" cy="144268"/>
              </a:xfrm>
              <a:custGeom>
                <a:avLst/>
                <a:gdLst/>
                <a:ahLst/>
                <a:cxnLst/>
                <a:rect l="l" t="t" r="r" b="b"/>
                <a:pathLst>
                  <a:path w="143498" h="144268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57150"/>
                    </a:lnTo>
                    <a:cubicBezTo>
                      <a:pt x="28576" y="64393"/>
                      <a:pt x="33997" y="70490"/>
                      <a:pt x="41191" y="71337"/>
                    </a:cubicBezTo>
                    <a:lnTo>
                      <a:pt x="42862" y="71438"/>
                    </a:lnTo>
                    <a:lnTo>
                      <a:pt x="94083" y="71438"/>
                    </a:lnTo>
                    <a:lnTo>
                      <a:pt x="75624" y="52964"/>
                    </a:lnTo>
                    <a:cubicBezTo>
                      <a:pt x="70534" y="47874"/>
                      <a:pt x="70026" y="39792"/>
                      <a:pt x="74438" y="34104"/>
                    </a:cubicBezTo>
                    <a:lnTo>
                      <a:pt x="75624" y="32761"/>
                    </a:lnTo>
                    <a:cubicBezTo>
                      <a:pt x="80714" y="27672"/>
                      <a:pt x="88796" y="27163"/>
                      <a:pt x="94483" y="31575"/>
                    </a:cubicBezTo>
                    <a:lnTo>
                      <a:pt x="95826" y="32761"/>
                    </a:lnTo>
                    <a:lnTo>
                      <a:pt x="138689" y="75624"/>
                    </a:lnTo>
                    <a:cubicBezTo>
                      <a:pt x="142000" y="78860"/>
                      <a:pt x="143498" y="83524"/>
                      <a:pt x="142689" y="88082"/>
                    </a:cubicBezTo>
                    <a:lnTo>
                      <a:pt x="142175" y="90168"/>
                    </a:lnTo>
                    <a:lnTo>
                      <a:pt x="141603" y="91654"/>
                    </a:lnTo>
                    <a:cubicBezTo>
                      <a:pt x="140775" y="93468"/>
                      <a:pt x="139584" y="95092"/>
                      <a:pt x="138103" y="96426"/>
                    </a:cubicBezTo>
                    <a:lnTo>
                      <a:pt x="95826" y="138689"/>
                    </a:lnTo>
                    <a:cubicBezTo>
                      <a:pt x="90490" y="144007"/>
                      <a:pt x="81942" y="144268"/>
                      <a:pt x="76291" y="139285"/>
                    </a:cubicBezTo>
                    <a:cubicBezTo>
                      <a:pt x="70641" y="134303"/>
                      <a:pt x="69830" y="125789"/>
                      <a:pt x="74438" y="119829"/>
                    </a:cubicBezTo>
                    <a:lnTo>
                      <a:pt x="75624" y="118486"/>
                    </a:lnTo>
                    <a:lnTo>
                      <a:pt x="94069" y="100012"/>
                    </a:lnTo>
                    <a:lnTo>
                      <a:pt x="42862" y="100012"/>
                    </a:lnTo>
                    <a:cubicBezTo>
                      <a:pt x="20166" y="100014"/>
                      <a:pt x="1403" y="82322"/>
                      <a:pt x="71" y="59665"/>
                    </a:cubicBezTo>
                    <a:lnTo>
                      <a:pt x="0" y="57150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20212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5857875" y="1381125"/>
                <a:ext cx="114812" cy="115308"/>
              </a:xfrm>
              <a:custGeom>
                <a:avLst/>
                <a:gdLst/>
                <a:ahLst/>
                <a:cxnLst/>
                <a:rect l="l" t="t" r="r" b="b"/>
                <a:pathLst>
                  <a:path w="114812" h="115308">
                    <a:moveTo>
                      <a:pt x="57150" y="0"/>
                    </a:moveTo>
                    <a:cubicBezTo>
                      <a:pt x="88342" y="0"/>
                      <a:pt x="113772" y="25010"/>
                      <a:pt x="114292" y="56197"/>
                    </a:cubicBezTo>
                    <a:cubicBezTo>
                      <a:pt x="114812" y="87384"/>
                      <a:pt x="90230" y="113228"/>
                      <a:pt x="59055" y="114268"/>
                    </a:cubicBezTo>
                    <a:cubicBezTo>
                      <a:pt x="27881" y="115308"/>
                      <a:pt x="1631" y="91160"/>
                      <a:pt x="71" y="60008"/>
                    </a:cubicBezTo>
                    <a:lnTo>
                      <a:pt x="0" y="57150"/>
                    </a:lnTo>
                    <a:lnTo>
                      <a:pt x="71" y="54293"/>
                    </a:lnTo>
                    <a:cubicBezTo>
                      <a:pt x="1594" y="23878"/>
                      <a:pt x="26698" y="0"/>
                      <a:pt x="57150" y="0"/>
                    </a:cubicBezTo>
                    <a:close/>
                  </a:path>
                </a:pathLst>
              </a:custGeom>
              <a:solidFill>
                <a:srgbClr val="20212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" name="Rectangle 49"/>
            <p:cNvSpPr/>
            <p:nvPr/>
          </p:nvSpPr>
          <p:spPr>
            <a:xfrm>
              <a:off x="4114800" y="1809750"/>
              <a:ext cx="2190750" cy="304800"/>
            </a:xfrm>
            <a:prstGeom prst="rect">
              <a:avLst/>
            </a:prstGeom>
            <a:solidFill>
              <a:srgbClr val="34A853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01883" y="1912620"/>
              <a:ext cx="10165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>
                  <a:solidFill>
                    <a:srgbClr val="34A853"/>
                  </a:solidFill>
                  <a:latin typeface="Segoe UI"/>
                  <a:ea typeface="Microsoft YaHei"/>
                  <a:cs typeface="Segoe UI"/>
                </a:rPr>
                <a:t>AST Generation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4276725" y="2428875"/>
              <a:ext cx="57150" cy="5715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406265" y="2391728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Recursive descent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408170" y="2569845"/>
              <a:ext cx="1488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Mirrors grammar rules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4276725" y="2886075"/>
              <a:ext cx="57150" cy="5715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406265" y="2848928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7 parser functions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08170" y="3027045"/>
              <a:ext cx="13110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Single responsibility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4276725" y="3343275"/>
              <a:ext cx="57150" cy="5715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406265" y="3306128"/>
              <a:ext cx="1146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LET / IF / PRINT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408170" y="348424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Statement dispatch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114800" y="4210050"/>
              <a:ext cx="219075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286250" y="4343400"/>
              <a:ext cx="1847850" cy="1047750"/>
            </a:xfrm>
            <a:prstGeom prst="roundRect">
              <a:avLst>
                <a:gd name="adj" fmla="val 5455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978295" y="4435316"/>
              <a:ext cx="4637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OUTPUT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778121" y="4665345"/>
              <a:ext cx="8641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[{line, ast}]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371022" y="4882991"/>
              <a:ext cx="10150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["LET","VAR_P",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371022" y="5054441"/>
              <a:ext cx="4848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"TRUE"]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305550" y="3429000"/>
            <a:ext cx="285750" cy="9525"/>
            <a:chOff x="6305550" y="3429000"/>
            <a:chExt cx="285750" cy="9525"/>
          </a:xfrm>
        </p:grpSpPr>
        <p:sp>
          <p:nvSpPr>
            <p:cNvPr id="67" name="Freeform 67"/>
            <p:cNvSpPr/>
            <p:nvPr/>
          </p:nvSpPr>
          <p:spPr>
            <a:xfrm>
              <a:off x="6305550" y="3429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34A853">
                  <a:alpha val="60000"/>
                </a:srgbClr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6610350" y="1238250"/>
            <a:ext cx="2190750" cy="4381500"/>
            <a:chOff x="6610350" y="1238250"/>
            <a:chExt cx="2190750" cy="4381500"/>
          </a:xfrm>
        </p:grpSpPr>
        <p:sp>
          <p:nvSpPr>
            <p:cNvPr id="69" name="Rectangle 69"/>
            <p:cNvSpPr/>
            <p:nvPr/>
          </p:nvSpPr>
          <p:spPr>
            <a:xfrm>
              <a:off x="6610350" y="1238250"/>
              <a:ext cx="2190750" cy="438150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4288">
              <a:solidFill>
                <a:srgbClr val="9334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6610350" y="1238250"/>
              <a:ext cx="2190750" cy="571500"/>
            </a:xfrm>
            <a:custGeom>
              <a:avLst/>
              <a:gdLst/>
              <a:ahLst/>
              <a:cxnLst/>
              <a:rect l="l" t="t" r="r" b="b"/>
              <a:pathLst>
                <a:path w="2190750" h="57150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2095500" y="0"/>
                  </a:lnTo>
                  <a:cubicBezTo>
                    <a:pt x="2148105" y="0"/>
                    <a:pt x="2190750" y="42645"/>
                    <a:pt x="2190750" y="95250"/>
                  </a:cubicBezTo>
                  <a:lnTo>
                    <a:pt x="219075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753225" y="1333500"/>
              <a:ext cx="323850" cy="323850"/>
            </a:xfrm>
            <a:prstGeom prst="roundRect">
              <a:avLst>
                <a:gd name="adj" fmla="val 17647"/>
              </a:avLst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791419" y="1414939"/>
              <a:ext cx="2474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163752" y="1351121"/>
              <a:ext cx="109605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Optimizer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8381353" y="1381125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20212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610350" y="1809750"/>
              <a:ext cx="2190750" cy="304800"/>
            </a:xfrm>
            <a:prstGeom prst="rect">
              <a:avLst/>
            </a:prstGeom>
            <a:solidFill>
              <a:srgbClr val="9334E6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966254" y="1912620"/>
              <a:ext cx="1478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Boolean Simplification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772275" y="2428875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901815" y="2391728"/>
              <a:ext cx="11768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11 rewrite rules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03720" y="2569845"/>
              <a:ext cx="1541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De Morgan, absorption…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772275" y="2886075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901815" y="2848928"/>
              <a:ext cx="1222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Fixed-point loop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903720" y="3027045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Max 64 iterations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6772275" y="3343275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901815" y="3306128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Bottom-up traversal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903720" y="3484245"/>
              <a:ext cx="15541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Children before parents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610350" y="4210050"/>
              <a:ext cx="219075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781800" y="4343400"/>
              <a:ext cx="1847850" cy="1047750"/>
            </a:xfrm>
            <a:prstGeom prst="roundRect">
              <a:avLst>
                <a:gd name="adj" fmla="val 5455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473845" y="4435316"/>
              <a:ext cx="4637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OUTPUT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017353" y="4665345"/>
              <a:ext cx="13767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[{line, ast}] + seeds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866572" y="4882991"/>
              <a:ext cx="8463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optimized_ast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866572" y="5054441"/>
              <a:ext cx="7559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verif. seeds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801100" y="3429000"/>
            <a:ext cx="285750" cy="9525"/>
            <a:chOff x="8801100" y="3429000"/>
            <a:chExt cx="285750" cy="9525"/>
          </a:xfrm>
        </p:grpSpPr>
        <p:sp>
          <p:nvSpPr>
            <p:cNvPr id="93" name="Freeform 93"/>
            <p:cNvSpPr/>
            <p:nvPr/>
          </p:nvSpPr>
          <p:spPr>
            <a:xfrm>
              <a:off x="8801100" y="3429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9334E6">
                  <a:alpha val="60000"/>
                </a:srgbClr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9105900" y="1238250"/>
            <a:ext cx="2190750" cy="4381500"/>
            <a:chOff x="9105900" y="1238250"/>
            <a:chExt cx="2190750" cy="4381500"/>
          </a:xfrm>
        </p:grpSpPr>
        <p:sp>
          <p:nvSpPr>
            <p:cNvPr id="95" name="Rectangle 95"/>
            <p:cNvSpPr/>
            <p:nvPr/>
          </p:nvSpPr>
          <p:spPr>
            <a:xfrm>
              <a:off x="9105900" y="1238250"/>
              <a:ext cx="2190750" cy="438150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4288">
              <a:solidFill>
                <a:srgbClr val="1E8E3E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96"/>
            <p:cNvSpPr/>
            <p:nvPr/>
          </p:nvSpPr>
          <p:spPr>
            <a:xfrm>
              <a:off x="9105900" y="1238250"/>
              <a:ext cx="2190750" cy="571500"/>
            </a:xfrm>
            <a:custGeom>
              <a:avLst/>
              <a:gdLst/>
              <a:ahLst/>
              <a:cxnLst/>
              <a:rect l="l" t="t" r="r" b="b"/>
              <a:pathLst>
                <a:path w="2190750" h="57150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2095500" y="0"/>
                  </a:lnTo>
                  <a:cubicBezTo>
                    <a:pt x="2148105" y="0"/>
                    <a:pt x="2190750" y="42645"/>
                    <a:pt x="2190750" y="95250"/>
                  </a:cubicBezTo>
                  <a:lnTo>
                    <a:pt x="219075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1E8E3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Rectangle 97"/>
            <p:cNvSpPr/>
            <p:nvPr/>
          </p:nvSpPr>
          <p:spPr>
            <a:xfrm>
              <a:off x="9248775" y="1333500"/>
              <a:ext cx="323850" cy="323850"/>
            </a:xfrm>
            <a:prstGeom prst="roundRect">
              <a:avLst>
                <a:gd name="adj" fmla="val 17647"/>
              </a:avLst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286969" y="1414939"/>
              <a:ext cx="2474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659302" y="1351121"/>
              <a:ext cx="106327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Execution</a:t>
              </a:r>
            </a:p>
          </p:txBody>
        </p:sp>
        <p:sp>
          <p:nvSpPr>
            <p:cNvPr id="100" name="Freeform 100"/>
            <p:cNvSpPr/>
            <p:nvPr/>
          </p:nvSpPr>
          <p:spPr>
            <a:xfrm>
              <a:off x="10848975" y="1374725"/>
              <a:ext cx="300466" cy="300958"/>
            </a:xfrm>
            <a:custGeom>
              <a:avLst/>
              <a:gdLst/>
              <a:ahLst/>
              <a:cxnLst/>
              <a:rect l="l" t="t" r="r" b="b"/>
              <a:pathLst>
                <a:path w="300466" h="300958">
                  <a:moveTo>
                    <a:pt x="214312" y="25545"/>
                  </a:moveTo>
                  <a:cubicBezTo>
                    <a:pt x="273854" y="59924"/>
                    <a:pt x="300466" y="131835"/>
                    <a:pt x="277649" y="196693"/>
                  </a:cubicBezTo>
                  <a:cubicBezTo>
                    <a:pt x="254832" y="261550"/>
                    <a:pt x="189056" y="300958"/>
                    <a:pt x="121104" y="290484"/>
                  </a:cubicBezTo>
                  <a:cubicBezTo>
                    <a:pt x="53153" y="280009"/>
                    <a:pt x="2298" y="222622"/>
                    <a:pt x="71" y="153904"/>
                  </a:cubicBezTo>
                  <a:lnTo>
                    <a:pt x="0" y="149275"/>
                  </a:lnTo>
                  <a:lnTo>
                    <a:pt x="71" y="144646"/>
                  </a:lnTo>
                  <a:cubicBezTo>
                    <a:pt x="1699" y="94454"/>
                    <a:pt x="29558" y="48801"/>
                    <a:pt x="73450" y="24400"/>
                  </a:cubicBezTo>
                  <a:cubicBezTo>
                    <a:pt x="117343" y="0"/>
                    <a:pt x="170823" y="435"/>
                    <a:pt x="214312" y="25545"/>
                  </a:cubicBezTo>
                  <a:close/>
                  <a:moveTo>
                    <a:pt x="195839" y="110599"/>
                  </a:moveTo>
                  <a:cubicBezTo>
                    <a:pt x="190749" y="105509"/>
                    <a:pt x="182667" y="105001"/>
                    <a:pt x="176979" y="109413"/>
                  </a:cubicBezTo>
                  <a:lnTo>
                    <a:pt x="175636" y="110599"/>
                  </a:lnTo>
                  <a:lnTo>
                    <a:pt x="128588" y="157633"/>
                  </a:lnTo>
                  <a:lnTo>
                    <a:pt x="110114" y="139174"/>
                  </a:lnTo>
                  <a:lnTo>
                    <a:pt x="108771" y="137988"/>
                  </a:lnTo>
                  <a:cubicBezTo>
                    <a:pt x="103083" y="133579"/>
                    <a:pt x="95004" y="134089"/>
                    <a:pt x="89915" y="139177"/>
                  </a:cubicBezTo>
                  <a:cubicBezTo>
                    <a:pt x="84826" y="144266"/>
                    <a:pt x="84317" y="152345"/>
                    <a:pt x="88725" y="158033"/>
                  </a:cubicBezTo>
                  <a:lnTo>
                    <a:pt x="89911" y="159376"/>
                  </a:lnTo>
                  <a:lnTo>
                    <a:pt x="118486" y="187951"/>
                  </a:lnTo>
                  <a:lnTo>
                    <a:pt x="119829" y="189137"/>
                  </a:lnTo>
                  <a:cubicBezTo>
                    <a:pt x="124983" y="193136"/>
                    <a:pt x="132192" y="193136"/>
                    <a:pt x="137346" y="189137"/>
                  </a:cubicBezTo>
                  <a:lnTo>
                    <a:pt x="138689" y="187951"/>
                  </a:lnTo>
                  <a:lnTo>
                    <a:pt x="195839" y="130801"/>
                  </a:lnTo>
                  <a:lnTo>
                    <a:pt x="197025" y="129458"/>
                  </a:lnTo>
                  <a:cubicBezTo>
                    <a:pt x="201437" y="123771"/>
                    <a:pt x="200928" y="115689"/>
                    <a:pt x="195839" y="110599"/>
                  </a:cubicBezTo>
                  <a:close/>
                </a:path>
              </a:pathLst>
            </a:custGeom>
            <a:solidFill>
              <a:srgbClr val="20212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9105900" y="1809750"/>
              <a:ext cx="2190750" cy="304800"/>
            </a:xfrm>
            <a:prstGeom prst="rect">
              <a:avLst/>
            </a:prstGeom>
            <a:solidFill>
              <a:srgbClr val="1E8E3E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786145" y="1912620"/>
              <a:ext cx="8302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Verify + Run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9267825" y="2428875"/>
              <a:ext cx="57150" cy="57150"/>
            </a:xfrm>
            <a:prstGeom prst="ellipse">
              <a:avLst/>
            </a:prstGeom>
            <a:solidFill>
              <a:srgbClr val="1E8E3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397365" y="2391728"/>
              <a:ext cx="13455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Equivalence check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399270" y="2569845"/>
              <a:ext cx="12913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2ⁿ truth table rows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9267825" y="2886075"/>
              <a:ext cx="57150" cy="57150"/>
            </a:xfrm>
            <a:prstGeom prst="ellipse">
              <a:avLst/>
            </a:prstGeom>
            <a:solidFill>
              <a:srgbClr val="1E8E3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397365" y="2848928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Statement execution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399270" y="30270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State dict updates</a:t>
              </a:r>
            </a:p>
          </p:txBody>
        </p:sp>
        <p:sp>
          <p:nvSpPr>
            <p:cNvPr id="109" name="Ellipse 109"/>
            <p:cNvSpPr/>
            <p:nvPr/>
          </p:nvSpPr>
          <p:spPr>
            <a:xfrm>
              <a:off x="9267825" y="3343275"/>
              <a:ext cx="57150" cy="57150"/>
            </a:xfrm>
            <a:prstGeom prst="ellipse">
              <a:avLst/>
            </a:prstGeom>
            <a:solidFill>
              <a:srgbClr val="1E8E3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397365" y="3306128"/>
              <a:ext cx="14145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JSON trace output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399270" y="34842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Full pipeline result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9105900" y="4210050"/>
              <a:ext cx="219075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9277350" y="4343400"/>
              <a:ext cx="1847850" cy="1047750"/>
            </a:xfrm>
            <a:prstGeom prst="roundRect">
              <a:avLst>
                <a:gd name="adj" fmla="val 5455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969395" y="4435316"/>
              <a:ext cx="4637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OUTPUT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9519476" y="4665345"/>
              <a:ext cx="13635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{phase_4_execution}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362122" y="4882991"/>
              <a:ext cx="7920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verifications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9362122" y="5054441"/>
              <a:ext cx="9186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printed_output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1296650" y="1381125"/>
            <a:ext cx="919344" cy="4095750"/>
            <a:chOff x="11296650" y="1381125"/>
            <a:chExt cx="919344" cy="4095750"/>
          </a:xfrm>
        </p:grpSpPr>
        <p:sp>
          <p:nvSpPr>
            <p:cNvPr id="119" name="Line 119"/>
            <p:cNvSpPr/>
            <p:nvPr/>
          </p:nvSpPr>
          <p:spPr>
            <a:xfrm>
              <a:off x="11296650" y="3429000"/>
              <a:ext cx="228600" cy="1"/>
            </a:xfrm>
            <a:prstGeom prst="line">
              <a:avLst/>
            </a:prstGeom>
            <a:noFill/>
            <a:ln w="19050">
              <a:solidFill>
                <a:srgbClr val="1E8E3E">
                  <a:alpha val="60000"/>
                </a:srgbClr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11544300" y="1381125"/>
              <a:ext cx="476250" cy="40957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1E8E3E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TextBox 121"/>
            <p:cNvSpPr txBox="1"/>
            <p:nvPr/>
          </p:nvSpPr>
          <p:spPr>
            <a:xfrm rot="-5400000">
              <a:off x="11337427" y="3432810"/>
              <a:ext cx="8785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JSON OUTPUT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561022" y="6572250"/>
            <a:ext cx="11069955" cy="269081"/>
            <a:chOff x="561022" y="6572250"/>
            <a:chExt cx="11069955" cy="269081"/>
          </a:xfrm>
        </p:grpSpPr>
        <p:sp>
          <p:nvSpPr>
            <p:cNvPr id="123" name="Rectangle 123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477482" y="667369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6" grpId="0"/>
      <p:bldP spid="38" grpId="0"/>
      <p:bldP spid="66" grpId="0"/>
      <p:bldP spid="68" grpId="0"/>
      <p:bldP spid="92" grpId="0"/>
      <p:bldP spid="94" grpId="0"/>
      <p:bldP spid="118" grpId="0"/>
      <p:bldP spid="1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57212" y="316230"/>
            <a:ext cx="4546997" cy="648176"/>
            <a:chOff x="557212" y="316230"/>
            <a:chExt cx="4546997" cy="648176"/>
          </a:xfrm>
        </p:grpSpPr>
        <p:sp>
          <p:nvSpPr>
            <p:cNvPr id="5" name="Rectangle 5"/>
            <p:cNvSpPr/>
            <p:nvPr/>
          </p:nvSpPr>
          <p:spPr>
            <a:xfrm>
              <a:off x="571500" y="333375"/>
              <a:ext cx="666750" cy="304800"/>
            </a:xfrm>
            <a:prstGeom prst="roundRect">
              <a:avLst>
                <a:gd name="adj" fmla="val 50000"/>
              </a:avLst>
            </a:prstGeom>
            <a:solidFill>
              <a:srgbClr val="4285F4">
                <a:alpha val="15000"/>
              </a:srgbClr>
            </a:solidFill>
            <a:ln w="9525">
              <a:solidFill>
                <a:srgbClr val="4285F4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42049" y="428149"/>
              <a:ext cx="5256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Phase 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54455" y="316230"/>
              <a:ext cx="275847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— Lexical Analysis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212" y="735806"/>
              <a:ext cx="45469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Tokenizing source lines into structured token sequences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1047750"/>
            <a:ext cx="4381500" cy="5334000"/>
            <a:chOff x="571500" y="1047750"/>
            <a:chExt cx="438150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047750"/>
              <a:ext cx="4381500" cy="53340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238250"/>
              <a:ext cx="495300" cy="495300"/>
            </a:xfrm>
            <a:prstGeom prst="roundRect">
              <a:avLst>
                <a:gd name="adj" fmla="val 19231"/>
              </a:avLst>
            </a:prstGeom>
            <a:solidFill>
              <a:srgbClr val="4285F4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81062" y="1357312"/>
              <a:ext cx="257180" cy="272185"/>
            </a:xfrm>
            <a:custGeom>
              <a:avLst/>
              <a:gdLst/>
              <a:ahLst/>
              <a:cxnLst/>
              <a:rect l="l" t="t" r="r" b="b"/>
              <a:pathLst>
                <a:path w="257180" h="272185">
                  <a:moveTo>
                    <a:pt x="242888" y="0"/>
                  </a:moveTo>
                  <a:lnTo>
                    <a:pt x="14288" y="0"/>
                  </a:lnTo>
                  <a:cubicBezTo>
                    <a:pt x="6397" y="0"/>
                    <a:pt x="0" y="6397"/>
                    <a:pt x="0" y="14288"/>
                  </a:cubicBezTo>
                  <a:lnTo>
                    <a:pt x="0" y="46106"/>
                  </a:lnTo>
                  <a:lnTo>
                    <a:pt x="114" y="49292"/>
                  </a:lnTo>
                  <a:cubicBezTo>
                    <a:pt x="826" y="58832"/>
                    <a:pt x="4709" y="67860"/>
                    <a:pt x="11144" y="74938"/>
                  </a:cubicBezTo>
                  <a:lnTo>
                    <a:pt x="71438" y="141246"/>
                  </a:lnTo>
                  <a:lnTo>
                    <a:pt x="71438" y="257175"/>
                  </a:lnTo>
                  <a:cubicBezTo>
                    <a:pt x="71436" y="261768"/>
                    <a:pt x="73643" y="266081"/>
                    <a:pt x="77368" y="268767"/>
                  </a:cubicBezTo>
                  <a:cubicBezTo>
                    <a:pt x="81093" y="271453"/>
                    <a:pt x="85883" y="272185"/>
                    <a:pt x="90240" y="270734"/>
                  </a:cubicBezTo>
                  <a:lnTo>
                    <a:pt x="175965" y="242159"/>
                  </a:lnTo>
                  <a:lnTo>
                    <a:pt x="177508" y="241544"/>
                  </a:lnTo>
                  <a:cubicBezTo>
                    <a:pt x="182531" y="239193"/>
                    <a:pt x="185739" y="234146"/>
                    <a:pt x="185738" y="228600"/>
                  </a:cubicBezTo>
                  <a:lnTo>
                    <a:pt x="185738" y="134503"/>
                  </a:lnTo>
                  <a:lnTo>
                    <a:pt x="244616" y="75638"/>
                  </a:lnTo>
                  <a:cubicBezTo>
                    <a:pt x="252662" y="67595"/>
                    <a:pt x="257180" y="56682"/>
                    <a:pt x="257175" y="45306"/>
                  </a:cubicBezTo>
                  <a:lnTo>
                    <a:pt x="257175" y="14288"/>
                  </a:lnTo>
                  <a:cubicBezTo>
                    <a:pt x="257175" y="6397"/>
                    <a:pt x="250778" y="0"/>
                    <a:pt x="242888" y="0"/>
                  </a:cubicBez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92555" y="1302068"/>
              <a:ext cx="12971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Lexer Design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97318" y="153304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run_lexer_phase(codes)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847850"/>
              <a:ext cx="40005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62000" y="1981200"/>
              <a:ext cx="4000500" cy="952500"/>
              <a:chOff x="762000" y="1981200"/>
              <a:chExt cx="4000500" cy="952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62000" y="1981200"/>
                <a:ext cx="4000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1981200"/>
                <a:ext cx="3810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19162" y="2050256"/>
                <a:ext cx="19349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>
                    <a:solidFill>
                      <a:srgbClr val="4285F4"/>
                    </a:solidFill>
                    <a:latin typeface="Segoe UI"/>
                    <a:ea typeface="Microsoft YaHei"/>
                    <a:cs typeface="Segoe UI"/>
                  </a:rPr>
                  <a:t>Buffer-Based Scanning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21068" y="2275999"/>
                <a:ext cx="30578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Characters accumulate in a buffer; flushed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21068" y="2447449"/>
                <a:ext cx="30934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when a parenthesis or word boundary is hit.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22020" y="2665095"/>
                <a:ext cx="27832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(NOT p) → paren detached, no space needed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762000" y="3067050"/>
              <a:ext cx="4000500" cy="952500"/>
              <a:chOff x="762000" y="3067050"/>
              <a:chExt cx="4000500" cy="9525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62000" y="3067050"/>
                <a:ext cx="4000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762000" y="3067050"/>
                <a:ext cx="3810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19162" y="3136106"/>
                <a:ext cx="18659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>
                    <a:solidFill>
                      <a:srgbClr val="34A853"/>
                    </a:solidFill>
                    <a:latin typeface="Segoe UI"/>
                    <a:ea typeface="Microsoft YaHei"/>
                    <a:cs typeface="Segoe UI"/>
                  </a:rPr>
                  <a:t>TOKEN_MAP Dictionary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21068" y="3361849"/>
                <a:ext cx="272322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13 reserved words &amp; symbols mapped to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21068" y="3533299"/>
                <a:ext cx="27659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named token types at O(1) lookup time.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22020" y="3750945"/>
                <a:ext cx="29409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"AND" → "AND", "T" → "TRUE", "(" → "L_PAREN"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62000" y="4152900"/>
              <a:ext cx="4000500" cy="952500"/>
              <a:chOff x="762000" y="4152900"/>
              <a:chExt cx="4000500" cy="952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2000" y="4152900"/>
                <a:ext cx="4000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62000" y="4152900"/>
                <a:ext cx="3810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9334E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19162" y="4221956"/>
                <a:ext cx="10895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>
                    <a:solidFill>
                      <a:srgbClr val="9334E6"/>
                    </a:solidFill>
                    <a:latin typeface="Segoe UI"/>
                    <a:ea typeface="Microsoft YaHei"/>
                    <a:cs typeface="Segoe UI"/>
                  </a:rPr>
                  <a:t>Variable Rule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21068" y="4447699"/>
                <a:ext cx="20397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Single lowercase letter only.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21068" y="4619149"/>
                <a:ext cx="311481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Mapped to token format VAR_X (uppercase).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22020" y="4836795"/>
                <a:ext cx="19090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"p" → "VAR_P", "q" → "VAR_Q"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62000" y="5257800"/>
              <a:ext cx="4000500" cy="457200"/>
              <a:chOff x="762000" y="5257800"/>
              <a:chExt cx="4000500" cy="4572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62000" y="5257800"/>
                <a:ext cx="40005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EA4335">
                  <a:alpha val="10000"/>
                </a:srgbClr>
              </a:solidFill>
              <a:ln w="9525">
                <a:solidFill>
                  <a:srgbClr val="EA4335">
                    <a:alpha val="30000"/>
                  </a:srgbClr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40118" y="5343049"/>
                <a:ext cx="9368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>
                    <a:solidFill>
                      <a:srgbClr val="EA4335"/>
                    </a:solidFill>
                    <a:latin typeface="Segoe UI"/>
                    <a:ea typeface="Microsoft YaHei"/>
                    <a:cs typeface="Segoe UI"/>
                  </a:rPr>
                  <a:t>LexicalError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635442" y="5343049"/>
                <a:ext cx="26093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— raised immediately with line number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41070" y="5522595"/>
                <a:ext cx="3709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Invalid token → pipeline halts, JSON error payload emitted</a:t>
                </a:r>
              </a:p>
            </p:txBody>
          </p:sp>
        </p:grpSp>
      </p:grpSp>
      <p:grpSp>
        <p:nvGrpSpPr>
          <p:cNvPr id="99" name="Group 99"/>
          <p:cNvGrpSpPr/>
          <p:nvPr/>
        </p:nvGrpSpPr>
        <p:grpSpPr>
          <a:xfrm>
            <a:off x="5334000" y="1047750"/>
            <a:ext cx="6715246" cy="5334000"/>
            <a:chOff x="5334000" y="1047750"/>
            <a:chExt cx="6715246" cy="5334000"/>
          </a:xfrm>
        </p:grpSpPr>
        <p:sp>
          <p:nvSpPr>
            <p:cNvPr id="43" name="Rectangle 43"/>
            <p:cNvSpPr/>
            <p:nvPr/>
          </p:nvSpPr>
          <p:spPr>
            <a:xfrm>
              <a:off x="5334000" y="1047750"/>
              <a:ext cx="6715246" cy="5334000"/>
            </a:xfrm>
            <a:prstGeom prst="roundRect">
              <a:avLst>
                <a:gd name="adj" fmla="val 1786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09260" y="1280160"/>
              <a:ext cx="19075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Tokenization Example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24500" y="1504950"/>
              <a:ext cx="59055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12118" y="1685449"/>
              <a:ext cx="864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INPUT line 3: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24500" y="1885950"/>
              <a:ext cx="5905500" cy="419100"/>
            </a:xfrm>
            <a:prstGeom prst="roundRect">
              <a:avLst>
                <a:gd name="adj" fmla="val 13636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81662" y="2021681"/>
              <a:ext cx="23863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let r = (NOT ((NOT p) AND q))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12118" y="2447449"/>
              <a:ext cx="29297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TOKENIZED OUTPUT {line: 3, token: [...]}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24500" y="2686050"/>
              <a:ext cx="647700" cy="285750"/>
            </a:xfrm>
            <a:prstGeom prst="roundRect">
              <a:avLst>
                <a:gd name="adj" fmla="val 50000"/>
              </a:avLst>
            </a:prstGeom>
            <a:solidFill>
              <a:srgbClr val="4285F4">
                <a:alpha val="20000"/>
              </a:srgbClr>
            </a:solidFill>
            <a:ln w="9525">
              <a:solidFill>
                <a:srgbClr val="4285F4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28478" y="277939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LET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67450" y="2686050"/>
              <a:ext cx="781050" cy="285750"/>
            </a:xfrm>
            <a:prstGeom prst="roundRect">
              <a:avLst>
                <a:gd name="adj" fmla="val 50000"/>
              </a:avLst>
            </a:prstGeom>
            <a:solidFill>
              <a:srgbClr val="202124">
                <a:alpha val="10000"/>
              </a:srgbClr>
            </a:solidFill>
            <a:ln w="9525">
              <a:solidFill>
                <a:srgbClr val="DADCE0">
                  <a:alpha val="2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65808" y="277939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VAR_R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43750" y="2686050"/>
              <a:ext cx="476250" cy="285750"/>
            </a:xfrm>
            <a:prstGeom prst="roundRect">
              <a:avLst>
                <a:gd name="adj" fmla="val 50000"/>
              </a:avLst>
            </a:prstGeom>
            <a:solidFill>
              <a:srgbClr val="202124">
                <a:alpha val="10000"/>
              </a:srgbClr>
            </a:solidFill>
            <a:ln w="9525">
              <a:solidFill>
                <a:srgbClr val="DADCE0">
                  <a:alpha val="2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85006" y="2779395"/>
              <a:ext cx="1937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EQ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715250" y="2686050"/>
              <a:ext cx="838200" cy="285750"/>
            </a:xfrm>
            <a:prstGeom prst="roundRect">
              <a:avLst>
                <a:gd name="adj" fmla="val 50000"/>
              </a:avLst>
            </a:prstGeom>
            <a:solidFill>
              <a:srgbClr val="5F6368">
                <a:alpha val="15000"/>
              </a:srgbClr>
            </a:solidFill>
            <a:ln w="9525">
              <a:solidFill>
                <a:srgbClr val="9E9E9E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69888" y="277939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L_PAREN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648700" y="2686050"/>
              <a:ext cx="781050" cy="285750"/>
            </a:xfrm>
            <a:prstGeom prst="roundRect">
              <a:avLst>
                <a:gd name="adj" fmla="val 50000"/>
              </a:avLst>
            </a:prstGeom>
            <a:solidFill>
              <a:srgbClr val="9334E6">
                <a:alpha val="20000"/>
              </a:srgbClr>
            </a:solidFill>
            <a:ln w="9525">
              <a:solidFill>
                <a:srgbClr val="9334E6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06208" y="2779395"/>
              <a:ext cx="266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NOT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525000" y="2686050"/>
              <a:ext cx="838200" cy="285750"/>
            </a:xfrm>
            <a:prstGeom prst="roundRect">
              <a:avLst>
                <a:gd name="adj" fmla="val 50000"/>
              </a:avLst>
            </a:prstGeom>
            <a:solidFill>
              <a:srgbClr val="5F6368">
                <a:alpha val="15000"/>
              </a:srgbClr>
            </a:solidFill>
            <a:ln w="9525">
              <a:solidFill>
                <a:srgbClr val="9E9E9E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679638" y="277939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L_PAREN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458450" y="2686050"/>
              <a:ext cx="838200" cy="285750"/>
            </a:xfrm>
            <a:prstGeom prst="roundRect">
              <a:avLst>
                <a:gd name="adj" fmla="val 50000"/>
              </a:avLst>
            </a:prstGeom>
            <a:solidFill>
              <a:srgbClr val="5F6368">
                <a:alpha val="15000"/>
              </a:srgbClr>
            </a:solidFill>
            <a:ln w="9525">
              <a:solidFill>
                <a:srgbClr val="9E9E9E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613088" y="277939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L_PAREN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524500" y="3105150"/>
              <a:ext cx="781050" cy="285750"/>
            </a:xfrm>
            <a:prstGeom prst="roundRect">
              <a:avLst>
                <a:gd name="adj" fmla="val 50000"/>
              </a:avLst>
            </a:prstGeom>
            <a:solidFill>
              <a:srgbClr val="9334E6">
                <a:alpha val="20000"/>
              </a:srgbClr>
            </a:solidFill>
            <a:ln w="9525">
              <a:solidFill>
                <a:srgbClr val="9334E6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782008" y="3198495"/>
              <a:ext cx="266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NOT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400800" y="3105150"/>
              <a:ext cx="781050" cy="285750"/>
            </a:xfrm>
            <a:prstGeom prst="roundRect">
              <a:avLst>
                <a:gd name="adj" fmla="val 50000"/>
              </a:avLst>
            </a:prstGeom>
            <a:solidFill>
              <a:srgbClr val="202124">
                <a:alpha val="10000"/>
              </a:srgbClr>
            </a:solidFill>
            <a:ln w="9525">
              <a:solidFill>
                <a:srgbClr val="DADCE0">
                  <a:alpha val="2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99158" y="319849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VAR_P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277100" y="3105150"/>
              <a:ext cx="914400" cy="285750"/>
            </a:xfrm>
            <a:prstGeom prst="roundRect">
              <a:avLst>
                <a:gd name="adj" fmla="val 50000"/>
              </a:avLst>
            </a:prstGeom>
            <a:solidFill>
              <a:srgbClr val="5F6368">
                <a:alpha val="15000"/>
              </a:srgbClr>
            </a:solidFill>
            <a:ln w="9525">
              <a:solidFill>
                <a:srgbClr val="9E9E9E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69838" y="319849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R_PAREN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286750" y="3105150"/>
              <a:ext cx="723900" cy="285750"/>
            </a:xfrm>
            <a:prstGeom prst="roundRect">
              <a:avLst>
                <a:gd name="adj" fmla="val 50000"/>
              </a:avLst>
            </a:prstGeom>
            <a:solidFill>
              <a:srgbClr val="34A853">
                <a:alpha val="20000"/>
              </a:srgbClr>
            </a:solidFill>
            <a:ln w="9525">
              <a:solidFill>
                <a:srgbClr val="34A853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28828" y="319849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AND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105900" y="3105150"/>
              <a:ext cx="781050" cy="285750"/>
            </a:xfrm>
            <a:prstGeom prst="roundRect">
              <a:avLst>
                <a:gd name="adj" fmla="val 50000"/>
              </a:avLst>
            </a:prstGeom>
            <a:solidFill>
              <a:srgbClr val="202124">
                <a:alpha val="10000"/>
              </a:srgbClr>
            </a:solidFill>
            <a:ln w="9525">
              <a:solidFill>
                <a:srgbClr val="DADCE0">
                  <a:alpha val="2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291114" y="3198495"/>
              <a:ext cx="4106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VAR_Q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982200" y="3105150"/>
              <a:ext cx="914400" cy="285750"/>
            </a:xfrm>
            <a:prstGeom prst="roundRect">
              <a:avLst>
                <a:gd name="adj" fmla="val 50000"/>
              </a:avLst>
            </a:prstGeom>
            <a:solidFill>
              <a:srgbClr val="5F6368">
                <a:alpha val="15000"/>
              </a:srgbClr>
            </a:solidFill>
            <a:ln w="9525">
              <a:solidFill>
                <a:srgbClr val="9E9E9E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174938" y="319849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R_PAREN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991850" y="3105150"/>
              <a:ext cx="914400" cy="285750"/>
            </a:xfrm>
            <a:prstGeom prst="roundRect">
              <a:avLst>
                <a:gd name="adj" fmla="val 50000"/>
              </a:avLst>
            </a:prstGeom>
            <a:solidFill>
              <a:srgbClr val="5F6368">
                <a:alpha val="15000"/>
              </a:srgbClr>
            </a:solidFill>
            <a:ln w="9525">
              <a:solidFill>
                <a:srgbClr val="9E9E9E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84588" y="319849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R_PAREN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524500" y="3619500"/>
              <a:ext cx="59055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512118" y="3742849"/>
              <a:ext cx="928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Token Types: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86500" y="3733800"/>
              <a:ext cx="114300" cy="114300"/>
            </a:xfrm>
            <a:prstGeom prst="roundRect">
              <a:avLst>
                <a:gd name="adj" fmla="val 50000"/>
              </a:avLst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446520" y="3750945"/>
              <a:ext cx="6275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Keywords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7239000" y="3733800"/>
              <a:ext cx="114300" cy="114300"/>
            </a:xfrm>
            <a:prstGeom prst="roundRect">
              <a:avLst>
                <a:gd name="adj" fmla="val 50000"/>
              </a:avLst>
            </a:prstGeom>
            <a:solidFill>
              <a:srgbClr val="202124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99020" y="3750945"/>
              <a:ext cx="6077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Variables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8172450" y="3733800"/>
              <a:ext cx="114300" cy="114300"/>
            </a:xfrm>
            <a:prstGeom prst="roundRect">
              <a:avLst>
                <a:gd name="adj" fmla="val 50000"/>
              </a:avLst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332470" y="3750945"/>
              <a:ext cx="6998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Operators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9182100" y="3733800"/>
              <a:ext cx="114300" cy="114300"/>
            </a:xfrm>
            <a:prstGeom prst="roundRect">
              <a:avLst>
                <a:gd name="adj" fmla="val 50000"/>
              </a:avLst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342120" y="3750945"/>
              <a:ext cx="6077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Logic ops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10134600" y="3733800"/>
              <a:ext cx="114300" cy="114300"/>
            </a:xfrm>
            <a:prstGeom prst="roundRect">
              <a:avLst>
                <a:gd name="adj" fmla="val 50000"/>
              </a:avLst>
            </a:prstGeom>
            <a:solidFill>
              <a:srgbClr val="5F6368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294620" y="37509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Parens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511165" y="4077652"/>
              <a:ext cx="28203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Buffer scan logic for word "(NOT":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524500" y="4305300"/>
              <a:ext cx="5905500" cy="1619250"/>
            </a:xfrm>
            <a:prstGeom prst="roundRect">
              <a:avLst>
                <a:gd name="adj" fmla="val 4706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702618" y="4447699"/>
              <a:ext cx="25381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read '(' → buf empty → emit L_PAREN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702618" y="4657249"/>
              <a:ext cx="14131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read 'N' → buf = "N"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702618" y="4847749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read 'O' → buf = "NO"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702618" y="5038249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read 'T' → buf = "NOT"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702618" y="5228749"/>
              <a:ext cx="25523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word ends → buf "NOT" in TOKEN_MAP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702618" y="5419249"/>
              <a:ext cx="7581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→ emit NOT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702618" y="5609749"/>
              <a:ext cx="20254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result: [L_PAREN, NOT, ...]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561022" y="6572250"/>
            <a:ext cx="11069955" cy="269081"/>
            <a:chOff x="561022" y="6572250"/>
            <a:chExt cx="11069955" cy="269081"/>
          </a:xfrm>
        </p:grpSpPr>
        <p:sp>
          <p:nvSpPr>
            <p:cNvPr id="100" name="Rectangle 100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477482" y="667369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9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F0FE"/>
              </a:gs>
              <a:gs pos="50000">
                <a:srgbClr val="FFFFFF"/>
              </a:gs>
              <a:gs pos="100000">
                <a:srgbClr val="E8F5E9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>
            <a:gsLst>
              <a:gs pos="0">
                <a:srgbClr val="4285F4"/>
              </a:gs>
              <a:gs pos="100000">
                <a:srgbClr val="9334E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557212" y="316230"/>
            <a:ext cx="5133718" cy="648176"/>
            <a:chOff x="557212" y="316230"/>
            <a:chExt cx="5133718" cy="648176"/>
          </a:xfrm>
        </p:grpSpPr>
        <p:sp>
          <p:nvSpPr>
            <p:cNvPr id="5" name="Rectangle 5"/>
            <p:cNvSpPr/>
            <p:nvPr/>
          </p:nvSpPr>
          <p:spPr>
            <a:xfrm>
              <a:off x="571500" y="333375"/>
              <a:ext cx="666750" cy="304800"/>
            </a:xfrm>
            <a:prstGeom prst="roundRect">
              <a:avLst>
                <a:gd name="adj" fmla="val 50000"/>
              </a:avLst>
            </a:prstGeom>
            <a:solidFill>
              <a:srgbClr val="34A853">
                <a:alpha val="15000"/>
              </a:srgbClr>
            </a:solidFill>
            <a:ln w="9525">
              <a:solidFill>
                <a:srgbClr val="34A853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23359" y="428149"/>
              <a:ext cx="563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>
                  <a:solidFill>
                    <a:srgbClr val="34A853"/>
                  </a:solidFill>
                  <a:latin typeface="Segoe UI"/>
                  <a:ea typeface="Microsoft YaHei"/>
                  <a:cs typeface="Segoe UI"/>
                </a:rPr>
                <a:t>Phase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54455" y="316230"/>
              <a:ext cx="433647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— Recursive Descent Parser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212" y="735806"/>
              <a:ext cx="5031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Building ASTs by mirroring the grammar — one function per rule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1047750"/>
            <a:ext cx="4191000" cy="5334000"/>
            <a:chOff x="571500" y="1047750"/>
            <a:chExt cx="419100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047750"/>
              <a:ext cx="4191000" cy="533400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238250"/>
              <a:ext cx="495300" cy="495300"/>
            </a:xfrm>
            <a:prstGeom prst="roundRect">
              <a:avLst>
                <a:gd name="adj" fmla="val 19231"/>
              </a:avLst>
            </a:prstGeom>
            <a:solidFill>
              <a:srgbClr val="34A853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866775" y="1341634"/>
              <a:ext cx="286262" cy="288534"/>
              <a:chOff x="866775" y="1341634"/>
              <a:chExt cx="286262" cy="28853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38225" y="1514475"/>
                <a:ext cx="114812" cy="115308"/>
              </a:xfrm>
              <a:custGeom>
                <a:avLst/>
                <a:gdLst/>
                <a:ahLst/>
                <a:cxnLst/>
                <a:rect l="l" t="t" r="r" b="b"/>
                <a:pathLst>
                  <a:path w="114812" h="115308">
                    <a:moveTo>
                      <a:pt x="57150" y="0"/>
                    </a:moveTo>
                    <a:cubicBezTo>
                      <a:pt x="88342" y="0"/>
                      <a:pt x="113772" y="25010"/>
                      <a:pt x="114292" y="56197"/>
                    </a:cubicBezTo>
                    <a:cubicBezTo>
                      <a:pt x="114812" y="87384"/>
                      <a:pt x="90230" y="113228"/>
                      <a:pt x="59055" y="114268"/>
                    </a:cubicBezTo>
                    <a:cubicBezTo>
                      <a:pt x="27881" y="115308"/>
                      <a:pt x="1631" y="91160"/>
                      <a:pt x="71" y="60008"/>
                    </a:cubicBezTo>
                    <a:lnTo>
                      <a:pt x="0" y="57150"/>
                    </a:lnTo>
                    <a:lnTo>
                      <a:pt x="71" y="54293"/>
                    </a:lnTo>
                    <a:cubicBezTo>
                      <a:pt x="1594" y="23878"/>
                      <a:pt x="26698" y="0"/>
                      <a:pt x="57150" y="0"/>
                    </a:cubicBez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009027" y="1341634"/>
                <a:ext cx="143498" cy="144669"/>
              </a:xfrm>
              <a:custGeom>
                <a:avLst/>
                <a:gdLst/>
                <a:ahLst/>
                <a:cxnLst/>
                <a:rect l="l" t="t" r="r" b="b"/>
                <a:pathLst>
                  <a:path w="143498" h="144669">
                    <a:moveTo>
                      <a:pt x="67874" y="5578"/>
                    </a:moveTo>
                    <a:cubicBezTo>
                      <a:pt x="72964" y="10668"/>
                      <a:pt x="73472" y="18749"/>
                      <a:pt x="69060" y="24437"/>
                    </a:cubicBezTo>
                    <a:lnTo>
                      <a:pt x="67874" y="25780"/>
                    </a:lnTo>
                    <a:lnTo>
                      <a:pt x="49400" y="44254"/>
                    </a:lnTo>
                    <a:lnTo>
                      <a:pt x="100635" y="44254"/>
                    </a:lnTo>
                    <a:cubicBezTo>
                      <a:pt x="123332" y="44253"/>
                      <a:pt x="142095" y="61944"/>
                      <a:pt x="143426" y="84602"/>
                    </a:cubicBezTo>
                    <a:lnTo>
                      <a:pt x="143498" y="87116"/>
                    </a:lnTo>
                    <a:lnTo>
                      <a:pt x="143498" y="129979"/>
                    </a:lnTo>
                    <a:cubicBezTo>
                      <a:pt x="143489" y="137538"/>
                      <a:pt x="137594" y="143783"/>
                      <a:pt x="130047" y="144226"/>
                    </a:cubicBezTo>
                    <a:cubicBezTo>
                      <a:pt x="122501" y="144669"/>
                      <a:pt x="115916" y="139157"/>
                      <a:pt x="115023" y="131650"/>
                    </a:cubicBezTo>
                    <a:lnTo>
                      <a:pt x="114923" y="129979"/>
                    </a:lnTo>
                    <a:lnTo>
                      <a:pt x="114923" y="87116"/>
                    </a:lnTo>
                    <a:cubicBezTo>
                      <a:pt x="114922" y="79873"/>
                      <a:pt x="109500" y="73776"/>
                      <a:pt x="102307" y="72929"/>
                    </a:cubicBezTo>
                    <a:lnTo>
                      <a:pt x="100635" y="72829"/>
                    </a:lnTo>
                    <a:lnTo>
                      <a:pt x="49414" y="72829"/>
                    </a:lnTo>
                    <a:lnTo>
                      <a:pt x="67874" y="91303"/>
                    </a:lnTo>
                    <a:cubicBezTo>
                      <a:pt x="73192" y="96639"/>
                      <a:pt x="73453" y="105187"/>
                      <a:pt x="68470" y="110838"/>
                    </a:cubicBezTo>
                    <a:cubicBezTo>
                      <a:pt x="63488" y="116488"/>
                      <a:pt x="54974" y="117299"/>
                      <a:pt x="49014" y="112691"/>
                    </a:cubicBezTo>
                    <a:lnTo>
                      <a:pt x="47671" y="111505"/>
                    </a:lnTo>
                    <a:lnTo>
                      <a:pt x="4809" y="68643"/>
                    </a:lnTo>
                    <a:cubicBezTo>
                      <a:pt x="1498" y="65407"/>
                      <a:pt x="0" y="60743"/>
                      <a:pt x="808" y="56184"/>
                    </a:cubicBezTo>
                    <a:lnTo>
                      <a:pt x="1323" y="54098"/>
                    </a:lnTo>
                    <a:lnTo>
                      <a:pt x="1894" y="52612"/>
                    </a:lnTo>
                    <a:cubicBezTo>
                      <a:pt x="2723" y="50812"/>
                      <a:pt x="3895" y="49183"/>
                      <a:pt x="5395" y="47840"/>
                    </a:cubicBezTo>
                    <a:lnTo>
                      <a:pt x="47671" y="5578"/>
                    </a:lnTo>
                    <a:cubicBezTo>
                      <a:pt x="53251" y="0"/>
                      <a:pt x="62295" y="0"/>
                      <a:pt x="67874" y="5578"/>
                    </a:cubicBez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866775" y="1485900"/>
                <a:ext cx="143498" cy="144268"/>
              </a:xfrm>
              <a:custGeom>
                <a:avLst/>
                <a:gdLst/>
                <a:ahLst/>
                <a:cxnLst/>
                <a:rect l="l" t="t" r="r" b="b"/>
                <a:pathLst>
                  <a:path w="143498" h="144268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57150"/>
                    </a:lnTo>
                    <a:cubicBezTo>
                      <a:pt x="28576" y="64393"/>
                      <a:pt x="33997" y="70490"/>
                      <a:pt x="41191" y="71337"/>
                    </a:cubicBezTo>
                    <a:lnTo>
                      <a:pt x="42862" y="71438"/>
                    </a:lnTo>
                    <a:lnTo>
                      <a:pt x="94083" y="71438"/>
                    </a:lnTo>
                    <a:lnTo>
                      <a:pt x="75624" y="52964"/>
                    </a:lnTo>
                    <a:cubicBezTo>
                      <a:pt x="70534" y="47874"/>
                      <a:pt x="70026" y="39792"/>
                      <a:pt x="74438" y="34104"/>
                    </a:cubicBezTo>
                    <a:lnTo>
                      <a:pt x="75624" y="32761"/>
                    </a:lnTo>
                    <a:cubicBezTo>
                      <a:pt x="80714" y="27672"/>
                      <a:pt x="88796" y="27163"/>
                      <a:pt x="94483" y="31575"/>
                    </a:cubicBezTo>
                    <a:lnTo>
                      <a:pt x="95826" y="32761"/>
                    </a:lnTo>
                    <a:lnTo>
                      <a:pt x="138689" y="75624"/>
                    </a:lnTo>
                    <a:cubicBezTo>
                      <a:pt x="142000" y="78860"/>
                      <a:pt x="143498" y="83524"/>
                      <a:pt x="142689" y="88082"/>
                    </a:cubicBezTo>
                    <a:lnTo>
                      <a:pt x="142175" y="90168"/>
                    </a:lnTo>
                    <a:lnTo>
                      <a:pt x="141603" y="91654"/>
                    </a:lnTo>
                    <a:cubicBezTo>
                      <a:pt x="140775" y="93468"/>
                      <a:pt x="139584" y="95092"/>
                      <a:pt x="138103" y="96426"/>
                    </a:cubicBezTo>
                    <a:lnTo>
                      <a:pt x="95826" y="138689"/>
                    </a:lnTo>
                    <a:cubicBezTo>
                      <a:pt x="90490" y="144007"/>
                      <a:pt x="81942" y="144268"/>
                      <a:pt x="76291" y="139285"/>
                    </a:cubicBezTo>
                    <a:cubicBezTo>
                      <a:pt x="70641" y="134303"/>
                      <a:pt x="69830" y="125789"/>
                      <a:pt x="74438" y="119829"/>
                    </a:cubicBezTo>
                    <a:lnTo>
                      <a:pt x="75624" y="118486"/>
                    </a:lnTo>
                    <a:lnTo>
                      <a:pt x="94069" y="100012"/>
                    </a:lnTo>
                    <a:lnTo>
                      <a:pt x="42862" y="100012"/>
                    </a:lnTo>
                    <a:cubicBezTo>
                      <a:pt x="20166" y="100014"/>
                      <a:pt x="1403" y="82322"/>
                      <a:pt x="71" y="59665"/>
                    </a:cubicBezTo>
                    <a:lnTo>
                      <a:pt x="0" y="57150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866775" y="1343025"/>
                <a:ext cx="114812" cy="115308"/>
              </a:xfrm>
              <a:custGeom>
                <a:avLst/>
                <a:gdLst/>
                <a:ahLst/>
                <a:cxnLst/>
                <a:rect l="l" t="t" r="r" b="b"/>
                <a:pathLst>
                  <a:path w="114812" h="115308">
                    <a:moveTo>
                      <a:pt x="57150" y="0"/>
                    </a:moveTo>
                    <a:cubicBezTo>
                      <a:pt x="88342" y="0"/>
                      <a:pt x="113772" y="25010"/>
                      <a:pt x="114292" y="56197"/>
                    </a:cubicBezTo>
                    <a:cubicBezTo>
                      <a:pt x="114812" y="87384"/>
                      <a:pt x="90230" y="113228"/>
                      <a:pt x="59055" y="114268"/>
                    </a:cubicBezTo>
                    <a:cubicBezTo>
                      <a:pt x="27881" y="115308"/>
                      <a:pt x="1631" y="91160"/>
                      <a:pt x="71" y="60008"/>
                    </a:cubicBezTo>
                    <a:lnTo>
                      <a:pt x="0" y="57150"/>
                    </a:lnTo>
                    <a:lnTo>
                      <a:pt x="71" y="54293"/>
                    </a:lnTo>
                    <a:cubicBezTo>
                      <a:pt x="1594" y="23878"/>
                      <a:pt x="26698" y="0"/>
                      <a:pt x="57150" y="0"/>
                    </a:cubicBez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392555" y="1302068"/>
              <a:ext cx="14110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Parser Design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97318" y="1533049"/>
              <a:ext cx="23387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run_parser_phase(lexer_output)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1847850"/>
              <a:ext cx="3810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1963102"/>
              <a:ext cx="18864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Why Recursive Descent?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2171700"/>
              <a:ext cx="3810000" cy="552450"/>
            </a:xfrm>
            <a:prstGeom prst="roundRect">
              <a:avLst>
                <a:gd name="adj" fmla="val 10345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2171700"/>
              <a:ext cx="38100" cy="552450"/>
            </a:xfrm>
            <a:prstGeom prst="roundRect">
              <a:avLst>
                <a:gd name="adj" fmla="val 50000"/>
              </a:avLst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2018" y="2256949"/>
              <a:ext cx="2289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>
                  <a:solidFill>
                    <a:srgbClr val="34A853"/>
                  </a:solidFill>
                  <a:latin typeface="Segoe UI"/>
                  <a:ea typeface="Microsoft YaHei"/>
                  <a:cs typeface="Segoe UI"/>
                </a:rPr>
                <a:t>Grammar is naturally recursive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2970" y="2436495"/>
              <a:ext cx="35915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Expressions contain expressions — descent mirrors this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2970" y="2569845"/>
              <a:ext cx="28094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directly without an external grammar table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2838450"/>
              <a:ext cx="3810000" cy="457200"/>
            </a:xfrm>
            <a:prstGeom prst="roundRect">
              <a:avLst>
                <a:gd name="adj" fmla="val 12500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2838450"/>
              <a:ext cx="38100" cy="457200"/>
            </a:xfrm>
            <a:prstGeom prst="roundRect">
              <a:avLst>
                <a:gd name="adj" fmla="val 50000"/>
              </a:avLst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2018" y="2923699"/>
              <a:ext cx="1721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One function = one rule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2970" y="3122295"/>
              <a:ext cx="35981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Each parser fn handles exactly one syntactic construct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409950"/>
              <a:ext cx="3810000" cy="457200"/>
            </a:xfrm>
            <a:prstGeom prst="roundRect">
              <a:avLst>
                <a:gd name="adj" fmla="val 12500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3409950"/>
              <a:ext cx="38100" cy="457200"/>
            </a:xfrm>
            <a:prstGeom prst="roundRect">
              <a:avLst>
                <a:gd name="adj" fmla="val 50000"/>
              </a:avLst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2018" y="3495199"/>
              <a:ext cx="16918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Easy error localization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2970" y="3693795"/>
              <a:ext cx="267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ParseError raised with exact line number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3981450"/>
              <a:ext cx="3810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8665" y="4096702"/>
              <a:ext cx="14436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Grammar Summary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000" y="4324350"/>
              <a:ext cx="3810000" cy="1771650"/>
            </a:xfrm>
            <a:prstGeom prst="roundRect">
              <a:avLst>
                <a:gd name="adj" fmla="val 4301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1068" y="4428649"/>
              <a:ext cx="836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Statement: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1068" y="463819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LET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21118" y="4638199"/>
              <a:ext cx="1033937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&lt;</a:t>
              </a:r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VAR</a:t>
              </a:r>
              <a:r>
                <a:rPr lang="en-US" alt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&gt;</a:t>
              </a:r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 EQ </a:t>
              </a:r>
              <a:r>
                <a:rPr lang="en-US" alt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&lt;</a:t>
              </a:r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Expr</a:t>
              </a:r>
              <a:r>
                <a:rPr lang="en-US" alt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&gt;</a:t>
              </a:r>
              <a:endParaRPr lang="zh-CN" sz="975">
                <a:solidFill>
                  <a:srgbClr val="2021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1068" y="48286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IF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78242" y="4828699"/>
              <a:ext cx="124072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&lt;</a:t>
              </a:r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Expr</a:t>
              </a:r>
              <a:r>
                <a:rPr lang="en-US" alt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&gt;</a:t>
              </a:r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 THEN </a:t>
              </a:r>
              <a:r>
                <a:rPr lang="en-US" alt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&lt;</a:t>
              </a:r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Stmt</a:t>
              </a:r>
              <a:r>
                <a:rPr lang="en-US" alt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&gt;</a:t>
              </a:r>
              <a:endParaRPr lang="zh-CN" sz="975">
                <a:solidFill>
                  <a:srgbClr val="2021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1068" y="5019199"/>
              <a:ext cx="3807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PRINT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92568" y="5019199"/>
              <a:ext cx="344646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&lt;</a:t>
              </a:r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VAR</a:t>
              </a:r>
              <a:r>
                <a:rPr lang="en-US" alt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&gt;</a:t>
              </a:r>
              <a:endParaRPr lang="zh-CN" sz="975">
                <a:solidFill>
                  <a:srgbClr val="2021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1068" y="5228749"/>
              <a:ext cx="8506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Expression: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1068" y="541924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TRUE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97318" y="5419249"/>
              <a:ext cx="67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|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578292" y="54192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EA4335"/>
                  </a:solidFill>
                  <a:latin typeface="Consolas"/>
                  <a:ea typeface="Microsoft YaHei"/>
                  <a:cs typeface="Consolas"/>
                </a:rPr>
                <a:t>FALSE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054542" y="5419249"/>
              <a:ext cx="345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| VAR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1068" y="5609749"/>
              <a:ext cx="3665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(NOT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35418" y="56097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E)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749742" y="5609749"/>
              <a:ext cx="2668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| (E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130742" y="5609749"/>
              <a:ext cx="2098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OP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445068" y="56097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E)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1068" y="5800249"/>
              <a:ext cx="15128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OP: AND | OR | IMPLIES</a:t>
              </a:r>
            </a:p>
          </p:txBody>
        </p:sp>
      </p:grpSp>
      <p:sp>
        <p:nvSpPr>
          <p:cNvPr id="56" name="Rectangle 56"/>
          <p:cNvSpPr/>
          <p:nvPr/>
        </p:nvSpPr>
        <p:spPr>
          <a:xfrm>
            <a:off x="5143500" y="1047750"/>
            <a:ext cx="6667500" cy="53340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Box 57"/>
          <p:cNvSpPr txBox="1"/>
          <p:nvPr/>
        </p:nvSpPr>
        <p:spPr>
          <a:xfrm>
            <a:off x="5318760" y="1280160"/>
            <a:ext cx="17142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>
                <a:solidFill>
                  <a:srgbClr val="202124"/>
                </a:solidFill>
                <a:latin typeface="Segoe UI"/>
                <a:ea typeface="Microsoft YaHei"/>
                <a:cs typeface="Segoe UI"/>
              </a:rPr>
              <a:t>7 Parser Functions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334000" y="1504950"/>
            <a:ext cx="6286500" cy="9525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Rectangle 79"/>
          <p:cNvSpPr/>
          <p:nvPr/>
        </p:nvSpPr>
        <p:spPr>
          <a:xfrm>
            <a:off x="5334000" y="4800600"/>
            <a:ext cx="6286500" cy="9525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TextBox 80"/>
          <p:cNvSpPr txBox="1"/>
          <p:nvPr/>
        </p:nvSpPr>
        <p:spPr>
          <a:xfrm>
            <a:off x="5320665" y="4915852"/>
            <a:ext cx="3861635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>
                <a:solidFill>
                  <a:srgbClr val="202124"/>
                </a:solidFill>
                <a:latin typeface="Segoe UI"/>
                <a:ea typeface="Microsoft YaHei"/>
                <a:cs typeface="Segoe UI"/>
              </a:rPr>
              <a:t>AST</a:t>
            </a:r>
            <a:r>
              <a:rPr lang="zh-CN" altLang="en-US" sz="1050" b="1">
                <a:solidFill>
                  <a:srgbClr val="202124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en-US" altLang="zh-CN" sz="1050" b="1">
                <a:solidFill>
                  <a:srgbClr val="202124"/>
                </a:solidFill>
                <a:latin typeface="Segoe UI"/>
                <a:ea typeface="Microsoft YaHei"/>
                <a:cs typeface="Segoe UI"/>
              </a:rPr>
              <a:t>(Abstract</a:t>
            </a:r>
            <a:r>
              <a:rPr lang="zh-CN" altLang="en-US" sz="1050" b="1">
                <a:solidFill>
                  <a:srgbClr val="202124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en-US" altLang="zh-CN" sz="1050" b="1">
                <a:solidFill>
                  <a:srgbClr val="202124"/>
                </a:solidFill>
                <a:latin typeface="Segoe UI"/>
                <a:ea typeface="Microsoft YaHei"/>
                <a:cs typeface="Segoe UI"/>
              </a:rPr>
              <a:t>Syntax</a:t>
            </a:r>
            <a:r>
              <a:rPr lang="zh-CN" altLang="en-US" sz="1050" b="1">
                <a:solidFill>
                  <a:srgbClr val="202124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en-US" altLang="zh-CN" sz="1050" b="1">
                <a:solidFill>
                  <a:srgbClr val="202124"/>
                </a:solidFill>
                <a:latin typeface="Segoe UI"/>
                <a:ea typeface="Microsoft YaHei"/>
                <a:cs typeface="Segoe UI"/>
              </a:rPr>
              <a:t>Tree)</a:t>
            </a:r>
            <a:r>
              <a:rPr lang="zh-CN" sz="1050" b="1">
                <a:solidFill>
                  <a:srgbClr val="202124"/>
                </a:solidFill>
                <a:latin typeface="Segoe UI"/>
                <a:ea typeface="Microsoft YaHei"/>
                <a:cs typeface="Segoe UI"/>
              </a:rPr>
              <a:t> for let r = (NOT ((NOT p) AND q))</a:t>
            </a:r>
          </a:p>
        </p:txBody>
      </p:sp>
      <p:sp>
        <p:nvSpPr>
          <p:cNvPr id="81" name="Rectangle 81"/>
          <p:cNvSpPr/>
          <p:nvPr/>
        </p:nvSpPr>
        <p:spPr>
          <a:xfrm>
            <a:off x="5334000" y="5143500"/>
            <a:ext cx="6286500" cy="1047750"/>
          </a:xfrm>
          <a:prstGeom prst="roundRect">
            <a:avLst>
              <a:gd name="adj" fmla="val 7273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TextBox 82"/>
          <p:cNvSpPr txBox="1"/>
          <p:nvPr/>
        </p:nvSpPr>
        <p:spPr>
          <a:xfrm>
            <a:off x="5512118" y="5247799"/>
            <a:ext cx="573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>
                <a:solidFill>
                  <a:srgbClr val="4285F4"/>
                </a:solidFill>
                <a:latin typeface="Consolas"/>
                <a:ea typeface="Microsoft YaHei"/>
                <a:cs typeface="Consolas"/>
              </a:rPr>
              <a:t>["LET",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016942" y="5247799"/>
            <a:ext cx="6513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>
                <a:solidFill>
                  <a:srgbClr val="202124"/>
                </a:solidFill>
                <a:latin typeface="Consolas"/>
                <a:ea typeface="Microsoft YaHei"/>
                <a:cs typeface="Consolas"/>
              </a:rPr>
              <a:t>"VAR_R",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512118" y="5457349"/>
            <a:ext cx="60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>
                <a:solidFill>
                  <a:srgbClr val="9334E6"/>
                </a:solidFill>
                <a:latin typeface="Consolas"/>
                <a:ea typeface="Microsoft YaHei"/>
                <a:cs typeface="Consolas"/>
              </a:rPr>
              <a:t>["NOT",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512118" y="5647849"/>
            <a:ext cx="573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>
                <a:solidFill>
                  <a:srgbClr val="34A853"/>
                </a:solidFill>
                <a:latin typeface="Consolas"/>
                <a:ea typeface="Microsoft YaHei"/>
                <a:cs typeface="Consolas"/>
              </a:rPr>
              <a:t>["AND",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064568" y="5647849"/>
            <a:ext cx="1171796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>
                <a:solidFill>
                  <a:srgbClr val="9334E6"/>
                </a:solidFill>
                <a:latin typeface="Consolas"/>
                <a:ea typeface="Microsoft YaHei"/>
                <a:cs typeface="Consolas"/>
              </a:rPr>
              <a:t>["NOT", </a:t>
            </a:r>
            <a:r>
              <a:rPr lang="zh-CN" sz="975">
                <a:latin typeface="Consolas"/>
                <a:ea typeface="Microsoft YaHei"/>
                <a:cs typeface="Consolas"/>
              </a:rPr>
              <a:t>"VAR_P"</a:t>
            </a:r>
            <a:r>
              <a:rPr lang="zh-CN" sz="975">
                <a:solidFill>
                  <a:srgbClr val="7030A0"/>
                </a:solidFill>
                <a:latin typeface="Consolas"/>
                <a:ea typeface="Microsoft YaHei"/>
                <a:cs typeface="Consolas"/>
              </a:rPr>
              <a:t>]</a:t>
            </a:r>
            <a:r>
              <a:rPr lang="zh-CN" sz="975">
                <a:solidFill>
                  <a:srgbClr val="9334E6"/>
                </a:solidFill>
                <a:latin typeface="Consolas"/>
                <a:ea typeface="Microsoft YaHei"/>
                <a:cs typeface="Consolas"/>
              </a:rPr>
              <a:t>,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064568" y="5838349"/>
            <a:ext cx="1063819" cy="1500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975">
                <a:solidFill>
                  <a:srgbClr val="202124"/>
                </a:solidFill>
                <a:latin typeface="Consolas"/>
                <a:ea typeface="Microsoft YaHei"/>
                <a:cs typeface="Consolas"/>
              </a:rPr>
              <a:t>"VAR_Q"</a:t>
            </a:r>
            <a:r>
              <a:rPr lang="zh-CN" sz="975">
                <a:solidFill>
                  <a:srgbClr val="00B050"/>
                </a:solidFill>
                <a:latin typeface="Consolas"/>
                <a:ea typeface="Microsoft YaHei"/>
                <a:cs typeface="Consolas"/>
              </a:rPr>
              <a:t>]</a:t>
            </a:r>
            <a:r>
              <a:rPr lang="zh-CN" sz="975">
                <a:solidFill>
                  <a:srgbClr val="7030A0"/>
                </a:solidFill>
                <a:latin typeface="Consolas"/>
                <a:ea typeface="Microsoft YaHei"/>
                <a:cs typeface="Consolas"/>
              </a:rPr>
              <a:t>]</a:t>
            </a:r>
            <a:r>
              <a:rPr lang="zh-CN" sz="975">
                <a:solidFill>
                  <a:srgbClr val="00B0F0"/>
                </a:solidFill>
                <a:latin typeface="Consolas"/>
                <a:ea typeface="Microsoft YaHei"/>
                <a:cs typeface="Consolas"/>
              </a:rPr>
              <a:t>]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561022" y="6572250"/>
            <a:ext cx="11069955" cy="269081"/>
            <a:chOff x="561022" y="6572250"/>
            <a:chExt cx="11069955" cy="269081"/>
          </a:xfrm>
        </p:grpSpPr>
        <p:sp>
          <p:nvSpPr>
            <p:cNvPr id="89" name="Rectangle 89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477482" y="667369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07</a:t>
              </a:r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B460B06B-A4BB-AB1C-6016-0DBDC7B51B8A}"/>
              </a:ext>
            </a:extLst>
          </p:cNvPr>
          <p:cNvGrpSpPr/>
          <p:nvPr/>
        </p:nvGrpSpPr>
        <p:grpSpPr>
          <a:xfrm>
            <a:off x="5334000" y="1638300"/>
            <a:ext cx="6054385" cy="2990850"/>
            <a:chOff x="5334000" y="1638300"/>
            <a:chExt cx="6054385" cy="2990850"/>
          </a:xfrm>
        </p:grpSpPr>
        <p:sp>
          <p:nvSpPr>
            <p:cNvPr id="94" name="Rectangle 59">
              <a:extLst>
                <a:ext uri="{FF2B5EF4-FFF2-40B4-BE49-F238E27FC236}">
                  <a16:creationId xmlns:a16="http://schemas.microsoft.com/office/drawing/2014/main" id="{EB725D9A-967F-9B9F-E461-A8AFEAA7712C}"/>
                </a:ext>
              </a:extLst>
            </p:cNvPr>
            <p:cNvSpPr/>
            <p:nvPr/>
          </p:nvSpPr>
          <p:spPr>
            <a:xfrm>
              <a:off x="7667962" y="1638300"/>
              <a:ext cx="1524000" cy="323850"/>
            </a:xfrm>
            <a:prstGeom prst="roundRect">
              <a:avLst>
                <a:gd name="adj" fmla="val 17647"/>
              </a:avLst>
            </a:prstGeom>
            <a:solidFill>
              <a:srgbClr val="00D4AA">
                <a:alpha val="15000"/>
              </a:srgbClr>
            </a:solidFill>
            <a:ln w="14288">
              <a:solidFill>
                <a:srgbClr val="00D4AA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TextBox 60">
              <a:extLst>
                <a:ext uri="{FF2B5EF4-FFF2-40B4-BE49-F238E27FC236}">
                  <a16:creationId xmlns:a16="http://schemas.microsoft.com/office/drawing/2014/main" id="{3AB35224-2B8F-5A61-E25F-8244AFC5C2D9}"/>
                </a:ext>
              </a:extLst>
            </p:cNvPr>
            <p:cNvSpPr txBox="1"/>
            <p:nvPr/>
          </p:nvSpPr>
          <p:spPr>
            <a:xfrm>
              <a:off x="8033246" y="1734502"/>
              <a:ext cx="793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>
                  <a:solidFill>
                    <a:srgbClr val="00D4AA"/>
                  </a:solidFill>
                  <a:latin typeface="Consolas"/>
                  <a:ea typeface="Microsoft YaHei"/>
                  <a:cs typeface="Consolas"/>
                </a:rPr>
                <a:t>parse_line</a:t>
              </a:r>
            </a:p>
          </p:txBody>
        </p:sp>
        <p:sp>
          <p:nvSpPr>
            <p:cNvPr id="96" name="Line 61">
              <a:extLst>
                <a:ext uri="{FF2B5EF4-FFF2-40B4-BE49-F238E27FC236}">
                  <a16:creationId xmlns:a16="http://schemas.microsoft.com/office/drawing/2014/main" id="{422B5F0E-6969-7783-F9FD-085BEA4C801D}"/>
                </a:ext>
              </a:extLst>
            </p:cNvPr>
            <p:cNvSpPr/>
            <p:nvPr/>
          </p:nvSpPr>
          <p:spPr>
            <a:xfrm>
              <a:off x="8429964" y="1962150"/>
              <a:ext cx="1" cy="247650"/>
            </a:xfrm>
            <a:prstGeom prst="line">
              <a:avLst/>
            </a:prstGeom>
            <a:noFill/>
            <a:ln w="14288">
              <a:solidFill>
                <a:srgbClr val="30363D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Rectangle 62">
              <a:extLst>
                <a:ext uri="{FF2B5EF4-FFF2-40B4-BE49-F238E27FC236}">
                  <a16:creationId xmlns:a16="http://schemas.microsoft.com/office/drawing/2014/main" id="{BED7516B-36FB-5341-2490-C787BF9A58C7}"/>
                </a:ext>
              </a:extLst>
            </p:cNvPr>
            <p:cNvSpPr/>
            <p:nvPr/>
          </p:nvSpPr>
          <p:spPr>
            <a:xfrm>
              <a:off x="7286962" y="2266950"/>
              <a:ext cx="2286000" cy="323850"/>
            </a:xfrm>
            <a:prstGeom prst="roundRect">
              <a:avLst>
                <a:gd name="adj" fmla="val 17647"/>
              </a:avLst>
            </a:prstGeom>
            <a:solidFill>
              <a:srgbClr val="58A6FF">
                <a:alpha val="12000"/>
              </a:srgbClr>
            </a:solidFill>
            <a:ln w="9525">
              <a:solidFill>
                <a:srgbClr val="58A6FF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TextBox 63">
              <a:extLst>
                <a:ext uri="{FF2B5EF4-FFF2-40B4-BE49-F238E27FC236}">
                  <a16:creationId xmlns:a16="http://schemas.microsoft.com/office/drawing/2014/main" id="{FFC2A6B6-AD49-25DE-80A7-A9997805C496}"/>
                </a:ext>
              </a:extLst>
            </p:cNvPr>
            <p:cNvSpPr txBox="1"/>
            <p:nvPr/>
          </p:nvSpPr>
          <p:spPr>
            <a:xfrm>
              <a:off x="7815945" y="2371249"/>
              <a:ext cx="12280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8A6FF"/>
                  </a:solidFill>
                  <a:latin typeface="Consolas"/>
                  <a:ea typeface="Microsoft YaHei"/>
                  <a:cs typeface="Consolas"/>
                </a:rPr>
                <a:t>parse_statement</a:t>
              </a:r>
            </a:p>
          </p:txBody>
        </p:sp>
        <p:sp>
          <p:nvSpPr>
            <p:cNvPr id="99" name="Line 64">
              <a:extLst>
                <a:ext uri="{FF2B5EF4-FFF2-40B4-BE49-F238E27FC236}">
                  <a16:creationId xmlns:a16="http://schemas.microsoft.com/office/drawing/2014/main" id="{2963C3EE-C8A3-5DF7-4E9C-1BFB3C20CEBF}"/>
                </a:ext>
              </a:extLst>
            </p:cNvPr>
            <p:cNvSpPr/>
            <p:nvPr/>
          </p:nvSpPr>
          <p:spPr>
            <a:xfrm>
              <a:off x="6858000" y="2590800"/>
              <a:ext cx="571500" cy="361950"/>
            </a:xfrm>
            <a:custGeom>
              <a:avLst/>
              <a:gdLst/>
              <a:ahLst/>
              <a:cxnLst/>
              <a:rect l="l" t="t" r="r" b="b"/>
              <a:pathLst>
                <a:path w="571500" h="361950">
                  <a:moveTo>
                    <a:pt x="571500" y="0"/>
                  </a:moveTo>
                  <a:lnTo>
                    <a:pt x="0" y="361950"/>
                  </a:lnTo>
                </a:path>
              </a:pathLst>
            </a:custGeom>
            <a:noFill/>
            <a:ln w="14288">
              <a:solidFill>
                <a:srgbClr val="30363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65">
              <a:extLst>
                <a:ext uri="{FF2B5EF4-FFF2-40B4-BE49-F238E27FC236}">
                  <a16:creationId xmlns:a16="http://schemas.microsoft.com/office/drawing/2014/main" id="{CB3B5F37-4BB6-5BF0-64DA-78D030CEF40D}"/>
                </a:ext>
              </a:extLst>
            </p:cNvPr>
            <p:cNvSpPr/>
            <p:nvPr/>
          </p:nvSpPr>
          <p:spPr>
            <a:xfrm>
              <a:off x="8451480" y="25908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14288">
              <a:solidFill>
                <a:srgbClr val="30363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66">
              <a:extLst>
                <a:ext uri="{FF2B5EF4-FFF2-40B4-BE49-F238E27FC236}">
                  <a16:creationId xmlns:a16="http://schemas.microsoft.com/office/drawing/2014/main" id="{26D4219B-1503-A60A-8FB1-F648BDC42138}"/>
                </a:ext>
              </a:extLst>
            </p:cNvPr>
            <p:cNvSpPr/>
            <p:nvPr/>
          </p:nvSpPr>
          <p:spPr>
            <a:xfrm>
              <a:off x="9328677" y="2590800"/>
              <a:ext cx="571500" cy="361950"/>
            </a:xfrm>
            <a:custGeom>
              <a:avLst/>
              <a:gdLst/>
              <a:ahLst/>
              <a:cxnLst/>
              <a:rect l="l" t="t" r="r" b="b"/>
              <a:pathLst>
                <a:path w="571500" h="361950">
                  <a:moveTo>
                    <a:pt x="0" y="0"/>
                  </a:moveTo>
                  <a:lnTo>
                    <a:pt x="571500" y="361950"/>
                  </a:lnTo>
                </a:path>
              </a:pathLst>
            </a:custGeom>
            <a:noFill/>
            <a:ln w="14288">
              <a:solidFill>
                <a:srgbClr val="30363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67">
              <a:extLst>
                <a:ext uri="{FF2B5EF4-FFF2-40B4-BE49-F238E27FC236}">
                  <a16:creationId xmlns:a16="http://schemas.microsoft.com/office/drawing/2014/main" id="{2D12EBD1-59BF-2298-E3E5-2B57B244C1CB}"/>
                </a:ext>
              </a:extLst>
            </p:cNvPr>
            <p:cNvSpPr/>
            <p:nvPr/>
          </p:nvSpPr>
          <p:spPr>
            <a:xfrm>
              <a:off x="5334000" y="2977626"/>
              <a:ext cx="1905000" cy="323850"/>
            </a:xfrm>
            <a:prstGeom prst="roundRect">
              <a:avLst>
                <a:gd name="adj" fmla="val 17647"/>
              </a:avLst>
            </a:prstGeom>
            <a:solidFill>
              <a:srgbClr val="A371F7">
                <a:alpha val="12000"/>
              </a:srgbClr>
            </a:solidFill>
            <a:ln w="9525">
              <a:solidFill>
                <a:srgbClr val="A371F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TextBox 68">
              <a:extLst>
                <a:ext uri="{FF2B5EF4-FFF2-40B4-BE49-F238E27FC236}">
                  <a16:creationId xmlns:a16="http://schemas.microsoft.com/office/drawing/2014/main" id="{72F99C02-BD16-5849-C330-34FE475D88FA}"/>
                </a:ext>
              </a:extLst>
            </p:cNvPr>
            <p:cNvSpPr txBox="1"/>
            <p:nvPr/>
          </p:nvSpPr>
          <p:spPr>
            <a:xfrm>
              <a:off x="5591556" y="3079263"/>
              <a:ext cx="138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A371F7"/>
                  </a:solidFill>
                  <a:latin typeface="Consolas"/>
                  <a:ea typeface="Microsoft YaHei"/>
                  <a:cs typeface="Consolas"/>
                </a:rPr>
                <a:t>parse_let_statement</a:t>
              </a:r>
            </a:p>
          </p:txBody>
        </p:sp>
        <p:sp>
          <p:nvSpPr>
            <p:cNvPr id="104" name="Rectangle 69">
              <a:extLst>
                <a:ext uri="{FF2B5EF4-FFF2-40B4-BE49-F238E27FC236}">
                  <a16:creationId xmlns:a16="http://schemas.microsoft.com/office/drawing/2014/main" id="{60E50EF8-62A5-E057-F360-8A51C0DBC60F}"/>
                </a:ext>
              </a:extLst>
            </p:cNvPr>
            <p:cNvSpPr/>
            <p:nvPr/>
          </p:nvSpPr>
          <p:spPr>
            <a:xfrm>
              <a:off x="7414636" y="2978410"/>
              <a:ext cx="1905000" cy="323850"/>
            </a:xfrm>
            <a:prstGeom prst="roundRect">
              <a:avLst>
                <a:gd name="adj" fmla="val 17647"/>
              </a:avLst>
            </a:prstGeom>
            <a:solidFill>
              <a:srgbClr val="A371F7">
                <a:alpha val="12000"/>
              </a:srgbClr>
            </a:solidFill>
            <a:ln w="9525">
              <a:solidFill>
                <a:srgbClr val="A371F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TextBox 70">
              <a:extLst>
                <a:ext uri="{FF2B5EF4-FFF2-40B4-BE49-F238E27FC236}">
                  <a16:creationId xmlns:a16="http://schemas.microsoft.com/office/drawing/2014/main" id="{4E889D43-CF9A-66FD-76C9-A527484549EF}"/>
                </a:ext>
              </a:extLst>
            </p:cNvPr>
            <p:cNvSpPr txBox="1"/>
            <p:nvPr/>
          </p:nvSpPr>
          <p:spPr>
            <a:xfrm>
              <a:off x="7706621" y="3079263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A371F7"/>
                  </a:solidFill>
                  <a:latin typeface="Consolas"/>
                  <a:ea typeface="Microsoft YaHei"/>
                  <a:cs typeface="Consolas"/>
                </a:rPr>
                <a:t>parse_if_statement</a:t>
              </a:r>
            </a:p>
          </p:txBody>
        </p:sp>
        <p:sp>
          <p:nvSpPr>
            <p:cNvPr id="106" name="Rectangle 71">
              <a:extLst>
                <a:ext uri="{FF2B5EF4-FFF2-40B4-BE49-F238E27FC236}">
                  <a16:creationId xmlns:a16="http://schemas.microsoft.com/office/drawing/2014/main" id="{9DFCD761-5D1F-2691-6EBA-8E56BFA01F93}"/>
                </a:ext>
              </a:extLst>
            </p:cNvPr>
            <p:cNvSpPr/>
            <p:nvPr/>
          </p:nvSpPr>
          <p:spPr>
            <a:xfrm>
              <a:off x="9483385" y="2978410"/>
              <a:ext cx="1905000" cy="323850"/>
            </a:xfrm>
            <a:prstGeom prst="roundRect">
              <a:avLst>
                <a:gd name="adj" fmla="val 17647"/>
              </a:avLst>
            </a:prstGeom>
            <a:solidFill>
              <a:srgbClr val="A371F7">
                <a:alpha val="12000"/>
              </a:srgbClr>
            </a:solidFill>
            <a:ln w="9525">
              <a:solidFill>
                <a:srgbClr val="A371F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TextBox 72">
              <a:extLst>
                <a:ext uri="{FF2B5EF4-FFF2-40B4-BE49-F238E27FC236}">
                  <a16:creationId xmlns:a16="http://schemas.microsoft.com/office/drawing/2014/main" id="{40E2DA47-D601-52AC-6C6E-B2EABE20B94A}"/>
                </a:ext>
              </a:extLst>
            </p:cNvPr>
            <p:cNvSpPr txBox="1"/>
            <p:nvPr/>
          </p:nvSpPr>
          <p:spPr>
            <a:xfrm>
              <a:off x="9679407" y="3066266"/>
              <a:ext cx="1534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A371F7"/>
                  </a:solidFill>
                  <a:latin typeface="Consolas"/>
                  <a:ea typeface="Microsoft YaHei"/>
                  <a:cs typeface="Consolas"/>
                </a:rPr>
                <a:t>parse_print_statement</a:t>
              </a:r>
            </a:p>
          </p:txBody>
        </p:sp>
        <p:sp>
          <p:nvSpPr>
            <p:cNvPr id="108" name="Line 73">
              <a:extLst>
                <a:ext uri="{FF2B5EF4-FFF2-40B4-BE49-F238E27FC236}">
                  <a16:creationId xmlns:a16="http://schemas.microsoft.com/office/drawing/2014/main" id="{AAE437C1-1701-34D8-9438-1F1ECF134929}"/>
                </a:ext>
              </a:extLst>
            </p:cNvPr>
            <p:cNvSpPr/>
            <p:nvPr/>
          </p:nvSpPr>
          <p:spPr>
            <a:xfrm>
              <a:off x="8451483" y="33337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rgbClr val="30363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Rectangle 74">
              <a:extLst>
                <a:ext uri="{FF2B5EF4-FFF2-40B4-BE49-F238E27FC236}">
                  <a16:creationId xmlns:a16="http://schemas.microsoft.com/office/drawing/2014/main" id="{220A8680-5420-D065-CD17-B65369D1CDBA}"/>
                </a:ext>
              </a:extLst>
            </p:cNvPr>
            <p:cNvSpPr/>
            <p:nvPr/>
          </p:nvSpPr>
          <p:spPr>
            <a:xfrm>
              <a:off x="7297722" y="3657600"/>
              <a:ext cx="2286000" cy="323850"/>
            </a:xfrm>
            <a:prstGeom prst="roundRect">
              <a:avLst>
                <a:gd name="adj" fmla="val 17647"/>
              </a:avLst>
            </a:prstGeom>
            <a:solidFill>
              <a:srgbClr val="3FB950">
                <a:alpha val="12000"/>
              </a:srgbClr>
            </a:solidFill>
            <a:ln w="9525">
              <a:solidFill>
                <a:srgbClr val="3FB95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TextBox 75">
              <a:extLst>
                <a:ext uri="{FF2B5EF4-FFF2-40B4-BE49-F238E27FC236}">
                  <a16:creationId xmlns:a16="http://schemas.microsoft.com/office/drawing/2014/main" id="{E2629ADA-86B7-9811-3F9C-D4AF781EEB8B}"/>
                </a:ext>
              </a:extLst>
            </p:cNvPr>
            <p:cNvSpPr txBox="1"/>
            <p:nvPr/>
          </p:nvSpPr>
          <p:spPr>
            <a:xfrm>
              <a:off x="7867365" y="3769995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3FB950"/>
                  </a:solidFill>
                  <a:latin typeface="Consolas"/>
                  <a:ea typeface="Microsoft YaHei"/>
                  <a:cs typeface="Consolas"/>
                </a:rPr>
                <a:t>parse_expression</a:t>
              </a:r>
            </a:p>
          </p:txBody>
        </p:sp>
        <p:sp>
          <p:nvSpPr>
            <p:cNvPr id="111" name="Line 76">
              <a:extLst>
                <a:ext uri="{FF2B5EF4-FFF2-40B4-BE49-F238E27FC236}">
                  <a16:creationId xmlns:a16="http://schemas.microsoft.com/office/drawing/2014/main" id="{DDBA48B4-BC91-7025-F95F-C29B63E0CA37}"/>
                </a:ext>
              </a:extLst>
            </p:cNvPr>
            <p:cNvSpPr/>
            <p:nvPr/>
          </p:nvSpPr>
          <p:spPr>
            <a:xfrm>
              <a:off x="8285952" y="3981449"/>
              <a:ext cx="45719" cy="309563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2" name="Rectangle 77">
              <a:extLst>
                <a:ext uri="{FF2B5EF4-FFF2-40B4-BE49-F238E27FC236}">
                  <a16:creationId xmlns:a16="http://schemas.microsoft.com/office/drawing/2014/main" id="{C5E9E5E4-CB39-1D45-AD12-4A653717B7D8}"/>
                </a:ext>
              </a:extLst>
            </p:cNvPr>
            <p:cNvSpPr/>
            <p:nvPr/>
          </p:nvSpPr>
          <p:spPr>
            <a:xfrm>
              <a:off x="7107222" y="4305300"/>
              <a:ext cx="2667000" cy="323850"/>
            </a:xfrm>
            <a:prstGeom prst="roundRect">
              <a:avLst>
                <a:gd name="adj" fmla="val 17647"/>
              </a:avLst>
            </a:prstGeom>
            <a:solidFill>
              <a:srgbClr val="3FB950">
                <a:alpha val="12000"/>
              </a:srgbClr>
            </a:solidFill>
            <a:ln w="9525">
              <a:solidFill>
                <a:srgbClr val="3FB95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Box 78">
              <a:extLst>
                <a:ext uri="{FF2B5EF4-FFF2-40B4-BE49-F238E27FC236}">
                  <a16:creationId xmlns:a16="http://schemas.microsoft.com/office/drawing/2014/main" id="{0BBF14A3-7BB0-89DD-37DC-27F2C92BA67B}"/>
                </a:ext>
              </a:extLst>
            </p:cNvPr>
            <p:cNvSpPr txBox="1"/>
            <p:nvPr/>
          </p:nvSpPr>
          <p:spPr>
            <a:xfrm>
              <a:off x="7466314" y="4404275"/>
              <a:ext cx="19488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>
                  <a:solidFill>
                    <a:srgbClr val="3FB950"/>
                  </a:solidFill>
                  <a:latin typeface="Consolas"/>
                  <a:ea typeface="Microsoft YaHei"/>
                  <a:cs typeface="Consolas"/>
                </a:rPr>
                <a:t>parse_parenthesized_expression</a:t>
              </a:r>
            </a:p>
          </p:txBody>
        </p:sp>
      </p:grp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A5D0F46C-62B0-DA64-713B-5EEC639ACC38}"/>
              </a:ext>
            </a:extLst>
          </p:cNvPr>
          <p:cNvCxnSpPr>
            <a:stCxn id="102" idx="2"/>
            <a:endCxn id="109" idx="1"/>
          </p:cNvCxnSpPr>
          <p:nvPr/>
        </p:nvCxnSpPr>
        <p:spPr>
          <a:xfrm>
            <a:off x="6286500" y="3301476"/>
            <a:ext cx="1011222" cy="518049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Line 76">
            <a:extLst>
              <a:ext uri="{FF2B5EF4-FFF2-40B4-BE49-F238E27FC236}">
                <a16:creationId xmlns:a16="http://schemas.microsoft.com/office/drawing/2014/main" id="{0D7CE225-C592-7683-9E4F-6E04A233E8A7}"/>
              </a:ext>
            </a:extLst>
          </p:cNvPr>
          <p:cNvSpPr/>
          <p:nvPr/>
        </p:nvSpPr>
        <p:spPr>
          <a:xfrm>
            <a:off x="8625165" y="3980528"/>
            <a:ext cx="45719" cy="310485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57212" y="316230"/>
            <a:ext cx="4843882" cy="648176"/>
            <a:chOff x="557212" y="316230"/>
            <a:chExt cx="4843882" cy="648176"/>
          </a:xfrm>
        </p:grpSpPr>
        <p:sp>
          <p:nvSpPr>
            <p:cNvPr id="5" name="Rectangle 5"/>
            <p:cNvSpPr/>
            <p:nvPr/>
          </p:nvSpPr>
          <p:spPr>
            <a:xfrm>
              <a:off x="571500" y="333375"/>
              <a:ext cx="666750" cy="304800"/>
            </a:xfrm>
            <a:prstGeom prst="roundRect">
              <a:avLst>
                <a:gd name="adj" fmla="val 50000"/>
              </a:avLst>
            </a:prstGeom>
            <a:solidFill>
              <a:srgbClr val="9334E6">
                <a:alpha val="15000"/>
              </a:srgbClr>
            </a:solidFill>
            <a:ln w="9525">
              <a:solidFill>
                <a:srgbClr val="9334E6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23359" y="428149"/>
              <a:ext cx="563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Phase 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54455" y="316230"/>
              <a:ext cx="404663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— Boolean Logic Optimizer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212" y="735806"/>
              <a:ext cx="44155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11 rewrite rules applied in a bottom-up fixed-point loop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1047750"/>
            <a:ext cx="3429000" cy="5334000"/>
            <a:chOff x="571500" y="1047750"/>
            <a:chExt cx="342900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047750"/>
              <a:ext cx="3429000" cy="533400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238250"/>
              <a:ext cx="495300" cy="495300"/>
            </a:xfrm>
            <a:prstGeom prst="roundRect">
              <a:avLst>
                <a:gd name="adj" fmla="val 19231"/>
              </a:avLst>
            </a:prstGeom>
            <a:solidFill>
              <a:srgbClr val="9334E6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94703" y="1343025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93508" y="1310164"/>
              <a:ext cx="106866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Rule Engine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97318" y="153304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_optimize_expression()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847850"/>
              <a:ext cx="3048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981200"/>
              <a:ext cx="3048000" cy="609600"/>
            </a:xfrm>
            <a:prstGeom prst="roundRect">
              <a:avLst>
                <a:gd name="adj" fmla="val 9375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Ellipse 17"/>
            <p:cNvSpPr/>
            <p:nvPr/>
          </p:nvSpPr>
          <p:spPr>
            <a:xfrm>
              <a:off x="838200" y="2047875"/>
              <a:ext cx="190500" cy="190500"/>
            </a:xfrm>
            <a:prstGeom prst="ellipse">
              <a:avLst/>
            </a:prstGeom>
            <a:solidFill>
              <a:srgbClr val="4285F4">
                <a:alpha val="20000"/>
              </a:srgbClr>
            </a:solidFill>
            <a:ln w="9525">
              <a:solidFill>
                <a:srgbClr val="4285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3995" y="2101691"/>
              <a:ext cx="589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1568" y="2028349"/>
              <a:ext cx="1647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Recurse children first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2520" y="2207895"/>
              <a:ext cx="267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Bottom-up: leaves simplified before root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2520" y="2398395"/>
              <a:ext cx="23428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_optimize_expression_recursively()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2705100"/>
              <a:ext cx="3048000" cy="533400"/>
            </a:xfrm>
            <a:prstGeom prst="roundRect">
              <a:avLst>
                <a:gd name="adj" fmla="val 10714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Ellipse 23"/>
            <p:cNvSpPr/>
            <p:nvPr/>
          </p:nvSpPr>
          <p:spPr>
            <a:xfrm>
              <a:off x="838200" y="2771775"/>
              <a:ext cx="190500" cy="190500"/>
            </a:xfrm>
            <a:prstGeom prst="ellipse">
              <a:avLst/>
            </a:prstGeom>
            <a:solidFill>
              <a:srgbClr val="9334E6">
                <a:alpha val="20000"/>
              </a:srgbClr>
            </a:solidFill>
            <a:ln w="9525">
              <a:solidFill>
                <a:srgbClr val="9334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8181" y="282559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1568" y="2752249"/>
              <a:ext cx="16918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Apply rules in sequence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2520" y="2931795"/>
              <a:ext cx="19813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Each returns new node or None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2520" y="3084195"/>
              <a:ext cx="19222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Expanding rules recurse again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3352800"/>
              <a:ext cx="3048000" cy="533400"/>
            </a:xfrm>
            <a:prstGeom prst="roundRect">
              <a:avLst>
                <a:gd name="adj" fmla="val 10714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Ellipse 29"/>
            <p:cNvSpPr/>
            <p:nvPr/>
          </p:nvSpPr>
          <p:spPr>
            <a:xfrm>
              <a:off x="838200" y="3419475"/>
              <a:ext cx="190500" cy="190500"/>
            </a:xfrm>
            <a:prstGeom prst="ellipse">
              <a:avLst/>
            </a:prstGeom>
            <a:solidFill>
              <a:srgbClr val="34A853">
                <a:alpha val="20000"/>
              </a:srgbClr>
            </a:solidFill>
            <a:ln w="9525">
              <a:solidFill>
                <a:srgbClr val="34A85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8181" y="347329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>
                  <a:solidFill>
                    <a:srgbClr val="34A853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1568" y="3399949"/>
              <a:ext cx="18040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Fixed-point convergence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2520" y="3579495"/>
              <a:ext cx="23034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Loop until no change in one full pass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2520" y="3731895"/>
              <a:ext cx="21654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Max 64 iterations (safety guard)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4000500"/>
              <a:ext cx="3048000" cy="533400"/>
            </a:xfrm>
            <a:prstGeom prst="roundRect">
              <a:avLst>
                <a:gd name="adj" fmla="val 10714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Ellipse 35"/>
            <p:cNvSpPr/>
            <p:nvPr/>
          </p:nvSpPr>
          <p:spPr>
            <a:xfrm>
              <a:off x="838200" y="4067175"/>
              <a:ext cx="190500" cy="190500"/>
            </a:xfrm>
            <a:prstGeom prst="ellipse">
              <a:avLst/>
            </a:prstGeom>
            <a:solidFill>
              <a:srgbClr val="1E8E3E">
                <a:alpha val="20000"/>
              </a:srgbClr>
            </a:solidFill>
            <a:ln w="9525">
              <a:solidFill>
                <a:srgbClr val="1E8E3E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8181" y="4120991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1568" y="4047649"/>
              <a:ext cx="15648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Verify if AST changed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2520" y="4227195"/>
              <a:ext cx="2217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If original ≠ optimized: seed added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2520" y="4379595"/>
              <a:ext cx="19222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for Phase 4 equivalence check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4686300"/>
              <a:ext cx="3048000" cy="571500"/>
            </a:xfrm>
            <a:prstGeom prst="roundRect">
              <a:avLst>
                <a:gd name="adj" fmla="val 10000"/>
              </a:avLst>
            </a:prstGeom>
            <a:solidFill>
              <a:srgbClr val="9334E6">
                <a:alpha val="8000"/>
              </a:srgbClr>
            </a:solidFill>
            <a:ln w="9525">
              <a:solidFill>
                <a:srgbClr val="9334E6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0118" y="4771549"/>
              <a:ext cx="1602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Implication runs first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1070" y="4951095"/>
              <a:ext cx="27832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IMPLIES elimination is marked "expanding" 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1070" y="5122545"/>
              <a:ext cx="30198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triggers a recursive re-pass after application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4533900" y="1143000"/>
            <a:ext cx="7467600" cy="5257800"/>
            <a:chOff x="4533900" y="1143000"/>
            <a:chExt cx="7467600" cy="5257800"/>
          </a:xfrm>
        </p:grpSpPr>
        <p:sp>
          <p:nvSpPr>
            <p:cNvPr id="45" name="Line 45"/>
            <p:cNvSpPr/>
            <p:nvPr/>
          </p:nvSpPr>
          <p:spPr>
            <a:xfrm>
              <a:off x="4667250" y="1143000"/>
              <a:ext cx="9525" cy="5257800"/>
            </a:xfrm>
            <a:custGeom>
              <a:avLst/>
              <a:gdLst/>
              <a:ahLst/>
              <a:cxnLst/>
              <a:rect l="l" t="t" r="r" b="b"/>
              <a:pathLst>
                <a:path w="9525" h="5257800">
                  <a:moveTo>
                    <a:pt x="0" y="0"/>
                  </a:moveTo>
                  <a:lnTo>
                    <a:pt x="0" y="5257800"/>
                  </a:lnTo>
                </a:path>
              </a:pathLst>
            </a:custGeom>
            <a:noFill/>
            <a:ln w="28575" cap="rnd">
              <a:gradFill>
                <a:gsLst>
                  <a:gs pos="0">
                    <a:srgbClr val="4285F4"/>
                  </a:gs>
                  <a:gs pos="40000">
                    <a:srgbClr val="9334E6"/>
                  </a:gs>
                  <a:gs pos="70000">
                    <a:srgbClr val="34A853"/>
                  </a:gs>
                  <a:gs pos="100000">
                    <a:srgbClr val="1E8E3E"/>
                  </a:gs>
                </a:gsLst>
                <a:lin ang="5400000" scaled="1"/>
              </a:gra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4533900" y="1143000"/>
              <a:ext cx="7467600" cy="285750"/>
              <a:chOff x="4533900" y="1143000"/>
              <a:chExt cx="7467600" cy="28575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4533900" y="1152525"/>
                <a:ext cx="266700" cy="266700"/>
              </a:xfrm>
              <a:prstGeom prst="ellipse">
                <a:avLst/>
              </a:prstGeom>
              <a:solidFill>
                <a:srgbClr val="4285F4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4581525" y="1200150"/>
                <a:ext cx="171450" cy="17145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640473" y="1243012"/>
                <a:ext cx="5355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1</a:t>
                </a: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4752975" y="1285875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4288">
                <a:solidFill>
                  <a:srgbClr val="4285F4"/>
                </a:solidFill>
                <a:custDash>
                  <a:ds d="200000" sp="133333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4933950" y="1143000"/>
                <a:ext cx="7067550" cy="28575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093018" y="1228249"/>
                <a:ext cx="1364156" cy="150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>
                    <a:latin typeface="Segoe UI"/>
                    <a:ea typeface="Microsoft YaHei"/>
                    <a:cs typeface="Segoe UI"/>
                  </a:rPr>
                  <a:t>Implication Elimination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655118" y="1228249"/>
                <a:ext cx="13989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A → B ≡ (NOT A) OR B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4533900" y="1571625"/>
              <a:ext cx="7467600" cy="285750"/>
              <a:chOff x="4533900" y="1571625"/>
              <a:chExt cx="7467600" cy="28575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4533900" y="1581150"/>
                <a:ext cx="266700" cy="266700"/>
              </a:xfrm>
              <a:prstGeom prst="ellipse">
                <a:avLst/>
              </a:prstGeom>
              <a:solidFill>
                <a:srgbClr val="9334E6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4581525" y="1628775"/>
                <a:ext cx="171450" cy="171450"/>
              </a:xfrm>
              <a:prstGeom prst="ellipse">
                <a:avLst/>
              </a:prstGeom>
              <a:solidFill>
                <a:srgbClr val="9334E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626096" y="1671638"/>
                <a:ext cx="823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2</a:t>
                </a:r>
              </a:p>
            </p:txBody>
          </p:sp>
          <p:sp>
            <p:nvSpPr>
              <p:cNvPr id="57" name="Line 57"/>
              <p:cNvSpPr/>
              <p:nvPr/>
            </p:nvSpPr>
            <p:spPr>
              <a:xfrm>
                <a:off x="4752975" y="1714500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4288">
                <a:solidFill>
                  <a:srgbClr val="9334E6"/>
                </a:solidFill>
                <a:custDash>
                  <a:ds d="200000" sp="133333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4933950" y="1571625"/>
                <a:ext cx="7067550" cy="28575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093018" y="1656874"/>
                <a:ext cx="1074012" cy="150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>
                    <a:latin typeface="Segoe UI"/>
                    <a:ea typeface="Microsoft YaHei"/>
                    <a:cs typeface="Segoe UI"/>
                  </a:rPr>
                  <a:t>De Morgan's Laws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655118" y="1656874"/>
                <a:ext cx="2343590" cy="150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NOT</a:t>
                </a:r>
                <a:r>
                  <a:rPr lang="zh-CN" altLang="en-US" sz="975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75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(A AND B) ≡ (NOT A) OR (NOT B)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4533900" y="2000250"/>
              <a:ext cx="7467600" cy="285750"/>
              <a:chOff x="4533900" y="2000250"/>
              <a:chExt cx="7467600" cy="285750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4533900" y="2009775"/>
                <a:ext cx="266700" cy="266700"/>
              </a:xfrm>
              <a:prstGeom prst="ellipse">
                <a:avLst/>
              </a:prstGeom>
              <a:solidFill>
                <a:srgbClr val="34A853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Ellipse 63"/>
              <p:cNvSpPr/>
              <p:nvPr/>
            </p:nvSpPr>
            <p:spPr>
              <a:xfrm>
                <a:off x="4581525" y="2057400"/>
                <a:ext cx="171450" cy="171450"/>
              </a:xfrm>
              <a:prstGeom prst="ellipse">
                <a:avLst/>
              </a:pr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626096" y="2100262"/>
                <a:ext cx="823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3</a:t>
                </a:r>
              </a:p>
            </p:txBody>
          </p:sp>
          <p:sp>
            <p:nvSpPr>
              <p:cNvPr id="65" name="Line 65"/>
              <p:cNvSpPr/>
              <p:nvPr/>
            </p:nvSpPr>
            <p:spPr>
              <a:xfrm>
                <a:off x="4752975" y="2143125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4288">
                <a:solidFill>
                  <a:srgbClr val="34A853"/>
                </a:solidFill>
                <a:custDash>
                  <a:ds d="200000" sp="133333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Rectangle 66"/>
              <p:cNvSpPr/>
              <p:nvPr/>
            </p:nvSpPr>
            <p:spPr>
              <a:xfrm>
                <a:off x="4933950" y="2000250"/>
                <a:ext cx="7067550" cy="28575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5093018" y="2085499"/>
                <a:ext cx="1006686" cy="150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>
                    <a:latin typeface="Segoe UI"/>
                    <a:ea typeface="Microsoft YaHei"/>
                    <a:cs typeface="Segoe UI"/>
                  </a:rPr>
                  <a:t>Double Negation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655118" y="2085499"/>
                <a:ext cx="11141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NOT (NOT A) ≡ A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4581525" y="2438400"/>
              <a:ext cx="7419975" cy="273844"/>
              <a:chOff x="4581525" y="2438400"/>
              <a:chExt cx="7419975" cy="273844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4581525" y="2486025"/>
                <a:ext cx="171450" cy="171450"/>
              </a:xfrm>
              <a:prstGeom prst="ellipse">
                <a:avLst/>
              </a:prstGeom>
              <a:solidFill>
                <a:srgbClr val="4285F4">
                  <a:alpha val="5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4626096" y="2528888"/>
                <a:ext cx="823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4</a:t>
                </a:r>
              </a:p>
            </p:txBody>
          </p:sp>
          <p:sp>
            <p:nvSpPr>
              <p:cNvPr id="72" name="Line 72"/>
              <p:cNvSpPr/>
              <p:nvPr/>
            </p:nvSpPr>
            <p:spPr>
              <a:xfrm>
                <a:off x="4752975" y="2571750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4288">
                <a:solidFill>
                  <a:srgbClr val="4285F4">
                    <a:alpha val="50000"/>
                  </a:srgbClr>
                </a:solidFill>
                <a:custDash>
                  <a:ds d="200000" sp="133333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4933950" y="2438400"/>
                <a:ext cx="7067550" cy="266700"/>
              </a:xfrm>
              <a:prstGeom prst="roundRect">
                <a:avLst>
                  <a:gd name="adj" fmla="val 17857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5093018" y="2514124"/>
                <a:ext cx="690895" cy="150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Idempotent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655118" y="2514124"/>
                <a:ext cx="15413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A AND A ≡ A | A OR A ≡ A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4581525" y="2838450"/>
              <a:ext cx="7419975" cy="273844"/>
              <a:chOff x="4581525" y="2838450"/>
              <a:chExt cx="7419975" cy="273844"/>
            </a:xfrm>
          </p:grpSpPr>
          <p:sp>
            <p:nvSpPr>
              <p:cNvPr id="77" name="Ellipse 77"/>
              <p:cNvSpPr/>
              <p:nvPr/>
            </p:nvSpPr>
            <p:spPr>
              <a:xfrm>
                <a:off x="4581525" y="2886075"/>
                <a:ext cx="171450" cy="171450"/>
              </a:xfrm>
              <a:prstGeom prst="ellipse">
                <a:avLst/>
              </a:prstGeom>
              <a:solidFill>
                <a:srgbClr val="4285F4">
                  <a:alpha val="5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4626096" y="2928938"/>
                <a:ext cx="823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5</a:t>
                </a:r>
              </a:p>
            </p:txBody>
          </p:sp>
          <p:sp>
            <p:nvSpPr>
              <p:cNvPr id="79" name="Line 79"/>
              <p:cNvSpPr/>
              <p:nvPr/>
            </p:nvSpPr>
            <p:spPr>
              <a:xfrm>
                <a:off x="4752975" y="2971800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4288">
                <a:solidFill>
                  <a:srgbClr val="4285F4">
                    <a:alpha val="50000"/>
                  </a:srgbClr>
                </a:solidFill>
                <a:custDash>
                  <a:ds d="200000" sp="133333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4933950" y="2838450"/>
                <a:ext cx="7067550" cy="266700"/>
              </a:xfrm>
              <a:prstGeom prst="roundRect">
                <a:avLst>
                  <a:gd name="adj" fmla="val 17857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5093018" y="2914174"/>
                <a:ext cx="458459" cy="150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Identity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6655118" y="2914174"/>
                <a:ext cx="20895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A AND TRUE ≡ A | A OR FALSE ≡ A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4581525" y="3238500"/>
              <a:ext cx="7419975" cy="273844"/>
              <a:chOff x="4581525" y="3238500"/>
              <a:chExt cx="7419975" cy="273844"/>
            </a:xfrm>
          </p:grpSpPr>
          <p:sp>
            <p:nvSpPr>
              <p:cNvPr id="84" name="Ellipse 84"/>
              <p:cNvSpPr/>
              <p:nvPr/>
            </p:nvSpPr>
            <p:spPr>
              <a:xfrm>
                <a:off x="4581525" y="3286125"/>
                <a:ext cx="171450" cy="171450"/>
              </a:xfrm>
              <a:prstGeom prst="ellipse">
                <a:avLst/>
              </a:prstGeom>
              <a:solidFill>
                <a:srgbClr val="9334E6">
                  <a:alpha val="5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4626096" y="3328988"/>
                <a:ext cx="823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6</a:t>
                </a:r>
              </a:p>
            </p:txBody>
          </p:sp>
          <p:sp>
            <p:nvSpPr>
              <p:cNvPr id="86" name="Line 86"/>
              <p:cNvSpPr/>
              <p:nvPr/>
            </p:nvSpPr>
            <p:spPr>
              <a:xfrm>
                <a:off x="4752975" y="3371850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4288">
                <a:solidFill>
                  <a:srgbClr val="9334E6">
                    <a:alpha val="50000"/>
                  </a:srgbClr>
                </a:solidFill>
                <a:custDash>
                  <a:ds d="200000" sp="133333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Rectangle 87"/>
              <p:cNvSpPr/>
              <p:nvPr/>
            </p:nvSpPr>
            <p:spPr>
              <a:xfrm>
                <a:off x="4933950" y="3238500"/>
                <a:ext cx="7067550" cy="266700"/>
              </a:xfrm>
              <a:prstGeom prst="roundRect">
                <a:avLst>
                  <a:gd name="adj" fmla="val 17857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5093018" y="3314224"/>
                <a:ext cx="546625" cy="150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Negation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6655118" y="3314224"/>
                <a:ext cx="30151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A AND (NOT A) ≡ FALSE | A OR (NOT A) ≡ TRUE</a:t>
                </a: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4581525" y="3638550"/>
              <a:ext cx="7419975" cy="273844"/>
              <a:chOff x="4581525" y="3638550"/>
              <a:chExt cx="7419975" cy="273844"/>
            </a:xfrm>
          </p:grpSpPr>
          <p:sp>
            <p:nvSpPr>
              <p:cNvPr id="91" name="Ellipse 91"/>
              <p:cNvSpPr/>
              <p:nvPr/>
            </p:nvSpPr>
            <p:spPr>
              <a:xfrm>
                <a:off x="4581525" y="3686175"/>
                <a:ext cx="171450" cy="171450"/>
              </a:xfrm>
              <a:prstGeom prst="ellipse">
                <a:avLst/>
              </a:prstGeom>
              <a:solidFill>
                <a:srgbClr val="9334E6">
                  <a:alpha val="5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4626096" y="3729038"/>
                <a:ext cx="823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7</a:t>
                </a:r>
              </a:p>
            </p:txBody>
          </p:sp>
          <p:sp>
            <p:nvSpPr>
              <p:cNvPr id="93" name="Line 93"/>
              <p:cNvSpPr/>
              <p:nvPr/>
            </p:nvSpPr>
            <p:spPr>
              <a:xfrm>
                <a:off x="4752975" y="3771900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4288">
                <a:solidFill>
                  <a:srgbClr val="9334E6">
                    <a:alpha val="50000"/>
                  </a:srgbClr>
                </a:solidFill>
                <a:custDash>
                  <a:ds d="200000" sp="133333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Rectangle 94"/>
              <p:cNvSpPr/>
              <p:nvPr/>
            </p:nvSpPr>
            <p:spPr>
              <a:xfrm>
                <a:off x="4933950" y="3638550"/>
                <a:ext cx="7067550" cy="266700"/>
              </a:xfrm>
              <a:prstGeom prst="roundRect">
                <a:avLst>
                  <a:gd name="adj" fmla="val 17857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5093018" y="3714274"/>
                <a:ext cx="961802" cy="150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Universal Bound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6655118" y="3714274"/>
                <a:ext cx="263778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A AND FALSE ≡ FALSE | A OR TRUE ≡ TRUE</a:t>
                </a: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4581525" y="4038600"/>
              <a:ext cx="7419975" cy="273844"/>
              <a:chOff x="4581525" y="4038600"/>
              <a:chExt cx="7419975" cy="273844"/>
            </a:xfrm>
          </p:grpSpPr>
          <p:sp>
            <p:nvSpPr>
              <p:cNvPr id="98" name="Ellipse 98"/>
              <p:cNvSpPr/>
              <p:nvPr/>
            </p:nvSpPr>
            <p:spPr>
              <a:xfrm>
                <a:off x="4581525" y="4086225"/>
                <a:ext cx="171450" cy="171450"/>
              </a:xfrm>
              <a:prstGeom prst="ellipse">
                <a:avLst/>
              </a:prstGeom>
              <a:solidFill>
                <a:srgbClr val="34A853">
                  <a:alpha val="5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4626096" y="4129088"/>
                <a:ext cx="823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8</a:t>
                </a:r>
              </a:p>
            </p:txBody>
          </p:sp>
          <p:sp>
            <p:nvSpPr>
              <p:cNvPr id="100" name="Line 100"/>
              <p:cNvSpPr/>
              <p:nvPr/>
            </p:nvSpPr>
            <p:spPr>
              <a:xfrm>
                <a:off x="4752975" y="4171950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4288">
                <a:solidFill>
                  <a:srgbClr val="34A853">
                    <a:alpha val="50000"/>
                  </a:srgbClr>
                </a:solidFill>
                <a:custDash>
                  <a:ds d="200000" sp="133333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Rectangle 101"/>
              <p:cNvSpPr/>
              <p:nvPr/>
            </p:nvSpPr>
            <p:spPr>
              <a:xfrm>
                <a:off x="4933950" y="4038600"/>
                <a:ext cx="7067550" cy="266700"/>
              </a:xfrm>
              <a:prstGeom prst="roundRect">
                <a:avLst>
                  <a:gd name="adj" fmla="val 17857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5093018" y="4114324"/>
                <a:ext cx="658835" cy="150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Absorption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6655118" y="4114324"/>
                <a:ext cx="124939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A OR (A AND B) ≡ A</a:t>
                </a: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4581525" y="4438650"/>
              <a:ext cx="7419975" cy="273844"/>
              <a:chOff x="4581525" y="4438650"/>
              <a:chExt cx="7419975" cy="273844"/>
            </a:xfrm>
          </p:grpSpPr>
          <p:sp>
            <p:nvSpPr>
              <p:cNvPr id="105" name="Ellipse 105"/>
              <p:cNvSpPr/>
              <p:nvPr/>
            </p:nvSpPr>
            <p:spPr>
              <a:xfrm>
                <a:off x="4581525" y="4486275"/>
                <a:ext cx="171450" cy="171450"/>
              </a:xfrm>
              <a:prstGeom prst="ellipse">
                <a:avLst/>
              </a:prstGeom>
              <a:solidFill>
                <a:srgbClr val="34A853">
                  <a:alpha val="5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4626096" y="4529138"/>
                <a:ext cx="823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9</a:t>
                </a:r>
              </a:p>
            </p:txBody>
          </p:sp>
          <p:sp>
            <p:nvSpPr>
              <p:cNvPr id="107" name="Line 107"/>
              <p:cNvSpPr/>
              <p:nvPr/>
            </p:nvSpPr>
            <p:spPr>
              <a:xfrm>
                <a:off x="4752975" y="4572000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4288">
                <a:solidFill>
                  <a:srgbClr val="34A853">
                    <a:alpha val="50000"/>
                  </a:srgbClr>
                </a:solidFill>
                <a:custDash>
                  <a:ds d="200000" sp="133333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Rectangle 108"/>
              <p:cNvSpPr/>
              <p:nvPr/>
            </p:nvSpPr>
            <p:spPr>
              <a:xfrm>
                <a:off x="4933950" y="4438650"/>
                <a:ext cx="7067550" cy="266700"/>
              </a:xfrm>
              <a:prstGeom prst="roundRect">
                <a:avLst>
                  <a:gd name="adj" fmla="val 17857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5093018" y="4514374"/>
                <a:ext cx="839974" cy="150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Normalization</a:t>
                </a:r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6655118" y="4514374"/>
                <a:ext cx="30863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Flatten nested same-op + deduplicate terms</a:t>
                </a: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4581525" y="4838700"/>
              <a:ext cx="7419975" cy="266700"/>
              <a:chOff x="4581525" y="4838700"/>
              <a:chExt cx="7419975" cy="266700"/>
            </a:xfrm>
          </p:grpSpPr>
          <p:sp>
            <p:nvSpPr>
              <p:cNvPr id="112" name="Ellipse 112"/>
              <p:cNvSpPr/>
              <p:nvPr/>
            </p:nvSpPr>
            <p:spPr>
              <a:xfrm>
                <a:off x="4581525" y="4886325"/>
                <a:ext cx="171450" cy="171450"/>
              </a:xfrm>
              <a:prstGeom prst="ellipse">
                <a:avLst/>
              </a:prstGeom>
              <a:solidFill>
                <a:srgbClr val="1E8E3E">
                  <a:alpha val="5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4608844" y="4929188"/>
                <a:ext cx="11681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10</a:t>
                </a:r>
              </a:p>
            </p:txBody>
          </p:sp>
          <p:sp>
            <p:nvSpPr>
              <p:cNvPr id="114" name="Line 114"/>
              <p:cNvSpPr/>
              <p:nvPr/>
            </p:nvSpPr>
            <p:spPr>
              <a:xfrm>
                <a:off x="4752975" y="4972050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4288">
                <a:solidFill>
                  <a:srgbClr val="1E8E3E">
                    <a:alpha val="50000"/>
                  </a:srgbClr>
                </a:solidFill>
                <a:custDash>
                  <a:ds d="200000" sp="133333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Rectangle 115"/>
              <p:cNvSpPr/>
              <p:nvPr/>
            </p:nvSpPr>
            <p:spPr>
              <a:xfrm>
                <a:off x="4933950" y="4838700"/>
                <a:ext cx="7067550" cy="266700"/>
              </a:xfrm>
              <a:prstGeom prst="roundRect">
                <a:avLst>
                  <a:gd name="adj" fmla="val 17857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5093018" y="4914424"/>
                <a:ext cx="1171796" cy="150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Consensus Theorem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6656070" y="4922520"/>
                <a:ext cx="4360168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(x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AND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y)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OR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(NOT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x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AND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z)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OR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(y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AND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z) ≡ (x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AND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y)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OR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(NOT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x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AND</a:t>
                </a:r>
                <a:r>
                  <a:rPr lang="zh-CN" altLang="en-US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 </a:t>
                </a:r>
                <a:r>
                  <a:rPr lang="zh-CN" sz="900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z)</a:t>
                </a:r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>
              <a:off x="4581525" y="5238750"/>
              <a:ext cx="7419975" cy="273844"/>
              <a:chOff x="4581525" y="5238750"/>
              <a:chExt cx="7419975" cy="273844"/>
            </a:xfrm>
          </p:grpSpPr>
          <p:sp>
            <p:nvSpPr>
              <p:cNvPr id="119" name="Ellipse 119"/>
              <p:cNvSpPr/>
              <p:nvPr/>
            </p:nvSpPr>
            <p:spPr>
              <a:xfrm>
                <a:off x="4581525" y="5286375"/>
                <a:ext cx="171450" cy="171450"/>
              </a:xfrm>
              <a:prstGeom prst="ellipse">
                <a:avLst/>
              </a:prstGeom>
              <a:solidFill>
                <a:srgbClr val="1E8E3E">
                  <a:alpha val="5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TextBox 120"/>
              <p:cNvSpPr txBox="1"/>
              <p:nvPr/>
            </p:nvSpPr>
            <p:spPr>
              <a:xfrm>
                <a:off x="4623221" y="5329238"/>
                <a:ext cx="8805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11</a:t>
                </a:r>
              </a:p>
            </p:txBody>
          </p:sp>
          <p:sp>
            <p:nvSpPr>
              <p:cNvPr id="121" name="Line 121"/>
              <p:cNvSpPr/>
              <p:nvPr/>
            </p:nvSpPr>
            <p:spPr>
              <a:xfrm>
                <a:off x="4752975" y="5372100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4288">
                <a:solidFill>
                  <a:srgbClr val="1E8E3E">
                    <a:alpha val="50000"/>
                  </a:srgbClr>
                </a:solidFill>
                <a:custDash>
                  <a:ds d="200000" sp="133333"/>
                </a:custDash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Rectangle 122"/>
              <p:cNvSpPr/>
              <p:nvPr/>
            </p:nvSpPr>
            <p:spPr>
              <a:xfrm>
                <a:off x="4933950" y="5238750"/>
                <a:ext cx="7067550" cy="266700"/>
              </a:xfrm>
              <a:prstGeom prst="roundRect">
                <a:avLst>
                  <a:gd name="adj" fmla="val 17857"/>
                </a:avLst>
              </a:prstGeom>
              <a:solidFill>
                <a:srgbClr val="FFFFFF"/>
              </a:solidFill>
              <a:ln w="9525">
                <a:solidFill>
                  <a:srgbClr val="DADCE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TextBox 123"/>
              <p:cNvSpPr txBox="1"/>
              <p:nvPr/>
            </p:nvSpPr>
            <p:spPr>
              <a:xfrm>
                <a:off x="5093018" y="5314474"/>
                <a:ext cx="1106072" cy="150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Constant Negation</a:t>
                </a:r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6655118" y="5314474"/>
                <a:ext cx="25025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Consolas"/>
                    <a:ea typeface="Microsoft YaHei"/>
                    <a:cs typeface="Consolas"/>
                  </a:rPr>
                  <a:t>NOT TRUE ≡ FALSE | NOT FALSE ≡ TRUE</a:t>
                </a:r>
              </a:p>
            </p:txBody>
          </p:sp>
        </p:grpSp>
        <p:sp>
          <p:nvSpPr>
            <p:cNvPr id="126" name="Polygon 126"/>
            <p:cNvSpPr/>
            <p:nvPr/>
          </p:nvSpPr>
          <p:spPr>
            <a:xfrm>
              <a:off x="4610100" y="54292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114300"/>
                  </a:move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8E3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561022" y="6572250"/>
            <a:ext cx="11069955" cy="269081"/>
            <a:chOff x="561022" y="6572250"/>
            <a:chExt cx="11069955" cy="269081"/>
          </a:xfrm>
        </p:grpSpPr>
        <p:sp>
          <p:nvSpPr>
            <p:cNvPr id="128" name="Rectangle 128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477482" y="667369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08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1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57212" y="316230"/>
            <a:ext cx="5253514" cy="648176"/>
            <a:chOff x="557212" y="316230"/>
            <a:chExt cx="5253514" cy="648176"/>
          </a:xfrm>
        </p:grpSpPr>
        <p:sp>
          <p:nvSpPr>
            <p:cNvPr id="5" name="Rectangle 5"/>
            <p:cNvSpPr/>
            <p:nvPr/>
          </p:nvSpPr>
          <p:spPr>
            <a:xfrm>
              <a:off x="571500" y="333375"/>
              <a:ext cx="666750" cy="304800"/>
            </a:xfrm>
            <a:prstGeom prst="roundRect">
              <a:avLst>
                <a:gd name="adj" fmla="val 50000"/>
              </a:avLst>
            </a:prstGeom>
            <a:solidFill>
              <a:srgbClr val="9334E6">
                <a:alpha val="15000"/>
              </a:srgbClr>
            </a:solidFill>
            <a:ln w="9525">
              <a:solidFill>
                <a:srgbClr val="9334E6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23359" y="428149"/>
              <a:ext cx="563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Phase 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54455" y="316230"/>
              <a:ext cx="333815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— Optimizer in Action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212" y="735806"/>
              <a:ext cx="52535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Step-by-step simplification and the consensus theorem deep dive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1047750"/>
            <a:ext cx="11049000" cy="2286000"/>
            <a:chOff x="571500" y="1047750"/>
            <a:chExt cx="11049000" cy="2286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047750"/>
              <a:ext cx="11049000" cy="22860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7712" y="1212056"/>
              <a:ext cx="39534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Step-by-step: Optimizing NOT ((NOT p) AND q)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1447800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31179" y="1549241"/>
              <a:ext cx="5571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INPUT AST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32143" y="1674019"/>
              <a:ext cx="555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["NOT",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21238" y="1836897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["AND",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09357" y="1955959"/>
              <a:ext cx="10259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["NOT","VAR_P"],</a:t>
              </a:r>
              <a:endParaRPr lang="en-US" altLang="zh-CN" sz="900">
                <a:solidFill>
                  <a:srgbClr val="202124"/>
                </a:solidFill>
                <a:latin typeface="Consolas"/>
                <a:ea typeface="Microsoft YaHei"/>
                <a:cs typeface="Consolas"/>
              </a:endParaRPr>
            </a:p>
            <a:p>
              <a:pPr algn="ctr"/>
              <a:r>
                <a:rPr lang="en-US" altLang="zh-CN" sz="900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“VAR_Q”]]</a:t>
              </a:r>
              <a:endParaRPr lang="zh-CN" sz="900">
                <a:solidFill>
                  <a:srgbClr val="2021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2857500" y="1828800"/>
              <a:ext cx="266700" cy="1"/>
            </a:xfrm>
            <a:prstGeom prst="line">
              <a:avLst/>
            </a:prstGeom>
            <a:noFill/>
            <a:ln w="19050">
              <a:solidFill>
                <a:srgbClr val="9334E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143250" y="1447800"/>
              <a:ext cx="2476500" cy="762000"/>
            </a:xfrm>
            <a:prstGeom prst="roundRect">
              <a:avLst>
                <a:gd name="adj" fmla="val 10000"/>
              </a:avLst>
            </a:prstGeom>
            <a:solidFill>
              <a:srgbClr val="F8F9FA"/>
            </a:solidFill>
            <a:ln w="9525">
              <a:solidFill>
                <a:srgbClr val="9334E6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80021" y="1549241"/>
              <a:ext cx="10029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AFTER DE MORGAN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50201" y="1664494"/>
              <a:ext cx="44884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["OR",</a:t>
              </a:r>
              <a:endParaRPr lang="en-US" altLang="zh-CN" sz="900">
                <a:solidFill>
                  <a:srgbClr val="9334E6"/>
                </a:solidFill>
                <a:latin typeface="Consolas"/>
                <a:ea typeface="Microsoft YaHei"/>
                <a:cs typeface="Consolas"/>
              </a:endParaRPr>
            </a:p>
            <a:p>
              <a:pPr algn="l"/>
              <a:r>
                <a:rPr lang="en-US" altLang="zh-CN" sz="900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[“NOT”,</a:t>
              </a:r>
              <a:endParaRPr lang="zh-CN" sz="900">
                <a:solidFill>
                  <a:srgbClr val="9334E6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40730" y="1936701"/>
              <a:ext cx="109004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["NOT","VAR_P"]</a:t>
              </a:r>
              <a:r>
                <a:rPr lang="en-US" altLang="zh-CN" sz="900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]</a:t>
              </a:r>
              <a:r>
                <a:rPr lang="zh-CN" sz="900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,</a:t>
              </a:r>
              <a:endParaRPr lang="en-US" altLang="zh-CN" sz="900">
                <a:solidFill>
                  <a:srgbClr val="9334E6"/>
                </a:solidFill>
                <a:latin typeface="Consolas"/>
                <a:ea typeface="Microsoft YaHei"/>
                <a:cs typeface="Consolas"/>
              </a:endParaRPr>
            </a:p>
            <a:p>
              <a:pPr algn="l"/>
              <a:r>
                <a:rPr lang="en-US" altLang="zh-CN" sz="900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“VAR_Q”]</a:t>
              </a:r>
              <a:endParaRPr lang="zh-CN" sz="900">
                <a:solidFill>
                  <a:srgbClr val="9334E6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5619750" y="1828800"/>
              <a:ext cx="266700" cy="1"/>
            </a:xfrm>
            <a:prstGeom prst="line">
              <a:avLst/>
            </a:prstGeom>
            <a:noFill/>
            <a:ln w="19050">
              <a:solidFill>
                <a:srgbClr val="34A853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905500" y="1447800"/>
              <a:ext cx="2667000" cy="762000"/>
            </a:xfrm>
            <a:prstGeom prst="roundRect">
              <a:avLst>
                <a:gd name="adj" fmla="val 10000"/>
              </a:avLst>
            </a:prstGeom>
            <a:solidFill>
              <a:srgbClr val="F8F9FA"/>
            </a:solidFill>
            <a:ln w="9525">
              <a:solidFill>
                <a:srgbClr val="34A853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53772" y="1549241"/>
              <a:ext cx="1370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>
                  <a:solidFill>
                    <a:srgbClr val="34A853"/>
                  </a:solidFill>
                  <a:latin typeface="Segoe UI"/>
                  <a:ea typeface="Microsoft YaHei"/>
                  <a:cs typeface="Segoe UI"/>
                </a:rPr>
                <a:t>AFTER DOUBLE NEGATION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89320" y="1741170"/>
              <a:ext cx="482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["OR",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89320" y="1903095"/>
              <a:ext cx="6012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"VAR_P",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89320" y="2055495"/>
              <a:ext cx="12321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["NOT","VAR_Q"]]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572500" y="1828800"/>
              <a:ext cx="266700" cy="1"/>
            </a:xfrm>
            <a:prstGeom prst="line">
              <a:avLst/>
            </a:prstGeom>
            <a:noFill/>
            <a:ln w="19050">
              <a:solidFill>
                <a:srgbClr val="1E8E3E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858250" y="1447800"/>
              <a:ext cx="2571750" cy="762000"/>
            </a:xfrm>
            <a:prstGeom prst="roundRect">
              <a:avLst>
                <a:gd name="adj" fmla="val 10000"/>
              </a:avLst>
            </a:prstGeom>
            <a:solidFill>
              <a:srgbClr val="1E8E3E">
                <a:alpha val="10000"/>
              </a:srgbClr>
            </a:solidFill>
            <a:ln w="14288">
              <a:solidFill>
                <a:srgbClr val="1E8E3E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79868" y="1549241"/>
              <a:ext cx="1128514" cy="126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FINAL OPTIMIZED AST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41118" y="1733074"/>
              <a:ext cx="9147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p OR (NOT q)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42070" y="1960245"/>
              <a:ext cx="13110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3 nodes vs 6 original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" y="2362200"/>
              <a:ext cx="2667000" cy="266700"/>
            </a:xfrm>
            <a:prstGeom prst="roundRect">
              <a:avLst>
                <a:gd name="adj" fmla="val 50000"/>
              </a:avLst>
            </a:prstGeom>
            <a:solidFill>
              <a:srgbClr val="1E8E3E">
                <a:alpha val="12000"/>
              </a:srgbClr>
            </a:solidFill>
            <a:ln w="9525">
              <a:solidFill>
                <a:srgbClr val="1E8E3E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4730" y="2437924"/>
              <a:ext cx="28015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✓ is_equivalent: TRUE (Phase 4 verified)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3505200"/>
            <a:ext cx="5524500" cy="2857500"/>
            <a:chOff x="571500" y="3505200"/>
            <a:chExt cx="5524500" cy="2857500"/>
          </a:xfrm>
        </p:grpSpPr>
        <p:sp>
          <p:nvSpPr>
            <p:cNvPr id="41" name="Rectangle 41"/>
            <p:cNvSpPr/>
            <p:nvPr/>
          </p:nvSpPr>
          <p:spPr>
            <a:xfrm>
              <a:off x="571500" y="3505200"/>
              <a:ext cx="5524500" cy="2857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7712" y="3688556"/>
              <a:ext cx="16330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Consensus Theorem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3886200"/>
              <a:ext cx="952500" cy="19050"/>
            </a:xfrm>
            <a:prstGeom prst="rect">
              <a:avLst/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618" y="4009549"/>
              <a:ext cx="34423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Beyond basic laws — eliminates a redundant term: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4248150"/>
              <a:ext cx="5143500" cy="476250"/>
            </a:xfrm>
            <a:prstGeom prst="roundRect">
              <a:avLst>
                <a:gd name="adj" fmla="val 12000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0118" y="4333399"/>
              <a:ext cx="6584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(x AND y)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83118" y="4333399"/>
              <a:ext cx="2098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OR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483168" y="4333399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(NOT x AND z)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988118" y="4333399"/>
              <a:ext cx="2098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OR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88168" y="4333399"/>
              <a:ext cx="6584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(y AND z)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311057" y="4444841"/>
              <a:ext cx="6173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redundant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262384" y="4692968"/>
              <a:ext cx="142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↓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62000" y="4914900"/>
              <a:ext cx="5143500" cy="342900"/>
            </a:xfrm>
            <a:prstGeom prst="roundRect">
              <a:avLst>
                <a:gd name="adj" fmla="val 16667"/>
              </a:avLst>
            </a:prstGeom>
            <a:solidFill>
              <a:srgbClr val="9334E6">
                <a:alpha val="10000"/>
              </a:srgbClr>
            </a:solidFill>
            <a:ln w="9525">
              <a:solidFill>
                <a:srgbClr val="9334E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0118" y="5000149"/>
              <a:ext cx="6584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(x AND y)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083118" y="5000149"/>
              <a:ext cx="2098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OR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483168" y="5000149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(NOT x AND z)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9618" y="5381149"/>
              <a:ext cx="42468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Implementation: flatten OR groups → detect complement pair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9618" y="5571649"/>
              <a:ext cx="40760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→ construct consensus term (y AND z) → remove if present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9618" y="5800249"/>
              <a:ext cx="37200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POS dual form also supported for AND outer operator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286500" y="3505200"/>
            <a:ext cx="5334000" cy="2857500"/>
            <a:chOff x="6286500" y="3505200"/>
            <a:chExt cx="5334000" cy="2857500"/>
          </a:xfrm>
        </p:grpSpPr>
        <p:sp>
          <p:nvSpPr>
            <p:cNvPr id="61" name="Rectangle 61"/>
            <p:cNvSpPr/>
            <p:nvPr/>
          </p:nvSpPr>
          <p:spPr>
            <a:xfrm>
              <a:off x="6286500" y="3505200"/>
              <a:ext cx="5334000" cy="2857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62712" y="3688556"/>
              <a:ext cx="24956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Optimizer Function Hierarchy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77000" y="3886200"/>
              <a:ext cx="952500" cy="19050"/>
            </a:xfrm>
            <a:prstGeom prst="rect">
              <a:avLst/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63665" y="4058602"/>
              <a:ext cx="28483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run_optimizer_phase(parser_output)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8001000" y="42291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57408" y="4432081"/>
              <a:ext cx="14145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optimize_ast(ast)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8001000" y="45910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273576" y="4792079"/>
              <a:ext cx="16675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_optimize_node(node)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8001000" y="49530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30415" y="5165419"/>
              <a:ext cx="21037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_optimize_expr_recursively()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8001000" y="53149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62509" y="5526405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_optimize_expression()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751320" y="5732145"/>
              <a:ext cx="11664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→ 11 rule functions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751320" y="5903595"/>
              <a:ext cx="11598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→ fixed-point loop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751320" y="6075045"/>
              <a:ext cx="1619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→ returns optimized node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61022" y="6572250"/>
            <a:ext cx="11069955" cy="269081"/>
            <a:chOff x="561022" y="6572250"/>
            <a:chExt cx="11069955" cy="269081"/>
          </a:xfrm>
        </p:grpSpPr>
        <p:sp>
          <p:nvSpPr>
            <p:cNvPr id="77" name="Rectangle 77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477482" y="667369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60" grpId="0"/>
      <p:bldP spid="7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57212" y="316230"/>
            <a:ext cx="6699409" cy="648176"/>
            <a:chOff x="557212" y="316230"/>
            <a:chExt cx="6699409" cy="648176"/>
          </a:xfrm>
        </p:grpSpPr>
        <p:sp>
          <p:nvSpPr>
            <p:cNvPr id="5" name="Rectangle 5"/>
            <p:cNvSpPr/>
            <p:nvPr/>
          </p:nvSpPr>
          <p:spPr>
            <a:xfrm>
              <a:off x="571500" y="333375"/>
              <a:ext cx="666750" cy="304800"/>
            </a:xfrm>
            <a:prstGeom prst="roundRect">
              <a:avLst>
                <a:gd name="adj" fmla="val 50000"/>
              </a:avLst>
            </a:prstGeom>
            <a:solidFill>
              <a:srgbClr val="1E8E3E">
                <a:alpha val="15000"/>
              </a:srgbClr>
            </a:solidFill>
            <a:ln w="9525">
              <a:solidFill>
                <a:srgbClr val="1E8E3E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23359" y="428149"/>
              <a:ext cx="563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Phase 4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54455" y="316230"/>
              <a:ext cx="40949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— Equivalence Verification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212" y="735806"/>
              <a:ext cx="66994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Exhaustive truth-table comparison proves semantic equivalence after optimization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1047750"/>
            <a:ext cx="5334000" cy="5334000"/>
            <a:chOff x="571500" y="1047750"/>
            <a:chExt cx="533400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047750"/>
              <a:ext cx="5334000" cy="5334000"/>
            </a:xfrm>
            <a:prstGeom prst="roundRect">
              <a:avLst>
                <a:gd name="adj" fmla="val 1786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31413" y="1288256"/>
              <a:ext cx="1814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Truth Table for line 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11526" y="1494949"/>
              <a:ext cx="20539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Original: NOT((NOT p) AND q)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75285" y="168544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Optimized: p OR (NOT q)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1924050"/>
              <a:ext cx="4953000" cy="361950"/>
            </a:xfrm>
            <a:prstGeom prst="roundRect">
              <a:avLst>
                <a:gd name="adj" fmla="val 15789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0634" y="20393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37884" y="20393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q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28794" y="2047399"/>
              <a:ext cx="6004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Original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87535" y="2047399"/>
              <a:ext cx="749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Optimized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62000" y="22860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1600200" y="1924050"/>
              <a:ext cx="9525" cy="3200400"/>
            </a:xfrm>
            <a:custGeom>
              <a:avLst/>
              <a:gdLst/>
              <a:ahLst/>
              <a:cxnLst/>
              <a:rect l="l" t="t" r="r" b="b"/>
              <a:pathLst>
                <a:path w="9525"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noFill/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2552700" y="1924050"/>
              <a:ext cx="9525" cy="3200400"/>
            </a:xfrm>
            <a:custGeom>
              <a:avLst/>
              <a:gdLst/>
              <a:ahLst/>
              <a:cxnLst/>
              <a:rect l="l" t="t" r="r" b="b"/>
              <a:pathLst>
                <a:path w="9525"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noFill/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4095750" y="1924050"/>
              <a:ext cx="9525" cy="3200400"/>
            </a:xfrm>
            <a:custGeom>
              <a:avLst/>
              <a:gdLst/>
              <a:ahLst/>
              <a:cxnLst/>
              <a:rect l="l" t="t" r="r" b="b"/>
              <a:pathLst>
                <a:path w="9525"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noFill/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2286000"/>
              <a:ext cx="4953000" cy="704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76519" y="256460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33769" y="256460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67269" y="256460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00769" y="256460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524500" y="2428875"/>
              <a:ext cx="228600" cy="228600"/>
            </a:xfrm>
            <a:prstGeom prst="roundRect">
              <a:avLst>
                <a:gd name="adj" fmla="val 50000"/>
              </a:avLst>
            </a:prstGeom>
            <a:solidFill>
              <a:srgbClr val="1E8E3E">
                <a:alpha val="2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83293" y="24774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=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62000" y="29908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76519" y="326945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33769" y="326945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EA4335"/>
                  </a:solidFill>
                  <a:latin typeface="Consolas"/>
                  <a:ea typeface="Microsoft YaHei"/>
                  <a:cs typeface="Consolas"/>
                </a:rPr>
                <a:t>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67269" y="326945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00769" y="326945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T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24500" y="3133725"/>
              <a:ext cx="228600" cy="228600"/>
            </a:xfrm>
            <a:prstGeom prst="roundRect">
              <a:avLst>
                <a:gd name="adj" fmla="val 50000"/>
              </a:avLst>
            </a:prstGeom>
            <a:solidFill>
              <a:srgbClr val="1E8E3E">
                <a:alpha val="2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83293" y="31823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=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62000" y="36957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76519" y="397430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EA4335"/>
                  </a:solidFill>
                  <a:latin typeface="Consolas"/>
                  <a:ea typeface="Microsoft YaHei"/>
                  <a:cs typeface="Consolas"/>
                </a:rPr>
                <a:t>F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33769" y="397430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67269" y="397430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EA4335"/>
                  </a:solidFill>
                  <a:latin typeface="Consolas"/>
                  <a:ea typeface="Microsoft YaHei"/>
                  <a:cs typeface="Consolas"/>
                </a:rPr>
                <a:t>F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00769" y="397430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EA4335"/>
                  </a:solidFill>
                  <a:latin typeface="Consolas"/>
                  <a:ea typeface="Microsoft YaHei"/>
                  <a:cs typeface="Consolas"/>
                </a:rPr>
                <a:t>F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24500" y="3838575"/>
              <a:ext cx="228600" cy="228600"/>
            </a:xfrm>
            <a:prstGeom prst="roundRect">
              <a:avLst>
                <a:gd name="adj" fmla="val 50000"/>
              </a:avLst>
            </a:prstGeom>
            <a:solidFill>
              <a:srgbClr val="1E8E3E">
                <a:alpha val="2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83293" y="38871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=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62000" y="44005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76519" y="467915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EA4335"/>
                  </a:solidFill>
                  <a:latin typeface="Consolas"/>
                  <a:ea typeface="Microsoft YaHei"/>
                  <a:cs typeface="Consolas"/>
                </a:rPr>
                <a:t>F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33769" y="467915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EA4335"/>
                  </a:solidFill>
                  <a:latin typeface="Consolas"/>
                  <a:ea typeface="Microsoft YaHei"/>
                  <a:cs typeface="Consolas"/>
                </a:rPr>
                <a:t>F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67269" y="467915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700769" y="4679156"/>
              <a:ext cx="123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T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24500" y="4543425"/>
              <a:ext cx="228600" cy="228600"/>
            </a:xfrm>
            <a:prstGeom prst="roundRect">
              <a:avLst>
                <a:gd name="adj" fmla="val 50000"/>
              </a:avLst>
            </a:prstGeom>
            <a:solidFill>
              <a:srgbClr val="1E8E3E">
                <a:alpha val="2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83293" y="45920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=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62000" y="51054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62000" y="5124450"/>
              <a:ext cx="4953000" cy="457200"/>
            </a:xfrm>
            <a:prstGeom prst="roundRect">
              <a:avLst>
                <a:gd name="adj" fmla="val 12500"/>
              </a:avLst>
            </a:prstGeom>
            <a:solidFill>
              <a:srgbClr val="1E8E3E">
                <a:alpha val="10000"/>
              </a:srgbClr>
            </a:solidFill>
            <a:ln w="9525">
              <a:solidFill>
                <a:srgbClr val="1E8E3E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550753" y="5288756"/>
              <a:ext cx="33754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✓ All 4 rows match — is_equivalent: TRUE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923169" y="5762149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2 variables → 2² = 4 rows | O(2ⁿ) cost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848410" y="5952649"/>
              <a:ext cx="27801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n=10 vars → 1,024 rows | n=20 → ~1M rows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286500" y="1047750"/>
            <a:ext cx="5334000" cy="5334000"/>
            <a:chOff x="6286500" y="1047750"/>
            <a:chExt cx="5334000" cy="5334000"/>
          </a:xfrm>
        </p:grpSpPr>
        <p:sp>
          <p:nvSpPr>
            <p:cNvPr id="57" name="Rectangle 57"/>
            <p:cNvSpPr/>
            <p:nvPr/>
          </p:nvSpPr>
          <p:spPr>
            <a:xfrm>
              <a:off x="6286500" y="1047750"/>
              <a:ext cx="5334000" cy="5334000"/>
            </a:xfrm>
            <a:prstGeom prst="roundRect">
              <a:avLst>
                <a:gd name="adj" fmla="val 1786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77000" y="1238250"/>
              <a:ext cx="495300" cy="495300"/>
            </a:xfrm>
            <a:prstGeom prst="roundRect">
              <a:avLst>
                <a:gd name="adj" fmla="val 19231"/>
              </a:avLst>
            </a:prstGeom>
            <a:solidFill>
              <a:srgbClr val="1E8E3E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6581775" y="1336625"/>
              <a:ext cx="300466" cy="300958"/>
            </a:xfrm>
            <a:custGeom>
              <a:avLst/>
              <a:gdLst/>
              <a:ahLst/>
              <a:cxnLst/>
              <a:rect l="l" t="t" r="r" b="b"/>
              <a:pathLst>
                <a:path w="300466" h="300958">
                  <a:moveTo>
                    <a:pt x="214312" y="25545"/>
                  </a:moveTo>
                  <a:cubicBezTo>
                    <a:pt x="273854" y="59924"/>
                    <a:pt x="300466" y="131835"/>
                    <a:pt x="277649" y="196693"/>
                  </a:cubicBezTo>
                  <a:cubicBezTo>
                    <a:pt x="254832" y="261550"/>
                    <a:pt x="189056" y="300958"/>
                    <a:pt x="121104" y="290484"/>
                  </a:cubicBezTo>
                  <a:cubicBezTo>
                    <a:pt x="53153" y="280009"/>
                    <a:pt x="2298" y="222622"/>
                    <a:pt x="71" y="153904"/>
                  </a:cubicBezTo>
                  <a:lnTo>
                    <a:pt x="0" y="149275"/>
                  </a:lnTo>
                  <a:lnTo>
                    <a:pt x="71" y="144646"/>
                  </a:lnTo>
                  <a:cubicBezTo>
                    <a:pt x="1699" y="94454"/>
                    <a:pt x="29558" y="48801"/>
                    <a:pt x="73450" y="24400"/>
                  </a:cubicBezTo>
                  <a:cubicBezTo>
                    <a:pt x="117343" y="0"/>
                    <a:pt x="170823" y="435"/>
                    <a:pt x="214312" y="25545"/>
                  </a:cubicBezTo>
                  <a:close/>
                  <a:moveTo>
                    <a:pt x="195839" y="110599"/>
                  </a:moveTo>
                  <a:cubicBezTo>
                    <a:pt x="190749" y="105509"/>
                    <a:pt x="182667" y="105001"/>
                    <a:pt x="176979" y="109413"/>
                  </a:cubicBezTo>
                  <a:lnTo>
                    <a:pt x="175636" y="110599"/>
                  </a:lnTo>
                  <a:lnTo>
                    <a:pt x="128588" y="157633"/>
                  </a:lnTo>
                  <a:lnTo>
                    <a:pt x="110114" y="139174"/>
                  </a:lnTo>
                  <a:lnTo>
                    <a:pt x="108771" y="137988"/>
                  </a:lnTo>
                  <a:cubicBezTo>
                    <a:pt x="103083" y="133579"/>
                    <a:pt x="95004" y="134089"/>
                    <a:pt x="89915" y="139177"/>
                  </a:cubicBezTo>
                  <a:cubicBezTo>
                    <a:pt x="84826" y="144266"/>
                    <a:pt x="84317" y="152345"/>
                    <a:pt x="88725" y="158033"/>
                  </a:cubicBezTo>
                  <a:lnTo>
                    <a:pt x="89911" y="159376"/>
                  </a:lnTo>
                  <a:lnTo>
                    <a:pt x="118486" y="187951"/>
                  </a:lnTo>
                  <a:lnTo>
                    <a:pt x="119829" y="189137"/>
                  </a:lnTo>
                  <a:cubicBezTo>
                    <a:pt x="124983" y="193136"/>
                    <a:pt x="132192" y="193136"/>
                    <a:pt x="137346" y="189137"/>
                  </a:cubicBezTo>
                  <a:lnTo>
                    <a:pt x="138689" y="187951"/>
                  </a:lnTo>
                  <a:lnTo>
                    <a:pt x="195839" y="130801"/>
                  </a:lnTo>
                  <a:lnTo>
                    <a:pt x="197025" y="129458"/>
                  </a:lnTo>
                  <a:cubicBezTo>
                    <a:pt x="201437" y="123771"/>
                    <a:pt x="200928" y="115689"/>
                    <a:pt x="195839" y="110599"/>
                  </a:cubicBezTo>
                  <a:close/>
                </a:path>
              </a:pathLst>
            </a:custGeom>
            <a:solidFill>
              <a:srgbClr val="1E8E3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08508" y="1310164"/>
              <a:ext cx="20365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verify_equivalence()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12318" y="153304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Consumes Phase 3 seeds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7000" y="1828800"/>
              <a:ext cx="4953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77000" y="1962150"/>
              <a:ext cx="4953000" cy="609600"/>
            </a:xfrm>
            <a:prstGeom prst="roundRect">
              <a:avLst>
                <a:gd name="adj" fmla="val 12500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77000" y="1962150"/>
              <a:ext cx="38100" cy="609600"/>
            </a:xfrm>
            <a:prstGeom prst="roundRect">
              <a:avLst>
                <a:gd name="adj" fmla="val 50000"/>
              </a:avLst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35115" y="2039302"/>
              <a:ext cx="15966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1. Extract variables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36068" y="2237899"/>
              <a:ext cx="32643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Walk both ASTs → collect all unique VAR_X names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37020" y="2398395"/>
              <a:ext cx="2993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extract_variables(ast) → {"VAR_P", "VAR_Q"}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477000" y="2686050"/>
              <a:ext cx="4953000" cy="609600"/>
            </a:xfrm>
            <a:prstGeom prst="roundRect">
              <a:avLst>
                <a:gd name="adj" fmla="val 12500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77000" y="2686050"/>
              <a:ext cx="38100" cy="609600"/>
            </a:xfrm>
            <a:prstGeom prst="roundRect">
              <a:avLst>
                <a:gd name="adj" fmla="val 50000"/>
              </a:avLst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35115" y="2763202"/>
              <a:ext cx="18864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2. Enumerate 2ⁿ states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36068" y="2961799"/>
              <a:ext cx="32429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Bitwise iteration: bit j of row i → T/F for var j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37020" y="3122295"/>
              <a:ext cx="22902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for i in range(2**n): state = {...}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477000" y="3409950"/>
              <a:ext cx="4953000" cy="609600"/>
            </a:xfrm>
            <a:prstGeom prst="roundRect">
              <a:avLst>
                <a:gd name="adj" fmla="val 12500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477000" y="3409950"/>
              <a:ext cx="38100" cy="609600"/>
            </a:xfrm>
            <a:prstGeom prst="roundRect">
              <a:avLst>
                <a:gd name="adj" fmla="val 50000"/>
              </a:avLst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35115" y="3487102"/>
              <a:ext cx="1725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34A853"/>
                  </a:solidFill>
                  <a:latin typeface="Segoe UI"/>
                  <a:ea typeface="Microsoft YaHei"/>
                  <a:cs typeface="Segoe UI"/>
                </a:rPr>
                <a:t>3. Evaluate both ASTs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36068" y="3685699"/>
              <a:ext cx="4674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evaluate_ast(original, state) and evaluate_ast(optimized, state)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37020" y="3846195"/>
              <a:ext cx="23428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recursive operator truth semantics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477000" y="4133850"/>
              <a:ext cx="4953000" cy="609600"/>
            </a:xfrm>
            <a:prstGeom prst="roundRect">
              <a:avLst>
                <a:gd name="adj" fmla="val 12500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477000" y="4133850"/>
              <a:ext cx="38100" cy="609600"/>
            </a:xfrm>
            <a:prstGeom prst="roundRect">
              <a:avLst>
                <a:gd name="adj" fmla="val 50000"/>
              </a:avLst>
            </a:prstGeom>
            <a:solidFill>
              <a:srgbClr val="1E8E3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35115" y="4211002"/>
              <a:ext cx="23534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4. Compare column-by-column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36068" y="4409599"/>
              <a:ext cx="25808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Any mismatch → is_equivalent = FALSE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37020" y="4570095"/>
              <a:ext cx="32169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Consolas"/>
                  <a:ea typeface="Microsoft YaHei"/>
                  <a:cs typeface="Consolas"/>
                </a:rPr>
                <a:t>if orig_result != opt_result: is_equivalent = False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477000" y="4876800"/>
              <a:ext cx="4953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64618" y="4981099"/>
              <a:ext cx="21963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Verification output structure: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477000" y="5181600"/>
              <a:ext cx="4953000" cy="914400"/>
            </a:xfrm>
            <a:prstGeom prst="roundRect">
              <a:avLst>
                <a:gd name="adj" fmla="val 6250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656070" y="529399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{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827520" y="5465445"/>
              <a:ext cx="6472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"line": 3,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27520" y="5636895"/>
              <a:ext cx="2697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"variables_tested": ["VAR_P","VAR_Q"],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827520" y="5808345"/>
              <a:ext cx="2848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"ast_original_column": ["T","T","F","T"],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827520" y="5941695"/>
              <a:ext cx="15541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"is_equivalent": "TRUE"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61022" y="6572250"/>
            <a:ext cx="11069956" cy="269081"/>
            <a:chOff x="561022" y="6572250"/>
            <a:chExt cx="11069956" cy="269081"/>
          </a:xfrm>
        </p:grpSpPr>
        <p:sp>
          <p:nvSpPr>
            <p:cNvPr id="92" name="Rectangle 92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7605" y="66736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9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57212" y="316230"/>
            <a:ext cx="5426035" cy="648176"/>
            <a:chOff x="557212" y="316230"/>
            <a:chExt cx="5426035" cy="648176"/>
          </a:xfrm>
        </p:grpSpPr>
        <p:sp>
          <p:nvSpPr>
            <p:cNvPr id="5" name="Rectangle 5"/>
            <p:cNvSpPr/>
            <p:nvPr/>
          </p:nvSpPr>
          <p:spPr>
            <a:xfrm>
              <a:off x="571500" y="333375"/>
              <a:ext cx="666750" cy="304800"/>
            </a:xfrm>
            <a:prstGeom prst="roundRect">
              <a:avLst>
                <a:gd name="adj" fmla="val 50000"/>
              </a:avLst>
            </a:prstGeom>
            <a:solidFill>
              <a:srgbClr val="1E8E3E">
                <a:alpha val="15000"/>
              </a:srgbClr>
            </a:solidFill>
            <a:ln w="9525">
              <a:solidFill>
                <a:srgbClr val="1E8E3E">
                  <a:alpha val="5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23359" y="428149"/>
              <a:ext cx="563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Phase 4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54455" y="316230"/>
              <a:ext cx="291949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— Execution Engine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212" y="735806"/>
              <a:ext cx="54260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Statement dispatch, state management, and JSON output assembly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1047750"/>
            <a:ext cx="5143500" cy="5334000"/>
            <a:chOff x="571500" y="1047750"/>
            <a:chExt cx="514350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047750"/>
              <a:ext cx="5143500" cy="5334000"/>
            </a:xfrm>
            <a:prstGeom prst="roundRect">
              <a:avLst>
                <a:gd name="adj" fmla="val 1852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238250"/>
              <a:ext cx="495300" cy="495300"/>
            </a:xfrm>
            <a:prstGeom prst="roundRect">
              <a:avLst>
                <a:gd name="adj" fmla="val 19231"/>
              </a:avLst>
            </a:prstGeom>
            <a:solidFill>
              <a:srgbClr val="1E8E3E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66773" y="1336625"/>
              <a:ext cx="300850" cy="302024"/>
            </a:xfrm>
            <a:custGeom>
              <a:avLst/>
              <a:gdLst/>
              <a:ahLst/>
              <a:cxnLst/>
              <a:rect l="l" t="t" r="r" b="b"/>
              <a:pathLst>
                <a:path w="300850" h="302024">
                  <a:moveTo>
                    <a:pt x="214314" y="25545"/>
                  </a:moveTo>
                  <a:cubicBezTo>
                    <a:pt x="274362" y="60214"/>
                    <a:pt x="300850" y="132991"/>
                    <a:pt x="277135" y="198146"/>
                  </a:cubicBezTo>
                  <a:cubicBezTo>
                    <a:pt x="253420" y="263301"/>
                    <a:pt x="186348" y="302024"/>
                    <a:pt x="118064" y="289983"/>
                  </a:cubicBezTo>
                  <a:cubicBezTo>
                    <a:pt x="49781" y="277941"/>
                    <a:pt x="0" y="218612"/>
                    <a:pt x="2" y="149275"/>
                  </a:cubicBezTo>
                  <a:lnTo>
                    <a:pt x="73" y="144646"/>
                  </a:lnTo>
                  <a:cubicBezTo>
                    <a:pt x="1701" y="94454"/>
                    <a:pt x="29560" y="48801"/>
                    <a:pt x="73452" y="24400"/>
                  </a:cubicBezTo>
                  <a:cubicBezTo>
                    <a:pt x="117344" y="0"/>
                    <a:pt x="170824" y="435"/>
                    <a:pt x="214314" y="25545"/>
                  </a:cubicBezTo>
                  <a:moveTo>
                    <a:pt x="162051" y="100126"/>
                  </a:moveTo>
                  <a:cubicBezTo>
                    <a:pt x="158489" y="98829"/>
                    <a:pt x="154557" y="99000"/>
                    <a:pt x="151122" y="100603"/>
                  </a:cubicBezTo>
                  <a:cubicBezTo>
                    <a:pt x="147687" y="102205"/>
                    <a:pt x="145029" y="105107"/>
                    <a:pt x="143734" y="108670"/>
                  </a:cubicBezTo>
                  <a:lnTo>
                    <a:pt x="115159" y="187251"/>
                  </a:lnTo>
                  <a:cubicBezTo>
                    <a:pt x="112460" y="194668"/>
                    <a:pt x="116286" y="202869"/>
                    <a:pt x="123703" y="205568"/>
                  </a:cubicBezTo>
                  <a:cubicBezTo>
                    <a:pt x="131120" y="208266"/>
                    <a:pt x="139321" y="204441"/>
                    <a:pt x="142020" y="197024"/>
                  </a:cubicBezTo>
                  <a:lnTo>
                    <a:pt x="170595" y="118443"/>
                  </a:lnTo>
                  <a:cubicBezTo>
                    <a:pt x="171892" y="114881"/>
                    <a:pt x="171720" y="110949"/>
                    <a:pt x="170118" y="107514"/>
                  </a:cubicBezTo>
                  <a:cubicBezTo>
                    <a:pt x="168515" y="104079"/>
                    <a:pt x="165613" y="101421"/>
                    <a:pt x="162051" y="100126"/>
                  </a:cubicBezTo>
                  <a:moveTo>
                    <a:pt x="102972" y="117742"/>
                  </a:moveTo>
                  <a:cubicBezTo>
                    <a:pt x="97393" y="112165"/>
                    <a:pt x="88349" y="112165"/>
                    <a:pt x="82769" y="117742"/>
                  </a:cubicBezTo>
                  <a:lnTo>
                    <a:pt x="61338" y="139174"/>
                  </a:lnTo>
                  <a:cubicBezTo>
                    <a:pt x="55760" y="144753"/>
                    <a:pt x="55760" y="153797"/>
                    <a:pt x="61338" y="159376"/>
                  </a:cubicBezTo>
                  <a:lnTo>
                    <a:pt x="82769" y="180807"/>
                  </a:lnTo>
                  <a:cubicBezTo>
                    <a:pt x="88349" y="186385"/>
                    <a:pt x="97393" y="186385"/>
                    <a:pt x="102972" y="180807"/>
                  </a:cubicBezTo>
                  <a:lnTo>
                    <a:pt x="104158" y="179464"/>
                  </a:lnTo>
                  <a:cubicBezTo>
                    <a:pt x="108570" y="173777"/>
                    <a:pt x="108061" y="165695"/>
                    <a:pt x="102972" y="160605"/>
                  </a:cubicBezTo>
                  <a:lnTo>
                    <a:pt x="91656" y="149275"/>
                  </a:lnTo>
                  <a:lnTo>
                    <a:pt x="102972" y="137945"/>
                  </a:lnTo>
                  <a:cubicBezTo>
                    <a:pt x="108549" y="132366"/>
                    <a:pt x="108549" y="123322"/>
                    <a:pt x="102972" y="117742"/>
                  </a:cubicBezTo>
                  <a:moveTo>
                    <a:pt x="202984" y="117742"/>
                  </a:moveTo>
                  <a:cubicBezTo>
                    <a:pt x="197405" y="112165"/>
                    <a:pt x="188361" y="112165"/>
                    <a:pt x="182782" y="117742"/>
                  </a:cubicBezTo>
                  <a:lnTo>
                    <a:pt x="181596" y="119085"/>
                  </a:lnTo>
                  <a:cubicBezTo>
                    <a:pt x="177184" y="124773"/>
                    <a:pt x="177692" y="132855"/>
                    <a:pt x="182782" y="137945"/>
                  </a:cubicBezTo>
                  <a:lnTo>
                    <a:pt x="194097" y="149275"/>
                  </a:lnTo>
                  <a:lnTo>
                    <a:pt x="182782" y="160605"/>
                  </a:lnTo>
                  <a:cubicBezTo>
                    <a:pt x="177367" y="166211"/>
                    <a:pt x="177445" y="175122"/>
                    <a:pt x="182956" y="180633"/>
                  </a:cubicBezTo>
                  <a:cubicBezTo>
                    <a:pt x="188467" y="186145"/>
                    <a:pt x="197378" y="186222"/>
                    <a:pt x="202984" y="180807"/>
                  </a:cubicBezTo>
                  <a:lnTo>
                    <a:pt x="224416" y="159376"/>
                  </a:lnTo>
                  <a:cubicBezTo>
                    <a:pt x="229993" y="153797"/>
                    <a:pt x="229993" y="144753"/>
                    <a:pt x="224416" y="139174"/>
                  </a:cubicBezTo>
                  <a:close/>
                </a:path>
              </a:pathLst>
            </a:custGeom>
            <a:solidFill>
              <a:srgbClr val="1E8E3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93508" y="1310164"/>
              <a:ext cx="21147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execute_statement()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97318" y="1533049"/>
              <a:ext cx="29937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Dispatches by AST tag → updates state dict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828800"/>
              <a:ext cx="47625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62000" y="1962150"/>
              <a:ext cx="4762500" cy="809625"/>
              <a:chOff x="762000" y="1962150"/>
              <a:chExt cx="4762500" cy="809625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62000" y="1962150"/>
                <a:ext cx="4762500" cy="781050"/>
              </a:xfrm>
              <a:prstGeom prst="roundRect">
                <a:avLst>
                  <a:gd name="adj" fmla="val 9756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1962150"/>
                <a:ext cx="38100" cy="781050"/>
              </a:xfrm>
              <a:prstGeom prst="roundRect">
                <a:avLst>
                  <a:gd name="adj" fmla="val 50000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20115" y="2039302"/>
                <a:ext cx="2923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>
                    <a:solidFill>
                      <a:srgbClr val="4285F4"/>
                    </a:solidFill>
                    <a:latin typeface="Consolas"/>
                    <a:ea typeface="Microsoft YaHei"/>
                    <a:cs typeface="Consolas"/>
                  </a:rPr>
                  <a:t>LET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83018" y="2047399"/>
                <a:ext cx="7581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statement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21068" y="2256949"/>
                <a:ext cx="28798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Evaluate expression → store in state dict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22020" y="2455545"/>
                <a:ext cx="30723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>
                    <a:solidFill>
                      <a:srgbClr val="80868B"/>
                    </a:solidFill>
                    <a:latin typeface="Consolas"/>
                    <a:ea typeface="Microsoft YaHei"/>
                    <a:cs typeface="Consolas"/>
                  </a:rPr>
                  <a:t>state["VAR_P"] = evaluate_ast(ast[2], state)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22020" y="2588895"/>
                <a:ext cx="217198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Returns None (no printed output)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62000" y="2857500"/>
              <a:ext cx="4762500" cy="942975"/>
              <a:chOff x="762000" y="2857500"/>
              <a:chExt cx="4762500" cy="94297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62000" y="2857500"/>
                <a:ext cx="47625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762000" y="2857500"/>
                <a:ext cx="38100" cy="914400"/>
              </a:xfrm>
              <a:prstGeom prst="roundRect">
                <a:avLst>
                  <a:gd name="adj" fmla="val 50000"/>
                </a:avLst>
              </a:pr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20115" y="2934652"/>
                <a:ext cx="1635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>
                    <a:solidFill>
                      <a:srgbClr val="34A853"/>
                    </a:solidFill>
                    <a:latin typeface="Consolas"/>
                    <a:ea typeface="Microsoft YaHei"/>
                    <a:cs typeface="Consolas"/>
                  </a:rPr>
                  <a:t>IF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87768" y="2942749"/>
                <a:ext cx="7581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statement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21068" y="3152299"/>
                <a:ext cx="32785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Evaluate condition → if TRUE, recurse into body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22020" y="3350895"/>
                <a:ext cx="275691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>
                    <a:solidFill>
                      <a:srgbClr val="80868B"/>
                    </a:solidFill>
                    <a:latin typeface="Consolas"/>
                    <a:ea typeface="Microsoft YaHei"/>
                    <a:cs typeface="Consolas"/>
                  </a:rPr>
                  <a:t>if evaluate_ast(ast[1], state) == "TRUE":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22020" y="3522345"/>
                <a:ext cx="280292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>
                    <a:solidFill>
                      <a:srgbClr val="80868B"/>
                    </a:solidFill>
                    <a:latin typeface="Consolas"/>
                    <a:ea typeface="Microsoft YaHei"/>
                    <a:cs typeface="Consolas"/>
                  </a:rPr>
                  <a:t>return execute_statement(ast[2], state)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22020" y="3617595"/>
                <a:ext cx="251374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Condition FALSE → returns None silently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62000" y="3886200"/>
              <a:ext cx="4762500" cy="809625"/>
              <a:chOff x="762000" y="3886200"/>
              <a:chExt cx="4762500" cy="809625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62000" y="3886200"/>
                <a:ext cx="4762500" cy="781050"/>
              </a:xfrm>
              <a:prstGeom prst="roundRect">
                <a:avLst>
                  <a:gd name="adj" fmla="val 9756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762000" y="3886200"/>
                <a:ext cx="38100" cy="781050"/>
              </a:xfrm>
              <a:prstGeom prst="roundRect">
                <a:avLst>
                  <a:gd name="adj" fmla="val 50000"/>
                </a:avLst>
              </a:prstGeom>
              <a:solidFill>
                <a:srgbClr val="9334E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20115" y="3963352"/>
                <a:ext cx="4292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>
                    <a:solidFill>
                      <a:srgbClr val="9334E6"/>
                    </a:solidFill>
                    <a:latin typeface="Consolas"/>
                    <a:ea typeface="Microsoft YaHei"/>
                    <a:cs typeface="Consolas"/>
                  </a:rPr>
                  <a:t>PRINT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540192" y="3971449"/>
                <a:ext cx="7581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statement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21068" y="4180999"/>
                <a:ext cx="30080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202124"/>
                    </a:solidFill>
                    <a:latin typeface="Segoe UI"/>
                    <a:ea typeface="Microsoft YaHei"/>
                    <a:cs typeface="Segoe UI"/>
                  </a:rPr>
                  <a:t>Look up variable in state → return its value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22020" y="4379595"/>
                <a:ext cx="282263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>
                    <a:solidFill>
                      <a:srgbClr val="80868B"/>
                    </a:solidFill>
                    <a:latin typeface="Consolas"/>
                    <a:ea typeface="Microsoft YaHei"/>
                    <a:cs typeface="Consolas"/>
                  </a:rPr>
                  <a:t>return state["VAR_P"] # "TRUE" or "FALSE"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22020" y="4512945"/>
                <a:ext cx="20339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>
                    <a:solidFill>
                      <a:srgbClr val="5F6368"/>
                    </a:solidFill>
                    <a:latin typeface="Segoe UI"/>
                    <a:ea typeface="Microsoft YaHei"/>
                    <a:cs typeface="Segoe UI"/>
                  </a:rPr>
                  <a:t>Captured in printed_output list</a:t>
                </a:r>
              </a:p>
            </p:txBody>
          </p:sp>
        </p:grpSp>
        <p:sp>
          <p:nvSpPr>
            <p:cNvPr id="41" name="Rectangle 41"/>
            <p:cNvSpPr/>
            <p:nvPr/>
          </p:nvSpPr>
          <p:spPr>
            <a:xfrm>
              <a:off x="762000" y="4800600"/>
              <a:ext cx="47625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8665" y="4877752"/>
              <a:ext cx="145873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r>
                <a:rPr lang="zh-CN" sz="105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Unified Error Hierarchy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5086350"/>
              <a:ext cx="4762500" cy="952500"/>
            </a:xfrm>
            <a:prstGeom prst="roundRect">
              <a:avLst>
                <a:gd name="adj" fmla="val 8000"/>
              </a:avLst>
            </a:prstGeom>
            <a:solidFill>
              <a:srgbClr val="EA4335">
                <a:alpha val="5000"/>
              </a:srgbClr>
            </a:solidFill>
            <a:ln w="9525">
              <a:solidFill>
                <a:srgbClr val="EA4335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9165" y="520160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EA4335"/>
                  </a:solidFill>
                  <a:latin typeface="Consolas"/>
                  <a:ea typeface="Microsoft YaHei"/>
                  <a:cs typeface="Consolas"/>
                </a:rPr>
                <a:t>CompilerError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25868" y="5400199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├── LexicalError (phase_1_lexer)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25868" y="5590699"/>
              <a:ext cx="2381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├── ParseError (phase_2_parser)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25868" y="5781199"/>
              <a:ext cx="2858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└── ExecutionError (phase_4_execution)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096000" y="1047750"/>
            <a:ext cx="5524500" cy="5334000"/>
            <a:chOff x="6096000" y="1047750"/>
            <a:chExt cx="5524500" cy="5334000"/>
          </a:xfrm>
        </p:grpSpPr>
        <p:sp>
          <p:nvSpPr>
            <p:cNvPr id="49" name="Rectangle 49"/>
            <p:cNvSpPr/>
            <p:nvPr/>
          </p:nvSpPr>
          <p:spPr>
            <a:xfrm>
              <a:off x="6096000" y="1047750"/>
              <a:ext cx="5524500" cy="5334000"/>
            </a:xfrm>
            <a:prstGeom prst="roundRect">
              <a:avLst>
                <a:gd name="adj" fmla="val 1786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72212" y="1288256"/>
              <a:ext cx="35911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run_execution_phase() — Full JSON Output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86500" y="1504950"/>
              <a:ext cx="51435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86500" y="1600200"/>
              <a:ext cx="5143500" cy="3048000"/>
            </a:xfrm>
            <a:prstGeom prst="roundRect">
              <a:avLst>
                <a:gd name="adj" fmla="val 2500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64618" y="17235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{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55118" y="1933099"/>
              <a:ext cx="14772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"phase_4_execution"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74368" y="19330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: {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46570" y="2150745"/>
              <a:ext cx="11927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"verifications": [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37070" y="234124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{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08520" y="2512695"/>
              <a:ext cx="6472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"line": 3,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08520" y="2684145"/>
              <a:ext cx="2697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"variables_tested": ["VAR_P","VAR_Q"],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08520" y="2855595"/>
              <a:ext cx="2848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"ast_original_column": ["T","T","F","T"],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08520" y="3027045"/>
              <a:ext cx="29803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"ast_optimized_column": ["T","T","F","T"],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08520" y="3198495"/>
              <a:ext cx="15541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"is_equivalent": "TRUE"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37070" y="336994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46570" y="35413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],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46570" y="3731895"/>
              <a:ext cx="18105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"final_state_dictionary": {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37070" y="3903345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"VAR_P": "TRUE",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37070" y="4074795"/>
              <a:ext cx="1245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EA4335"/>
                  </a:solidFill>
                  <a:latin typeface="Consolas"/>
                  <a:ea typeface="Microsoft YaHei"/>
                  <a:cs typeface="Consolas"/>
                </a:rPr>
                <a:t>"VAR_Q": "FALSE",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037070" y="42462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1E8E3E"/>
                  </a:solidFill>
                  <a:latin typeface="Consolas"/>
                  <a:ea typeface="Microsoft YaHei"/>
                  <a:cs typeface="Consolas"/>
                </a:rPr>
                <a:t>"VAR_R": "TRUE"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46570" y="44176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},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64618" y="44286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64618" y="46000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202124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86500" y="4762500"/>
              <a:ext cx="51435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273165" y="4858702"/>
              <a:ext cx="34805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evaluate_ast() — Operator Truth Semantics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86500" y="5067300"/>
              <a:ext cx="5143500" cy="952500"/>
            </a:xfrm>
            <a:prstGeom prst="roundRect">
              <a:avLst>
                <a:gd name="adj" fmla="val 8000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559868" y="5171599"/>
              <a:ext cx="7125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Operator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560118" y="5171599"/>
              <a:ext cx="316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Rule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6477000" y="53340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560820" y="5408295"/>
              <a:ext cx="3777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9334E6"/>
                  </a:solidFill>
                  <a:latin typeface="Consolas"/>
                  <a:ea typeface="Microsoft YaHei"/>
                  <a:cs typeface="Consolas"/>
                </a:rPr>
                <a:t>NOT A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561070" y="540829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→ T if A=F, else F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560820" y="55797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A AND B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561070" y="55797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→ T only if both T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560820" y="57511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A OR B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561070" y="5751195"/>
              <a:ext cx="12781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→ T if at least one T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560820" y="59035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A IMPLIES B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561070" y="5903595"/>
              <a:ext cx="1350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→ F only if A=T &amp;&amp; B=F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561022" y="6572250"/>
            <a:ext cx="11069956" cy="269081"/>
            <a:chOff x="561022" y="6572250"/>
            <a:chExt cx="11069956" cy="269081"/>
          </a:xfrm>
        </p:grpSpPr>
        <p:sp>
          <p:nvSpPr>
            <p:cNvPr id="87" name="Rectangle 87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37728" y="6673691"/>
              <a:ext cx="932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11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8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379095"/>
            <a:ext cx="6623685" cy="632936"/>
            <a:chOff x="571500" y="379095"/>
            <a:chExt cx="6623685" cy="632936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93420" y="379095"/>
              <a:ext cx="650176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Testing Suite — Four Phase Coverage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9612" y="783431"/>
              <a:ext cx="46209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Valid and invalid test cases for each phase of the pipeline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1082040"/>
            <a:ext cx="5585460" cy="2575560"/>
            <a:chOff x="571500" y="1082040"/>
            <a:chExt cx="5585460" cy="2575560"/>
          </a:xfrm>
        </p:grpSpPr>
        <p:sp>
          <p:nvSpPr>
            <p:cNvPr id="9" name="Rectangle 9"/>
            <p:cNvSpPr/>
            <p:nvPr/>
          </p:nvSpPr>
          <p:spPr>
            <a:xfrm>
              <a:off x="571500" y="1143000"/>
              <a:ext cx="5391150" cy="25146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4285F4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143000"/>
              <a:ext cx="5391150" cy="38100"/>
            </a:xfrm>
            <a:prstGeom prst="roundRect">
              <a:avLst>
                <a:gd name="adj" fmla="val 50000"/>
              </a:avLst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09362" y="1082040"/>
              <a:ext cx="74759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800" b="1">
                  <a:solidFill>
                    <a:srgbClr val="4285F4">
                      <a:alpha val="6000"/>
                    </a:srgbClr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1333500"/>
              <a:ext cx="495300" cy="495300"/>
            </a:xfrm>
            <a:prstGeom prst="roundRect">
              <a:avLst>
                <a:gd name="adj" fmla="val 19231"/>
              </a:avLst>
            </a:prstGeom>
            <a:solidFill>
              <a:srgbClr val="4285F4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881062" y="1452562"/>
              <a:ext cx="257180" cy="272185"/>
            </a:xfrm>
            <a:custGeom>
              <a:avLst/>
              <a:gdLst/>
              <a:ahLst/>
              <a:cxnLst/>
              <a:rect l="l" t="t" r="r" b="b"/>
              <a:pathLst>
                <a:path w="257180" h="272185">
                  <a:moveTo>
                    <a:pt x="242888" y="0"/>
                  </a:moveTo>
                  <a:lnTo>
                    <a:pt x="14288" y="0"/>
                  </a:lnTo>
                  <a:cubicBezTo>
                    <a:pt x="6397" y="0"/>
                    <a:pt x="0" y="6397"/>
                    <a:pt x="0" y="14288"/>
                  </a:cubicBezTo>
                  <a:lnTo>
                    <a:pt x="0" y="46106"/>
                  </a:lnTo>
                  <a:lnTo>
                    <a:pt x="114" y="49292"/>
                  </a:lnTo>
                  <a:cubicBezTo>
                    <a:pt x="826" y="58832"/>
                    <a:pt x="4709" y="67860"/>
                    <a:pt x="11144" y="74938"/>
                  </a:cubicBezTo>
                  <a:lnTo>
                    <a:pt x="71438" y="141246"/>
                  </a:lnTo>
                  <a:lnTo>
                    <a:pt x="71438" y="257175"/>
                  </a:lnTo>
                  <a:cubicBezTo>
                    <a:pt x="71436" y="261768"/>
                    <a:pt x="73643" y="266081"/>
                    <a:pt x="77368" y="268767"/>
                  </a:cubicBezTo>
                  <a:cubicBezTo>
                    <a:pt x="81093" y="271453"/>
                    <a:pt x="85883" y="272185"/>
                    <a:pt x="90240" y="270734"/>
                  </a:cubicBezTo>
                  <a:lnTo>
                    <a:pt x="175965" y="242159"/>
                  </a:lnTo>
                  <a:lnTo>
                    <a:pt x="177508" y="241544"/>
                  </a:lnTo>
                  <a:cubicBezTo>
                    <a:pt x="182531" y="239193"/>
                    <a:pt x="185739" y="234146"/>
                    <a:pt x="185738" y="228600"/>
                  </a:cubicBezTo>
                  <a:lnTo>
                    <a:pt x="185738" y="134503"/>
                  </a:lnTo>
                  <a:lnTo>
                    <a:pt x="244616" y="75638"/>
                  </a:lnTo>
                  <a:cubicBezTo>
                    <a:pt x="252662" y="67595"/>
                    <a:pt x="257180" y="56682"/>
                    <a:pt x="257175" y="45306"/>
                  </a:cubicBezTo>
                  <a:lnTo>
                    <a:pt x="257175" y="14288"/>
                  </a:lnTo>
                  <a:cubicBezTo>
                    <a:pt x="257175" y="6397"/>
                    <a:pt x="250778" y="0"/>
                    <a:pt x="242888" y="0"/>
                  </a:cubicBez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73505" y="1397318"/>
              <a:ext cx="14731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Phase 1: Lexer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79220" y="1636395"/>
              <a:ext cx="13409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TOKENIZATION TESTS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924050"/>
              <a:ext cx="501015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019300"/>
              <a:ext cx="2381250" cy="800100"/>
            </a:xfrm>
            <a:prstGeom prst="roundRect">
              <a:avLst>
                <a:gd name="adj" fmla="val 7143"/>
              </a:avLst>
            </a:prstGeom>
            <a:solidFill>
              <a:srgbClr val="1E8E3E">
                <a:alpha val="6000"/>
              </a:srgbClr>
            </a:solidFill>
            <a:ln w="9525">
              <a:solidFill>
                <a:srgbClr val="1E8E3E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070" y="209359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VALID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1070" y="2265045"/>
              <a:ext cx="1527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Single-line tokenization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1070" y="2417445"/>
              <a:ext cx="16922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Nested parens + mixed ops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1070" y="2569845"/>
              <a:ext cx="15476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All keywords recognized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314700" y="2019300"/>
              <a:ext cx="2457450" cy="800100"/>
            </a:xfrm>
            <a:prstGeom prst="roundRect">
              <a:avLst>
                <a:gd name="adj" fmla="val 7143"/>
              </a:avLst>
            </a:prstGeom>
            <a:solidFill>
              <a:srgbClr val="EA4335">
                <a:alpha val="6000"/>
              </a:srgbClr>
            </a:solidFill>
            <a:ln w="9525">
              <a:solidFill>
                <a:srgbClr val="EA4335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93770" y="2093595"/>
              <a:ext cx="4852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>
                  <a:solidFill>
                    <a:srgbClr val="EA4335"/>
                  </a:solidFill>
                  <a:latin typeface="Segoe UI"/>
                  <a:ea typeface="Microsoft YaHei"/>
                  <a:cs typeface="Segoe UI"/>
                </a:rPr>
                <a:t>INVALID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93770" y="22650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Capitalized var names (PP)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93770" y="2417445"/>
              <a:ext cx="15016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Numeric var names (p1)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93770" y="2569845"/>
              <a:ext cx="1587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Unknown boolean literals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0570" y="2912745"/>
              <a:ext cx="30658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Line-precise LexicalError + phase field verified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0570" y="3084195"/>
              <a:ext cx="3276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Multi-line: error on later lines detected correctly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29350" y="1082040"/>
            <a:ext cx="5585460" cy="2575560"/>
            <a:chOff x="6229350" y="1082040"/>
            <a:chExt cx="5585460" cy="2575560"/>
          </a:xfrm>
        </p:grpSpPr>
        <p:sp>
          <p:nvSpPr>
            <p:cNvPr id="30" name="Rectangle 30"/>
            <p:cNvSpPr/>
            <p:nvPr/>
          </p:nvSpPr>
          <p:spPr>
            <a:xfrm>
              <a:off x="6229350" y="1143000"/>
              <a:ext cx="5391150" cy="25146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34A853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29350" y="1143000"/>
              <a:ext cx="5391150" cy="38100"/>
            </a:xfrm>
            <a:prstGeom prst="roundRect">
              <a:avLst>
                <a:gd name="adj" fmla="val 50000"/>
              </a:avLst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83189" y="1082040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800" b="1">
                  <a:solidFill>
                    <a:srgbClr val="34A853">
                      <a:alpha val="6000"/>
                    </a:srgbClr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19850" y="1333500"/>
              <a:ext cx="495300" cy="495300"/>
            </a:xfrm>
            <a:prstGeom prst="roundRect">
              <a:avLst>
                <a:gd name="adj" fmla="val 19231"/>
              </a:avLst>
            </a:prstGeom>
            <a:solidFill>
              <a:srgbClr val="34A853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524625" y="1436884"/>
              <a:ext cx="286262" cy="288534"/>
              <a:chOff x="6524625" y="1436884"/>
              <a:chExt cx="286262" cy="28853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696075" y="1609725"/>
                <a:ext cx="114812" cy="115308"/>
              </a:xfrm>
              <a:custGeom>
                <a:avLst/>
                <a:gdLst/>
                <a:ahLst/>
                <a:cxnLst/>
                <a:rect l="l" t="t" r="r" b="b"/>
                <a:pathLst>
                  <a:path w="114812" h="115308">
                    <a:moveTo>
                      <a:pt x="57150" y="0"/>
                    </a:moveTo>
                    <a:cubicBezTo>
                      <a:pt x="88342" y="0"/>
                      <a:pt x="113772" y="25010"/>
                      <a:pt x="114292" y="56197"/>
                    </a:cubicBezTo>
                    <a:cubicBezTo>
                      <a:pt x="114812" y="87384"/>
                      <a:pt x="90230" y="113228"/>
                      <a:pt x="59055" y="114268"/>
                    </a:cubicBezTo>
                    <a:cubicBezTo>
                      <a:pt x="27881" y="115308"/>
                      <a:pt x="1631" y="91160"/>
                      <a:pt x="71" y="60008"/>
                    </a:cubicBezTo>
                    <a:lnTo>
                      <a:pt x="0" y="57150"/>
                    </a:lnTo>
                    <a:lnTo>
                      <a:pt x="71" y="54293"/>
                    </a:lnTo>
                    <a:cubicBezTo>
                      <a:pt x="1594" y="23878"/>
                      <a:pt x="26698" y="0"/>
                      <a:pt x="57150" y="0"/>
                    </a:cubicBez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6666877" y="1436884"/>
                <a:ext cx="143498" cy="144669"/>
              </a:xfrm>
              <a:custGeom>
                <a:avLst/>
                <a:gdLst/>
                <a:ahLst/>
                <a:cxnLst/>
                <a:rect l="l" t="t" r="r" b="b"/>
                <a:pathLst>
                  <a:path w="143498" h="144669">
                    <a:moveTo>
                      <a:pt x="67874" y="5578"/>
                    </a:moveTo>
                    <a:cubicBezTo>
                      <a:pt x="72964" y="10668"/>
                      <a:pt x="73472" y="18749"/>
                      <a:pt x="69060" y="24437"/>
                    </a:cubicBezTo>
                    <a:lnTo>
                      <a:pt x="67874" y="25780"/>
                    </a:lnTo>
                    <a:lnTo>
                      <a:pt x="49400" y="44254"/>
                    </a:lnTo>
                    <a:lnTo>
                      <a:pt x="100635" y="44254"/>
                    </a:lnTo>
                    <a:cubicBezTo>
                      <a:pt x="123332" y="44253"/>
                      <a:pt x="142095" y="61944"/>
                      <a:pt x="143426" y="84602"/>
                    </a:cubicBezTo>
                    <a:lnTo>
                      <a:pt x="143498" y="87116"/>
                    </a:lnTo>
                    <a:lnTo>
                      <a:pt x="143498" y="129979"/>
                    </a:lnTo>
                    <a:cubicBezTo>
                      <a:pt x="143489" y="137538"/>
                      <a:pt x="137594" y="143783"/>
                      <a:pt x="130047" y="144226"/>
                    </a:cubicBezTo>
                    <a:cubicBezTo>
                      <a:pt x="122501" y="144669"/>
                      <a:pt x="115916" y="139157"/>
                      <a:pt x="115023" y="131650"/>
                    </a:cubicBezTo>
                    <a:lnTo>
                      <a:pt x="114923" y="129979"/>
                    </a:lnTo>
                    <a:lnTo>
                      <a:pt x="114923" y="87116"/>
                    </a:lnTo>
                    <a:cubicBezTo>
                      <a:pt x="114922" y="79873"/>
                      <a:pt x="109500" y="73776"/>
                      <a:pt x="102307" y="72929"/>
                    </a:cubicBezTo>
                    <a:lnTo>
                      <a:pt x="100635" y="72829"/>
                    </a:lnTo>
                    <a:lnTo>
                      <a:pt x="49414" y="72829"/>
                    </a:lnTo>
                    <a:lnTo>
                      <a:pt x="67874" y="91303"/>
                    </a:lnTo>
                    <a:cubicBezTo>
                      <a:pt x="73192" y="96639"/>
                      <a:pt x="73453" y="105187"/>
                      <a:pt x="68470" y="110838"/>
                    </a:cubicBezTo>
                    <a:cubicBezTo>
                      <a:pt x="63488" y="116488"/>
                      <a:pt x="54974" y="117299"/>
                      <a:pt x="49014" y="112691"/>
                    </a:cubicBezTo>
                    <a:lnTo>
                      <a:pt x="47671" y="111505"/>
                    </a:lnTo>
                    <a:lnTo>
                      <a:pt x="4809" y="68643"/>
                    </a:lnTo>
                    <a:cubicBezTo>
                      <a:pt x="1498" y="65407"/>
                      <a:pt x="0" y="60743"/>
                      <a:pt x="808" y="56184"/>
                    </a:cubicBezTo>
                    <a:lnTo>
                      <a:pt x="1323" y="54098"/>
                    </a:lnTo>
                    <a:lnTo>
                      <a:pt x="1894" y="52612"/>
                    </a:lnTo>
                    <a:cubicBezTo>
                      <a:pt x="2723" y="50812"/>
                      <a:pt x="3895" y="49183"/>
                      <a:pt x="5395" y="47840"/>
                    </a:cubicBezTo>
                    <a:lnTo>
                      <a:pt x="47671" y="5578"/>
                    </a:lnTo>
                    <a:cubicBezTo>
                      <a:pt x="53251" y="0"/>
                      <a:pt x="62295" y="0"/>
                      <a:pt x="67874" y="5578"/>
                    </a:cubicBez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6524625" y="1581150"/>
                <a:ext cx="143498" cy="144268"/>
              </a:xfrm>
              <a:custGeom>
                <a:avLst/>
                <a:gdLst/>
                <a:ahLst/>
                <a:cxnLst/>
                <a:rect l="l" t="t" r="r" b="b"/>
                <a:pathLst>
                  <a:path w="143498" h="144268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57150"/>
                    </a:lnTo>
                    <a:cubicBezTo>
                      <a:pt x="28576" y="64393"/>
                      <a:pt x="33997" y="70490"/>
                      <a:pt x="41191" y="71337"/>
                    </a:cubicBezTo>
                    <a:lnTo>
                      <a:pt x="42862" y="71438"/>
                    </a:lnTo>
                    <a:lnTo>
                      <a:pt x="94083" y="71438"/>
                    </a:lnTo>
                    <a:lnTo>
                      <a:pt x="75624" y="52964"/>
                    </a:lnTo>
                    <a:cubicBezTo>
                      <a:pt x="70534" y="47874"/>
                      <a:pt x="70026" y="39792"/>
                      <a:pt x="74438" y="34104"/>
                    </a:cubicBezTo>
                    <a:lnTo>
                      <a:pt x="75624" y="32761"/>
                    </a:lnTo>
                    <a:cubicBezTo>
                      <a:pt x="80714" y="27672"/>
                      <a:pt x="88796" y="27163"/>
                      <a:pt x="94483" y="31575"/>
                    </a:cubicBezTo>
                    <a:lnTo>
                      <a:pt x="95826" y="32761"/>
                    </a:lnTo>
                    <a:lnTo>
                      <a:pt x="138689" y="75624"/>
                    </a:lnTo>
                    <a:cubicBezTo>
                      <a:pt x="142000" y="78860"/>
                      <a:pt x="143498" y="83524"/>
                      <a:pt x="142689" y="88082"/>
                    </a:cubicBezTo>
                    <a:lnTo>
                      <a:pt x="142175" y="90168"/>
                    </a:lnTo>
                    <a:lnTo>
                      <a:pt x="141603" y="91654"/>
                    </a:lnTo>
                    <a:cubicBezTo>
                      <a:pt x="140775" y="93468"/>
                      <a:pt x="139584" y="95092"/>
                      <a:pt x="138103" y="96426"/>
                    </a:cubicBezTo>
                    <a:lnTo>
                      <a:pt x="95826" y="138689"/>
                    </a:lnTo>
                    <a:cubicBezTo>
                      <a:pt x="90490" y="144007"/>
                      <a:pt x="81942" y="144268"/>
                      <a:pt x="76291" y="139285"/>
                    </a:cubicBezTo>
                    <a:cubicBezTo>
                      <a:pt x="70641" y="134303"/>
                      <a:pt x="69830" y="125789"/>
                      <a:pt x="74438" y="119829"/>
                    </a:cubicBezTo>
                    <a:lnTo>
                      <a:pt x="75624" y="118486"/>
                    </a:lnTo>
                    <a:lnTo>
                      <a:pt x="94069" y="100012"/>
                    </a:lnTo>
                    <a:lnTo>
                      <a:pt x="42862" y="100012"/>
                    </a:lnTo>
                    <a:cubicBezTo>
                      <a:pt x="20166" y="100014"/>
                      <a:pt x="1403" y="82322"/>
                      <a:pt x="71" y="59665"/>
                    </a:cubicBezTo>
                    <a:lnTo>
                      <a:pt x="0" y="57150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6524625" y="1438275"/>
                <a:ext cx="114812" cy="115308"/>
              </a:xfrm>
              <a:custGeom>
                <a:avLst/>
                <a:gdLst/>
                <a:ahLst/>
                <a:cxnLst/>
                <a:rect l="l" t="t" r="r" b="b"/>
                <a:pathLst>
                  <a:path w="114812" h="115308">
                    <a:moveTo>
                      <a:pt x="57150" y="0"/>
                    </a:moveTo>
                    <a:cubicBezTo>
                      <a:pt x="88342" y="0"/>
                      <a:pt x="113772" y="25010"/>
                      <a:pt x="114292" y="56197"/>
                    </a:cubicBezTo>
                    <a:cubicBezTo>
                      <a:pt x="114812" y="87384"/>
                      <a:pt x="90230" y="113228"/>
                      <a:pt x="59055" y="114268"/>
                    </a:cubicBezTo>
                    <a:cubicBezTo>
                      <a:pt x="27881" y="115308"/>
                      <a:pt x="1631" y="91160"/>
                      <a:pt x="71" y="60008"/>
                    </a:cubicBezTo>
                    <a:lnTo>
                      <a:pt x="0" y="57150"/>
                    </a:lnTo>
                    <a:lnTo>
                      <a:pt x="71" y="54293"/>
                    </a:lnTo>
                    <a:cubicBezTo>
                      <a:pt x="1594" y="23878"/>
                      <a:pt x="26698" y="0"/>
                      <a:pt x="57150" y="0"/>
                    </a:cubicBezTo>
                    <a:close/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7031355" y="1397318"/>
              <a:ext cx="16387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Phase 2: Parser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37070" y="1636395"/>
              <a:ext cx="14651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>
                  <a:solidFill>
                    <a:srgbClr val="34A853"/>
                  </a:solidFill>
                  <a:latin typeface="Segoe UI"/>
                  <a:ea typeface="Microsoft YaHei"/>
                  <a:cs typeface="Segoe UI"/>
                </a:rPr>
                <a:t>AST GENERATION TESTS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19850" y="1924050"/>
              <a:ext cx="501015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19850" y="2019300"/>
              <a:ext cx="2381250" cy="800100"/>
            </a:xfrm>
            <a:prstGeom prst="roundRect">
              <a:avLst>
                <a:gd name="adj" fmla="val 7143"/>
              </a:avLst>
            </a:prstGeom>
            <a:solidFill>
              <a:srgbClr val="1E8E3E">
                <a:alpha val="6000"/>
              </a:srgbClr>
            </a:solidFill>
            <a:ln w="9525">
              <a:solidFill>
                <a:srgbClr val="1E8E3E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98920" y="209359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VALID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98920" y="2265045"/>
              <a:ext cx="2277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All statement types (LET/IF/PRINT)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98920" y="2417445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Nested conditionals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98920" y="2569845"/>
              <a:ext cx="1619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Multi-line valid programs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972550" y="2019300"/>
              <a:ext cx="2457450" cy="800100"/>
            </a:xfrm>
            <a:prstGeom prst="roundRect">
              <a:avLst>
                <a:gd name="adj" fmla="val 7143"/>
              </a:avLst>
            </a:prstGeom>
            <a:solidFill>
              <a:srgbClr val="EA4335">
                <a:alpha val="6000"/>
              </a:srgbClr>
            </a:solidFill>
            <a:ln w="9525">
              <a:solidFill>
                <a:srgbClr val="EA4335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51620" y="2093595"/>
              <a:ext cx="4852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>
                  <a:solidFill>
                    <a:srgbClr val="EA4335"/>
                  </a:solidFill>
                  <a:latin typeface="Segoe UI"/>
                  <a:ea typeface="Microsoft YaHei"/>
                  <a:cs typeface="Segoe UI"/>
                </a:rPr>
                <a:t>INVALID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51620" y="2265045"/>
              <a:ext cx="11204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Missing THEN in IF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51620" y="2417445"/>
              <a:ext cx="14424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Incomplete LET / PRINT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51620" y="2569845"/>
              <a:ext cx="1619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Unexpected extra tokens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08420" y="2912745"/>
              <a:ext cx="37427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ParseError with phase &amp; line number verified for all cases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08420" y="3084195"/>
              <a:ext cx="37296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Missing right parentheses, missing right operands tested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71500" y="3806190"/>
            <a:ext cx="5585460" cy="2575560"/>
            <a:chOff x="571500" y="3806190"/>
            <a:chExt cx="5585460" cy="2575560"/>
          </a:xfrm>
        </p:grpSpPr>
        <p:sp>
          <p:nvSpPr>
            <p:cNvPr id="55" name="Rectangle 55"/>
            <p:cNvSpPr/>
            <p:nvPr/>
          </p:nvSpPr>
          <p:spPr>
            <a:xfrm>
              <a:off x="571500" y="3867150"/>
              <a:ext cx="5391150" cy="25146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9334E6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1500" y="3867150"/>
              <a:ext cx="5391150" cy="38100"/>
            </a:xfrm>
            <a:prstGeom prst="roundRect">
              <a:avLst>
                <a:gd name="adj" fmla="val 50000"/>
              </a:avLst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25339" y="3806190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800" b="1">
                  <a:solidFill>
                    <a:srgbClr val="9334E6">
                      <a:alpha val="6000"/>
                    </a:srgbClr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62000" y="4057650"/>
              <a:ext cx="495300" cy="495300"/>
            </a:xfrm>
            <a:prstGeom prst="roundRect">
              <a:avLst>
                <a:gd name="adj" fmla="val 19231"/>
              </a:avLst>
            </a:prstGeom>
            <a:solidFill>
              <a:srgbClr val="9334E6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894703" y="4162425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73505" y="4121468"/>
              <a:ext cx="19596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Phase 3: Optimizer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379220" y="4360545"/>
              <a:ext cx="19758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SEMANTIC OPTIMIZATION TESTS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62000" y="4648200"/>
              <a:ext cx="501015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62000" y="4743450"/>
              <a:ext cx="5010150" cy="952500"/>
            </a:xfrm>
            <a:prstGeom prst="roundRect">
              <a:avLst>
                <a:gd name="adj" fmla="val 6000"/>
              </a:avLst>
            </a:prstGeom>
            <a:solidFill>
              <a:srgbClr val="F8F9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0118" y="4828699"/>
              <a:ext cx="2618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Parametrized exact-AST assertions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923925" y="5095875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55370" y="5074920"/>
              <a:ext cx="48994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Single-rule: double negation, De Morgan, idempotent, identity, absorption…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923925" y="5305425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5370" y="5284470"/>
              <a:ext cx="40582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Chained: implication + double negation, De Morgan combinations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923925" y="5514975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55370" y="5494020"/>
              <a:ext cx="3381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Consensus theorem (SOP &amp; POS dual) + normalization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0570" y="5846445"/>
              <a:ext cx="39136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High-complexity expressions stress fixed-point convergence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0570" y="6017895"/>
              <a:ext cx="35324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LET + IF structure-level optimization behavior verified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6229350" y="3806190"/>
            <a:ext cx="5585460" cy="2575560"/>
            <a:chOff x="6229350" y="3806190"/>
            <a:chExt cx="5585460" cy="2575560"/>
          </a:xfrm>
        </p:grpSpPr>
        <p:sp>
          <p:nvSpPr>
            <p:cNvPr id="74" name="Rectangle 74"/>
            <p:cNvSpPr/>
            <p:nvPr/>
          </p:nvSpPr>
          <p:spPr>
            <a:xfrm>
              <a:off x="6229350" y="3867150"/>
              <a:ext cx="5391150" cy="25146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1E8E3E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229350" y="3867150"/>
              <a:ext cx="5391150" cy="38100"/>
            </a:xfrm>
            <a:prstGeom prst="roundRect">
              <a:avLst>
                <a:gd name="adj" fmla="val 50000"/>
              </a:avLst>
            </a:prstGeom>
            <a:solidFill>
              <a:srgbClr val="1E8E3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883189" y="3806190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800" b="1">
                  <a:solidFill>
                    <a:srgbClr val="1E8E3E">
                      <a:alpha val="6000"/>
                    </a:srgbClr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419850" y="4057650"/>
              <a:ext cx="495300" cy="495300"/>
            </a:xfrm>
            <a:prstGeom prst="roundRect">
              <a:avLst>
                <a:gd name="adj" fmla="val 19231"/>
              </a:avLst>
            </a:prstGeom>
            <a:solidFill>
              <a:srgbClr val="1E8E3E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8"/>
            <p:cNvSpPr/>
            <p:nvPr/>
          </p:nvSpPr>
          <p:spPr>
            <a:xfrm>
              <a:off x="6518156" y="4162425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9316" y="0"/>
                  </a:move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lnTo>
                    <a:pt x="149316" y="0"/>
                  </a:lnTo>
                  <a:close/>
                  <a:moveTo>
                    <a:pt x="202322" y="104199"/>
                  </a:moveTo>
                  <a:cubicBezTo>
                    <a:pt x="199642" y="101516"/>
                    <a:pt x="196006" y="100008"/>
                    <a:pt x="192214" y="100008"/>
                  </a:cubicBezTo>
                  <a:cubicBezTo>
                    <a:pt x="188422" y="100008"/>
                    <a:pt x="184785" y="101516"/>
                    <a:pt x="182106" y="104199"/>
                  </a:cubicBezTo>
                  <a:lnTo>
                    <a:pt x="135057" y="151233"/>
                  </a:lnTo>
                  <a:lnTo>
                    <a:pt x="116583" y="132774"/>
                  </a:lnTo>
                  <a:lnTo>
                    <a:pt x="115240" y="131588"/>
                  </a:lnTo>
                  <a:cubicBezTo>
                    <a:pt x="109280" y="126980"/>
                    <a:pt x="100766" y="127791"/>
                    <a:pt x="95784" y="133441"/>
                  </a:cubicBezTo>
                  <a:cubicBezTo>
                    <a:pt x="90802" y="139092"/>
                    <a:pt x="91063" y="147640"/>
                    <a:pt x="96381" y="152976"/>
                  </a:cubicBezTo>
                  <a:lnTo>
                    <a:pt x="124956" y="181551"/>
                  </a:lnTo>
                  <a:lnTo>
                    <a:pt x="126299" y="182737"/>
                  </a:lnTo>
                  <a:cubicBezTo>
                    <a:pt x="131986" y="187149"/>
                    <a:pt x="140068" y="186641"/>
                    <a:pt x="145158" y="181551"/>
                  </a:cubicBezTo>
                  <a:lnTo>
                    <a:pt x="202308" y="124401"/>
                  </a:lnTo>
                  <a:lnTo>
                    <a:pt x="203494" y="123058"/>
                  </a:lnTo>
                  <a:cubicBezTo>
                    <a:pt x="207906" y="117371"/>
                    <a:pt x="207398" y="109289"/>
                    <a:pt x="202308" y="104199"/>
                  </a:cubicBezTo>
                  <a:close/>
                </a:path>
              </a:pathLst>
            </a:custGeom>
            <a:solidFill>
              <a:srgbClr val="1E8E3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031355" y="4121468"/>
              <a:ext cx="1928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Phase 4: Execution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37070" y="4360545"/>
              <a:ext cx="1962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VERIFICATION + RUNTIME TESTS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419850" y="4648200"/>
              <a:ext cx="501015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419850" y="4743450"/>
              <a:ext cx="2381250" cy="952500"/>
            </a:xfrm>
            <a:prstGeom prst="roundRect">
              <a:avLst>
                <a:gd name="adj" fmla="val 6000"/>
              </a:avLst>
            </a:prstGeom>
            <a:solidFill>
              <a:srgbClr val="1E8E3E">
                <a:alpha val="6000"/>
              </a:srgbClr>
            </a:solidFill>
            <a:ln w="9525">
              <a:solidFill>
                <a:srgbClr val="1E8E3E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598920" y="481774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VALID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598920" y="4989195"/>
              <a:ext cx="20471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All 11 optimization rules verified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598920" y="5160645"/>
              <a:ext cx="23954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All operators correct (truth tables)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598920" y="533209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IF true/false branches tested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598920" y="5503545"/>
              <a:ext cx="16922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End-to-end pipeline match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8972550" y="4743450"/>
              <a:ext cx="2457450" cy="952500"/>
            </a:xfrm>
            <a:prstGeom prst="roundRect">
              <a:avLst>
                <a:gd name="adj" fmla="val 6000"/>
              </a:avLst>
            </a:prstGeom>
            <a:solidFill>
              <a:srgbClr val="EA4335">
                <a:alpha val="6000"/>
              </a:srgbClr>
            </a:solidFill>
            <a:ln w="9525">
              <a:solidFill>
                <a:srgbClr val="EA4335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151620" y="4817745"/>
              <a:ext cx="4852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>
                  <a:solidFill>
                    <a:srgbClr val="EA4335"/>
                  </a:solidFill>
                  <a:latin typeface="Segoe UI"/>
                  <a:ea typeface="Microsoft YaHei"/>
                  <a:cs typeface="Segoe UI"/>
                </a:rPr>
                <a:t>INVALID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151620" y="4989195"/>
              <a:ext cx="1711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Undefined variable in PRINT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151620" y="5160645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Malformed AST arity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151620" y="5332095"/>
              <a:ext cx="17710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Non-equivalent (neg. test)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151620" y="5503545"/>
              <a:ext cx="15016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Unknown operator type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408420" y="5846445"/>
              <a:ext cx="39464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ExecutionError with phase + line verified for all invalid cases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408420" y="6017895"/>
              <a:ext cx="3985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is_equivalent correctly reports FALSE on deliberate mismatch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561022" y="6572250"/>
            <a:ext cx="11069956" cy="269081"/>
            <a:chOff x="561022" y="6572250"/>
            <a:chExt cx="11069956" cy="269081"/>
          </a:xfrm>
        </p:grpSpPr>
        <p:sp>
          <p:nvSpPr>
            <p:cNvPr id="97" name="Rectangle 97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7605" y="66736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4" grpId="0"/>
      <p:bldP spid="73" grpId="0"/>
      <p:bldP spid="9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379095"/>
            <a:ext cx="6673214" cy="632936"/>
            <a:chOff x="571500" y="379095"/>
            <a:chExt cx="6673214" cy="632936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EA4335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93420" y="379095"/>
              <a:ext cx="361260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Current Limitations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9612" y="783431"/>
              <a:ext cx="65351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Known constraints in the current implementation — acknowledged and documented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143000"/>
            <a:ext cx="5334000" cy="1123950"/>
            <a:chOff x="571500" y="1143000"/>
            <a:chExt cx="5334000" cy="1123950"/>
          </a:xfrm>
        </p:grpSpPr>
        <p:sp>
          <p:nvSpPr>
            <p:cNvPr id="9" name="Rectangle 9"/>
            <p:cNvSpPr/>
            <p:nvPr/>
          </p:nvSpPr>
          <p:spPr>
            <a:xfrm>
              <a:off x="571500" y="1143000"/>
              <a:ext cx="5334000" cy="1123950"/>
            </a:xfrm>
            <a:prstGeom prst="roundRect">
              <a:avLst>
                <a:gd name="adj" fmla="val 8475"/>
              </a:avLst>
            </a:prstGeom>
            <a:solidFill>
              <a:srgbClr val="FFFFFF"/>
            </a:solidFill>
            <a:ln w="9525">
              <a:solidFill>
                <a:srgbClr val="EA4335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143000"/>
              <a:ext cx="38100" cy="1123950"/>
            </a:xfrm>
            <a:prstGeom prst="roundRect">
              <a:avLst>
                <a:gd name="adj" fmla="val 50000"/>
              </a:avLst>
            </a:prstGeom>
            <a:solidFill>
              <a:srgbClr val="EA4335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31445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EA4335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46375" y="1406557"/>
              <a:ext cx="212139" cy="184080"/>
            </a:xfrm>
            <a:custGeom>
              <a:avLst/>
              <a:gdLst/>
              <a:ahLst/>
              <a:cxnLst/>
              <a:rect l="l" t="t" r="r" b="b"/>
              <a:pathLst>
                <a:path w="212139" h="184080">
                  <a:moveTo>
                    <a:pt x="106125" y="0"/>
                  </a:moveTo>
                  <a:cubicBezTo>
                    <a:pt x="115221" y="0"/>
                    <a:pt x="123698" y="4448"/>
                    <a:pt x="128889" y="11878"/>
                  </a:cubicBezTo>
                  <a:lnTo>
                    <a:pt x="129890" y="13402"/>
                  </a:lnTo>
                  <a:lnTo>
                    <a:pt x="207175" y="142446"/>
                  </a:lnTo>
                  <a:cubicBezTo>
                    <a:pt x="211950" y="150715"/>
                    <a:pt x="212139" y="160858"/>
                    <a:pt x="207675" y="169299"/>
                  </a:cubicBezTo>
                  <a:cubicBezTo>
                    <a:pt x="203212" y="177740"/>
                    <a:pt x="194723" y="183294"/>
                    <a:pt x="185201" y="184004"/>
                  </a:cubicBezTo>
                  <a:lnTo>
                    <a:pt x="183344" y="184080"/>
                  </a:lnTo>
                  <a:lnTo>
                    <a:pt x="28801" y="184080"/>
                  </a:lnTo>
                  <a:cubicBezTo>
                    <a:pt x="19269" y="183973"/>
                    <a:pt x="10460" y="178982"/>
                    <a:pt x="5468" y="170862"/>
                  </a:cubicBezTo>
                  <a:cubicBezTo>
                    <a:pt x="476" y="162742"/>
                    <a:pt x="0" y="152628"/>
                    <a:pt x="4207" y="144075"/>
                  </a:cubicBezTo>
                  <a:lnTo>
                    <a:pt x="5150" y="142313"/>
                  </a:lnTo>
                  <a:lnTo>
                    <a:pt x="82398" y="13364"/>
                  </a:lnTo>
                  <a:cubicBezTo>
                    <a:pt x="87428" y="5069"/>
                    <a:pt x="96424" y="2"/>
                    <a:pt x="106125" y="0"/>
                  </a:cubicBezTo>
                  <a:close/>
                  <a:moveTo>
                    <a:pt x="106220" y="126968"/>
                  </a:moveTo>
                  <a:lnTo>
                    <a:pt x="105010" y="127035"/>
                  </a:lnTo>
                  <a:cubicBezTo>
                    <a:pt x="100219" y="127605"/>
                    <a:pt x="96610" y="131668"/>
                    <a:pt x="96610" y="136493"/>
                  </a:cubicBezTo>
                  <a:cubicBezTo>
                    <a:pt x="96610" y="141319"/>
                    <a:pt x="100219" y="145382"/>
                    <a:pt x="105010" y="145952"/>
                  </a:cubicBezTo>
                  <a:lnTo>
                    <a:pt x="106125" y="146018"/>
                  </a:lnTo>
                  <a:lnTo>
                    <a:pt x="107334" y="145952"/>
                  </a:lnTo>
                  <a:cubicBezTo>
                    <a:pt x="112126" y="145382"/>
                    <a:pt x="115734" y="141319"/>
                    <a:pt x="115734" y="136493"/>
                  </a:cubicBezTo>
                  <a:cubicBezTo>
                    <a:pt x="115734" y="131668"/>
                    <a:pt x="112126" y="127605"/>
                    <a:pt x="107334" y="127035"/>
                  </a:cubicBezTo>
                  <a:lnTo>
                    <a:pt x="106220" y="126968"/>
                  </a:lnTo>
                  <a:close/>
                  <a:moveTo>
                    <a:pt x="106125" y="60293"/>
                  </a:moveTo>
                  <a:cubicBezTo>
                    <a:pt x="101296" y="60294"/>
                    <a:pt x="97231" y="63908"/>
                    <a:pt x="96666" y="68704"/>
                  </a:cubicBezTo>
                  <a:lnTo>
                    <a:pt x="96600" y="69818"/>
                  </a:lnTo>
                  <a:lnTo>
                    <a:pt x="96600" y="107918"/>
                  </a:lnTo>
                  <a:lnTo>
                    <a:pt x="96666" y="109033"/>
                  </a:lnTo>
                  <a:cubicBezTo>
                    <a:pt x="97236" y="113824"/>
                    <a:pt x="101299" y="117433"/>
                    <a:pt x="106125" y="117433"/>
                  </a:cubicBezTo>
                  <a:cubicBezTo>
                    <a:pt x="110950" y="117433"/>
                    <a:pt x="115013" y="113824"/>
                    <a:pt x="115583" y="109033"/>
                  </a:cubicBezTo>
                  <a:lnTo>
                    <a:pt x="115650" y="107918"/>
                  </a:lnTo>
                  <a:lnTo>
                    <a:pt x="115650" y="69818"/>
                  </a:lnTo>
                  <a:lnTo>
                    <a:pt x="115583" y="68704"/>
                  </a:lnTo>
                  <a:cubicBezTo>
                    <a:pt x="115018" y="63908"/>
                    <a:pt x="110954" y="60294"/>
                    <a:pt x="106125" y="60293"/>
                  </a:cubicBezTo>
                  <a:close/>
                </a:path>
              </a:pathLst>
            </a:custGeom>
            <a:solidFill>
              <a:srgbClr val="EA4335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61110" y="1346835"/>
              <a:ext cx="24503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>
                  <a:solidFill>
                    <a:srgbClr val="EA4335"/>
                  </a:solidFill>
                  <a:latin typeface="Segoe UI"/>
                  <a:ea typeface="Microsoft YaHei"/>
                  <a:cs typeface="Segoe UI"/>
                </a:rPr>
                <a:t>Limited Optimization Depth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1715452"/>
              <a:ext cx="4887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Distributive law expansion not implemented. Complex expressions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1905952"/>
              <a:ext cx="4933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requiring distributive rewrites may not reach the simplest form.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2400300"/>
            <a:ext cx="5334000" cy="990600"/>
            <a:chOff x="571500" y="2400300"/>
            <a:chExt cx="5334000" cy="990600"/>
          </a:xfrm>
        </p:grpSpPr>
        <p:sp>
          <p:nvSpPr>
            <p:cNvPr id="18" name="Rectangle 18"/>
            <p:cNvSpPr/>
            <p:nvPr/>
          </p:nvSpPr>
          <p:spPr>
            <a:xfrm>
              <a:off x="571500" y="2400300"/>
              <a:ext cx="5334000" cy="99060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9525">
              <a:solidFill>
                <a:srgbClr val="EA4335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2400300"/>
              <a:ext cx="38100" cy="990600"/>
            </a:xfrm>
            <a:prstGeom prst="roundRect">
              <a:avLst>
                <a:gd name="adj" fmla="val 50000"/>
              </a:avLst>
            </a:prstGeom>
            <a:solidFill>
              <a:srgbClr val="EA4335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53365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EA4335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846375" y="2625757"/>
              <a:ext cx="212139" cy="184080"/>
            </a:xfrm>
            <a:custGeom>
              <a:avLst/>
              <a:gdLst/>
              <a:ahLst/>
              <a:cxnLst/>
              <a:rect l="l" t="t" r="r" b="b"/>
              <a:pathLst>
                <a:path w="212139" h="184080">
                  <a:moveTo>
                    <a:pt x="106125" y="0"/>
                  </a:moveTo>
                  <a:cubicBezTo>
                    <a:pt x="115221" y="0"/>
                    <a:pt x="123698" y="4448"/>
                    <a:pt x="128889" y="11878"/>
                  </a:cubicBezTo>
                  <a:lnTo>
                    <a:pt x="129890" y="13402"/>
                  </a:lnTo>
                  <a:lnTo>
                    <a:pt x="207175" y="142446"/>
                  </a:lnTo>
                  <a:cubicBezTo>
                    <a:pt x="211950" y="150715"/>
                    <a:pt x="212139" y="160858"/>
                    <a:pt x="207675" y="169299"/>
                  </a:cubicBezTo>
                  <a:cubicBezTo>
                    <a:pt x="203212" y="177740"/>
                    <a:pt x="194723" y="183294"/>
                    <a:pt x="185201" y="184004"/>
                  </a:cubicBezTo>
                  <a:lnTo>
                    <a:pt x="183344" y="184080"/>
                  </a:lnTo>
                  <a:lnTo>
                    <a:pt x="28801" y="184080"/>
                  </a:lnTo>
                  <a:cubicBezTo>
                    <a:pt x="19269" y="183973"/>
                    <a:pt x="10460" y="178982"/>
                    <a:pt x="5468" y="170862"/>
                  </a:cubicBezTo>
                  <a:cubicBezTo>
                    <a:pt x="476" y="162742"/>
                    <a:pt x="0" y="152628"/>
                    <a:pt x="4207" y="144075"/>
                  </a:cubicBezTo>
                  <a:lnTo>
                    <a:pt x="5150" y="142313"/>
                  </a:lnTo>
                  <a:lnTo>
                    <a:pt x="82398" y="13364"/>
                  </a:lnTo>
                  <a:cubicBezTo>
                    <a:pt x="87428" y="5069"/>
                    <a:pt x="96424" y="2"/>
                    <a:pt x="106125" y="0"/>
                  </a:cubicBezTo>
                  <a:close/>
                  <a:moveTo>
                    <a:pt x="106220" y="126968"/>
                  </a:moveTo>
                  <a:lnTo>
                    <a:pt x="105010" y="127035"/>
                  </a:lnTo>
                  <a:cubicBezTo>
                    <a:pt x="100219" y="127605"/>
                    <a:pt x="96610" y="131668"/>
                    <a:pt x="96610" y="136493"/>
                  </a:cubicBezTo>
                  <a:cubicBezTo>
                    <a:pt x="96610" y="141319"/>
                    <a:pt x="100219" y="145382"/>
                    <a:pt x="105010" y="145952"/>
                  </a:cubicBezTo>
                  <a:lnTo>
                    <a:pt x="106125" y="146018"/>
                  </a:lnTo>
                  <a:lnTo>
                    <a:pt x="107334" y="145952"/>
                  </a:lnTo>
                  <a:cubicBezTo>
                    <a:pt x="112126" y="145382"/>
                    <a:pt x="115734" y="141319"/>
                    <a:pt x="115734" y="136493"/>
                  </a:cubicBezTo>
                  <a:cubicBezTo>
                    <a:pt x="115734" y="131668"/>
                    <a:pt x="112126" y="127605"/>
                    <a:pt x="107334" y="127035"/>
                  </a:cubicBezTo>
                  <a:lnTo>
                    <a:pt x="106220" y="126968"/>
                  </a:lnTo>
                  <a:close/>
                  <a:moveTo>
                    <a:pt x="106125" y="60293"/>
                  </a:moveTo>
                  <a:cubicBezTo>
                    <a:pt x="101296" y="60294"/>
                    <a:pt x="97231" y="63908"/>
                    <a:pt x="96666" y="68704"/>
                  </a:cubicBezTo>
                  <a:lnTo>
                    <a:pt x="96600" y="69818"/>
                  </a:lnTo>
                  <a:lnTo>
                    <a:pt x="96600" y="107918"/>
                  </a:lnTo>
                  <a:lnTo>
                    <a:pt x="96666" y="109033"/>
                  </a:lnTo>
                  <a:cubicBezTo>
                    <a:pt x="97236" y="113824"/>
                    <a:pt x="101299" y="117433"/>
                    <a:pt x="106125" y="117433"/>
                  </a:cubicBezTo>
                  <a:cubicBezTo>
                    <a:pt x="110950" y="117433"/>
                    <a:pt x="115013" y="113824"/>
                    <a:pt x="115583" y="109033"/>
                  </a:cubicBezTo>
                  <a:lnTo>
                    <a:pt x="115650" y="107918"/>
                  </a:lnTo>
                  <a:lnTo>
                    <a:pt x="115650" y="69818"/>
                  </a:lnTo>
                  <a:lnTo>
                    <a:pt x="115583" y="68704"/>
                  </a:lnTo>
                  <a:cubicBezTo>
                    <a:pt x="115018" y="63908"/>
                    <a:pt x="110954" y="60294"/>
                    <a:pt x="106125" y="60293"/>
                  </a:cubicBezTo>
                  <a:close/>
                </a:path>
              </a:pathLst>
            </a:custGeom>
            <a:solidFill>
              <a:srgbClr val="EA4335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61110" y="2566035"/>
              <a:ext cx="21007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>
                  <a:solidFill>
                    <a:srgbClr val="EA4335"/>
                  </a:solidFill>
                  <a:latin typeface="Segoe UI"/>
                  <a:ea typeface="Microsoft YaHei"/>
                  <a:cs typeface="Segoe UI"/>
                </a:rPr>
                <a:t>Minimal Language Scope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8665" y="2877502"/>
              <a:ext cx="44048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Single-letter variables only. No loops, no multi-statement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8665" y="3068002"/>
              <a:ext cx="5048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conditional blocks, no re-assignment. By design for project scope.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3524250"/>
            <a:ext cx="5334000" cy="952500"/>
            <a:chOff x="571500" y="3524250"/>
            <a:chExt cx="5334000" cy="952500"/>
          </a:xfrm>
        </p:grpSpPr>
        <p:sp>
          <p:nvSpPr>
            <p:cNvPr id="27" name="Rectangle 27"/>
            <p:cNvSpPr/>
            <p:nvPr/>
          </p:nvSpPr>
          <p:spPr>
            <a:xfrm>
              <a:off x="571500" y="3524250"/>
              <a:ext cx="53340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A4335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3524250"/>
              <a:ext cx="38100" cy="952500"/>
            </a:xfrm>
            <a:prstGeom prst="roundRect">
              <a:avLst>
                <a:gd name="adj" fmla="val 50000"/>
              </a:avLst>
            </a:prstGeom>
            <a:solidFill>
              <a:srgbClr val="5F63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65760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5F6368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846375" y="3749707"/>
              <a:ext cx="212139" cy="184080"/>
            </a:xfrm>
            <a:custGeom>
              <a:avLst/>
              <a:gdLst/>
              <a:ahLst/>
              <a:cxnLst/>
              <a:rect l="l" t="t" r="r" b="b"/>
              <a:pathLst>
                <a:path w="212139" h="184080">
                  <a:moveTo>
                    <a:pt x="106125" y="0"/>
                  </a:moveTo>
                  <a:cubicBezTo>
                    <a:pt x="115221" y="0"/>
                    <a:pt x="123698" y="4448"/>
                    <a:pt x="128889" y="11878"/>
                  </a:cubicBezTo>
                  <a:lnTo>
                    <a:pt x="129890" y="13402"/>
                  </a:lnTo>
                  <a:lnTo>
                    <a:pt x="207175" y="142446"/>
                  </a:lnTo>
                  <a:cubicBezTo>
                    <a:pt x="211950" y="150715"/>
                    <a:pt x="212139" y="160858"/>
                    <a:pt x="207675" y="169299"/>
                  </a:cubicBezTo>
                  <a:cubicBezTo>
                    <a:pt x="203212" y="177740"/>
                    <a:pt x="194723" y="183294"/>
                    <a:pt x="185201" y="184004"/>
                  </a:cubicBezTo>
                  <a:lnTo>
                    <a:pt x="183344" y="184080"/>
                  </a:lnTo>
                  <a:lnTo>
                    <a:pt x="28801" y="184080"/>
                  </a:lnTo>
                  <a:cubicBezTo>
                    <a:pt x="19269" y="183973"/>
                    <a:pt x="10460" y="178982"/>
                    <a:pt x="5468" y="170862"/>
                  </a:cubicBezTo>
                  <a:cubicBezTo>
                    <a:pt x="476" y="162742"/>
                    <a:pt x="0" y="152628"/>
                    <a:pt x="4207" y="144075"/>
                  </a:cubicBezTo>
                  <a:lnTo>
                    <a:pt x="5150" y="142313"/>
                  </a:lnTo>
                  <a:lnTo>
                    <a:pt x="82398" y="13364"/>
                  </a:lnTo>
                  <a:cubicBezTo>
                    <a:pt x="87428" y="5069"/>
                    <a:pt x="96424" y="2"/>
                    <a:pt x="106125" y="0"/>
                  </a:cubicBezTo>
                  <a:close/>
                  <a:moveTo>
                    <a:pt x="106220" y="126968"/>
                  </a:moveTo>
                  <a:lnTo>
                    <a:pt x="105010" y="127035"/>
                  </a:lnTo>
                  <a:cubicBezTo>
                    <a:pt x="100219" y="127605"/>
                    <a:pt x="96610" y="131668"/>
                    <a:pt x="96610" y="136493"/>
                  </a:cubicBezTo>
                  <a:cubicBezTo>
                    <a:pt x="96610" y="141319"/>
                    <a:pt x="100219" y="145382"/>
                    <a:pt x="105010" y="145952"/>
                  </a:cubicBezTo>
                  <a:lnTo>
                    <a:pt x="106125" y="146018"/>
                  </a:lnTo>
                  <a:lnTo>
                    <a:pt x="107334" y="145952"/>
                  </a:lnTo>
                  <a:cubicBezTo>
                    <a:pt x="112126" y="145382"/>
                    <a:pt x="115734" y="141319"/>
                    <a:pt x="115734" y="136493"/>
                  </a:cubicBezTo>
                  <a:cubicBezTo>
                    <a:pt x="115734" y="131668"/>
                    <a:pt x="112126" y="127605"/>
                    <a:pt x="107334" y="127035"/>
                  </a:cubicBezTo>
                  <a:lnTo>
                    <a:pt x="106220" y="126968"/>
                  </a:lnTo>
                  <a:close/>
                  <a:moveTo>
                    <a:pt x="106125" y="60293"/>
                  </a:moveTo>
                  <a:cubicBezTo>
                    <a:pt x="101296" y="60294"/>
                    <a:pt x="97231" y="63908"/>
                    <a:pt x="96666" y="68704"/>
                  </a:cubicBezTo>
                  <a:lnTo>
                    <a:pt x="96600" y="69818"/>
                  </a:lnTo>
                  <a:lnTo>
                    <a:pt x="96600" y="107918"/>
                  </a:lnTo>
                  <a:lnTo>
                    <a:pt x="96666" y="109033"/>
                  </a:lnTo>
                  <a:cubicBezTo>
                    <a:pt x="97236" y="113824"/>
                    <a:pt x="101299" y="117433"/>
                    <a:pt x="106125" y="117433"/>
                  </a:cubicBezTo>
                  <a:cubicBezTo>
                    <a:pt x="110950" y="117433"/>
                    <a:pt x="115013" y="113824"/>
                    <a:pt x="115583" y="109033"/>
                  </a:cubicBezTo>
                  <a:lnTo>
                    <a:pt x="115650" y="107918"/>
                  </a:lnTo>
                  <a:lnTo>
                    <a:pt x="115650" y="69818"/>
                  </a:lnTo>
                  <a:lnTo>
                    <a:pt x="115583" y="68704"/>
                  </a:lnTo>
                  <a:cubicBezTo>
                    <a:pt x="115018" y="63908"/>
                    <a:pt x="110954" y="60294"/>
                    <a:pt x="106125" y="60293"/>
                  </a:cubicBezTo>
                  <a:close/>
                </a:path>
              </a:pathLst>
            </a:custGeom>
            <a:solidFill>
              <a:srgbClr val="5F636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61110" y="3689985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Limited Modularization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8665" y="4001452"/>
              <a:ext cx="4657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All four phases in a single file. Increases coupling and reduces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8665" y="4191952"/>
              <a:ext cx="29480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maintainability as the codebase grows.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1143000"/>
            <a:ext cx="5334000" cy="1123950"/>
            <a:chOff x="6286500" y="1143000"/>
            <a:chExt cx="5334000" cy="1123950"/>
          </a:xfrm>
        </p:grpSpPr>
        <p:sp>
          <p:nvSpPr>
            <p:cNvPr id="36" name="Rectangle 36"/>
            <p:cNvSpPr/>
            <p:nvPr/>
          </p:nvSpPr>
          <p:spPr>
            <a:xfrm>
              <a:off x="6286500" y="1143000"/>
              <a:ext cx="5334000" cy="1123950"/>
            </a:xfrm>
            <a:prstGeom prst="roundRect">
              <a:avLst>
                <a:gd name="adj" fmla="val 8475"/>
              </a:avLst>
            </a:prstGeom>
            <a:solidFill>
              <a:srgbClr val="FFFFFF"/>
            </a:solidFill>
            <a:ln w="9525">
              <a:solidFill>
                <a:srgbClr val="EA4335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86500" y="1143000"/>
              <a:ext cx="38100" cy="1123950"/>
            </a:xfrm>
            <a:prstGeom prst="roundRect">
              <a:avLst>
                <a:gd name="adj" fmla="val 50000"/>
              </a:avLst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77000" y="131445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9334E6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6572250" y="1428750"/>
              <a:ext cx="190500" cy="161144"/>
            </a:xfrm>
            <a:custGeom>
              <a:avLst/>
              <a:gdLst/>
              <a:ahLst/>
              <a:cxnLst/>
              <a:rect l="l" t="t" r="r" b="b"/>
              <a:pathLst>
                <a:path w="190500" h="161144">
                  <a:moveTo>
                    <a:pt x="95250" y="0"/>
                  </a:moveTo>
                  <a:cubicBezTo>
                    <a:pt x="115552" y="0"/>
                    <a:pt x="132287" y="15919"/>
                    <a:pt x="133302" y="36195"/>
                  </a:cubicBezTo>
                  <a:lnTo>
                    <a:pt x="133350" y="38100"/>
                  </a:lnTo>
                  <a:cubicBezTo>
                    <a:pt x="134760" y="38099"/>
                    <a:pt x="136152" y="38412"/>
                    <a:pt x="137427" y="39014"/>
                  </a:cubicBezTo>
                  <a:lnTo>
                    <a:pt x="166316" y="20555"/>
                  </a:lnTo>
                  <a:cubicBezTo>
                    <a:pt x="169182" y="18627"/>
                    <a:pt x="172868" y="18402"/>
                    <a:pt x="175948" y="19967"/>
                  </a:cubicBezTo>
                  <a:cubicBezTo>
                    <a:pt x="179027" y="21532"/>
                    <a:pt x="181018" y="24642"/>
                    <a:pt x="181150" y="28094"/>
                  </a:cubicBezTo>
                  <a:cubicBezTo>
                    <a:pt x="181282" y="31546"/>
                    <a:pt x="179535" y="34799"/>
                    <a:pt x="176584" y="36595"/>
                  </a:cubicBezTo>
                  <a:lnTo>
                    <a:pt x="147866" y="54988"/>
                  </a:lnTo>
                  <a:cubicBezTo>
                    <a:pt x="150498" y="61772"/>
                    <a:pt x="152028" y="68933"/>
                    <a:pt x="152400" y="76200"/>
                  </a:cubicBezTo>
                  <a:lnTo>
                    <a:pt x="180975" y="76200"/>
                  </a:lnTo>
                  <a:cubicBezTo>
                    <a:pt x="186236" y="76200"/>
                    <a:pt x="190500" y="80465"/>
                    <a:pt x="190500" y="85725"/>
                  </a:cubicBezTo>
                  <a:cubicBezTo>
                    <a:pt x="190500" y="90986"/>
                    <a:pt x="186236" y="95250"/>
                    <a:pt x="180975" y="95250"/>
                  </a:cubicBezTo>
                  <a:lnTo>
                    <a:pt x="152400" y="95250"/>
                  </a:lnTo>
                  <a:lnTo>
                    <a:pt x="152400" y="104775"/>
                  </a:lnTo>
                  <a:cubicBezTo>
                    <a:pt x="152405" y="109676"/>
                    <a:pt x="151781" y="114558"/>
                    <a:pt x="150543" y="119301"/>
                  </a:cubicBezTo>
                  <a:lnTo>
                    <a:pt x="176336" y="134693"/>
                  </a:lnTo>
                  <a:cubicBezTo>
                    <a:pt x="180855" y="137392"/>
                    <a:pt x="182331" y="143243"/>
                    <a:pt x="179632" y="147761"/>
                  </a:cubicBezTo>
                  <a:cubicBezTo>
                    <a:pt x="176933" y="152280"/>
                    <a:pt x="171082" y="153756"/>
                    <a:pt x="166564" y="151057"/>
                  </a:cubicBezTo>
                  <a:lnTo>
                    <a:pt x="142618" y="136760"/>
                  </a:lnTo>
                  <a:cubicBezTo>
                    <a:pt x="133869" y="149722"/>
                    <a:pt x="120193" y="158534"/>
                    <a:pt x="104775" y="161144"/>
                  </a:cubicBezTo>
                  <a:lnTo>
                    <a:pt x="104775" y="104775"/>
                  </a:lnTo>
                  <a:cubicBezTo>
                    <a:pt x="104775" y="99515"/>
                    <a:pt x="100511" y="95250"/>
                    <a:pt x="95250" y="95250"/>
                  </a:cubicBezTo>
                  <a:cubicBezTo>
                    <a:pt x="89989" y="95250"/>
                    <a:pt x="85725" y="99515"/>
                    <a:pt x="85725" y="104775"/>
                  </a:cubicBezTo>
                  <a:lnTo>
                    <a:pt x="85725" y="161134"/>
                  </a:lnTo>
                  <a:cubicBezTo>
                    <a:pt x="70307" y="158524"/>
                    <a:pt x="56631" y="149712"/>
                    <a:pt x="47882" y="136750"/>
                  </a:cubicBezTo>
                  <a:lnTo>
                    <a:pt x="23936" y="151067"/>
                  </a:lnTo>
                  <a:cubicBezTo>
                    <a:pt x="19418" y="153765"/>
                    <a:pt x="13567" y="152290"/>
                    <a:pt x="10868" y="147771"/>
                  </a:cubicBezTo>
                  <a:cubicBezTo>
                    <a:pt x="8169" y="143252"/>
                    <a:pt x="9645" y="137401"/>
                    <a:pt x="14164" y="134703"/>
                  </a:cubicBezTo>
                  <a:lnTo>
                    <a:pt x="39957" y="119310"/>
                  </a:lnTo>
                  <a:cubicBezTo>
                    <a:pt x="38718" y="114565"/>
                    <a:pt x="38094" y="109680"/>
                    <a:pt x="38100" y="104775"/>
                  </a:cubicBezTo>
                  <a:lnTo>
                    <a:pt x="38100" y="95250"/>
                  </a:lnTo>
                  <a:lnTo>
                    <a:pt x="9525" y="95250"/>
                  </a:lnTo>
                  <a:cubicBezTo>
                    <a:pt x="4264" y="95250"/>
                    <a:pt x="0" y="90986"/>
                    <a:pt x="0" y="85725"/>
                  </a:cubicBezTo>
                  <a:cubicBezTo>
                    <a:pt x="0" y="80465"/>
                    <a:pt x="4264" y="76200"/>
                    <a:pt x="9525" y="76200"/>
                  </a:cubicBezTo>
                  <a:lnTo>
                    <a:pt x="38110" y="76200"/>
                  </a:lnTo>
                  <a:lnTo>
                    <a:pt x="38110" y="75676"/>
                  </a:lnTo>
                  <a:cubicBezTo>
                    <a:pt x="38502" y="68580"/>
                    <a:pt x="40026" y="61593"/>
                    <a:pt x="42624" y="54978"/>
                  </a:cubicBezTo>
                  <a:lnTo>
                    <a:pt x="13916" y="36595"/>
                  </a:lnTo>
                  <a:cubicBezTo>
                    <a:pt x="10965" y="34799"/>
                    <a:pt x="9218" y="31546"/>
                    <a:pt x="9350" y="28094"/>
                  </a:cubicBezTo>
                  <a:cubicBezTo>
                    <a:pt x="9482" y="24642"/>
                    <a:pt x="11473" y="21532"/>
                    <a:pt x="14552" y="19967"/>
                  </a:cubicBezTo>
                  <a:cubicBezTo>
                    <a:pt x="17632" y="18402"/>
                    <a:pt x="21318" y="18627"/>
                    <a:pt x="24184" y="20555"/>
                  </a:cubicBezTo>
                  <a:lnTo>
                    <a:pt x="53064" y="39024"/>
                  </a:lnTo>
                  <a:lnTo>
                    <a:pt x="53292" y="38910"/>
                  </a:lnTo>
                  <a:lnTo>
                    <a:pt x="53940" y="38652"/>
                  </a:lnTo>
                  <a:lnTo>
                    <a:pt x="54121" y="38605"/>
                  </a:lnTo>
                  <a:lnTo>
                    <a:pt x="54273" y="38548"/>
                  </a:lnTo>
                  <a:lnTo>
                    <a:pt x="54578" y="38471"/>
                  </a:lnTo>
                  <a:lnTo>
                    <a:pt x="54959" y="38348"/>
                  </a:lnTo>
                  <a:lnTo>
                    <a:pt x="55283" y="38281"/>
                  </a:lnTo>
                  <a:lnTo>
                    <a:pt x="55607" y="38243"/>
                  </a:lnTo>
                  <a:lnTo>
                    <a:pt x="56036" y="38167"/>
                  </a:lnTo>
                  <a:lnTo>
                    <a:pt x="56178" y="38157"/>
                  </a:lnTo>
                  <a:lnTo>
                    <a:pt x="56321" y="38138"/>
                  </a:lnTo>
                  <a:lnTo>
                    <a:pt x="57150" y="38100"/>
                  </a:lnTo>
                  <a:cubicBezTo>
                    <a:pt x="57150" y="17058"/>
                    <a:pt x="74208" y="0"/>
                    <a:pt x="95250" y="0"/>
                  </a:cubicBezTo>
                  <a:close/>
                  <a:moveTo>
                    <a:pt x="95250" y="19050"/>
                  </a:moveTo>
                  <a:cubicBezTo>
                    <a:pt x="84729" y="19050"/>
                    <a:pt x="76200" y="27579"/>
                    <a:pt x="76200" y="38100"/>
                  </a:cubicBezTo>
                  <a:lnTo>
                    <a:pt x="114300" y="38100"/>
                  </a:lnTo>
                  <a:cubicBezTo>
                    <a:pt x="114300" y="27579"/>
                    <a:pt x="105771" y="19050"/>
                    <a:pt x="95250" y="19050"/>
                  </a:cubicBezTo>
                  <a:close/>
                </a:path>
              </a:pathLst>
            </a:cu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76110" y="1346835"/>
              <a:ext cx="26436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Exponential Verification Cost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3665" y="1715452"/>
              <a:ext cx="46425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Truth-table enumeration is O(2ⁿ) in the number of variables.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3665" y="1905952"/>
              <a:ext cx="42361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Infeasible for expressions with many distinct variables.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2400300"/>
            <a:ext cx="5334000" cy="990600"/>
            <a:chOff x="6286500" y="2400300"/>
            <a:chExt cx="5334000" cy="990600"/>
          </a:xfrm>
        </p:grpSpPr>
        <p:sp>
          <p:nvSpPr>
            <p:cNvPr id="45" name="Rectangle 45"/>
            <p:cNvSpPr/>
            <p:nvPr/>
          </p:nvSpPr>
          <p:spPr>
            <a:xfrm>
              <a:off x="6286500" y="2400300"/>
              <a:ext cx="5334000" cy="99060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9525">
              <a:solidFill>
                <a:srgbClr val="EA4335">
                  <a:alpha val="3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86500" y="2400300"/>
              <a:ext cx="38100" cy="990600"/>
            </a:xfrm>
            <a:prstGeom prst="roundRect">
              <a:avLst>
                <a:gd name="adj" fmla="val 50000"/>
              </a:avLst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77000" y="253365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9334E6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6572250" y="2647950"/>
              <a:ext cx="190500" cy="161144"/>
            </a:xfrm>
            <a:custGeom>
              <a:avLst/>
              <a:gdLst/>
              <a:ahLst/>
              <a:cxnLst/>
              <a:rect l="l" t="t" r="r" b="b"/>
              <a:pathLst>
                <a:path w="190500" h="161144">
                  <a:moveTo>
                    <a:pt x="95250" y="0"/>
                  </a:moveTo>
                  <a:cubicBezTo>
                    <a:pt x="115552" y="0"/>
                    <a:pt x="132287" y="15919"/>
                    <a:pt x="133302" y="36195"/>
                  </a:cubicBezTo>
                  <a:lnTo>
                    <a:pt x="133350" y="38100"/>
                  </a:lnTo>
                  <a:cubicBezTo>
                    <a:pt x="134760" y="38099"/>
                    <a:pt x="136152" y="38412"/>
                    <a:pt x="137427" y="39014"/>
                  </a:cubicBezTo>
                  <a:lnTo>
                    <a:pt x="166316" y="20555"/>
                  </a:lnTo>
                  <a:cubicBezTo>
                    <a:pt x="169182" y="18627"/>
                    <a:pt x="172868" y="18402"/>
                    <a:pt x="175948" y="19967"/>
                  </a:cubicBezTo>
                  <a:cubicBezTo>
                    <a:pt x="179027" y="21532"/>
                    <a:pt x="181018" y="24642"/>
                    <a:pt x="181150" y="28094"/>
                  </a:cubicBezTo>
                  <a:cubicBezTo>
                    <a:pt x="181282" y="31546"/>
                    <a:pt x="179535" y="34799"/>
                    <a:pt x="176584" y="36595"/>
                  </a:cubicBezTo>
                  <a:lnTo>
                    <a:pt x="147866" y="54988"/>
                  </a:lnTo>
                  <a:cubicBezTo>
                    <a:pt x="150498" y="61772"/>
                    <a:pt x="152028" y="68933"/>
                    <a:pt x="152400" y="76200"/>
                  </a:cubicBezTo>
                  <a:lnTo>
                    <a:pt x="180975" y="76200"/>
                  </a:lnTo>
                  <a:cubicBezTo>
                    <a:pt x="186236" y="76200"/>
                    <a:pt x="190500" y="80465"/>
                    <a:pt x="190500" y="85725"/>
                  </a:cubicBezTo>
                  <a:cubicBezTo>
                    <a:pt x="190500" y="90986"/>
                    <a:pt x="186236" y="95250"/>
                    <a:pt x="180975" y="95250"/>
                  </a:cubicBezTo>
                  <a:lnTo>
                    <a:pt x="152400" y="95250"/>
                  </a:lnTo>
                  <a:lnTo>
                    <a:pt x="152400" y="104775"/>
                  </a:lnTo>
                  <a:cubicBezTo>
                    <a:pt x="152405" y="109676"/>
                    <a:pt x="151781" y="114558"/>
                    <a:pt x="150543" y="119301"/>
                  </a:cubicBezTo>
                  <a:lnTo>
                    <a:pt x="176336" y="134693"/>
                  </a:lnTo>
                  <a:cubicBezTo>
                    <a:pt x="180855" y="137392"/>
                    <a:pt x="182331" y="143243"/>
                    <a:pt x="179632" y="147761"/>
                  </a:cubicBezTo>
                  <a:cubicBezTo>
                    <a:pt x="176933" y="152280"/>
                    <a:pt x="171082" y="153756"/>
                    <a:pt x="166564" y="151057"/>
                  </a:cubicBezTo>
                  <a:lnTo>
                    <a:pt x="142618" y="136760"/>
                  </a:lnTo>
                  <a:cubicBezTo>
                    <a:pt x="133869" y="149722"/>
                    <a:pt x="120193" y="158534"/>
                    <a:pt x="104775" y="161144"/>
                  </a:cubicBezTo>
                  <a:lnTo>
                    <a:pt x="104775" y="104775"/>
                  </a:lnTo>
                  <a:cubicBezTo>
                    <a:pt x="104775" y="99515"/>
                    <a:pt x="100511" y="95250"/>
                    <a:pt x="95250" y="95250"/>
                  </a:cubicBezTo>
                  <a:cubicBezTo>
                    <a:pt x="89989" y="95250"/>
                    <a:pt x="85725" y="99515"/>
                    <a:pt x="85725" y="104775"/>
                  </a:cubicBezTo>
                  <a:lnTo>
                    <a:pt x="85725" y="161134"/>
                  </a:lnTo>
                  <a:cubicBezTo>
                    <a:pt x="70307" y="158524"/>
                    <a:pt x="56631" y="149712"/>
                    <a:pt x="47882" y="136750"/>
                  </a:cubicBezTo>
                  <a:lnTo>
                    <a:pt x="23936" y="151067"/>
                  </a:lnTo>
                  <a:cubicBezTo>
                    <a:pt x="19418" y="153765"/>
                    <a:pt x="13567" y="152290"/>
                    <a:pt x="10868" y="147771"/>
                  </a:cubicBezTo>
                  <a:cubicBezTo>
                    <a:pt x="8169" y="143252"/>
                    <a:pt x="9645" y="137401"/>
                    <a:pt x="14164" y="134703"/>
                  </a:cubicBezTo>
                  <a:lnTo>
                    <a:pt x="39957" y="119310"/>
                  </a:lnTo>
                  <a:cubicBezTo>
                    <a:pt x="38718" y="114565"/>
                    <a:pt x="38094" y="109680"/>
                    <a:pt x="38100" y="104775"/>
                  </a:cubicBezTo>
                  <a:lnTo>
                    <a:pt x="38100" y="95250"/>
                  </a:lnTo>
                  <a:lnTo>
                    <a:pt x="9525" y="95250"/>
                  </a:lnTo>
                  <a:cubicBezTo>
                    <a:pt x="4264" y="95250"/>
                    <a:pt x="0" y="90986"/>
                    <a:pt x="0" y="85725"/>
                  </a:cubicBezTo>
                  <a:cubicBezTo>
                    <a:pt x="0" y="80465"/>
                    <a:pt x="4264" y="76200"/>
                    <a:pt x="9525" y="76200"/>
                  </a:cubicBezTo>
                  <a:lnTo>
                    <a:pt x="38110" y="76200"/>
                  </a:lnTo>
                  <a:lnTo>
                    <a:pt x="38110" y="75676"/>
                  </a:lnTo>
                  <a:cubicBezTo>
                    <a:pt x="38502" y="68580"/>
                    <a:pt x="40026" y="61593"/>
                    <a:pt x="42624" y="54978"/>
                  </a:cubicBezTo>
                  <a:lnTo>
                    <a:pt x="13916" y="36595"/>
                  </a:lnTo>
                  <a:cubicBezTo>
                    <a:pt x="10965" y="34799"/>
                    <a:pt x="9218" y="31546"/>
                    <a:pt x="9350" y="28094"/>
                  </a:cubicBezTo>
                  <a:cubicBezTo>
                    <a:pt x="9482" y="24642"/>
                    <a:pt x="11473" y="21532"/>
                    <a:pt x="14552" y="19967"/>
                  </a:cubicBezTo>
                  <a:cubicBezTo>
                    <a:pt x="17632" y="18402"/>
                    <a:pt x="21318" y="18627"/>
                    <a:pt x="24184" y="20555"/>
                  </a:cubicBezTo>
                  <a:lnTo>
                    <a:pt x="53064" y="39024"/>
                  </a:lnTo>
                  <a:lnTo>
                    <a:pt x="53292" y="38910"/>
                  </a:lnTo>
                  <a:lnTo>
                    <a:pt x="53940" y="38652"/>
                  </a:lnTo>
                  <a:lnTo>
                    <a:pt x="54121" y="38605"/>
                  </a:lnTo>
                  <a:lnTo>
                    <a:pt x="54273" y="38548"/>
                  </a:lnTo>
                  <a:lnTo>
                    <a:pt x="54578" y="38471"/>
                  </a:lnTo>
                  <a:lnTo>
                    <a:pt x="54959" y="38348"/>
                  </a:lnTo>
                  <a:lnTo>
                    <a:pt x="55283" y="38281"/>
                  </a:lnTo>
                  <a:lnTo>
                    <a:pt x="55607" y="38243"/>
                  </a:lnTo>
                  <a:lnTo>
                    <a:pt x="56036" y="38167"/>
                  </a:lnTo>
                  <a:lnTo>
                    <a:pt x="56178" y="38157"/>
                  </a:lnTo>
                  <a:lnTo>
                    <a:pt x="56321" y="38138"/>
                  </a:lnTo>
                  <a:lnTo>
                    <a:pt x="57150" y="38100"/>
                  </a:lnTo>
                  <a:cubicBezTo>
                    <a:pt x="57150" y="17058"/>
                    <a:pt x="74208" y="0"/>
                    <a:pt x="95250" y="0"/>
                  </a:cubicBezTo>
                  <a:close/>
                  <a:moveTo>
                    <a:pt x="95250" y="19050"/>
                  </a:moveTo>
                  <a:cubicBezTo>
                    <a:pt x="84729" y="19050"/>
                    <a:pt x="76200" y="27579"/>
                    <a:pt x="76200" y="38100"/>
                  </a:cubicBezTo>
                  <a:lnTo>
                    <a:pt x="114300" y="38100"/>
                  </a:lnTo>
                  <a:cubicBezTo>
                    <a:pt x="114300" y="27579"/>
                    <a:pt x="105771" y="19050"/>
                    <a:pt x="95250" y="19050"/>
                  </a:cubicBezTo>
                  <a:close/>
                </a:path>
              </a:pathLst>
            </a:cu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76110" y="2566035"/>
              <a:ext cx="26160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Limited Error Message Detail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3665" y="2877502"/>
              <a:ext cx="4458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Error output contains phase + line number only. No "did you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63665" y="3068002"/>
              <a:ext cx="44815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mean?", no multi-error collection, no token-level context.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1500" y="4667250"/>
            <a:ext cx="11049000" cy="571500"/>
            <a:chOff x="571500" y="4667250"/>
            <a:chExt cx="11049000" cy="571500"/>
          </a:xfrm>
        </p:grpSpPr>
        <p:sp>
          <p:nvSpPr>
            <p:cNvPr id="54" name="Rectangle 54"/>
            <p:cNvSpPr/>
            <p:nvPr/>
          </p:nvSpPr>
          <p:spPr>
            <a:xfrm>
              <a:off x="571500" y="4667250"/>
              <a:ext cx="1104900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ADCE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896817" y="4801552"/>
              <a:ext cx="43983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These limitations are expected within the project scope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779967" y="5019199"/>
              <a:ext cx="66320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The compiler successfully implements all required pipeline phases and passes the full test suite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61022" y="6572250"/>
            <a:ext cx="11069956" cy="269081"/>
            <a:chOff x="561022" y="6572250"/>
            <a:chExt cx="11069956" cy="269081"/>
          </a:xfrm>
        </p:grpSpPr>
        <p:sp>
          <p:nvSpPr>
            <p:cNvPr id="58" name="Rectangle 58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7605" y="66736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35" grpId="0"/>
      <p:bldP spid="44" grpId="0"/>
      <p:bldP spid="53" grpId="0"/>
      <p:bldP spid="5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379095"/>
            <a:ext cx="6434970" cy="632936"/>
            <a:chOff x="571500" y="379095"/>
            <a:chExt cx="6434970" cy="632936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93420" y="379095"/>
              <a:ext cx="2269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Future Work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9612" y="783431"/>
              <a:ext cx="62968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Planned improvements to extend correctness, expressiveness, and scalability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1143000"/>
            <a:ext cx="3429000" cy="5143500"/>
            <a:chOff x="571500" y="1143000"/>
            <a:chExt cx="3429000" cy="5143500"/>
          </a:xfrm>
        </p:grpSpPr>
        <p:sp>
          <p:nvSpPr>
            <p:cNvPr id="9" name="Rectangle 9"/>
            <p:cNvSpPr/>
            <p:nvPr/>
          </p:nvSpPr>
          <p:spPr>
            <a:xfrm>
              <a:off x="571500" y="1143000"/>
              <a:ext cx="3429000" cy="51435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34A853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143000"/>
              <a:ext cx="3429000" cy="2286000"/>
            </a:xfrm>
            <a:prstGeom prst="roundRect">
              <a:avLst>
                <a:gd name="adj" fmla="val 5833"/>
              </a:avLst>
            </a:prstGeom>
            <a:gradFill>
              <a:gsLst>
                <a:gs pos="0">
                  <a:srgbClr val="34A853">
                    <a:alpha val="6000"/>
                  </a:srgbClr>
                </a:gs>
                <a:gs pos="100000">
                  <a:srgbClr val="34A853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1143000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14500" y="1600200"/>
              <a:ext cx="1143000" cy="571500"/>
            </a:xfrm>
            <a:prstGeom prst="roundRect">
              <a:avLst>
                <a:gd name="adj" fmla="val 50000"/>
              </a:avLst>
            </a:prstGeom>
            <a:solidFill>
              <a:srgbClr val="34A853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200810" y="1722972"/>
              <a:ext cx="343418" cy="325955"/>
              <a:chOff x="2200810" y="1722972"/>
              <a:chExt cx="343418" cy="32595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2433638" y="1932522"/>
                <a:ext cx="110590" cy="116405"/>
              </a:xfrm>
              <a:custGeom>
                <a:avLst/>
                <a:gdLst/>
                <a:ahLst/>
                <a:cxnLst/>
                <a:rect l="l" t="t" r="r" b="b"/>
                <a:pathLst>
                  <a:path w="110590" h="116405">
                    <a:moveTo>
                      <a:pt x="17462" y="75665"/>
                    </a:moveTo>
                    <a:cubicBezTo>
                      <a:pt x="7818" y="75665"/>
                      <a:pt x="0" y="67847"/>
                      <a:pt x="0" y="58203"/>
                    </a:cubicBezTo>
                    <a:cubicBezTo>
                      <a:pt x="0" y="48558"/>
                      <a:pt x="7818" y="40740"/>
                      <a:pt x="17462" y="40740"/>
                    </a:cubicBezTo>
                    <a:cubicBezTo>
                      <a:pt x="27107" y="40740"/>
                      <a:pt x="34925" y="32922"/>
                      <a:pt x="34925" y="23278"/>
                    </a:cubicBezTo>
                    <a:cubicBezTo>
                      <a:pt x="34925" y="0"/>
                      <a:pt x="69850" y="0"/>
                      <a:pt x="69850" y="23278"/>
                    </a:cubicBezTo>
                    <a:cubicBezTo>
                      <a:pt x="69850" y="32922"/>
                      <a:pt x="77668" y="40740"/>
                      <a:pt x="87313" y="40740"/>
                    </a:cubicBezTo>
                    <a:cubicBezTo>
                      <a:pt x="110590" y="40740"/>
                      <a:pt x="110590" y="75665"/>
                      <a:pt x="87313" y="75665"/>
                    </a:cubicBezTo>
                    <a:cubicBezTo>
                      <a:pt x="77668" y="75665"/>
                      <a:pt x="69850" y="83483"/>
                      <a:pt x="69850" y="93128"/>
                    </a:cubicBezTo>
                    <a:cubicBezTo>
                      <a:pt x="69850" y="116405"/>
                      <a:pt x="34925" y="116405"/>
                      <a:pt x="34925" y="93128"/>
                    </a:cubicBezTo>
                    <a:cubicBezTo>
                      <a:pt x="34925" y="83483"/>
                      <a:pt x="27107" y="75665"/>
                      <a:pt x="17462" y="75665"/>
                    </a:cubicBezTo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2200810" y="1757897"/>
                <a:ext cx="256105" cy="250290"/>
              </a:xfrm>
              <a:custGeom>
                <a:avLst/>
                <a:gdLst/>
                <a:ahLst/>
                <a:cxnLst/>
                <a:rect l="l" t="t" r="r" b="b"/>
                <a:pathLst>
                  <a:path w="256105" h="250290">
                    <a:moveTo>
                      <a:pt x="23278" y="110590"/>
                    </a:moveTo>
                    <a:cubicBezTo>
                      <a:pt x="71499" y="110590"/>
                      <a:pt x="110590" y="71499"/>
                      <a:pt x="110590" y="23278"/>
                    </a:cubicBezTo>
                    <a:cubicBezTo>
                      <a:pt x="110590" y="0"/>
                      <a:pt x="145515" y="0"/>
                      <a:pt x="145515" y="23278"/>
                    </a:cubicBezTo>
                    <a:cubicBezTo>
                      <a:pt x="145515" y="71499"/>
                      <a:pt x="184606" y="110590"/>
                      <a:pt x="232828" y="110590"/>
                    </a:cubicBezTo>
                    <a:cubicBezTo>
                      <a:pt x="256105" y="110590"/>
                      <a:pt x="256105" y="145515"/>
                      <a:pt x="232828" y="145515"/>
                    </a:cubicBezTo>
                    <a:cubicBezTo>
                      <a:pt x="184606" y="145515"/>
                      <a:pt x="145515" y="184606"/>
                      <a:pt x="145515" y="232828"/>
                    </a:cubicBezTo>
                    <a:cubicBezTo>
                      <a:pt x="145515" y="242472"/>
                      <a:pt x="137697" y="250290"/>
                      <a:pt x="128053" y="250290"/>
                    </a:cubicBezTo>
                    <a:cubicBezTo>
                      <a:pt x="118408" y="250290"/>
                      <a:pt x="110590" y="242472"/>
                      <a:pt x="110590" y="232828"/>
                    </a:cubicBezTo>
                    <a:cubicBezTo>
                      <a:pt x="110590" y="184606"/>
                      <a:pt x="71499" y="145515"/>
                      <a:pt x="23278" y="145515"/>
                    </a:cubicBezTo>
                    <a:cubicBezTo>
                      <a:pt x="0" y="145515"/>
                      <a:pt x="0" y="110590"/>
                      <a:pt x="23278" y="110590"/>
                    </a:cubicBezTo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2433638" y="1722972"/>
                <a:ext cx="110590" cy="116405"/>
              </a:xfrm>
              <a:custGeom>
                <a:avLst/>
                <a:gdLst/>
                <a:ahLst/>
                <a:cxnLst/>
                <a:rect l="l" t="t" r="r" b="b"/>
                <a:pathLst>
                  <a:path w="110590" h="116405">
                    <a:moveTo>
                      <a:pt x="17462" y="75665"/>
                    </a:moveTo>
                    <a:cubicBezTo>
                      <a:pt x="7818" y="75665"/>
                      <a:pt x="0" y="67847"/>
                      <a:pt x="0" y="58203"/>
                    </a:cubicBezTo>
                    <a:cubicBezTo>
                      <a:pt x="0" y="48558"/>
                      <a:pt x="7818" y="40740"/>
                      <a:pt x="17462" y="40740"/>
                    </a:cubicBezTo>
                    <a:cubicBezTo>
                      <a:pt x="27107" y="40740"/>
                      <a:pt x="34925" y="32922"/>
                      <a:pt x="34925" y="23278"/>
                    </a:cubicBezTo>
                    <a:cubicBezTo>
                      <a:pt x="34925" y="0"/>
                      <a:pt x="69850" y="0"/>
                      <a:pt x="69850" y="23278"/>
                    </a:cubicBezTo>
                    <a:cubicBezTo>
                      <a:pt x="69850" y="32922"/>
                      <a:pt x="77668" y="40740"/>
                      <a:pt x="87313" y="40740"/>
                    </a:cubicBezTo>
                    <a:cubicBezTo>
                      <a:pt x="110590" y="40740"/>
                      <a:pt x="110590" y="75665"/>
                      <a:pt x="87313" y="75665"/>
                    </a:cubicBezTo>
                    <a:cubicBezTo>
                      <a:pt x="77668" y="75665"/>
                      <a:pt x="69850" y="83483"/>
                      <a:pt x="69850" y="93128"/>
                    </a:cubicBezTo>
                    <a:cubicBezTo>
                      <a:pt x="69850" y="116405"/>
                      <a:pt x="34925" y="116405"/>
                      <a:pt x="34925" y="93128"/>
                    </a:cubicBezTo>
                    <a:cubicBezTo>
                      <a:pt x="34925" y="83483"/>
                      <a:pt x="27107" y="75665"/>
                      <a:pt x="17462" y="75665"/>
                    </a:cubicBezTo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220319" y="2409825"/>
              <a:ext cx="21313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Extended Language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16660" y="2695099"/>
              <a:ext cx="1138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>
                  <a:solidFill>
                    <a:srgbClr val="34A853"/>
                  </a:solidFill>
                  <a:latin typeface="Segoe UI"/>
                  <a:ea typeface="Microsoft YaHei"/>
                  <a:cs typeface="Segoe UI"/>
                </a:rPr>
                <a:t>EXPRESSIVENESS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2990850"/>
              <a:ext cx="3048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Ellipse 20"/>
            <p:cNvSpPr/>
            <p:nvPr/>
          </p:nvSpPr>
          <p:spPr>
            <a:xfrm>
              <a:off x="885825" y="3228975"/>
              <a:ext cx="57150" cy="5715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4412" y="3183731"/>
              <a:ext cx="20125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Multi-statement blocks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6318" y="3390424"/>
              <a:ext cx="2068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if p then { let q = T; print q }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85825" y="3743325"/>
              <a:ext cx="57150" cy="5715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4412" y="3698081"/>
              <a:ext cx="19780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Variable re-assignment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6318" y="3904774"/>
              <a:ext cx="2068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Overwriting existing bindings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85825" y="4257675"/>
              <a:ext cx="57150" cy="5715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4412" y="4212431"/>
              <a:ext cx="17020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Negation-as-failure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6318" y="4419124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Default false for unbound vars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85825" y="4772025"/>
              <a:ext cx="57150" cy="5715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4412" y="4726781"/>
              <a:ext cx="22109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Multi-char variable names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6318" y="4933474"/>
              <a:ext cx="20041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Extend beyond single letters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57250" y="5391150"/>
              <a:ext cx="1714500" cy="247650"/>
            </a:xfrm>
            <a:prstGeom prst="roundRect">
              <a:avLst>
                <a:gd name="adj" fmla="val 50000"/>
              </a:avLst>
            </a:prstGeom>
            <a:solidFill>
              <a:srgbClr val="34A853">
                <a:alpha val="12000"/>
              </a:srgbClr>
            </a:solidFill>
            <a:ln w="9525">
              <a:solidFill>
                <a:srgbClr val="34A853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93721" y="5465445"/>
              <a:ext cx="10415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34A853"/>
                  </a:solidFill>
                  <a:latin typeface="Segoe UI"/>
                  <a:ea typeface="Microsoft YaHei"/>
                  <a:cs typeface="Segoe UI"/>
                </a:rPr>
                <a:t>Language Design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381500" y="1143000"/>
            <a:ext cx="3429000" cy="5143500"/>
            <a:chOff x="4381500" y="1143000"/>
            <a:chExt cx="3429000" cy="5143500"/>
          </a:xfrm>
        </p:grpSpPr>
        <p:sp>
          <p:nvSpPr>
            <p:cNvPr id="35" name="Rectangle 35"/>
            <p:cNvSpPr/>
            <p:nvPr/>
          </p:nvSpPr>
          <p:spPr>
            <a:xfrm>
              <a:off x="4381500" y="1143000"/>
              <a:ext cx="3429000" cy="51435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9334E6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381500" y="1143000"/>
              <a:ext cx="3429000" cy="2286000"/>
            </a:xfrm>
            <a:prstGeom prst="roundRect">
              <a:avLst>
                <a:gd name="adj" fmla="val 5833"/>
              </a:avLst>
            </a:prstGeom>
            <a:gradFill>
              <a:gsLst>
                <a:gs pos="0">
                  <a:srgbClr val="9334E6">
                    <a:alpha val="6000"/>
                  </a:srgbClr>
                </a:gs>
                <a:gs pos="100000">
                  <a:srgbClr val="9334E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81500" y="1143000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524500" y="1600200"/>
              <a:ext cx="1143000" cy="571500"/>
            </a:xfrm>
            <a:prstGeom prst="roundRect">
              <a:avLst>
                <a:gd name="adj" fmla="val 50000"/>
              </a:avLst>
            </a:prstGeom>
            <a:solidFill>
              <a:srgbClr val="9334E6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6050759" y="1711325"/>
              <a:ext cx="280981" cy="355729"/>
            </a:xfrm>
            <a:custGeom>
              <a:avLst/>
              <a:gdLst/>
              <a:ahLst/>
              <a:cxnLst/>
              <a:rect l="l" t="t" r="r" b="b"/>
              <a:pathLst>
                <a:path w="280981" h="355729">
                  <a:moveTo>
                    <a:pt x="157953" y="0"/>
                  </a:moveTo>
                  <a:lnTo>
                    <a:pt x="158267" y="17"/>
                  </a:lnTo>
                  <a:lnTo>
                    <a:pt x="158547" y="35"/>
                  </a:lnTo>
                  <a:lnTo>
                    <a:pt x="159996" y="122"/>
                  </a:lnTo>
                  <a:lnTo>
                    <a:pt x="160188" y="157"/>
                  </a:lnTo>
                  <a:lnTo>
                    <a:pt x="160380" y="157"/>
                  </a:lnTo>
                  <a:lnTo>
                    <a:pt x="161044" y="314"/>
                  </a:lnTo>
                  <a:lnTo>
                    <a:pt x="161952" y="454"/>
                  </a:lnTo>
                  <a:lnTo>
                    <a:pt x="162231" y="559"/>
                  </a:lnTo>
                  <a:lnTo>
                    <a:pt x="162424" y="576"/>
                  </a:lnTo>
                  <a:lnTo>
                    <a:pt x="162930" y="768"/>
                  </a:lnTo>
                  <a:lnTo>
                    <a:pt x="163838" y="1013"/>
                  </a:lnTo>
                  <a:lnTo>
                    <a:pt x="164170" y="1170"/>
                  </a:lnTo>
                  <a:lnTo>
                    <a:pt x="164432" y="1240"/>
                  </a:lnTo>
                  <a:lnTo>
                    <a:pt x="164921" y="1484"/>
                  </a:lnTo>
                  <a:lnTo>
                    <a:pt x="165619" y="1781"/>
                  </a:lnTo>
                  <a:lnTo>
                    <a:pt x="165986" y="1991"/>
                  </a:lnTo>
                  <a:lnTo>
                    <a:pt x="166370" y="2165"/>
                  </a:lnTo>
                  <a:lnTo>
                    <a:pt x="166772" y="2427"/>
                  </a:lnTo>
                  <a:lnTo>
                    <a:pt x="167313" y="2724"/>
                  </a:lnTo>
                  <a:lnTo>
                    <a:pt x="167907" y="3143"/>
                  </a:lnTo>
                  <a:lnTo>
                    <a:pt x="168221" y="3335"/>
                  </a:lnTo>
                  <a:lnTo>
                    <a:pt x="168448" y="3545"/>
                  </a:lnTo>
                  <a:lnTo>
                    <a:pt x="168867" y="3842"/>
                  </a:lnTo>
                  <a:lnTo>
                    <a:pt x="169531" y="4435"/>
                  </a:lnTo>
                  <a:lnTo>
                    <a:pt x="169915" y="4732"/>
                  </a:lnTo>
                  <a:lnTo>
                    <a:pt x="170055" y="4907"/>
                  </a:lnTo>
                  <a:lnTo>
                    <a:pt x="170299" y="5117"/>
                  </a:lnTo>
                  <a:lnTo>
                    <a:pt x="170928" y="5832"/>
                  </a:lnTo>
                  <a:lnTo>
                    <a:pt x="171382" y="6304"/>
                  </a:lnTo>
                  <a:lnTo>
                    <a:pt x="171487" y="6461"/>
                  </a:lnTo>
                  <a:cubicBezTo>
                    <a:pt x="173582" y="9028"/>
                    <a:pt x="174909" y="12084"/>
                    <a:pt x="175293" y="15419"/>
                  </a:cubicBezTo>
                  <a:lnTo>
                    <a:pt x="175311" y="15629"/>
                  </a:lnTo>
                  <a:lnTo>
                    <a:pt x="175346" y="16345"/>
                  </a:lnTo>
                  <a:lnTo>
                    <a:pt x="175416" y="17463"/>
                  </a:lnTo>
                  <a:lnTo>
                    <a:pt x="175416" y="122238"/>
                  </a:lnTo>
                  <a:lnTo>
                    <a:pt x="262728" y="122238"/>
                  </a:lnTo>
                  <a:cubicBezTo>
                    <a:pt x="268957" y="122236"/>
                    <a:pt x="274715" y="125552"/>
                    <a:pt x="277839" y="130941"/>
                  </a:cubicBezTo>
                  <a:cubicBezTo>
                    <a:pt x="280964" y="136329"/>
                    <a:pt x="280981" y="142974"/>
                    <a:pt x="277886" y="148379"/>
                  </a:cubicBezTo>
                  <a:lnTo>
                    <a:pt x="276838" y="149968"/>
                  </a:lnTo>
                  <a:lnTo>
                    <a:pt x="137138" y="342055"/>
                  </a:lnTo>
                  <a:cubicBezTo>
                    <a:pt x="127219" y="355729"/>
                    <a:pt x="105566" y="348691"/>
                    <a:pt x="105566" y="331788"/>
                  </a:cubicBezTo>
                  <a:lnTo>
                    <a:pt x="105566" y="227013"/>
                  </a:lnTo>
                  <a:lnTo>
                    <a:pt x="18253" y="227013"/>
                  </a:lnTo>
                  <a:cubicBezTo>
                    <a:pt x="12024" y="227014"/>
                    <a:pt x="6266" y="223698"/>
                    <a:pt x="3142" y="218309"/>
                  </a:cubicBezTo>
                  <a:cubicBezTo>
                    <a:pt x="18" y="212921"/>
                    <a:pt x="0" y="206276"/>
                    <a:pt x="3096" y="200871"/>
                  </a:cubicBezTo>
                  <a:lnTo>
                    <a:pt x="4143" y="199282"/>
                  </a:lnTo>
                  <a:lnTo>
                    <a:pt x="143843" y="7195"/>
                  </a:lnTo>
                  <a:lnTo>
                    <a:pt x="144018" y="6968"/>
                  </a:lnTo>
                  <a:lnTo>
                    <a:pt x="144332" y="6548"/>
                  </a:lnTo>
                  <a:lnTo>
                    <a:pt x="144909" y="5885"/>
                  </a:lnTo>
                  <a:lnTo>
                    <a:pt x="145223" y="5501"/>
                  </a:lnTo>
                  <a:lnTo>
                    <a:pt x="145380" y="5361"/>
                  </a:lnTo>
                  <a:lnTo>
                    <a:pt x="145607" y="5117"/>
                  </a:lnTo>
                  <a:lnTo>
                    <a:pt x="146306" y="4488"/>
                  </a:lnTo>
                  <a:lnTo>
                    <a:pt x="146795" y="4034"/>
                  </a:lnTo>
                  <a:lnTo>
                    <a:pt x="146934" y="3929"/>
                  </a:lnTo>
                  <a:cubicBezTo>
                    <a:pt x="148981" y="2254"/>
                    <a:pt x="151381" y="1066"/>
                    <a:pt x="153954" y="454"/>
                  </a:cubicBezTo>
                  <a:lnTo>
                    <a:pt x="154146" y="437"/>
                  </a:lnTo>
                  <a:lnTo>
                    <a:pt x="154618" y="349"/>
                  </a:lnTo>
                  <a:lnTo>
                    <a:pt x="155910" y="122"/>
                  </a:lnTo>
                  <a:lnTo>
                    <a:pt x="156102" y="105"/>
                  </a:lnTo>
                  <a:lnTo>
                    <a:pt x="156818" y="70"/>
                  </a:lnTo>
                  <a:close/>
                </a:path>
              </a:pathLst>
            </a:cu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00290" y="2409825"/>
              <a:ext cx="25914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BDD-Based Verification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68703" y="2695099"/>
              <a:ext cx="854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SCALABILITY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572000" y="2990850"/>
              <a:ext cx="3048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Ellipse 43"/>
            <p:cNvSpPr/>
            <p:nvPr/>
          </p:nvSpPr>
          <p:spPr>
            <a:xfrm>
              <a:off x="4695825" y="3228975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24412" y="3183731"/>
              <a:ext cx="20815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Binary Decision Diagrams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826318" y="3390424"/>
              <a:ext cx="26662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Canonical graph-based representation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695825" y="3743325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24412" y="3698081"/>
              <a:ext cx="23576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Polynomial-time equivalence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26318" y="3904774"/>
              <a:ext cx="19898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Replaces O(2ⁿ) truth tables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4695825" y="4257675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24412" y="4212431"/>
              <a:ext cx="2029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Shared sub-expressions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826318" y="4419124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Efficient for large variable counts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4695825" y="4772025"/>
              <a:ext cx="57150" cy="57150"/>
            </a:xfrm>
            <a:prstGeom prst="ellipse">
              <a:avLst/>
            </a:prstGeom>
            <a:solidFill>
              <a:srgbClr val="9334E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24412" y="4726781"/>
              <a:ext cx="1555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Industry standard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26318" y="4933474"/>
              <a:ext cx="26947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Hardware verification, model checking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800600" y="5391150"/>
              <a:ext cx="1905000" cy="247650"/>
            </a:xfrm>
            <a:prstGeom prst="roundRect">
              <a:avLst>
                <a:gd name="adj" fmla="val 50000"/>
              </a:avLst>
            </a:prstGeom>
            <a:solidFill>
              <a:srgbClr val="9334E6">
                <a:alpha val="12000"/>
              </a:srgbClr>
            </a:solidFill>
            <a:ln w="9525">
              <a:solidFill>
                <a:srgbClr val="9334E6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163312" y="5465445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Algorithm Upgrade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191500" y="1143000"/>
            <a:ext cx="3429000" cy="5143500"/>
            <a:chOff x="8191500" y="1143000"/>
            <a:chExt cx="3429000" cy="5143500"/>
          </a:xfrm>
        </p:grpSpPr>
        <p:sp>
          <p:nvSpPr>
            <p:cNvPr id="58" name="Rectangle 58"/>
            <p:cNvSpPr/>
            <p:nvPr/>
          </p:nvSpPr>
          <p:spPr>
            <a:xfrm>
              <a:off x="8191500" y="1143000"/>
              <a:ext cx="3429000" cy="51435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4285F4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191500" y="1143000"/>
              <a:ext cx="3429000" cy="2286000"/>
            </a:xfrm>
            <a:prstGeom prst="roundRect">
              <a:avLst>
                <a:gd name="adj" fmla="val 5833"/>
              </a:avLst>
            </a:prstGeom>
            <a:gradFill>
              <a:gsLst>
                <a:gs pos="0">
                  <a:srgbClr val="4285F4">
                    <a:alpha val="6000"/>
                  </a:srgbClr>
                </a:gs>
                <a:gs pos="100000">
                  <a:srgbClr val="4285F4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191500" y="1143000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334500" y="1600200"/>
              <a:ext cx="1143000" cy="571500"/>
            </a:xfrm>
            <a:prstGeom prst="roundRect">
              <a:avLst>
                <a:gd name="adj" fmla="val 50000"/>
              </a:avLst>
            </a:prstGeom>
            <a:solidFill>
              <a:srgbClr val="4285F4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9844088" y="1728788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250290" y="0"/>
                  </a:moveTo>
                  <a:cubicBezTo>
                    <a:pt x="267273" y="0"/>
                    <a:pt x="283561" y="6747"/>
                    <a:pt x="295570" y="18755"/>
                  </a:cubicBezTo>
                  <a:cubicBezTo>
                    <a:pt x="307578" y="30764"/>
                    <a:pt x="314325" y="47052"/>
                    <a:pt x="314325" y="64035"/>
                  </a:cubicBezTo>
                  <a:lnTo>
                    <a:pt x="314325" y="250290"/>
                  </a:lnTo>
                  <a:cubicBezTo>
                    <a:pt x="314325" y="267273"/>
                    <a:pt x="307578" y="283561"/>
                    <a:pt x="295570" y="295570"/>
                  </a:cubicBezTo>
                  <a:cubicBezTo>
                    <a:pt x="283561" y="307578"/>
                    <a:pt x="267273" y="314325"/>
                    <a:pt x="250290" y="314325"/>
                  </a:cubicBezTo>
                  <a:lnTo>
                    <a:pt x="64035" y="314325"/>
                  </a:lnTo>
                  <a:cubicBezTo>
                    <a:pt x="47052" y="314325"/>
                    <a:pt x="30764" y="307578"/>
                    <a:pt x="18755" y="295570"/>
                  </a:cubicBezTo>
                  <a:cubicBezTo>
                    <a:pt x="6747" y="283561"/>
                    <a:pt x="0" y="267273"/>
                    <a:pt x="0" y="250290"/>
                  </a:cubicBezTo>
                  <a:lnTo>
                    <a:pt x="0" y="64035"/>
                  </a:lnTo>
                  <a:cubicBezTo>
                    <a:pt x="0" y="28669"/>
                    <a:pt x="28669" y="0"/>
                    <a:pt x="64035" y="0"/>
                  </a:cubicBezTo>
                  <a:close/>
                  <a:moveTo>
                    <a:pt x="187722" y="52388"/>
                  </a:moveTo>
                  <a:cubicBezTo>
                    <a:pt x="166347" y="52373"/>
                    <a:pt x="148446" y="68574"/>
                    <a:pt x="146336" y="89845"/>
                  </a:cubicBezTo>
                  <a:lnTo>
                    <a:pt x="141359" y="139700"/>
                  </a:lnTo>
                  <a:lnTo>
                    <a:pt x="104775" y="139700"/>
                  </a:lnTo>
                  <a:lnTo>
                    <a:pt x="102732" y="139822"/>
                  </a:lnTo>
                  <a:cubicBezTo>
                    <a:pt x="93557" y="140913"/>
                    <a:pt x="86820" y="148962"/>
                    <a:pt x="87362" y="158186"/>
                  </a:cubicBezTo>
                  <a:cubicBezTo>
                    <a:pt x="87903" y="167409"/>
                    <a:pt x="95536" y="174615"/>
                    <a:pt x="104775" y="174625"/>
                  </a:cubicBezTo>
                  <a:lnTo>
                    <a:pt x="137849" y="174625"/>
                  </a:lnTo>
                  <a:lnTo>
                    <a:pt x="133221" y="221005"/>
                  </a:lnTo>
                  <a:lnTo>
                    <a:pt x="132977" y="222245"/>
                  </a:lnTo>
                  <a:cubicBezTo>
                    <a:pt x="132147" y="225074"/>
                    <a:pt x="129551" y="227015"/>
                    <a:pt x="126603" y="227013"/>
                  </a:cubicBezTo>
                  <a:cubicBezTo>
                    <a:pt x="124192" y="227013"/>
                    <a:pt x="122237" y="225058"/>
                    <a:pt x="122237" y="222647"/>
                  </a:cubicBezTo>
                  <a:lnTo>
                    <a:pt x="122237" y="218281"/>
                  </a:lnTo>
                  <a:lnTo>
                    <a:pt x="122115" y="216238"/>
                  </a:lnTo>
                  <a:cubicBezTo>
                    <a:pt x="121024" y="207064"/>
                    <a:pt x="112975" y="200327"/>
                    <a:pt x="103752" y="200868"/>
                  </a:cubicBezTo>
                  <a:cubicBezTo>
                    <a:pt x="94528" y="201410"/>
                    <a:pt x="87323" y="209042"/>
                    <a:pt x="87313" y="218281"/>
                  </a:cubicBezTo>
                  <a:lnTo>
                    <a:pt x="87313" y="222647"/>
                  </a:lnTo>
                  <a:lnTo>
                    <a:pt x="87400" y="225336"/>
                  </a:lnTo>
                  <a:cubicBezTo>
                    <a:pt x="88814" y="245945"/>
                    <a:pt x="105945" y="261940"/>
                    <a:pt x="126603" y="261938"/>
                  </a:cubicBezTo>
                  <a:cubicBezTo>
                    <a:pt x="147978" y="261952"/>
                    <a:pt x="165879" y="245751"/>
                    <a:pt x="167989" y="224480"/>
                  </a:cubicBezTo>
                  <a:lnTo>
                    <a:pt x="172949" y="174625"/>
                  </a:lnTo>
                  <a:lnTo>
                    <a:pt x="209550" y="174625"/>
                  </a:lnTo>
                  <a:lnTo>
                    <a:pt x="211593" y="174503"/>
                  </a:lnTo>
                  <a:cubicBezTo>
                    <a:pt x="220768" y="173412"/>
                    <a:pt x="227505" y="165363"/>
                    <a:pt x="226963" y="156139"/>
                  </a:cubicBezTo>
                  <a:cubicBezTo>
                    <a:pt x="226422" y="146916"/>
                    <a:pt x="218789" y="139710"/>
                    <a:pt x="209550" y="139700"/>
                  </a:cubicBezTo>
                  <a:lnTo>
                    <a:pt x="176459" y="139700"/>
                  </a:lnTo>
                  <a:lnTo>
                    <a:pt x="181104" y="93320"/>
                  </a:lnTo>
                  <a:lnTo>
                    <a:pt x="181348" y="92080"/>
                  </a:lnTo>
                  <a:cubicBezTo>
                    <a:pt x="182183" y="89255"/>
                    <a:pt x="184776" y="87315"/>
                    <a:pt x="187722" y="87312"/>
                  </a:cubicBezTo>
                  <a:cubicBezTo>
                    <a:pt x="190133" y="87312"/>
                    <a:pt x="192088" y="89267"/>
                    <a:pt x="192088" y="91678"/>
                  </a:cubicBezTo>
                  <a:lnTo>
                    <a:pt x="192088" y="96044"/>
                  </a:lnTo>
                  <a:lnTo>
                    <a:pt x="192210" y="98087"/>
                  </a:lnTo>
                  <a:cubicBezTo>
                    <a:pt x="193301" y="107261"/>
                    <a:pt x="201350" y="113998"/>
                    <a:pt x="210573" y="113457"/>
                  </a:cubicBezTo>
                  <a:cubicBezTo>
                    <a:pt x="219797" y="112915"/>
                    <a:pt x="227002" y="105283"/>
                    <a:pt x="227012" y="96044"/>
                  </a:cubicBezTo>
                  <a:lnTo>
                    <a:pt x="227012" y="91678"/>
                  </a:lnTo>
                  <a:lnTo>
                    <a:pt x="226925" y="88989"/>
                  </a:lnTo>
                  <a:cubicBezTo>
                    <a:pt x="225511" y="68380"/>
                    <a:pt x="208380" y="52385"/>
                    <a:pt x="187722" y="52388"/>
                  </a:cubicBez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54058" y="2409825"/>
              <a:ext cx="23038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Deeper Optimization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59088" y="2695099"/>
              <a:ext cx="1093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NORMAL FORMS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382000" y="2990850"/>
              <a:ext cx="3048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Ellipse 66"/>
            <p:cNvSpPr/>
            <p:nvPr/>
          </p:nvSpPr>
          <p:spPr>
            <a:xfrm>
              <a:off x="8505825" y="3228975"/>
              <a:ext cx="57150" cy="5715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34412" y="3183731"/>
              <a:ext cx="22282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Distributive law expansion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37270" y="3398520"/>
              <a:ext cx="25005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F6368"/>
                  </a:solidFill>
                  <a:latin typeface="Consolas"/>
                  <a:ea typeface="Microsoft YaHei"/>
                  <a:cs typeface="Consolas"/>
                </a:rPr>
                <a:t>A AND (B OR C) → (A AND B) OR (A AND C)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505825" y="3762375"/>
              <a:ext cx="57150" cy="5715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34412" y="3717131"/>
              <a:ext cx="1138132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CNF conversion</a:t>
              </a:r>
              <a:r>
                <a:rPr lang="zh-CN" altLang="en-US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 </a:t>
              </a:r>
              <a:endParaRPr lang="zh-CN" sz="1125" b="1">
                <a:solidFill>
                  <a:srgbClr val="202124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636318" y="3923824"/>
              <a:ext cx="26876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Conjunctive Normal Form normalization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8505825" y="4276725"/>
              <a:ext cx="57150" cy="5715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634412" y="4231481"/>
              <a:ext cx="12707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DNF conversion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636318" y="4438174"/>
              <a:ext cx="2381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Disjunctive Normal Form reduction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8505825" y="4791075"/>
              <a:ext cx="57150" cy="5715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634412" y="4745831"/>
              <a:ext cx="20902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>
                  <a:solidFill>
                    <a:srgbClr val="202124"/>
                  </a:solidFill>
                  <a:latin typeface="Segoe UI"/>
                  <a:ea typeface="Microsoft YaHei"/>
                  <a:cs typeface="Segoe UI"/>
                </a:rPr>
                <a:t>Quine-McCluskey method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636318" y="4952524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Minimal sum-of-products form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553450" y="5391150"/>
              <a:ext cx="1905000" cy="247650"/>
            </a:xfrm>
            <a:prstGeom prst="roundRect">
              <a:avLst>
                <a:gd name="adj" fmla="val 50000"/>
              </a:avLst>
            </a:prstGeom>
            <a:solidFill>
              <a:srgbClr val="4285F4">
                <a:alpha val="12000"/>
              </a:srgbClr>
            </a:solidFill>
            <a:ln w="9525">
              <a:solidFill>
                <a:srgbClr val="4285F4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870156" y="5465445"/>
              <a:ext cx="12715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Optimization Power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61022" y="6572250"/>
            <a:ext cx="11069956" cy="269081"/>
            <a:chOff x="561022" y="6572250"/>
            <a:chExt cx="11069956" cy="269081"/>
          </a:xfrm>
        </p:grpSpPr>
        <p:sp>
          <p:nvSpPr>
            <p:cNvPr id="81" name="Rectangle 81"/>
            <p:cNvSpPr/>
            <p:nvPr/>
          </p:nvSpPr>
          <p:spPr>
            <a:xfrm>
              <a:off x="571500" y="6572250"/>
              <a:ext cx="11049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61022" y="667369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7605" y="66736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7" grpId="0"/>
      <p:bldP spid="8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F0FE"/>
                </a:gs>
                <a:gs pos="50000">
                  <a:srgbClr val="FFFFFF"/>
                </a:gs>
                <a:gs pos="100000">
                  <a:srgbClr val="E8F5E9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285F4">
                    <a:alpha val="6000"/>
                  </a:srgbClr>
                </a:gs>
                <a:gs pos="100000">
                  <a:srgbClr val="4285F4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gradFill>
              <a:gsLst>
                <a:gs pos="0">
                  <a:srgbClr val="4285F4"/>
                </a:gs>
                <a:gs pos="100000">
                  <a:srgbClr val="9334E6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47712" y="747712"/>
              <a:ext cx="10696575" cy="5362575"/>
              <a:chOff x="747712" y="747712"/>
              <a:chExt cx="10696575" cy="5362575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747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Ellipse 7"/>
              <p:cNvSpPr/>
              <p:nvPr/>
            </p:nvSpPr>
            <p:spPr>
              <a:xfrm>
                <a:off x="2271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Ellipse 8"/>
              <p:cNvSpPr/>
              <p:nvPr/>
            </p:nvSpPr>
            <p:spPr>
              <a:xfrm>
                <a:off x="3795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Ellipse 9"/>
              <p:cNvSpPr/>
              <p:nvPr/>
            </p:nvSpPr>
            <p:spPr>
              <a:xfrm>
                <a:off x="5319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6843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8367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9891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11415712" y="747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747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2271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3795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5319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6843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8367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9891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11415712" y="6081712"/>
                <a:ext cx="28575" cy="28575"/>
              </a:xfrm>
              <a:prstGeom prst="ellipse">
                <a:avLst/>
              </a:prstGeom>
              <a:solidFill>
                <a:srgbClr val="DADCE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4" name="Rectangle 24"/>
          <p:cNvSpPr/>
          <p:nvPr/>
        </p:nvSpPr>
        <p:spPr>
          <a:xfrm>
            <a:off x="5143500" y="2266950"/>
            <a:ext cx="1905000" cy="19050"/>
          </a:xfrm>
          <a:prstGeom prst="rect">
            <a:avLst/>
          </a:prstGeom>
          <a:gradFill>
            <a:gsLst>
              <a:gs pos="0">
                <a:srgbClr val="4285F4"/>
              </a:gs>
              <a:gs pos="100000">
                <a:srgbClr val="9334E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0" name="Group 40"/>
          <p:cNvGrpSpPr/>
          <p:nvPr/>
        </p:nvGrpSpPr>
        <p:grpSpPr>
          <a:xfrm>
            <a:off x="3352800" y="2774945"/>
            <a:ext cx="5486400" cy="1626870"/>
            <a:chOff x="3352800" y="3107055"/>
            <a:chExt cx="5486400" cy="1626870"/>
          </a:xfrm>
        </p:grpSpPr>
        <p:sp>
          <p:nvSpPr>
            <p:cNvPr id="27" name="TextBox 27"/>
            <p:cNvSpPr txBox="1"/>
            <p:nvPr/>
          </p:nvSpPr>
          <p:spPr>
            <a:xfrm>
              <a:off x="4492708" y="3107055"/>
              <a:ext cx="3206583" cy="784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>
                  <a:solidFill>
                    <a:schemeClr val="tx2"/>
                  </a:solidFill>
                  <a:effectLst>
                    <a:glow rad="95250">
                      <a:srgbClr val="4285F4">
                        <a:alpha val="30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Thank You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43617" y="3936682"/>
              <a:ext cx="270476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Questions &amp; Discussion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762500" y="4305300"/>
              <a:ext cx="2667000" cy="9525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352800" y="4476750"/>
              <a:ext cx="857250" cy="247650"/>
            </a:xfrm>
            <a:prstGeom prst="roundRect">
              <a:avLst>
                <a:gd name="adj" fmla="val 50000"/>
              </a:avLst>
            </a:prstGeom>
            <a:solidFill>
              <a:srgbClr val="4285F4">
                <a:alpha val="12000"/>
              </a:srgbClr>
            </a:solidFill>
            <a:ln w="9525">
              <a:solidFill>
                <a:srgbClr val="4285F4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89258" y="455104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Lexer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362450" y="4476750"/>
              <a:ext cx="857250" cy="247650"/>
            </a:xfrm>
            <a:prstGeom prst="roundRect">
              <a:avLst>
                <a:gd name="adj" fmla="val 50000"/>
              </a:avLst>
            </a:prstGeom>
            <a:solidFill>
              <a:srgbClr val="34A853">
                <a:alpha val="12000"/>
              </a:srgbClr>
            </a:solidFill>
            <a:ln w="9525">
              <a:solidFill>
                <a:srgbClr val="34A853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62761" y="45510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34A853"/>
                  </a:solidFill>
                  <a:latin typeface="Segoe UI"/>
                  <a:ea typeface="Microsoft YaHei"/>
                  <a:cs typeface="Segoe UI"/>
                </a:rPr>
                <a:t>Parser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72100" y="4476750"/>
              <a:ext cx="1047750" cy="247650"/>
            </a:xfrm>
            <a:prstGeom prst="roundRect">
              <a:avLst>
                <a:gd name="adj" fmla="val 50000"/>
              </a:avLst>
            </a:prstGeom>
            <a:solidFill>
              <a:srgbClr val="9334E6">
                <a:alpha val="12000"/>
              </a:srgbClr>
            </a:solidFill>
            <a:ln w="9525">
              <a:solidFill>
                <a:srgbClr val="9334E6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65791" y="4551045"/>
              <a:ext cx="660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9334E6"/>
                  </a:solidFill>
                  <a:latin typeface="Segoe UI"/>
                  <a:ea typeface="Microsoft YaHei"/>
                  <a:cs typeface="Segoe UI"/>
                </a:rPr>
                <a:t>Optimizer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72250" y="4476750"/>
              <a:ext cx="1047750" cy="247650"/>
            </a:xfrm>
            <a:prstGeom prst="roundRect">
              <a:avLst>
                <a:gd name="adj" fmla="val 50000"/>
              </a:avLst>
            </a:prstGeom>
            <a:solidFill>
              <a:srgbClr val="1E8E3E">
                <a:alpha val="12000"/>
              </a:srgbClr>
            </a:solidFill>
            <a:ln w="9525">
              <a:solidFill>
                <a:srgbClr val="1E8E3E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75799" y="4551045"/>
              <a:ext cx="6406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1E8E3E"/>
                  </a:solidFill>
                  <a:latin typeface="Segoe UI"/>
                  <a:ea typeface="Microsoft YaHei"/>
                  <a:cs typeface="Segoe UI"/>
                </a:rPr>
                <a:t>Execution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772400" y="44767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rgbClr val="4285F4">
                <a:alpha val="12000"/>
              </a:srgbClr>
            </a:solidFill>
            <a:ln w="9525">
              <a:solidFill>
                <a:srgbClr val="4285F4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09893" y="455104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>
                  <a:solidFill>
                    <a:srgbClr val="4285F4"/>
                  </a:solidFill>
                  <a:latin typeface="Segoe UI"/>
                  <a:ea typeface="Microsoft YaHei"/>
                  <a:cs typeface="Segoe UI"/>
                </a:rPr>
                <a:t>Verification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976116" y="5106352"/>
            <a:ext cx="4239768" cy="415767"/>
            <a:chOff x="3976116" y="5106352"/>
            <a:chExt cx="4239768" cy="415767"/>
          </a:xfrm>
        </p:grpSpPr>
        <p:sp>
          <p:nvSpPr>
            <p:cNvPr id="41" name="TextBox 41"/>
            <p:cNvSpPr txBox="1"/>
            <p:nvPr/>
          </p:nvSpPr>
          <p:spPr>
            <a:xfrm>
              <a:off x="4790670" y="5106352"/>
              <a:ext cx="26106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Shiyuan Lin · Ruikai Li · Fanqiao Lin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76116" y="5323999"/>
              <a:ext cx="42397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>
                  <a:solidFill>
                    <a:srgbClr val="80868B"/>
                  </a:solidFill>
                  <a:latin typeface="Segoe UI"/>
                  <a:ea typeface="Microsoft YaHei"/>
                  <a:cs typeface="Segoe UI"/>
                </a:rPr>
                <a:t>LogicScript Optimizing Compiler · UFUG2106 · HKUST-GZ · 2026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507605" y="657844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>
                <a:solidFill>
                  <a:srgbClr val="80868B"/>
                </a:solidFill>
                <a:latin typeface="Segoe UI"/>
                <a:ea typeface="Microsoft YaHei"/>
                <a:cs typeface="Segoe UI"/>
              </a:rPr>
              <a:t>16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2D165C12-CBF2-5B61-D635-51D737822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83" y="-49218"/>
            <a:ext cx="3327400" cy="133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4077</Words>
  <Application>Microsoft Macintosh PowerPoint</Application>
  <PresentationFormat>宽屏</PresentationFormat>
  <Paragraphs>700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Arial</vt:lpstr>
      <vt:lpstr>Calibri</vt:lpstr>
      <vt:lpstr>Consolas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睿铠 李</cp:lastModifiedBy>
  <cp:revision>1</cp:revision>
  <dcterms:created xsi:type="dcterms:W3CDTF">2013-01-27T09:14:16Z</dcterms:created>
  <dcterms:modified xsi:type="dcterms:W3CDTF">2026-05-08T01:35:24Z</dcterms:modified>
  <cp:category/>
</cp:coreProperties>
</file>